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4"/>
  </p:sldMasterIdLst>
  <p:notesMasterIdLst>
    <p:notesMasterId r:id="rId47"/>
  </p:notesMasterIdLst>
  <p:handoutMasterIdLst>
    <p:handoutMasterId r:id="rId48"/>
  </p:handoutMasterIdLst>
  <p:sldIdLst>
    <p:sldId id="256" r:id="rId5"/>
    <p:sldId id="257" r:id="rId6"/>
    <p:sldId id="363" r:id="rId7"/>
    <p:sldId id="365" r:id="rId8"/>
    <p:sldId id="364" r:id="rId9"/>
    <p:sldId id="362" r:id="rId10"/>
    <p:sldId id="371" r:id="rId11"/>
    <p:sldId id="366" r:id="rId12"/>
    <p:sldId id="396" r:id="rId13"/>
    <p:sldId id="399" r:id="rId14"/>
    <p:sldId id="397" r:id="rId15"/>
    <p:sldId id="372" r:id="rId16"/>
    <p:sldId id="400" r:id="rId17"/>
    <p:sldId id="401" r:id="rId18"/>
    <p:sldId id="398" r:id="rId19"/>
    <p:sldId id="420" r:id="rId20"/>
    <p:sldId id="403" r:id="rId21"/>
    <p:sldId id="402" r:id="rId22"/>
    <p:sldId id="404" r:id="rId23"/>
    <p:sldId id="376" r:id="rId24"/>
    <p:sldId id="405" r:id="rId25"/>
    <p:sldId id="422" r:id="rId26"/>
    <p:sldId id="406" r:id="rId27"/>
    <p:sldId id="407" r:id="rId28"/>
    <p:sldId id="408" r:id="rId29"/>
    <p:sldId id="409" r:id="rId30"/>
    <p:sldId id="410" r:id="rId31"/>
    <p:sldId id="411" r:id="rId32"/>
    <p:sldId id="412" r:id="rId33"/>
    <p:sldId id="413" r:id="rId34"/>
    <p:sldId id="414" r:id="rId35"/>
    <p:sldId id="415" r:id="rId36"/>
    <p:sldId id="417" r:id="rId37"/>
    <p:sldId id="379" r:id="rId38"/>
    <p:sldId id="378" r:id="rId39"/>
    <p:sldId id="421" r:id="rId40"/>
    <p:sldId id="382" r:id="rId41"/>
    <p:sldId id="387" r:id="rId42"/>
    <p:sldId id="287" r:id="rId43"/>
    <p:sldId id="419" r:id="rId44"/>
    <p:sldId id="284" r:id="rId45"/>
    <p:sldId id="288" r:id="rId4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GfbebLDkrh5ZFS5t9yMqtQiFA7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ola Vallejo" initials="" lastIdx="4" clrIdx="0"/>
  <p:cmAuthor id="1" name="Paola Andrea Vallejo Correa" initials="PAVC" lastIdx="2" clrIdx="1">
    <p:extLst>
      <p:ext uri="{19B8F6BF-5375-455C-9EA6-DF929625EA0E}">
        <p15:presenceInfo xmlns:p15="http://schemas.microsoft.com/office/powerpoint/2012/main" userId="S-1-5-21-1319918816-2133870172-1244796221-526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963D"/>
    <a:srgbClr val="F7B224"/>
    <a:srgbClr val="009BAF"/>
    <a:srgbClr val="02C9B6"/>
    <a:srgbClr val="0D3240"/>
    <a:srgbClr val="FF9999"/>
    <a:srgbClr val="D85C90"/>
    <a:srgbClr val="FB9815"/>
    <a:srgbClr val="FAAD15"/>
    <a:srgbClr val="FA36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9E5F45-F0A0-439B-9395-BAD12799995B}" v="1" dt="2026-07-27T16:15:15.543"/>
    <p1510:client id="{C5F9747B-8116-5190-7766-3D5448DBE2CB}" v="2" dt="2026-07-28T19:31:30.34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Leon Carmona Gonzalez" userId="S::gcarmona@eafit.edu.co::5a5403d1-fbf5-4270-8113-6c6b324c89e8" providerId="AD" clId="Web-{C5F9747B-8116-5190-7766-3D5448DBE2CB}"/>
    <pc:docChg chg="modSld">
      <pc:chgData name="Guillermo Leon Carmona Gonzalez" userId="S::gcarmona@eafit.edu.co::5a5403d1-fbf5-4270-8113-6c6b324c89e8" providerId="AD" clId="Web-{C5F9747B-8116-5190-7766-3D5448DBE2CB}" dt="2026-07-28T19:31:30.341" v="1" actId="20577"/>
      <pc:docMkLst>
        <pc:docMk/>
      </pc:docMkLst>
      <pc:sldChg chg="modSp">
        <pc:chgData name="Guillermo Leon Carmona Gonzalez" userId="S::gcarmona@eafit.edu.co::5a5403d1-fbf5-4270-8113-6c6b324c89e8" providerId="AD" clId="Web-{C5F9747B-8116-5190-7766-3D5448DBE2CB}" dt="2026-07-28T19:31:30.341" v="1" actId="20577"/>
        <pc:sldMkLst>
          <pc:docMk/>
          <pc:sldMk cId="373462440" sldId="405"/>
        </pc:sldMkLst>
        <pc:spChg chg="mod">
          <ac:chgData name="Guillermo Leon Carmona Gonzalez" userId="S::gcarmona@eafit.edu.co::5a5403d1-fbf5-4270-8113-6c6b324c89e8" providerId="AD" clId="Web-{C5F9747B-8116-5190-7766-3D5448DBE2CB}" dt="2026-07-28T19:31:30.341" v="1" actId="20577"/>
          <ac:spMkLst>
            <pc:docMk/>
            <pc:sldMk cId="373462440" sldId="405"/>
            <ac:spMk id="6" creationId="{C4A9AD7C-C659-A73B-90B5-16F8C4D88D61}"/>
          </ac:spMkLst>
        </pc:spChg>
      </pc:sldChg>
    </pc:docChg>
  </pc:docChgLst>
  <pc:docChgLst>
    <pc:chgData name="Guillermo Leon Carmona Gonzalez" userId="5a5403d1-fbf5-4270-8113-6c6b324c89e8" providerId="ADAL" clId="{41E04E0F-589B-459A-84B8-C2B11B97507D}"/>
    <pc:docChg chg="undo custSel addSld delSld modSld modMainMaster">
      <pc:chgData name="Guillermo Leon Carmona Gonzalez" userId="5a5403d1-fbf5-4270-8113-6c6b324c89e8" providerId="ADAL" clId="{41E04E0F-589B-459A-84B8-C2B11B97507D}" dt="2026-07-27T16:16:25.467" v="369" actId="6549"/>
      <pc:docMkLst>
        <pc:docMk/>
      </pc:docMkLst>
      <pc:sldChg chg="modSp mod">
        <pc:chgData name="Guillermo Leon Carmona Gonzalez" userId="5a5403d1-fbf5-4270-8113-6c6b324c89e8" providerId="ADAL" clId="{41E04E0F-589B-459A-84B8-C2B11B97507D}" dt="2026-07-27T16:16:25.467" v="369" actId="6549"/>
        <pc:sldMkLst>
          <pc:docMk/>
          <pc:sldMk cId="2490668959" sldId="287"/>
        </pc:sldMkLst>
        <pc:spChg chg="mod">
          <ac:chgData name="Guillermo Leon Carmona Gonzalez" userId="5a5403d1-fbf5-4270-8113-6c6b324c89e8" providerId="ADAL" clId="{41E04E0F-589B-459A-84B8-C2B11B97507D}" dt="2026-07-27T16:16:25.467" v="369" actId="6549"/>
          <ac:spMkLst>
            <pc:docMk/>
            <pc:sldMk cId="2490668959" sldId="287"/>
            <ac:spMk id="2" creationId="{98B1DD95-F71F-9666-A058-733CAB614B4A}"/>
          </ac:spMkLst>
        </pc:spChg>
      </pc:sldChg>
      <pc:sldChg chg="modSp modAnim">
        <pc:chgData name="Guillermo Leon Carmona Gonzalez" userId="5a5403d1-fbf5-4270-8113-6c6b324c89e8" providerId="ADAL" clId="{41E04E0F-589B-459A-84B8-C2B11B97507D}" dt="2026-07-23T22:54:50.046" v="98" actId="20577"/>
        <pc:sldMkLst>
          <pc:docMk/>
          <pc:sldMk cId="2468078052" sldId="366"/>
        </pc:sldMkLst>
        <pc:spChg chg="mod">
          <ac:chgData name="Guillermo Leon Carmona Gonzalez" userId="5a5403d1-fbf5-4270-8113-6c6b324c89e8" providerId="ADAL" clId="{41E04E0F-589B-459A-84B8-C2B11B97507D}" dt="2026-07-23T22:54:50.046" v="98" actId="20577"/>
          <ac:spMkLst>
            <pc:docMk/>
            <pc:sldMk cId="2468078052" sldId="366"/>
            <ac:spMk id="6" creationId="{5EF71987-E68A-40CD-BAED-7EBD5A727E2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6267ECF-47DE-BBDC-9F27-F705ED53F0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18FD260A-FCDA-5E1F-F566-D6E00E07F1F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D277ED-32FB-40EE-9EBE-E8BE1FACC50D}" type="datetimeFigureOut">
              <a:rPr lang="es-CO" smtClean="0"/>
              <a:t>28/07/2026</a:t>
            </a:fld>
            <a:endParaRPr lang="es-CO"/>
          </a:p>
        </p:txBody>
      </p:sp>
      <p:sp>
        <p:nvSpPr>
          <p:cNvPr id="4" name="Marcador de pie de página 3">
            <a:extLst>
              <a:ext uri="{FF2B5EF4-FFF2-40B4-BE49-F238E27FC236}">
                <a16:creationId xmlns:a16="http://schemas.microsoft.com/office/drawing/2014/main" id="{D3330FBF-F498-457D-6C5F-AF8542F85A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5B606E1-BD5C-5346-6364-215684E06A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6AF92-632C-4CD8-8308-485E2F4F0072}" type="slidenum">
              <a:rPr lang="es-CO" smtClean="0"/>
              <a:t>‹#›</a:t>
            </a:fld>
            <a:endParaRPr lang="es-CO"/>
          </a:p>
        </p:txBody>
      </p:sp>
    </p:spTree>
    <p:extLst>
      <p:ext uri="{BB962C8B-B14F-4D97-AF65-F5344CB8AC3E}">
        <p14:creationId xmlns:p14="http://schemas.microsoft.com/office/powerpoint/2010/main" val="25652463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2590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12</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20858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32C1D-7815-49B2-542F-4C40F7BAFC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E164EF-1142-E66D-787D-0874CCDC28A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33CA8B5-36A5-C6B9-2FCE-906303FD902A}"/>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599D8D0-2F1E-3CAE-78C2-82E5997C29B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13</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0578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458AE-23CA-D2AC-9FF3-E4AD28F2BCB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1D39F2-2436-5644-0CA1-C2D891E107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A55BB6-4131-74CA-3E5E-8E010BB61498}"/>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6159C39-D016-59E0-FA48-3AB16E55130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14</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31840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15</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5551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16</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75996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A3D4C-2DAD-DE41-F9DC-B7883A3106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39B701A-74C3-37C6-86EA-53EECAB3F7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78307F-0764-9D43-AB42-35130EBFA05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6E9A11D3-B1CC-676A-F38A-FA2BD4A3F65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17</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4908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B457C-5558-28A8-6AE4-500A86DA5A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F9B354-EF64-CFA6-32F9-F013B93628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BFAA48-AD95-A182-3A50-B029C2C5BEC7}"/>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257E9726-BCED-7407-59D6-8BC492897A8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18</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728805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A0F46-DBE5-7547-A5CD-A014E881D2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406019-3FF5-0F09-1E63-DD770DD8BD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74EFA23-C900-1DDB-1A23-CECB3B83E52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CE2807B6-FAFD-8E91-733E-C4E2041FC64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19</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905692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9310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DC665-5DC2-ACAF-D22F-CFA8C2C7FA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22F3C9-4E47-9FD4-13B1-22CD648D246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597CEC-1A5F-A7A4-E909-06B1E9F7831C}"/>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992E6FDF-31B9-AAEB-F3F3-86164748D45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26</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1213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85031-EE4C-4289-8174-5C60919CD5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74FCC5-240F-A5A7-94B3-237C341708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77FFBC-7A99-5854-942B-14A827D03E6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42605A4E-B7E8-A21C-1F0A-069372AB8380}"/>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27</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16948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CF720-CEEE-F04A-8024-EACBDD393D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9407379-3832-20D3-8842-C2B34362D6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897021-E946-8DAA-4887-952C85A263CE}"/>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B29F32DE-64E5-F005-1FDB-47FBE5D23134}"/>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28</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09472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02744-380D-E63E-088F-3C2635F092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9D39F4-FAE8-33D5-B91E-576B6245F77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7C8685-9718-5691-281A-1DCCE0E5E8EA}"/>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97398755-1D96-EB4F-97FA-018F5614FC3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29</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83882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26B85-040F-A209-D706-11402688A2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45EEF9-079B-EA24-C649-D2ADFB570E7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8B70B5-A5EE-06B1-EF1A-ECB1E3A06545}"/>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EA4344A3-A6E3-028E-375C-1669CFBB6BE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30</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961723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32539-43C1-553D-5282-F7493C9481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050FC0-4949-D20D-918A-1DA6138A33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7083400-D40E-80DC-ABC0-FA88110AEE30}"/>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DCA4CEAE-B223-12AD-9303-9967C5EF6F8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31</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45786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65420-6B75-04EF-43AF-EE32DC8214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1C6E7D-DB9C-80C5-9BF3-8740885496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BDCEF0-62D1-F3E6-C8DF-557364567C2B}"/>
              </a:ext>
            </a:extLst>
          </p:cNvPr>
          <p:cNvSpPr>
            <a:spLocks noGrp="1"/>
          </p:cNvSpPr>
          <p:nvPr>
            <p:ph type="body" idx="1"/>
          </p:nvPr>
        </p:nvSpPr>
        <p:spPr/>
        <p:txBody>
          <a:bodyPr/>
          <a:lstStyle/>
          <a:p>
            <a:endParaRPr lang="es-CO"/>
          </a:p>
        </p:txBody>
      </p:sp>
      <p:sp>
        <p:nvSpPr>
          <p:cNvPr id="4" name="Marcador de número de diapositiva 3">
            <a:extLst>
              <a:ext uri="{FF2B5EF4-FFF2-40B4-BE49-F238E27FC236}">
                <a16:creationId xmlns:a16="http://schemas.microsoft.com/office/drawing/2014/main" id="{085465F5-AC05-C4FB-07FC-3E3B906BFF3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smtClean="0">
                <a:solidFill>
                  <a:schemeClr val="dk1"/>
                </a:solidFill>
                <a:latin typeface="Calibri"/>
                <a:ea typeface="Calibri"/>
                <a:cs typeface="Calibri"/>
                <a:sym typeface="Calibri"/>
              </a:rPr>
              <a:t>32</a:t>
            </a:fld>
            <a:endParaRPr lang="es-CO"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83734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69001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2" name="Google Shape;56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29404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2" name="Google Shape;56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425299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0" name="Google Shape;57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Portada">
    <p:bg>
      <p:bgPr>
        <a:solidFill>
          <a:srgbClr val="7F7F7F">
            <a:alpha val="20000"/>
          </a:srgbClr>
        </a:solid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r:embed="rId2">
            <a:alphaModFix amt="3000"/>
          </a:blip>
          <a:stretch>
            <a:fillRect/>
          </a:stretch>
        </p:blipFill>
        <p:spPr>
          <a:xfrm>
            <a:off x="-1828592" y="-1689100"/>
            <a:ext cx="7648891" cy="6858000"/>
          </a:xfrm>
          <a:prstGeom prst="rect">
            <a:avLst/>
          </a:prstGeom>
        </p:spPr>
      </p:pic>
      <p:sp>
        <p:nvSpPr>
          <p:cNvPr id="13" name="CuadroTexto 12">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Mnecación</a:t>
            </a:r>
            <a:endParaRPr lang="es-CO" sz="900">
              <a:solidFill>
                <a:schemeClr val="bg1"/>
              </a:solidFill>
            </a:endParaRP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0301" y="4055585"/>
            <a:ext cx="6108174" cy="91951"/>
          </a:xfrm>
          <a:prstGeom prst="rect">
            <a:avLst/>
          </a:prstGeom>
        </p:spPr>
      </p:pic>
    </p:spTree>
    <p:extLst>
      <p:ext uri="{BB962C8B-B14F-4D97-AF65-F5344CB8AC3E}">
        <p14:creationId xmlns:p14="http://schemas.microsoft.com/office/powerpoint/2010/main" val="608026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7F7F7F">
            <a:alpha val="20000"/>
          </a:srgbClr>
        </a:solidFill>
        <a:effectLst/>
      </p:bgPr>
    </p:bg>
    <p:spTree>
      <p:nvGrpSpPr>
        <p:cNvPr id="1" name=""/>
        <p:cNvGrpSpPr/>
        <p:nvPr/>
      </p:nvGrpSpPr>
      <p:grpSpPr>
        <a:xfrm>
          <a:off x="0" y="0"/>
          <a:ext cx="0" cy="0"/>
          <a:chOff x="0" y="0"/>
          <a:chExt cx="0" cy="0"/>
        </a:xfrm>
      </p:grpSpPr>
      <p:sp>
        <p:nvSpPr>
          <p:cNvPr id="2" name="Rectángulo 1"/>
          <p:cNvSpPr/>
          <p:nvPr/>
        </p:nvSpPr>
        <p:spPr>
          <a:xfrm>
            <a:off x="-1" y="-73970"/>
            <a:ext cx="12191999" cy="6931969"/>
          </a:xfrm>
          <a:prstGeom prst="rect">
            <a:avLst/>
          </a:prstGeom>
          <a:solidFill>
            <a:srgbClr val="0F2D3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0" name="Grupo 9">
            <a:extLst>
              <a:ext uri="{FF2B5EF4-FFF2-40B4-BE49-F238E27FC236}">
                <a16:creationId xmlns:a16="http://schemas.microsoft.com/office/drawing/2014/main" id="{A8DE1008-9435-4582-AE18-9973DCBA2FB5}"/>
              </a:ext>
            </a:extLst>
          </p:cNvPr>
          <p:cNvGrpSpPr/>
          <p:nvPr/>
        </p:nvGrpSpPr>
        <p:grpSpPr>
          <a:xfrm>
            <a:off x="-5192" y="-50800"/>
            <a:ext cx="12197192" cy="6858000"/>
            <a:chOff x="-5192" y="0"/>
            <a:chExt cx="12197192" cy="6858000"/>
          </a:xfrm>
        </p:grpSpPr>
        <p:pic>
          <p:nvPicPr>
            <p:cNvPr id="11" name="Gráfico 10">
              <a:extLst>
                <a:ext uri="{FF2B5EF4-FFF2-40B4-BE49-F238E27FC236}">
                  <a16:creationId xmlns:a16="http://schemas.microsoft.com/office/drawing/2014/main" id="{3345BC10-B95C-4E5B-8CB5-0D9F33E7E63C}"/>
                </a:ext>
              </a:extLst>
            </p:cNvPr>
            <p:cNvPicPr>
              <a:picLocks noChangeAspect="1"/>
            </p:cNvPicPr>
            <p:nvPr/>
          </p:nvPicPr>
          <p:blipFill>
            <a:blip>
              <a:alphaModFix amt="3000"/>
              <a:extLst>
                <a:ext uri="{96DAC541-7B7A-43D3-8B79-37D633B846F1}">
                  <asvg:svgBlip xmlns:asvg="http://schemas.microsoft.com/office/drawing/2016/SVG/main" r:embed="rId2"/>
                </a:ext>
              </a:extLst>
            </a:blip>
            <a:stretch>
              <a:fillRect/>
            </a:stretch>
          </p:blipFill>
          <p:spPr>
            <a:xfrm rot="10800000">
              <a:off x="4543109" y="0"/>
              <a:ext cx="7648891" cy="6858000"/>
            </a:xfrm>
            <a:prstGeom prst="rect">
              <a:avLst/>
            </a:prstGeom>
          </p:spPr>
        </p:pic>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a:alphaModFix amt="3000"/>
              <a:extLst>
                <a:ext uri="{96DAC541-7B7A-43D3-8B79-37D633B846F1}">
                  <asvg:svgBlip xmlns:asvg="http://schemas.microsoft.com/office/drawing/2016/SVG/main" r:embed="rId2"/>
                </a:ext>
              </a:extLst>
            </a:blip>
            <a:stretch>
              <a:fillRect/>
            </a:stretch>
          </p:blipFill>
          <p:spPr>
            <a:xfrm>
              <a:off x="-5192" y="0"/>
              <a:ext cx="7648891" cy="6858000"/>
            </a:xfrm>
            <a:prstGeom prst="rect">
              <a:avLst/>
            </a:prstGeom>
          </p:spPr>
        </p:pic>
      </p:grpSp>
      <p:sp>
        <p:nvSpPr>
          <p:cNvPr id="13" name="CuadroTexto 12">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
        <p:nvSpPr>
          <p:cNvPr id="14" name="CuadroTexto 13">
            <a:extLst>
              <a:ext uri="{FF2B5EF4-FFF2-40B4-BE49-F238E27FC236}">
                <a16:creationId xmlns:a16="http://schemas.microsoft.com/office/drawing/2014/main" id="{D1A6FAEB-0D11-4D7D-9754-629D1A672D97}"/>
              </a:ext>
            </a:extLst>
          </p:cNvPr>
          <p:cNvSpPr txBox="1"/>
          <p:nvPr/>
        </p:nvSpPr>
        <p:spPr>
          <a:xfrm>
            <a:off x="3048001" y="3119341"/>
            <a:ext cx="8986942" cy="830997"/>
          </a:xfrm>
          <a:prstGeom prst="rect">
            <a:avLst/>
          </a:prstGeom>
          <a:noFill/>
        </p:spPr>
        <p:txBody>
          <a:bodyPr wrap="square" rtlCol="0">
            <a:spAutoFit/>
          </a:bodyPr>
          <a:lstStyle/>
          <a:p>
            <a:pPr algn="r"/>
            <a:r>
              <a:rPr lang="es-CO" sz="4800" b="1">
                <a:solidFill>
                  <a:schemeClr val="bg1"/>
                </a:solidFill>
                <a:latin typeface="Arial" panose="020B0604020202020204" pitchFamily="34" charset="0"/>
                <a:ea typeface="Roboto" panose="02000000000000000000" pitchFamily="2" charset="0"/>
                <a:cs typeface="Arial" panose="020B0604020202020204" pitchFamily="34" charset="0"/>
              </a:rPr>
              <a:t>Pensamiento Computacional</a:t>
            </a: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0301" y="4055585"/>
            <a:ext cx="6108174" cy="91951"/>
          </a:xfrm>
          <a:prstGeom prst="rect">
            <a:avLst/>
          </a:prstGeom>
        </p:spPr>
      </p:pic>
      <p:pic>
        <p:nvPicPr>
          <p:cNvPr id="21" name="Gráfico 12">
            <a:extLst>
              <a:ext uri="{FF2B5EF4-FFF2-40B4-BE49-F238E27FC236}">
                <a16:creationId xmlns:a16="http://schemas.microsoft.com/office/drawing/2014/main" id="{D44A8620-4433-45C5-A0B4-543E32F58B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39888" y="6066411"/>
            <a:ext cx="1188588" cy="504887"/>
          </a:xfrm>
          <a:prstGeom prst="rect">
            <a:avLst/>
          </a:prstGeom>
        </p:spPr>
      </p:pic>
      <p:sp>
        <p:nvSpPr>
          <p:cNvPr id="22" name="CuadroTexto 21">
            <a:extLst>
              <a:ext uri="{FF2B5EF4-FFF2-40B4-BE49-F238E27FC236}">
                <a16:creationId xmlns:a16="http://schemas.microsoft.com/office/drawing/2014/main" id="{D1A6FAEB-0D11-4D7D-9754-629D1A672D97}"/>
              </a:ext>
            </a:extLst>
          </p:cNvPr>
          <p:cNvSpPr txBox="1"/>
          <p:nvPr/>
        </p:nvSpPr>
        <p:spPr>
          <a:xfrm>
            <a:off x="10739888" y="4459472"/>
            <a:ext cx="1166362" cy="553998"/>
          </a:xfrm>
          <a:prstGeom prst="rect">
            <a:avLst/>
          </a:prstGeom>
          <a:noFill/>
        </p:spPr>
        <p:txBody>
          <a:bodyPr wrap="square" rtlCol="0">
            <a:spAutoFit/>
          </a:bodyPr>
          <a:lstStyle/>
          <a:p>
            <a:pPr algn="r"/>
            <a:r>
              <a:rPr lang="es-CO" sz="3000" b="1">
                <a:solidFill>
                  <a:schemeClr val="bg1"/>
                </a:solidFill>
                <a:latin typeface="Arial" panose="020B0604020202020204" pitchFamily="34" charset="0"/>
                <a:ea typeface="Roboto" panose="02000000000000000000" pitchFamily="2" charset="0"/>
                <a:cs typeface="Arial" panose="020B0604020202020204" pitchFamily="34" charset="0"/>
              </a:rPr>
              <a:t>2026</a:t>
            </a:r>
          </a:p>
        </p:txBody>
      </p:sp>
      <p:sp>
        <p:nvSpPr>
          <p:cNvPr id="23" name="Google Shape;40;p33"/>
          <p:cNvSpPr txBox="1">
            <a:spLocks noGrp="1"/>
          </p:cNvSpPr>
          <p:nvPr>
            <p:ph type="title" hasCustomPrompt="1"/>
          </p:nvPr>
        </p:nvSpPr>
        <p:spPr>
          <a:xfrm>
            <a:off x="4114800" y="1788503"/>
            <a:ext cx="7609160" cy="101890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1"/>
              </a:buClr>
              <a:buSzPts val="4400"/>
              <a:buFont typeface="Calibri"/>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Tree>
    <p:extLst>
      <p:ext uri="{BB962C8B-B14F-4D97-AF65-F5344CB8AC3E}">
        <p14:creationId xmlns:p14="http://schemas.microsoft.com/office/powerpoint/2010/main" val="2760061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solidFill>
          <a:srgbClr val="0D3240"/>
        </a:solidFill>
        <a:effectLst/>
      </p:bgPr>
    </p:bg>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200DF232-9F94-437F-A5B1-F2EE8AD5FEF8}"/>
              </a:ext>
            </a:extLst>
          </p:cNvPr>
          <p:cNvSpPr>
            <a:spLocks noGrp="1"/>
          </p:cNvSpPr>
          <p:nvPr>
            <p:ph type="title" hasCustomPrompt="1"/>
          </p:nvPr>
        </p:nvSpPr>
        <p:spPr>
          <a:xfrm>
            <a:off x="1509948" y="583259"/>
            <a:ext cx="4923509" cy="724989"/>
          </a:xfrm>
        </p:spPr>
        <p:txBody>
          <a:bodyPr/>
          <a:lstStyle>
            <a:lvl1pPr algn="ctr">
              <a:defRPr sz="6000" b="1">
                <a:solidFill>
                  <a:srgbClr val="02C9B6"/>
                </a:solidFill>
              </a:defRPr>
            </a:lvl1pPr>
          </a:lstStyle>
          <a:p>
            <a:r>
              <a:rPr lang="es-ES"/>
              <a:t>AGENDA</a:t>
            </a:r>
            <a:endParaRPr lang="es-CO"/>
          </a:p>
        </p:txBody>
      </p:sp>
      <p:sp>
        <p:nvSpPr>
          <p:cNvPr id="8" name="Google Shape;37;p32">
            <a:extLst>
              <a:ext uri="{FF2B5EF4-FFF2-40B4-BE49-F238E27FC236}">
                <a16:creationId xmlns:a16="http://schemas.microsoft.com/office/drawing/2014/main" id="{7E4911F7-0A38-4B68-AAA1-C1FC3DEB2706}"/>
              </a:ext>
            </a:extLst>
          </p:cNvPr>
          <p:cNvSpPr txBox="1">
            <a:spLocks noGrp="1"/>
          </p:cNvSpPr>
          <p:nvPr>
            <p:ph type="body" idx="1"/>
          </p:nvPr>
        </p:nvSpPr>
        <p:spPr>
          <a:xfrm>
            <a:off x="1509947" y="1624765"/>
            <a:ext cx="10018713" cy="4440917"/>
          </a:xfrm>
          <a:prstGeom prst="rect">
            <a:avLst/>
          </a:prstGeom>
          <a:noFill/>
          <a:ln>
            <a:noFill/>
          </a:ln>
        </p:spPr>
        <p:txBody>
          <a:bodyPr spcFirstLastPara="1" wrap="square" lIns="91425" tIns="45700" rIns="91425" bIns="45700" anchor="t" anchorCtr="0">
            <a:normAutofit/>
          </a:bodyPr>
          <a:lstStyle>
            <a:lvl1pPr marL="521970" lvl="0" indent="-514350" algn="l">
              <a:lnSpc>
                <a:spcPct val="100000"/>
              </a:lnSpc>
              <a:spcBef>
                <a:spcPts val="480"/>
              </a:spcBef>
              <a:spcAft>
                <a:spcPts val="0"/>
              </a:spcAft>
              <a:buClr>
                <a:srgbClr val="02C9B6"/>
              </a:buClr>
              <a:buSzPts val="3480"/>
              <a:buFont typeface="+mj-lt"/>
              <a:buAutoNum type="arabicPeriod"/>
              <a:defRPr sz="3600">
                <a:solidFill>
                  <a:schemeClr val="bg1"/>
                </a:solidFill>
                <a:latin typeface="Calibri"/>
                <a:ea typeface="Calibri"/>
                <a:cs typeface="Calibri"/>
                <a:sym typeface="Calibri"/>
              </a:defRPr>
            </a:lvl1pPr>
            <a:lvl2pPr marL="914400" lvl="1" indent="-412750" algn="l">
              <a:lnSpc>
                <a:spcPct val="100000"/>
              </a:lnSpc>
              <a:spcBef>
                <a:spcPts val="600"/>
              </a:spcBef>
              <a:spcAft>
                <a:spcPts val="0"/>
              </a:spcAft>
              <a:buSzPts val="2900"/>
              <a:buChar char="•"/>
              <a:defRPr>
                <a:latin typeface="Calibri"/>
                <a:ea typeface="Calibri"/>
                <a:cs typeface="Calibri"/>
                <a:sym typeface="Calibri"/>
              </a:defRPr>
            </a:lvl2pPr>
            <a:lvl3pPr marL="1371600" lvl="2" indent="-394335" algn="l">
              <a:lnSpc>
                <a:spcPct val="100000"/>
              </a:lnSpc>
              <a:spcBef>
                <a:spcPts val="600"/>
              </a:spcBef>
              <a:spcAft>
                <a:spcPts val="0"/>
              </a:spcAft>
              <a:buSzPts val="2610"/>
              <a:buChar char="•"/>
              <a:defRPr>
                <a:latin typeface="Calibri"/>
                <a:ea typeface="Calibri"/>
                <a:cs typeface="Calibri"/>
                <a:sym typeface="Calibri"/>
              </a:defRPr>
            </a:lvl3pPr>
            <a:lvl4pPr marL="1828800" lvl="3" indent="-375919" algn="l">
              <a:lnSpc>
                <a:spcPct val="100000"/>
              </a:lnSpc>
              <a:spcBef>
                <a:spcPts val="600"/>
              </a:spcBef>
              <a:spcAft>
                <a:spcPts val="0"/>
              </a:spcAft>
              <a:buSzPts val="2320"/>
              <a:buChar char="•"/>
              <a:defRPr>
                <a:latin typeface="Calibri"/>
                <a:ea typeface="Calibri"/>
                <a:cs typeface="Calibri"/>
                <a:sym typeface="Calibri"/>
              </a:defRPr>
            </a:lvl4pPr>
            <a:lvl5pPr marL="2286000" lvl="4" indent="-357504" algn="l">
              <a:lnSpc>
                <a:spcPct val="100000"/>
              </a:lnSpc>
              <a:spcBef>
                <a:spcPts val="600"/>
              </a:spcBef>
              <a:spcAft>
                <a:spcPts val="0"/>
              </a:spcAft>
              <a:buSzPts val="203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pic>
        <p:nvPicPr>
          <p:cNvPr id="9" name="Gráfico 5">
            <a:extLst>
              <a:ext uri="{FF2B5EF4-FFF2-40B4-BE49-F238E27FC236}">
                <a16:creationId xmlns:a16="http://schemas.microsoft.com/office/drawing/2014/main" id="{77AE4992-419D-4C0D-ADAE-F817396DCB9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7190" y="899777"/>
            <a:ext cx="6108174" cy="91951"/>
          </a:xfrm>
          <a:prstGeom prst="rect">
            <a:avLst/>
          </a:prstGeom>
        </p:spPr>
      </p:pic>
      <p:pic>
        <p:nvPicPr>
          <p:cNvPr id="10" name="Gráfico 11">
            <a:extLst>
              <a:ext uri="{FF2B5EF4-FFF2-40B4-BE49-F238E27FC236}">
                <a16:creationId xmlns:a16="http://schemas.microsoft.com/office/drawing/2014/main" id="{B9CE167F-D9B1-4886-B83E-2CEA293BA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1" name="CuadroTexto 10">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287058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Portada">
    <p:bg>
      <p:bgPr>
        <a:solidFill>
          <a:srgbClr val="7F7F7F">
            <a:alpha val="20000"/>
          </a:srgbClr>
        </a:solid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r:embed="rId2">
            <a:alphaModFix amt="3000"/>
          </a:blip>
          <a:stretch>
            <a:fillRect/>
          </a:stretch>
        </p:blipFill>
        <p:spPr>
          <a:xfrm>
            <a:off x="-1828592" y="-1689100"/>
            <a:ext cx="7648891" cy="6858000"/>
          </a:xfrm>
          <a:prstGeom prst="rect">
            <a:avLst/>
          </a:prstGeom>
        </p:spPr>
      </p:pic>
      <p:sp>
        <p:nvSpPr>
          <p:cNvPr id="13" name="CuadroTexto 12">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Mnecación</a:t>
            </a:r>
            <a:endParaRPr lang="es-CO" sz="900">
              <a:solidFill>
                <a:schemeClr val="bg1"/>
              </a:solidFill>
            </a:endParaRP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0301" y="4055585"/>
            <a:ext cx="6108174" cy="91951"/>
          </a:xfrm>
          <a:prstGeom prst="rect">
            <a:avLst/>
          </a:prstGeom>
        </p:spPr>
      </p:pic>
    </p:spTree>
    <p:extLst>
      <p:ext uri="{BB962C8B-B14F-4D97-AF65-F5344CB8AC3E}">
        <p14:creationId xmlns:p14="http://schemas.microsoft.com/office/powerpoint/2010/main" val="573489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Portada">
    <p:bg>
      <p:bgPr>
        <a:solidFill>
          <a:srgbClr val="7F7F7F">
            <a:alpha val="20000"/>
          </a:srgbClr>
        </a:solidFill>
        <a:effectLst/>
      </p:bgPr>
    </p:bg>
    <p:spTree>
      <p:nvGrpSpPr>
        <p:cNvPr id="1" name=""/>
        <p:cNvGrpSpPr/>
        <p:nvPr/>
      </p:nvGrpSpPr>
      <p:grpSpPr>
        <a:xfrm>
          <a:off x="0" y="0"/>
          <a:ext cx="0" cy="0"/>
          <a:chOff x="0" y="0"/>
          <a:chExt cx="0" cy="0"/>
        </a:xfrm>
      </p:grpSpPr>
      <p:pic>
        <p:nvPicPr>
          <p:cNvPr id="12" name="Gráfico 11">
            <a:extLst>
              <a:ext uri="{FF2B5EF4-FFF2-40B4-BE49-F238E27FC236}">
                <a16:creationId xmlns:a16="http://schemas.microsoft.com/office/drawing/2014/main" id="{01917929-CAC9-4C23-BB91-8827BDA2CAEB}"/>
              </a:ext>
            </a:extLst>
          </p:cNvPr>
          <p:cNvPicPr>
            <a:picLocks noChangeAspect="1"/>
          </p:cNvPicPr>
          <p:nvPr/>
        </p:nvPicPr>
        <p:blipFill>
          <a:blip r:embed="rId2">
            <a:alphaModFix amt="3000"/>
          </a:blip>
          <a:stretch>
            <a:fillRect/>
          </a:stretch>
        </p:blipFill>
        <p:spPr>
          <a:xfrm>
            <a:off x="-1828592" y="-1689100"/>
            <a:ext cx="7648891" cy="6858000"/>
          </a:xfrm>
          <a:prstGeom prst="rect">
            <a:avLst/>
          </a:prstGeom>
        </p:spPr>
      </p:pic>
      <p:sp>
        <p:nvSpPr>
          <p:cNvPr id="13" name="CuadroTexto 12">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Mnecación</a:t>
            </a:r>
            <a:endParaRPr lang="es-CO" sz="900">
              <a:solidFill>
                <a:schemeClr val="bg1"/>
              </a:solidFill>
            </a:endParaRPr>
          </a:p>
        </p:txBody>
      </p:sp>
      <p:pic>
        <p:nvPicPr>
          <p:cNvPr id="20" name="Gráfico 5">
            <a:extLst>
              <a:ext uri="{FF2B5EF4-FFF2-40B4-BE49-F238E27FC236}">
                <a16:creationId xmlns:a16="http://schemas.microsoft.com/office/drawing/2014/main" id="{9F47A9DA-CE97-4EC8-9576-61A1ECAA59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0301" y="4055585"/>
            <a:ext cx="6108174" cy="91951"/>
          </a:xfrm>
          <a:prstGeom prst="rect">
            <a:avLst/>
          </a:prstGeom>
        </p:spPr>
      </p:pic>
    </p:spTree>
    <p:extLst>
      <p:ext uri="{BB962C8B-B14F-4D97-AF65-F5344CB8AC3E}">
        <p14:creationId xmlns:p14="http://schemas.microsoft.com/office/powerpoint/2010/main" val="775289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ema 1 de 3">
    <p:bg>
      <p:bgPr>
        <a:solidFill>
          <a:schemeClr val="bg1"/>
        </a:solidFill>
        <a:effectLst/>
      </p:bgPr>
    </p:bg>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3"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2961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 </a:t>
            </a:r>
            <a:br>
              <a:rPr lang="es-CO" sz="1800" b="0" i="0" u="none" strike="noStrike" cap="none">
                <a:solidFill>
                  <a:schemeClr val="lt1"/>
                </a:solidFill>
                <a:latin typeface="Calibri"/>
                <a:ea typeface="Calibri"/>
                <a:cs typeface="Calibri"/>
                <a:sym typeface="Calibri"/>
              </a:rPr>
            </a:br>
            <a:r>
              <a:rPr lang="es-CO" sz="1800" b="0" i="0" u="none" strike="noStrike" cap="none" err="1">
                <a:solidFill>
                  <a:schemeClr val="lt1"/>
                </a:solidFill>
                <a:latin typeface="Calibri"/>
                <a:ea typeface="Calibri"/>
                <a:cs typeface="Calibri"/>
                <a:sym typeface="Calibri"/>
              </a:rPr>
              <a:t>if-then-else</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31125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Sección </a:t>
            </a:r>
            <a:r>
              <a:rPr lang="es-CO" sz="1800" b="0" i="0" u="none" strike="noStrike" cap="none" err="1">
                <a:solidFill>
                  <a:schemeClr val="lt1"/>
                </a:solidFill>
                <a:latin typeface="Calibri"/>
                <a:ea typeface="Calibri"/>
                <a:cs typeface="Calibri"/>
                <a:sym typeface="Calibri"/>
              </a:rPr>
              <a:t>elif</a:t>
            </a:r>
            <a:endParaRPr lang="es-CO" sz="1800" b="0" i="0" u="none" strike="noStrike" cap="none">
              <a:solidFill>
                <a:schemeClr val="lt1"/>
              </a:solidFill>
              <a:latin typeface="Calibri"/>
              <a:ea typeface="Calibri"/>
              <a:cs typeface="Calibri"/>
              <a:sym typeface="Calibri"/>
            </a:endParaRPr>
          </a:p>
        </p:txBody>
      </p:sp>
      <p:sp>
        <p:nvSpPr>
          <p:cNvPr id="27" name="Google Shape;47;p33"/>
          <p:cNvSpPr/>
          <p:nvPr/>
        </p:nvSpPr>
        <p:spPr>
          <a:xfrm>
            <a:off x="0" y="39209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Condicionales anidados</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6037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ema 2 de 3">
    <p:bg>
      <p:bgPr>
        <a:solidFill>
          <a:schemeClr val="bg1"/>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0" name="Google Shape;43;p33"/>
          <p:cNvSpPr/>
          <p:nvPr/>
        </p:nvSpPr>
        <p:spPr>
          <a:xfrm>
            <a:off x="0" y="2296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 </a:t>
            </a:r>
            <a:br>
              <a:rPr lang="es-CO" sz="1800" b="0" i="0" u="none" strike="noStrike" cap="none">
                <a:solidFill>
                  <a:schemeClr val="lt1"/>
                </a:solidFill>
                <a:latin typeface="Calibri"/>
                <a:ea typeface="Calibri"/>
                <a:cs typeface="Calibri"/>
                <a:sym typeface="Calibri"/>
              </a:rPr>
            </a:br>
            <a:r>
              <a:rPr lang="es-CO" sz="1800" b="0" i="0" u="none" strike="noStrike" cap="none" err="1">
                <a:solidFill>
                  <a:schemeClr val="lt1"/>
                </a:solidFill>
                <a:latin typeface="Calibri"/>
                <a:ea typeface="Calibri"/>
                <a:cs typeface="Calibri"/>
                <a:sym typeface="Calibri"/>
              </a:rPr>
              <a:t>if-then-else</a:t>
            </a:r>
            <a:endParaRPr sz="1400" b="0" i="0" u="none" strike="noStrike" cap="none">
              <a:solidFill>
                <a:srgbClr val="000000"/>
              </a:solidFill>
              <a:latin typeface="Arial"/>
              <a:ea typeface="Arial"/>
              <a:cs typeface="Arial"/>
              <a:sym typeface="Arial"/>
            </a:endParaRP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45;p33"/>
          <p:cNvSpPr/>
          <p:nvPr/>
        </p:nvSpPr>
        <p:spPr>
          <a:xfrm>
            <a:off x="0" y="311254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Sección </a:t>
            </a:r>
            <a:r>
              <a:rPr lang="es-CO" sz="1800" b="0" i="0" u="none" strike="noStrike" cap="none" err="1">
                <a:solidFill>
                  <a:schemeClr val="lt1"/>
                </a:solidFill>
                <a:latin typeface="Calibri"/>
                <a:ea typeface="Calibri"/>
                <a:cs typeface="Calibri"/>
                <a:sym typeface="Calibri"/>
              </a:rPr>
              <a:t>elif</a:t>
            </a:r>
            <a:endParaRPr lang="es-CO"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47;p33"/>
          <p:cNvSpPr/>
          <p:nvPr/>
        </p:nvSpPr>
        <p:spPr>
          <a:xfrm>
            <a:off x="0" y="39209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Condicionales anidados</a:t>
            </a:r>
            <a:endParaRPr sz="1400" b="0" i="0" u="none" strike="noStrike" cap="none">
              <a:solidFill>
                <a:srgbClr val="000000"/>
              </a:solidFill>
              <a:latin typeface="Arial"/>
              <a:ea typeface="Arial"/>
              <a:cs typeface="Arial"/>
              <a:sym typeface="Arial"/>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1026005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ma 3 de 3">
    <p:bg>
      <p:bgPr>
        <a:solidFill>
          <a:schemeClr val="bg1"/>
        </a:solidFill>
        <a:effectLst/>
      </p:bgPr>
    </p:bg>
    <p:spTree>
      <p:nvGrpSpPr>
        <p:cNvPr id="1" name=""/>
        <p:cNvGrpSpPr/>
        <p:nvPr/>
      </p:nvGrpSpPr>
      <p:grpSpPr>
        <a:xfrm>
          <a:off x="0" y="0"/>
          <a:ext cx="0" cy="0"/>
          <a:chOff x="0" y="0"/>
          <a:chExt cx="0" cy="0"/>
        </a:xfrm>
      </p:grpSpPr>
      <p:pic>
        <p:nvPicPr>
          <p:cNvPr id="13"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2" name="Rectángulo 1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0" name="Google Shape;43;p33"/>
          <p:cNvSpPr/>
          <p:nvPr/>
        </p:nvSpPr>
        <p:spPr>
          <a:xfrm>
            <a:off x="0" y="2296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 </a:t>
            </a:r>
            <a:br>
              <a:rPr lang="es-CO" sz="1800" b="0" i="0" u="none" strike="noStrike" cap="none">
                <a:solidFill>
                  <a:schemeClr val="lt1"/>
                </a:solidFill>
                <a:latin typeface="Calibri"/>
                <a:ea typeface="Calibri"/>
                <a:cs typeface="Calibri"/>
                <a:sym typeface="Calibri"/>
              </a:rPr>
            </a:br>
            <a:r>
              <a:rPr lang="es-CO" sz="1800" b="0" i="0" u="none" strike="noStrike" cap="none" err="1">
                <a:solidFill>
                  <a:schemeClr val="lt1"/>
                </a:solidFill>
                <a:latin typeface="Calibri"/>
                <a:ea typeface="Calibri"/>
                <a:cs typeface="Calibri"/>
                <a:sym typeface="Calibri"/>
              </a:rPr>
              <a:t>if-then-else</a:t>
            </a:r>
            <a:endParaRPr sz="1400" b="0" i="0" u="none" strike="noStrike" cap="none">
              <a:solidFill>
                <a:srgbClr val="000000"/>
              </a:solidFill>
              <a:latin typeface="Arial"/>
              <a:ea typeface="Arial"/>
              <a:cs typeface="Arial"/>
              <a:sym typeface="Arial"/>
            </a:endParaRP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45;p33"/>
          <p:cNvSpPr/>
          <p:nvPr/>
        </p:nvSpPr>
        <p:spPr>
          <a:xfrm>
            <a:off x="0" y="31125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Sección </a:t>
            </a:r>
            <a:r>
              <a:rPr lang="es-CO" sz="1800" b="0" i="0" u="none" strike="noStrike" cap="none" err="1">
                <a:solidFill>
                  <a:schemeClr val="lt1"/>
                </a:solidFill>
                <a:latin typeface="Calibri"/>
                <a:ea typeface="Calibri"/>
                <a:cs typeface="Calibri"/>
                <a:sym typeface="Calibri"/>
              </a:rPr>
              <a:t>elif</a:t>
            </a:r>
            <a:endParaRPr lang="es-CO"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47;p33"/>
          <p:cNvSpPr/>
          <p:nvPr/>
        </p:nvSpPr>
        <p:spPr>
          <a:xfrm>
            <a:off x="0" y="3920985"/>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Condicionales anidados</a:t>
            </a:r>
            <a:endParaRPr sz="1400" b="0" i="0" u="none" strike="noStrike" cap="none">
              <a:solidFill>
                <a:srgbClr val="000000"/>
              </a:solidFill>
              <a:latin typeface="Arial"/>
              <a:ea typeface="Arial"/>
              <a:cs typeface="Arial"/>
              <a:sym typeface="Arial"/>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pic>
        <p:nvPicPr>
          <p:cNvPr id="14" name="Gráfico 11">
            <a:extLst>
              <a:ext uri="{FF2B5EF4-FFF2-40B4-BE49-F238E27FC236}">
                <a16:creationId xmlns:a16="http://schemas.microsoft.com/office/drawing/2014/main" id="{5DCCAEF9-2F14-419C-88B2-DA5C937F7DCF}"/>
              </a:ext>
            </a:extLst>
          </p:cNvPr>
          <p:cNvPicPr>
            <a:picLocks noChangeAspect="1"/>
          </p:cNvPicPr>
          <p:nvPr userDrawn="1"/>
        </p:nvPicPr>
        <p:blipFill rotWithShape="1">
          <a:blip r:embed="rId2">
            <a:alphaModFix amt="3000"/>
          </a:blip>
          <a:srcRect r="84162"/>
          <a:stretch/>
        </p:blipFill>
        <p:spPr>
          <a:xfrm>
            <a:off x="-42185" y="-11154"/>
            <a:ext cx="1590466" cy="6858000"/>
          </a:xfrm>
          <a:prstGeom prst="rect">
            <a:avLst/>
          </a:prstGeom>
        </p:spPr>
      </p:pic>
    </p:spTree>
    <p:extLst>
      <p:ext uri="{BB962C8B-B14F-4D97-AF65-F5344CB8AC3E}">
        <p14:creationId xmlns:p14="http://schemas.microsoft.com/office/powerpoint/2010/main" val="393934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ma 1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1437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Resolución de problemas</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9601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Ejemplo</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7685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Ejercicios</a:t>
            </a:r>
            <a:endParaRPr lang="es-CO" sz="1400" b="0" i="0" u="none" strike="noStrike" cap="none">
              <a:solidFill>
                <a:srgbClr val="000000"/>
              </a:solidFill>
              <a:latin typeface="Arial"/>
              <a:ea typeface="Arial"/>
              <a:cs typeface="Arial"/>
              <a:sym typeface="Arial"/>
            </a:endParaRPr>
          </a:p>
        </p:txBody>
      </p:sp>
      <p:sp>
        <p:nvSpPr>
          <p:cNvPr id="12" name="Google Shape;48;p33"/>
          <p:cNvSpPr/>
          <p:nvPr/>
        </p:nvSpPr>
        <p:spPr>
          <a:xfrm>
            <a:off x="0" y="522808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57821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Proyecto</a:t>
            </a:r>
            <a:endParaRPr lang="es-CO"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38057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ma 2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1437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Resolución de problemas</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96014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Ejemplo</a:t>
            </a:r>
            <a:endParaRPr lang="es-CO" sz="1400" b="0" i="0" u="none" strike="noStrike" cap="none">
              <a:solidFill>
                <a:srgbClr val="000000"/>
              </a:solidFill>
              <a:latin typeface="Arial"/>
              <a:ea typeface="Arial"/>
              <a:cs typeface="Arial"/>
              <a:sym typeface="Arial"/>
            </a:endParaRPr>
          </a:p>
        </p:txBody>
      </p:sp>
      <p:sp>
        <p:nvSpPr>
          <p:cNvPr id="27" name="Google Shape;47;p33"/>
          <p:cNvSpPr/>
          <p:nvPr/>
        </p:nvSpPr>
        <p:spPr>
          <a:xfrm>
            <a:off x="0" y="37685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Ejercicios</a:t>
            </a:r>
            <a:endParaRPr lang="es-CO" sz="1400" b="0" i="0" u="none" strike="noStrike" cap="none">
              <a:solidFill>
                <a:srgbClr val="000000"/>
              </a:solidFill>
              <a:latin typeface="Arial"/>
              <a:ea typeface="Arial"/>
              <a:cs typeface="Arial"/>
              <a:sym typeface="Arial"/>
            </a:endParaRPr>
          </a:p>
        </p:txBody>
      </p:sp>
      <p:sp>
        <p:nvSpPr>
          <p:cNvPr id="12" name="Google Shape;48;p33"/>
          <p:cNvSpPr/>
          <p:nvPr/>
        </p:nvSpPr>
        <p:spPr>
          <a:xfrm>
            <a:off x="0" y="522808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57821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Proyecto</a:t>
            </a:r>
            <a:endParaRPr lang="es-CO"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63036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ema 3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1437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Resolución de problemas</a:t>
            </a:r>
            <a:endParaRPr lang="es-CO" sz="1400" b="0" i="0" u="none" strike="noStrike" cap="none">
              <a:solidFill>
                <a:srgbClr val="000000"/>
              </a:solidFill>
              <a:latin typeface="Arial"/>
              <a:ea typeface="Arial"/>
              <a:cs typeface="Arial"/>
              <a:sym typeface="Arial"/>
            </a:endParaRPr>
          </a:p>
        </p:txBody>
      </p:sp>
      <p:sp>
        <p:nvSpPr>
          <p:cNvPr id="16" name="Google Shape;45;p33"/>
          <p:cNvSpPr/>
          <p:nvPr/>
        </p:nvSpPr>
        <p:spPr>
          <a:xfrm>
            <a:off x="0" y="29601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Ejemplo</a:t>
            </a:r>
            <a:endParaRPr lang="es-CO" sz="1400" b="0" i="0" u="none" strike="noStrike" cap="none">
              <a:solidFill>
                <a:srgbClr val="000000"/>
              </a:solidFill>
              <a:latin typeface="Arial"/>
              <a:ea typeface="Arial"/>
              <a:cs typeface="Arial"/>
              <a:sym typeface="Arial"/>
            </a:endParaRPr>
          </a:p>
        </p:txBody>
      </p:sp>
      <p:sp>
        <p:nvSpPr>
          <p:cNvPr id="27" name="Google Shape;47;p33"/>
          <p:cNvSpPr/>
          <p:nvPr/>
        </p:nvSpPr>
        <p:spPr>
          <a:xfrm>
            <a:off x="0" y="3768585"/>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Ejercicios</a:t>
            </a:r>
            <a:endParaRPr lang="es-CO" sz="1400" b="0" i="0" u="none" strike="noStrike" cap="none">
              <a:solidFill>
                <a:srgbClr val="000000"/>
              </a:solidFill>
              <a:latin typeface="Arial"/>
              <a:ea typeface="Arial"/>
              <a:cs typeface="Arial"/>
              <a:sym typeface="Arial"/>
            </a:endParaRPr>
          </a:p>
        </p:txBody>
      </p:sp>
      <p:sp>
        <p:nvSpPr>
          <p:cNvPr id="12" name="Google Shape;48;p33"/>
          <p:cNvSpPr/>
          <p:nvPr/>
        </p:nvSpPr>
        <p:spPr>
          <a:xfrm>
            <a:off x="0" y="522808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57821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Proyecto</a:t>
            </a:r>
            <a:endParaRPr lang="es-CO"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84537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ma 4 de 4">
    <p:bg>
      <p:bgPr>
        <a:solidFill>
          <a:schemeClr val="bg1"/>
        </a:solidFill>
        <a:effectLst/>
      </p:bgPr>
    </p:bg>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0"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7935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6100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4184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21437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lang="es-CO" sz="1800" b="0" i="0" u="none" strike="noStrike" cap="none">
                <a:solidFill>
                  <a:schemeClr val="lt1"/>
                </a:solidFill>
                <a:latin typeface="Calibri"/>
                <a:ea typeface="Calibri"/>
                <a:cs typeface="Calibri"/>
                <a:sym typeface="Calibri"/>
              </a:rPr>
              <a:t>Resolución de problemas</a:t>
            </a:r>
            <a:endParaRPr lang="es-CO" sz="1400" b="0" i="0" u="none" strike="noStrike" cap="none">
              <a:solidFill>
                <a:srgbClr val="000000"/>
              </a:solidFill>
              <a:latin typeface="Arial"/>
              <a:ea typeface="Arial"/>
              <a:cs typeface="Arial"/>
              <a:sym typeface="Arial"/>
            </a:endParaRPr>
          </a:p>
        </p:txBody>
      </p:sp>
      <p:sp>
        <p:nvSpPr>
          <p:cNvPr id="16" name="Google Shape;45;p33"/>
          <p:cNvSpPr/>
          <p:nvPr/>
        </p:nvSpPr>
        <p:spPr>
          <a:xfrm>
            <a:off x="0" y="2960140"/>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Ejemplo</a:t>
            </a:r>
            <a:endParaRPr lang="es-CO" sz="1400" b="0" i="0" u="none" strike="noStrike" cap="none">
              <a:solidFill>
                <a:srgbClr val="000000"/>
              </a:solidFill>
              <a:latin typeface="Arial"/>
              <a:ea typeface="Arial"/>
              <a:cs typeface="Arial"/>
              <a:sym typeface="Arial"/>
            </a:endParaRPr>
          </a:p>
        </p:txBody>
      </p:sp>
      <p:sp>
        <p:nvSpPr>
          <p:cNvPr id="27" name="Google Shape;47;p33"/>
          <p:cNvSpPr/>
          <p:nvPr/>
        </p:nvSpPr>
        <p:spPr>
          <a:xfrm>
            <a:off x="0" y="3768585"/>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Ejercicios</a:t>
            </a:r>
            <a:endParaRPr lang="es-CO" sz="1400" b="0" i="0" u="none" strike="noStrike" cap="none">
              <a:solidFill>
                <a:srgbClr val="000000"/>
              </a:solidFill>
              <a:latin typeface="Arial"/>
              <a:ea typeface="Arial"/>
              <a:cs typeface="Arial"/>
              <a:sym typeface="Arial"/>
            </a:endParaRPr>
          </a:p>
        </p:txBody>
      </p:sp>
      <p:sp>
        <p:nvSpPr>
          <p:cNvPr id="12" name="Google Shape;48;p33"/>
          <p:cNvSpPr/>
          <p:nvPr/>
        </p:nvSpPr>
        <p:spPr>
          <a:xfrm>
            <a:off x="0" y="522808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578210"/>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Proyecto</a:t>
            </a:r>
            <a:endParaRPr lang="es-CO"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81545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ma 1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userDrawn="1"/>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lang="es-CO"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75662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ma 2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7351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ma 3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28246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ma 4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Gráfico 11">
            <a:extLst>
              <a:ext uri="{FF2B5EF4-FFF2-40B4-BE49-F238E27FC236}">
                <a16:creationId xmlns:a16="http://schemas.microsoft.com/office/drawing/2014/main" id="{01917929-CAC9-4C23-BB91-8827BDA2CAEB}"/>
              </a:ext>
            </a:extLst>
          </p:cNvPr>
          <p:cNvPicPr>
            <a:picLocks noChangeAspect="1"/>
          </p:cNvPicPr>
          <p:nvPr/>
        </p:nvPicPr>
        <p:blipFill rotWithShape="1">
          <a:blip r:embed="rId2">
            <a:alphaModFix amt="3000"/>
          </a:blip>
          <a:srcRect r="84162"/>
          <a:stretch/>
        </p:blipFill>
        <p:spPr>
          <a:xfrm>
            <a:off x="210" y="5304"/>
            <a:ext cx="1590466" cy="6858000"/>
          </a:xfrm>
          <a:prstGeom prst="rect">
            <a:avLst/>
          </a:prstGeom>
        </p:spPr>
      </p:pic>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97012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ma 5 de 5">
    <p:bg>
      <p:bgPr>
        <a:solidFill>
          <a:schemeClr val="bg1"/>
        </a:solidFill>
        <a:effectLst/>
      </p:bgPr>
    </p:bg>
    <p:spTree>
      <p:nvGrpSpPr>
        <p:cNvPr id="1" name=""/>
        <p:cNvGrpSpPr/>
        <p:nvPr/>
      </p:nvGrpSpPr>
      <p:grpSpPr>
        <a:xfrm>
          <a:off x="0" y="0"/>
          <a:ext cx="0" cy="0"/>
          <a:chOff x="0" y="0"/>
          <a:chExt cx="0" cy="0"/>
        </a:xfrm>
      </p:grpSpPr>
      <p:sp>
        <p:nvSpPr>
          <p:cNvPr id="22" name="Rectángulo 21">
            <a:extLst>
              <a:ext uri="{FF2B5EF4-FFF2-40B4-BE49-F238E27FC236}">
                <a16:creationId xmlns:a16="http://schemas.microsoft.com/office/drawing/2014/main" id="{7B3CDB48-DCBE-4C96-96CD-319BFEF3F5D1}"/>
              </a:ext>
            </a:extLst>
          </p:cNvPr>
          <p:cNvSpPr/>
          <p:nvPr/>
        </p:nvSpPr>
        <p:spPr>
          <a:xfrm>
            <a:off x="-9526" y="0"/>
            <a:ext cx="1567543" cy="6858000"/>
          </a:xfrm>
          <a:prstGeom prst="rect">
            <a:avLst/>
          </a:prstGeom>
          <a:gradFill flip="none" rotWithShape="1">
            <a:gsLst>
              <a:gs pos="0">
                <a:schemeClr val="bg1"/>
              </a:gs>
              <a:gs pos="36000">
                <a:srgbClr val="E0E0E0"/>
              </a:gs>
              <a:gs pos="67000">
                <a:srgbClr val="C8C8C8"/>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510553"/>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326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135431"/>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15" name="Google Shape;43;p33"/>
          <p:cNvSpPr/>
          <p:nvPr/>
        </p:nvSpPr>
        <p:spPr>
          <a:xfrm>
            <a:off x="0" y="1860674"/>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Introducción</a:t>
            </a:r>
            <a:endParaRPr sz="1400" b="0" i="0" u="none" strike="noStrike" cap="none">
              <a:solidFill>
                <a:srgbClr val="000000"/>
              </a:solidFill>
              <a:latin typeface="Arial"/>
              <a:ea typeface="Arial"/>
              <a:cs typeface="Arial"/>
              <a:sym typeface="Arial"/>
            </a:endParaRPr>
          </a:p>
        </p:txBody>
      </p:sp>
      <p:sp>
        <p:nvSpPr>
          <p:cNvPr id="16" name="Google Shape;45;p33"/>
          <p:cNvSpPr/>
          <p:nvPr/>
        </p:nvSpPr>
        <p:spPr>
          <a:xfrm>
            <a:off x="0" y="267710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Variables booleanas</a:t>
            </a:r>
            <a:endParaRPr sz="1400" b="0" i="0" u="none" strike="noStrike" cap="none">
              <a:solidFill>
                <a:srgbClr val="000000"/>
              </a:solidFill>
              <a:latin typeface="Arial"/>
              <a:ea typeface="Arial"/>
              <a:cs typeface="Arial"/>
              <a:sym typeface="Arial"/>
            </a:endParaRPr>
          </a:p>
        </p:txBody>
      </p:sp>
      <p:sp>
        <p:nvSpPr>
          <p:cNvPr id="27" name="Google Shape;47;p33"/>
          <p:cNvSpPr/>
          <p:nvPr/>
        </p:nvSpPr>
        <p:spPr>
          <a:xfrm>
            <a:off x="0" y="3485552"/>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de comparación</a:t>
            </a:r>
            <a:endParaRPr sz="1400" b="0" i="0" u="none" strike="noStrike" cap="none">
              <a:solidFill>
                <a:srgbClr val="000000"/>
              </a:solidFill>
              <a:latin typeface="Arial"/>
              <a:ea typeface="Arial"/>
              <a:cs typeface="Arial"/>
              <a:sym typeface="Arial"/>
            </a:endParaRPr>
          </a:p>
        </p:txBody>
      </p:sp>
      <p:sp>
        <p:nvSpPr>
          <p:cNvPr id="12" name="Google Shape;48;p33"/>
          <p:cNvSpPr/>
          <p:nvPr/>
        </p:nvSpPr>
        <p:spPr>
          <a:xfrm>
            <a:off x="0" y="494505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47;p33"/>
          <p:cNvSpPr/>
          <p:nvPr/>
        </p:nvSpPr>
        <p:spPr>
          <a:xfrm>
            <a:off x="0" y="4295177"/>
            <a:ext cx="1567543" cy="649879"/>
          </a:xfrm>
          <a:prstGeom prst="rect">
            <a:avLst/>
          </a:prstGeom>
          <a:solidFill>
            <a:srgbClr val="009B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a:solidFill>
                  <a:schemeClr val="lt1"/>
                </a:solidFill>
                <a:latin typeface="Calibri"/>
                <a:ea typeface="Calibri"/>
                <a:cs typeface="Calibri"/>
                <a:sym typeface="Calibri"/>
              </a:rPr>
              <a:t>Operadores lógicos</a:t>
            </a:r>
            <a:endParaRPr lang="es-CO" sz="1400" b="0" i="0" u="none" strike="noStrike" cap="none">
              <a:solidFill>
                <a:srgbClr val="000000"/>
              </a:solidFill>
              <a:latin typeface="Arial"/>
              <a:ea typeface="Arial"/>
              <a:cs typeface="Arial"/>
              <a:sym typeface="Arial"/>
            </a:endParaRPr>
          </a:p>
        </p:txBody>
      </p:sp>
      <p:sp>
        <p:nvSpPr>
          <p:cNvPr id="14" name="Google Shape;48;p33"/>
          <p:cNvSpPr/>
          <p:nvPr/>
        </p:nvSpPr>
        <p:spPr>
          <a:xfrm>
            <a:off x="10882" y="5739712"/>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47;p33"/>
          <p:cNvSpPr/>
          <p:nvPr/>
        </p:nvSpPr>
        <p:spPr>
          <a:xfrm>
            <a:off x="10882" y="5089833"/>
            <a:ext cx="1567543" cy="649879"/>
          </a:xfrm>
          <a:prstGeom prst="rect">
            <a:avLst/>
          </a:prstGeom>
          <a:solidFill>
            <a:srgbClr val="0D32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CO" sz="1800" b="0" i="0" u="none" strike="noStrike" cap="none" err="1">
                <a:solidFill>
                  <a:schemeClr val="lt1"/>
                </a:solidFill>
                <a:latin typeface="Calibri"/>
                <a:ea typeface="Calibri"/>
                <a:cs typeface="Calibri"/>
                <a:sym typeface="Calibri"/>
              </a:rPr>
              <a:t>If-then</a:t>
            </a:r>
            <a:endParaRPr sz="1400" b="0" i="0" u="none" strike="noStrike" cap="none">
              <a:solidFill>
                <a:srgbClr val="000000"/>
              </a:solidFill>
              <a:latin typeface="Arial"/>
              <a:ea typeface="Arial"/>
              <a:cs typeface="Arial"/>
              <a:sym typeface="Arial"/>
            </a:endParaRPr>
          </a:p>
        </p:txBody>
      </p:sp>
      <p:pic>
        <p:nvPicPr>
          <p:cNvPr id="17" name="Gráfico 11">
            <a:extLst>
              <a:ext uri="{FF2B5EF4-FFF2-40B4-BE49-F238E27FC236}">
                <a16:creationId xmlns:a16="http://schemas.microsoft.com/office/drawing/2014/main" id="{D88712F2-2C89-412E-A24E-AA2B1E304FE4}"/>
              </a:ext>
            </a:extLst>
          </p:cNvPr>
          <p:cNvPicPr>
            <a:picLocks noChangeAspect="1"/>
          </p:cNvPicPr>
          <p:nvPr userDrawn="1"/>
        </p:nvPicPr>
        <p:blipFill rotWithShape="1">
          <a:blip r:embed="rId2">
            <a:alphaModFix amt="3000"/>
          </a:blip>
          <a:srcRect r="84162"/>
          <a:stretch/>
        </p:blipFill>
        <p:spPr>
          <a:xfrm>
            <a:off x="210" y="5304"/>
            <a:ext cx="1590466" cy="6858000"/>
          </a:xfrm>
          <a:prstGeom prst="rect">
            <a:avLst/>
          </a:prstGeom>
        </p:spPr>
      </p:pic>
    </p:spTree>
    <p:extLst>
      <p:ext uri="{BB962C8B-B14F-4D97-AF65-F5344CB8AC3E}">
        <p14:creationId xmlns:p14="http://schemas.microsoft.com/office/powerpoint/2010/main" val="4165378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EjercicioFinal">
    <p:bg>
      <p:bgPr>
        <a:solidFill>
          <a:schemeClr val="bg1"/>
        </a:solidFill>
        <a:effectLst/>
      </p:bgPr>
    </p:bg>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EJERCICIO FINAL</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27345795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ota">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Título</a:t>
            </a:r>
            <a:endParaRP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
        <p:nvSpPr>
          <p:cNvPr id="8" name="Rectángulo 7">
            <a:extLst>
              <a:ext uri="{FF2B5EF4-FFF2-40B4-BE49-F238E27FC236}">
                <a16:creationId xmlns:a16="http://schemas.microsoft.com/office/drawing/2014/main" id="{79D2699A-DE0A-4825-8DB2-9F0E8B5DBA36}"/>
              </a:ext>
            </a:extLst>
          </p:cNvPr>
          <p:cNvSpPr/>
          <p:nvPr/>
        </p:nvSpPr>
        <p:spPr>
          <a:xfrm>
            <a:off x="2298607" y="2619419"/>
            <a:ext cx="5005387" cy="2286000"/>
          </a:xfrm>
          <a:prstGeom prst="rect">
            <a:avLst/>
          </a:prstGeom>
          <a:solidFill>
            <a:srgbClr val="02C9B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a:extLst>
              <a:ext uri="{FF2B5EF4-FFF2-40B4-BE49-F238E27FC236}">
                <a16:creationId xmlns:a16="http://schemas.microsoft.com/office/drawing/2014/main" id="{BFE8117D-8F35-423F-A08F-B39513EE78F8}"/>
              </a:ext>
            </a:extLst>
          </p:cNvPr>
          <p:cNvSpPr txBox="1"/>
          <p:nvPr/>
        </p:nvSpPr>
        <p:spPr>
          <a:xfrm>
            <a:off x="2587928" y="2941845"/>
            <a:ext cx="4426744" cy="1631216"/>
          </a:xfrm>
          <a:prstGeom prst="rect">
            <a:avLst/>
          </a:prstGeom>
          <a:noFill/>
        </p:spPr>
        <p:txBody>
          <a:bodyPr wrap="square">
            <a:spAutoFit/>
          </a:bodyPr>
          <a:lstStyle/>
          <a:p>
            <a:pPr marL="85725">
              <a:buClr>
                <a:schemeClr val="bg1"/>
              </a:buClr>
              <a:defRPr/>
            </a:pPr>
            <a:r>
              <a:rPr lang="es-ES" sz="2000" err="1">
                <a:solidFill>
                  <a:srgbClr val="7F7F7F"/>
                </a:solidFill>
              </a:rPr>
              <a:t>Lorem</a:t>
            </a:r>
            <a:r>
              <a:rPr lang="es-ES" sz="2000">
                <a:solidFill>
                  <a:srgbClr val="7F7F7F"/>
                </a:solidFill>
              </a:rPr>
              <a:t> </a:t>
            </a:r>
            <a:r>
              <a:rPr lang="es-ES" sz="2000" err="1">
                <a:solidFill>
                  <a:srgbClr val="7F7F7F"/>
                </a:solidFill>
              </a:rPr>
              <a:t>ipsum</a:t>
            </a:r>
            <a:r>
              <a:rPr lang="es-ES" sz="2000">
                <a:solidFill>
                  <a:srgbClr val="7F7F7F"/>
                </a:solidFill>
              </a:rPr>
              <a:t> dolor </a:t>
            </a:r>
            <a:r>
              <a:rPr lang="es-ES" sz="2000" err="1">
                <a:solidFill>
                  <a:srgbClr val="7F7F7F"/>
                </a:solidFill>
              </a:rPr>
              <a:t>sit</a:t>
            </a:r>
            <a:r>
              <a:rPr lang="es-ES" sz="2000">
                <a:solidFill>
                  <a:srgbClr val="7F7F7F"/>
                </a:solidFill>
              </a:rPr>
              <a:t> </a:t>
            </a:r>
            <a:r>
              <a:rPr lang="es-ES" sz="2000" err="1">
                <a:solidFill>
                  <a:srgbClr val="7F7F7F"/>
                </a:solidFill>
              </a:rPr>
              <a:t>amet</a:t>
            </a:r>
            <a:r>
              <a:rPr lang="es-ES" sz="2000">
                <a:solidFill>
                  <a:srgbClr val="7F7F7F"/>
                </a:solidFill>
              </a:rPr>
              <a:t>, </a:t>
            </a:r>
            <a:r>
              <a:rPr lang="es-ES" sz="2000" err="1">
                <a:solidFill>
                  <a:srgbClr val="7F7F7F"/>
                </a:solidFill>
              </a:rPr>
              <a:t>consectetur</a:t>
            </a:r>
            <a:r>
              <a:rPr lang="es-ES" sz="2000">
                <a:solidFill>
                  <a:srgbClr val="7F7F7F"/>
                </a:solidFill>
              </a:rPr>
              <a:t> </a:t>
            </a:r>
            <a:r>
              <a:rPr lang="es-ES" sz="2000" err="1">
                <a:solidFill>
                  <a:srgbClr val="7F7F7F"/>
                </a:solidFill>
              </a:rPr>
              <a:t>adipiscing</a:t>
            </a:r>
            <a:r>
              <a:rPr lang="es-ES" sz="2000">
                <a:solidFill>
                  <a:srgbClr val="7F7F7F"/>
                </a:solidFill>
              </a:rPr>
              <a:t> </a:t>
            </a:r>
            <a:r>
              <a:rPr lang="es-ES" sz="2000" err="1">
                <a:solidFill>
                  <a:srgbClr val="7F7F7F"/>
                </a:solidFill>
              </a:rPr>
              <a:t>elit</a:t>
            </a:r>
            <a:r>
              <a:rPr lang="es-ES" sz="2000">
                <a:solidFill>
                  <a:srgbClr val="7F7F7F"/>
                </a:solidFill>
              </a:rPr>
              <a:t>. </a:t>
            </a:r>
            <a:r>
              <a:rPr lang="es-ES" sz="2000" err="1">
                <a:solidFill>
                  <a:srgbClr val="7F7F7F"/>
                </a:solidFill>
              </a:rPr>
              <a:t>Integer</a:t>
            </a:r>
            <a:r>
              <a:rPr lang="es-ES" sz="2000">
                <a:solidFill>
                  <a:srgbClr val="7F7F7F"/>
                </a:solidFill>
              </a:rPr>
              <a:t> et </a:t>
            </a:r>
            <a:r>
              <a:rPr lang="es-ES" sz="2000" err="1">
                <a:solidFill>
                  <a:srgbClr val="7F7F7F"/>
                </a:solidFill>
              </a:rPr>
              <a:t>faucibus</a:t>
            </a:r>
            <a:r>
              <a:rPr lang="es-ES" sz="2000">
                <a:solidFill>
                  <a:srgbClr val="7F7F7F"/>
                </a:solidFill>
              </a:rPr>
              <a:t> odio. Quisque et ante </a:t>
            </a:r>
            <a:r>
              <a:rPr lang="es-ES" sz="2000" err="1">
                <a:solidFill>
                  <a:srgbClr val="7F7F7F"/>
                </a:solidFill>
              </a:rPr>
              <a:t>eu</a:t>
            </a:r>
            <a:r>
              <a:rPr lang="es-ES" sz="2000">
                <a:solidFill>
                  <a:srgbClr val="7F7F7F"/>
                </a:solidFill>
              </a:rPr>
              <a:t> </a:t>
            </a:r>
            <a:r>
              <a:rPr lang="es-ES" sz="2000" err="1">
                <a:solidFill>
                  <a:srgbClr val="7F7F7F"/>
                </a:solidFill>
              </a:rPr>
              <a:t>ipsum</a:t>
            </a:r>
            <a:r>
              <a:rPr lang="es-ES" sz="2000">
                <a:solidFill>
                  <a:srgbClr val="7F7F7F"/>
                </a:solidFill>
              </a:rPr>
              <a:t> </a:t>
            </a:r>
            <a:r>
              <a:rPr lang="es-ES" sz="2000" err="1">
                <a:solidFill>
                  <a:srgbClr val="7F7F7F"/>
                </a:solidFill>
              </a:rPr>
              <a:t>dictum</a:t>
            </a:r>
            <a:r>
              <a:rPr lang="es-ES" sz="2000">
                <a:solidFill>
                  <a:srgbClr val="7F7F7F"/>
                </a:solidFill>
              </a:rPr>
              <a:t> </a:t>
            </a:r>
            <a:r>
              <a:rPr lang="es-ES" sz="2000" err="1">
                <a:solidFill>
                  <a:srgbClr val="7F7F7F"/>
                </a:solidFill>
              </a:rPr>
              <a:t>pretium</a:t>
            </a:r>
            <a:r>
              <a:rPr lang="es-ES" sz="2000">
                <a:solidFill>
                  <a:srgbClr val="7F7F7F"/>
                </a:solidFill>
              </a:rPr>
              <a:t> id </a:t>
            </a:r>
            <a:r>
              <a:rPr lang="es-ES" sz="2000" err="1">
                <a:solidFill>
                  <a:srgbClr val="7F7F7F"/>
                </a:solidFill>
              </a:rPr>
              <a:t>finibus</a:t>
            </a:r>
            <a:r>
              <a:rPr lang="es-ES" sz="2000">
                <a:solidFill>
                  <a:srgbClr val="7F7F7F"/>
                </a:solidFill>
              </a:rPr>
              <a:t> odio. </a:t>
            </a:r>
            <a:r>
              <a:rPr lang="es-ES" sz="2000" err="1">
                <a:solidFill>
                  <a:srgbClr val="7F7F7F"/>
                </a:solidFill>
              </a:rPr>
              <a:t>Donec</a:t>
            </a:r>
            <a:r>
              <a:rPr lang="es-ES" sz="2000">
                <a:solidFill>
                  <a:srgbClr val="7F7F7F"/>
                </a:solidFill>
              </a:rPr>
              <a:t> vitae </a:t>
            </a:r>
            <a:r>
              <a:rPr lang="es-ES" sz="2000" err="1">
                <a:solidFill>
                  <a:srgbClr val="7F7F7F"/>
                </a:solidFill>
              </a:rPr>
              <a:t>nibh</a:t>
            </a:r>
            <a:r>
              <a:rPr lang="es-ES" sz="2000">
                <a:solidFill>
                  <a:srgbClr val="7F7F7F"/>
                </a:solidFill>
              </a:rPr>
              <a:t> </a:t>
            </a:r>
            <a:r>
              <a:rPr lang="es-ES" sz="2000" err="1">
                <a:solidFill>
                  <a:srgbClr val="7F7F7F"/>
                </a:solidFill>
              </a:rPr>
              <a:t>semper</a:t>
            </a:r>
            <a:r>
              <a:rPr lang="es-ES" sz="2000">
                <a:solidFill>
                  <a:srgbClr val="7F7F7F"/>
                </a:solidFill>
              </a:rPr>
              <a:t> </a:t>
            </a:r>
            <a:r>
              <a:rPr lang="es-ES" sz="2000" err="1">
                <a:solidFill>
                  <a:srgbClr val="7F7F7F"/>
                </a:solidFill>
              </a:rPr>
              <a:t>est</a:t>
            </a:r>
            <a:r>
              <a:rPr lang="es-ES" sz="2000">
                <a:solidFill>
                  <a:srgbClr val="7F7F7F"/>
                </a:solidFill>
              </a:rPr>
              <a:t> </a:t>
            </a:r>
            <a:r>
              <a:rPr lang="es-ES" sz="2000" err="1">
                <a:solidFill>
                  <a:srgbClr val="7F7F7F"/>
                </a:solidFill>
              </a:rPr>
              <a:t>luctus</a:t>
            </a:r>
            <a:r>
              <a:rPr lang="es-ES" sz="2000">
                <a:solidFill>
                  <a:srgbClr val="7F7F7F"/>
                </a:solidFill>
              </a:rPr>
              <a:t> </a:t>
            </a:r>
            <a:r>
              <a:rPr lang="es-ES" sz="2000" err="1">
                <a:solidFill>
                  <a:srgbClr val="7F7F7F"/>
                </a:solidFill>
              </a:rPr>
              <a:t>vulputate</a:t>
            </a:r>
            <a:r>
              <a:rPr lang="es-ES" sz="2000">
                <a:solidFill>
                  <a:srgbClr val="7F7F7F"/>
                </a:solidFill>
              </a:rPr>
              <a:t>. </a:t>
            </a:r>
          </a:p>
        </p:txBody>
      </p:sp>
    </p:spTree>
    <p:extLst>
      <p:ext uri="{BB962C8B-B14F-4D97-AF65-F5344CB8AC3E}">
        <p14:creationId xmlns:p14="http://schemas.microsoft.com/office/powerpoint/2010/main" val="1483306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parador">
    <p:bg>
      <p:bgPr>
        <a:solidFill>
          <a:srgbClr val="0D3240"/>
        </a:solidFill>
        <a:effectLst/>
      </p:bgPr>
    </p:bg>
    <p:spTree>
      <p:nvGrpSpPr>
        <p:cNvPr id="1" name=""/>
        <p:cNvGrpSpPr/>
        <p:nvPr/>
      </p:nvGrpSpPr>
      <p:grpSpPr>
        <a:xfrm>
          <a:off x="0" y="0"/>
          <a:ext cx="0" cy="0"/>
          <a:chOff x="0" y="0"/>
          <a:chExt cx="0" cy="0"/>
        </a:xfrm>
      </p:grpSpPr>
      <p:pic>
        <p:nvPicPr>
          <p:cNvPr id="9" name="Gráfico 6">
            <a:extLst>
              <a:ext uri="{FF2B5EF4-FFF2-40B4-BE49-F238E27FC236}">
                <a16:creationId xmlns:a16="http://schemas.microsoft.com/office/drawing/2014/main" id="{EED147EE-E3C8-45A1-A7EA-4A18FF84CC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83826" y="5091090"/>
            <a:ext cx="6108174" cy="91951"/>
          </a:xfrm>
          <a:prstGeom prst="rect">
            <a:avLst/>
          </a:prstGeom>
        </p:spPr>
      </p:pic>
      <p:pic>
        <p:nvPicPr>
          <p:cNvPr id="11" name="Gráfico 11">
            <a:extLst>
              <a:ext uri="{FF2B5EF4-FFF2-40B4-BE49-F238E27FC236}">
                <a16:creationId xmlns:a16="http://schemas.microsoft.com/office/drawing/2014/main" id="{B9CE167F-D9B1-4886-B83E-2CEA293BA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3" name="Google Shape;41;p33"/>
          <p:cNvSpPr txBox="1">
            <a:spLocks noGrp="1"/>
          </p:cNvSpPr>
          <p:nvPr>
            <p:ph type="body" idx="1" hasCustomPrompt="1"/>
          </p:nvPr>
        </p:nvSpPr>
        <p:spPr>
          <a:xfrm>
            <a:off x="2819400" y="2722909"/>
            <a:ext cx="8934496" cy="1484811"/>
          </a:xfrm>
          <a:prstGeom prst="rect">
            <a:avLst/>
          </a:prstGeom>
          <a:noFill/>
          <a:ln>
            <a:noFill/>
          </a:ln>
        </p:spPr>
        <p:txBody>
          <a:bodyPr spcFirstLastPara="1" wrap="square" lIns="91425" tIns="45700" rIns="91425" bIns="45700" anchor="t" anchorCtr="0">
            <a:noAutofit/>
          </a:bodyPr>
          <a:lstStyle>
            <a:lvl1pPr marL="76200" lvl="0" indent="0" algn="l">
              <a:lnSpc>
                <a:spcPct val="100000"/>
              </a:lnSpc>
              <a:spcBef>
                <a:spcPts val="480"/>
              </a:spcBef>
              <a:spcAft>
                <a:spcPts val="0"/>
              </a:spcAft>
              <a:buSzPts val="2400"/>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SEPARADOR</a:t>
            </a:r>
            <a:endParaRPr/>
          </a:p>
        </p:txBody>
      </p:sp>
      <p:sp>
        <p:nvSpPr>
          <p:cNvPr id="5" name="CuadroTexto 4">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2152138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parador">
    <p:bg>
      <p:bgPr>
        <a:solidFill>
          <a:srgbClr val="0D3240"/>
        </a:solidFill>
        <a:effectLst/>
      </p:bgPr>
    </p:bg>
    <p:spTree>
      <p:nvGrpSpPr>
        <p:cNvPr id="1" name=""/>
        <p:cNvGrpSpPr/>
        <p:nvPr/>
      </p:nvGrpSpPr>
      <p:grpSpPr>
        <a:xfrm>
          <a:off x="0" y="0"/>
          <a:ext cx="0" cy="0"/>
          <a:chOff x="0" y="0"/>
          <a:chExt cx="0" cy="0"/>
        </a:xfrm>
      </p:grpSpPr>
      <p:pic>
        <p:nvPicPr>
          <p:cNvPr id="9" name="Gráfico 6">
            <a:extLst>
              <a:ext uri="{FF2B5EF4-FFF2-40B4-BE49-F238E27FC236}">
                <a16:creationId xmlns:a16="http://schemas.microsoft.com/office/drawing/2014/main" id="{EED147EE-E3C8-45A1-A7EA-4A18FF84CC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83826" y="5091090"/>
            <a:ext cx="6108174" cy="91951"/>
          </a:xfrm>
          <a:prstGeom prst="rect">
            <a:avLst/>
          </a:prstGeom>
        </p:spPr>
      </p:pic>
      <p:pic>
        <p:nvPicPr>
          <p:cNvPr id="11" name="Gráfico 11">
            <a:extLst>
              <a:ext uri="{FF2B5EF4-FFF2-40B4-BE49-F238E27FC236}">
                <a16:creationId xmlns:a16="http://schemas.microsoft.com/office/drawing/2014/main" id="{B9CE167F-D9B1-4886-B83E-2CEA293BA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3" name="Google Shape;41;p33"/>
          <p:cNvSpPr txBox="1">
            <a:spLocks noGrp="1"/>
          </p:cNvSpPr>
          <p:nvPr>
            <p:ph type="body" idx="1" hasCustomPrompt="1"/>
          </p:nvPr>
        </p:nvSpPr>
        <p:spPr>
          <a:xfrm>
            <a:off x="2819400" y="2722909"/>
            <a:ext cx="8934496" cy="1484811"/>
          </a:xfrm>
          <a:prstGeom prst="rect">
            <a:avLst/>
          </a:prstGeom>
          <a:noFill/>
          <a:ln>
            <a:noFill/>
          </a:ln>
        </p:spPr>
        <p:txBody>
          <a:bodyPr spcFirstLastPara="1" wrap="square" lIns="91425" tIns="45700" rIns="91425" bIns="45700" anchor="t" anchorCtr="0">
            <a:noAutofit/>
          </a:bodyPr>
          <a:lstStyle>
            <a:lvl1pPr marL="76200" lvl="0" indent="0" algn="l">
              <a:lnSpc>
                <a:spcPct val="100000"/>
              </a:lnSpc>
              <a:spcBef>
                <a:spcPts val="480"/>
              </a:spcBef>
              <a:spcAft>
                <a:spcPts val="0"/>
              </a:spcAft>
              <a:buSzPts val="2400"/>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SEPARADOR</a:t>
            </a:r>
            <a:endParaRPr/>
          </a:p>
        </p:txBody>
      </p:sp>
      <p:sp>
        <p:nvSpPr>
          <p:cNvPr id="5" name="CuadroTexto 4">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33003389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parador">
    <p:bg>
      <p:bgPr>
        <a:solidFill>
          <a:srgbClr val="0D3240"/>
        </a:solidFill>
        <a:effectLst/>
      </p:bgPr>
    </p:bg>
    <p:spTree>
      <p:nvGrpSpPr>
        <p:cNvPr id="1" name=""/>
        <p:cNvGrpSpPr/>
        <p:nvPr/>
      </p:nvGrpSpPr>
      <p:grpSpPr>
        <a:xfrm>
          <a:off x="0" y="0"/>
          <a:ext cx="0" cy="0"/>
          <a:chOff x="0" y="0"/>
          <a:chExt cx="0" cy="0"/>
        </a:xfrm>
      </p:grpSpPr>
      <p:pic>
        <p:nvPicPr>
          <p:cNvPr id="9" name="Gráfico 6">
            <a:extLst>
              <a:ext uri="{FF2B5EF4-FFF2-40B4-BE49-F238E27FC236}">
                <a16:creationId xmlns:a16="http://schemas.microsoft.com/office/drawing/2014/main" id="{EED147EE-E3C8-45A1-A7EA-4A18FF84CC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83826" y="5091090"/>
            <a:ext cx="6108174" cy="91951"/>
          </a:xfrm>
          <a:prstGeom prst="rect">
            <a:avLst/>
          </a:prstGeom>
        </p:spPr>
      </p:pic>
      <p:pic>
        <p:nvPicPr>
          <p:cNvPr id="11" name="Gráfico 11">
            <a:extLst>
              <a:ext uri="{FF2B5EF4-FFF2-40B4-BE49-F238E27FC236}">
                <a16:creationId xmlns:a16="http://schemas.microsoft.com/office/drawing/2014/main" id="{B9CE167F-D9B1-4886-B83E-2CEA293BAA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39888" y="6066411"/>
            <a:ext cx="1188588" cy="504887"/>
          </a:xfrm>
          <a:prstGeom prst="rect">
            <a:avLst/>
          </a:prstGeom>
        </p:spPr>
      </p:pic>
      <p:sp>
        <p:nvSpPr>
          <p:cNvPr id="13" name="Google Shape;41;p33"/>
          <p:cNvSpPr txBox="1">
            <a:spLocks noGrp="1"/>
          </p:cNvSpPr>
          <p:nvPr>
            <p:ph type="body" idx="1" hasCustomPrompt="1"/>
          </p:nvPr>
        </p:nvSpPr>
        <p:spPr>
          <a:xfrm>
            <a:off x="2819400" y="2722909"/>
            <a:ext cx="8934496" cy="1484811"/>
          </a:xfrm>
          <a:prstGeom prst="rect">
            <a:avLst/>
          </a:prstGeom>
          <a:noFill/>
          <a:ln>
            <a:noFill/>
          </a:ln>
        </p:spPr>
        <p:txBody>
          <a:bodyPr spcFirstLastPara="1" wrap="square" lIns="91425" tIns="45700" rIns="91425" bIns="45700" anchor="t" anchorCtr="0">
            <a:noAutofit/>
          </a:bodyPr>
          <a:lstStyle>
            <a:lvl1pPr marL="76200" lvl="0" indent="0" algn="l">
              <a:lnSpc>
                <a:spcPct val="100000"/>
              </a:lnSpc>
              <a:spcBef>
                <a:spcPts val="480"/>
              </a:spcBef>
              <a:spcAft>
                <a:spcPts val="0"/>
              </a:spcAft>
              <a:buSzPts val="2400"/>
              <a:buNone/>
              <a:defRPr sz="8000" b="1" kern="1200" dirty="0">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SEPARADOR</a:t>
            </a:r>
            <a:endParaRPr/>
          </a:p>
        </p:txBody>
      </p:sp>
      <p:sp>
        <p:nvSpPr>
          <p:cNvPr id="5" name="CuadroTexto 4">
            <a:extLst>
              <a:ext uri="{FF2B5EF4-FFF2-40B4-BE49-F238E27FC236}">
                <a16:creationId xmlns:a16="http://schemas.microsoft.com/office/drawing/2014/main" id="{6C8AC4E2-448D-4FEE-91DD-C1DA1646124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Tree>
    <p:extLst>
      <p:ext uri="{BB962C8B-B14F-4D97-AF65-F5344CB8AC3E}">
        <p14:creationId xmlns:p14="http://schemas.microsoft.com/office/powerpoint/2010/main" val="39659438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ecapitulemos">
    <p:bg>
      <p:bgPr>
        <a:solidFill>
          <a:schemeClr val="bg1"/>
        </a:solidFill>
        <a:effectLst/>
      </p:bgPr>
    </p:bg>
    <p:spTree>
      <p:nvGrpSpPr>
        <p:cNvPr id="1" name=""/>
        <p:cNvGrpSpPr/>
        <p:nvPr/>
      </p:nvGrpSpPr>
      <p:grpSpPr>
        <a:xfrm>
          <a:off x="0" y="0"/>
          <a:ext cx="0" cy="0"/>
          <a:chOff x="0" y="0"/>
          <a:chExt cx="0" cy="0"/>
        </a:xfrm>
      </p:grpSpPr>
      <p:sp>
        <p:nvSpPr>
          <p:cNvPr id="18"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RECAPITULEMOS</a:t>
            </a:r>
            <a:endParaRPr/>
          </a:p>
        </p:txBody>
      </p:sp>
      <p:sp>
        <p:nvSpPr>
          <p:cNvPr id="19"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38;p32">
            <a:extLst>
              <a:ext uri="{FF2B5EF4-FFF2-40B4-BE49-F238E27FC236}">
                <a16:creationId xmlns:a16="http://schemas.microsoft.com/office/drawing/2014/main" id="{3BADBE63-7757-4E76-8885-C6A2C7D40C63}"/>
              </a:ext>
            </a:extLst>
          </p:cNvPr>
          <p:cNvSpPr txBox="1">
            <a:spLocks noGrp="1"/>
          </p:cNvSpPr>
          <p:nvPr>
            <p:ph type="sldNum" idx="12"/>
          </p:nvPr>
        </p:nvSpPr>
        <p:spPr>
          <a:xfrm>
            <a:off x="11714226" y="6537426"/>
            <a:ext cx="471056" cy="309420"/>
          </a:xfrm>
          <a:prstGeom prst="rect">
            <a:avLst/>
          </a:prstGeom>
          <a:noFill/>
          <a:ln w="9525" cap="rnd" cmpd="sng">
            <a:no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27627961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eferencias">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s-CO"/>
          </a:p>
        </p:txBody>
      </p:sp>
      <p:sp>
        <p:nvSpPr>
          <p:cNvPr id="5" name="Footer Placeholder 4"/>
          <p:cNvSpPr>
            <a:spLocks noGrp="1"/>
          </p:cNvSpPr>
          <p:nvPr>
            <p:ph type="ftr" sz="quarter" idx="11"/>
          </p:nvPr>
        </p:nvSpPr>
        <p:spPr/>
        <p:txBody>
          <a:bodyPr/>
          <a:lstStyle/>
          <a:p>
            <a:endParaRPr lang="es-CO"/>
          </a:p>
        </p:txBody>
      </p:sp>
      <p:sp>
        <p:nvSpPr>
          <p:cNvPr id="10" name="Google Shape;40;p33"/>
          <p:cNvSpPr txBox="1">
            <a:spLocks noGrp="1"/>
          </p:cNvSpPr>
          <p:nvPr>
            <p:ph type="title" hasCustomPrompt="1"/>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b="1" baseline="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a:t>REFERENCIAS</a:t>
            </a:r>
            <a:endParaRPr/>
          </a:p>
        </p:txBody>
      </p:sp>
      <p:sp>
        <p:nvSpPr>
          <p:cNvPr id="11" name="Google Shape;41;p33"/>
          <p:cNvSpPr txBox="1">
            <a:spLocks noGrp="1"/>
          </p:cNvSpPr>
          <p:nvPr>
            <p:ph type="body" idx="1"/>
          </p:nvPr>
        </p:nvSpPr>
        <p:spPr>
          <a:xfrm>
            <a:off x="2076994" y="2057401"/>
            <a:ext cx="9666016" cy="401682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rgbClr val="009BAF"/>
              </a:buClr>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pPr lvl="0"/>
            <a:r>
              <a:rPr lang="es-ES"/>
              <a:t>Editar el estilo de texto del patrón</a:t>
            </a:r>
          </a:p>
        </p:txBody>
      </p:sp>
      <p:sp>
        <p:nvSpPr>
          <p:cNvPr id="12" name="Google Shape;41;p33"/>
          <p:cNvSpPr txBox="1">
            <a:spLocks noGrp="1"/>
          </p:cNvSpPr>
          <p:nvPr>
            <p:ph type="body" idx="12" hasCustomPrompt="1"/>
          </p:nvPr>
        </p:nvSpPr>
        <p:spPr>
          <a:xfrm>
            <a:off x="2076994" y="1370695"/>
            <a:ext cx="9666016" cy="556981"/>
          </a:xfrm>
          <a:prstGeom prst="rect">
            <a:avLst/>
          </a:prstGeom>
          <a:noFill/>
          <a:ln>
            <a:noFill/>
          </a:ln>
        </p:spPr>
        <p:txBody>
          <a:bodyPr spcFirstLastPara="1" wrap="square" lIns="91425" tIns="45700" rIns="91425" bIns="45700" anchor="t" anchorCtr="0">
            <a:normAutofit/>
          </a:bodyPr>
          <a:lstStyle>
            <a:lvl1pPr marL="76200" lvl="0" indent="0" algn="ctr">
              <a:lnSpc>
                <a:spcPct val="100000"/>
              </a:lnSpc>
              <a:spcBef>
                <a:spcPts val="480"/>
              </a:spcBef>
              <a:spcAft>
                <a:spcPts val="0"/>
              </a:spcAft>
              <a:buClr>
                <a:srgbClr val="009BAF"/>
              </a:buClr>
              <a:buSzPts val="2400"/>
              <a:buNone/>
              <a:defRPr sz="2500" b="0" i="1" baseline="0">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r>
              <a:rPr lang="es-CO"/>
              <a:t>Material elaborado por: Daniel Correa – Paola Vallejo</a:t>
            </a:r>
            <a:endParaRPr/>
          </a:p>
        </p:txBody>
      </p:sp>
    </p:spTree>
    <p:extLst>
      <p:ext uri="{BB962C8B-B14F-4D97-AF65-F5344CB8AC3E}">
        <p14:creationId xmlns:p14="http://schemas.microsoft.com/office/powerpoint/2010/main" val="20304079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Gracias">
    <p:spTree>
      <p:nvGrpSpPr>
        <p:cNvPr id="1" name=""/>
        <p:cNvGrpSpPr/>
        <p:nvPr/>
      </p:nvGrpSpPr>
      <p:grpSpPr>
        <a:xfrm>
          <a:off x="0" y="0"/>
          <a:ext cx="0" cy="0"/>
          <a:chOff x="0" y="0"/>
          <a:chExt cx="0" cy="0"/>
        </a:xfrm>
      </p:grpSpPr>
      <p:sp>
        <p:nvSpPr>
          <p:cNvPr id="21" name="Google Shape;44;p33"/>
          <p:cNvSpPr/>
          <p:nvPr/>
        </p:nvSpPr>
        <p:spPr>
          <a:xfrm>
            <a:off x="0" y="2945986"/>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46;p33"/>
          <p:cNvSpPr/>
          <p:nvPr/>
        </p:nvSpPr>
        <p:spPr>
          <a:xfrm>
            <a:off x="0" y="3762419"/>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48;p33"/>
          <p:cNvSpPr/>
          <p:nvPr/>
        </p:nvSpPr>
        <p:spPr>
          <a:xfrm>
            <a:off x="0" y="4570864"/>
            <a:ext cx="1567543" cy="45719"/>
          </a:xfrm>
          <a:prstGeom prst="rect">
            <a:avLst/>
          </a:prstGeom>
          <a:solidFill>
            <a:schemeClr val="lt1"/>
          </a:solidFill>
          <a:ln w="158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 name="Imagen 6" descr="Imagen que contiene coral, calle, animal, agua&#10;&#10;Descripción generada automáticamente">
            <a:extLst>
              <a:ext uri="{FF2B5EF4-FFF2-40B4-BE49-F238E27FC236}">
                <a16:creationId xmlns:a16="http://schemas.microsoft.com/office/drawing/2014/main" id="{A5F3A245-A1F9-4A5B-8A86-780845E966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CuadroTexto 9">
            <a:extLst>
              <a:ext uri="{FF2B5EF4-FFF2-40B4-BE49-F238E27FC236}">
                <a16:creationId xmlns:a16="http://schemas.microsoft.com/office/drawing/2014/main" id="{1372829B-FCDA-43E4-9B63-B4AC88469ACE}"/>
              </a:ext>
            </a:extLst>
          </p:cNvPr>
          <p:cNvSpPr txBox="1"/>
          <p:nvPr/>
        </p:nvSpPr>
        <p:spPr>
          <a:xfrm>
            <a:off x="442914" y="4306260"/>
            <a:ext cx="5829300" cy="1569660"/>
          </a:xfrm>
          <a:prstGeom prst="rect">
            <a:avLst/>
          </a:prstGeom>
          <a:noFill/>
        </p:spPr>
        <p:txBody>
          <a:bodyPr wrap="square" rtlCol="0">
            <a:spAutoFit/>
          </a:bodyPr>
          <a:lstStyle/>
          <a:p>
            <a:r>
              <a:rPr lang="es-CO" sz="9600" b="1">
                <a:ln w="15875" cap="flat">
                  <a:noFill/>
                  <a:prstDash val="solid"/>
                </a:ln>
                <a:solidFill>
                  <a:srgbClr val="02C9B6"/>
                </a:solidFill>
                <a:latin typeface="Arial" panose="020B0604020202020204" pitchFamily="34" charset="0"/>
                <a:ea typeface="Roboto" panose="02000000000000000000" pitchFamily="2" charset="0"/>
                <a:cs typeface="Arial" panose="020B0604020202020204" pitchFamily="34" charset="0"/>
              </a:rPr>
              <a:t>GRACIAS</a:t>
            </a:r>
          </a:p>
        </p:txBody>
      </p:sp>
      <p:sp>
        <p:nvSpPr>
          <p:cNvPr id="11" name="CuadroTexto 10">
            <a:extLst>
              <a:ext uri="{FF2B5EF4-FFF2-40B4-BE49-F238E27FC236}">
                <a16:creationId xmlns:a16="http://schemas.microsoft.com/office/drawing/2014/main" id="{FBE21F91-9CD8-45F8-8EE6-36309EE3AF62}"/>
              </a:ext>
            </a:extLst>
          </p:cNvPr>
          <p:cNvSpPr txBox="1"/>
          <p:nvPr/>
        </p:nvSpPr>
        <p:spPr>
          <a:xfrm>
            <a:off x="352425" y="6553199"/>
            <a:ext cx="2533650" cy="230832"/>
          </a:xfrm>
          <a:prstGeom prst="rect">
            <a:avLst/>
          </a:prstGeom>
          <a:noFill/>
        </p:spPr>
        <p:txBody>
          <a:bodyPr wrap="square" rtlCol="0">
            <a:spAutoFit/>
          </a:bodyPr>
          <a:lstStyle/>
          <a:p>
            <a:r>
              <a:rPr lang="es-CO" sz="900">
                <a:solidFill>
                  <a:schemeClr val="bg1"/>
                </a:solidFill>
              </a:rPr>
              <a:t>Vigilada </a:t>
            </a:r>
            <a:r>
              <a:rPr lang="es-CO" sz="900" err="1">
                <a:solidFill>
                  <a:schemeClr val="bg1"/>
                </a:solidFill>
              </a:rPr>
              <a:t>Mineducación</a:t>
            </a:r>
            <a:endParaRPr lang="es-CO" sz="900">
              <a:solidFill>
                <a:schemeClr val="bg1"/>
              </a:solidFill>
            </a:endParaRPr>
          </a:p>
        </p:txBody>
      </p:sp>
      <p:sp>
        <p:nvSpPr>
          <p:cNvPr id="12" name="Rectángulo 11">
            <a:extLst>
              <a:ext uri="{FF2B5EF4-FFF2-40B4-BE49-F238E27FC236}">
                <a16:creationId xmlns:a16="http://schemas.microsoft.com/office/drawing/2014/main" id="{0936407D-25E2-4917-A6B9-D0CDF493D1CA}"/>
              </a:ext>
            </a:extLst>
          </p:cNvPr>
          <p:cNvSpPr/>
          <p:nvPr/>
        </p:nvSpPr>
        <p:spPr>
          <a:xfrm>
            <a:off x="442914" y="4433865"/>
            <a:ext cx="5829300" cy="1314450"/>
          </a:xfrm>
          <a:prstGeom prst="rect">
            <a:avLst/>
          </a:prstGeom>
          <a:noFill/>
          <a:ln w="22225">
            <a:solidFill>
              <a:srgbClr val="02C9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3" name="Gráfico 6">
            <a:extLst>
              <a:ext uri="{FF2B5EF4-FFF2-40B4-BE49-F238E27FC236}">
                <a16:creationId xmlns:a16="http://schemas.microsoft.com/office/drawing/2014/main" id="{EED147EE-E3C8-45A1-A7EA-4A18FF84CC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83826" y="5091090"/>
            <a:ext cx="6108174" cy="91951"/>
          </a:xfrm>
          <a:prstGeom prst="rect">
            <a:avLst/>
          </a:prstGeom>
        </p:spPr>
      </p:pic>
    </p:spTree>
    <p:extLst>
      <p:ext uri="{BB962C8B-B14F-4D97-AF65-F5344CB8AC3E}">
        <p14:creationId xmlns:p14="http://schemas.microsoft.com/office/powerpoint/2010/main" val="27386548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_Diapositiva de título">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1933618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Diapositiva de título">
    <p:spTree>
      <p:nvGrpSpPr>
        <p:cNvPr id="1" name="Shape 22"/>
        <p:cNvGrpSpPr/>
        <p:nvPr/>
      </p:nvGrpSpPr>
      <p:grpSpPr>
        <a:xfrm>
          <a:off x="0" y="0"/>
          <a:ext cx="0" cy="0"/>
          <a:chOff x="0" y="0"/>
          <a:chExt cx="0" cy="0"/>
        </a:xfrm>
      </p:grpSpPr>
      <p:sp>
        <p:nvSpPr>
          <p:cNvPr id="30" name="Google Shape;30;p31"/>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1"/>
              </a:buClr>
              <a:buSzPts val="6000"/>
              <a:buFont typeface="Calibri"/>
              <a:buNone/>
              <a:defRPr sz="6000" b="1">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1"/>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a:bodyPr>
          <a:lstStyle>
            <a:lvl1pPr lvl="0" algn="r">
              <a:lnSpc>
                <a:spcPct val="100000"/>
              </a:lnSpc>
              <a:spcBef>
                <a:spcPts val="400"/>
              </a:spcBef>
              <a:spcAft>
                <a:spcPts val="0"/>
              </a:spcAft>
              <a:buSzPts val="2900"/>
              <a:buNone/>
              <a:defRPr sz="2000">
                <a:solidFill>
                  <a:schemeClr val="dk1"/>
                </a:solidFill>
                <a:latin typeface="Calibri"/>
                <a:ea typeface="Calibri"/>
                <a:cs typeface="Calibri"/>
                <a:sym typeface="Calibri"/>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a:endParaRPr/>
          </a:p>
        </p:txBody>
      </p:sp>
      <p:sp>
        <p:nvSpPr>
          <p:cNvPr id="32" name="Google Shape;32;p3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31"/>
          <p:cNvSpPr txBox="1">
            <a:spLocks noGrp="1"/>
          </p:cNvSpPr>
          <p:nvPr>
            <p:ph type="ftr" idx="11"/>
          </p:nvPr>
        </p:nvSpPr>
        <p:spPr>
          <a:xfrm>
            <a:off x="5332412" y="5883275"/>
            <a:ext cx="4324044"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a:t>
            </a:fld>
            <a:endParaRPr/>
          </a:p>
        </p:txBody>
      </p:sp>
    </p:spTree>
    <p:extLst>
      <p:ext uri="{BB962C8B-B14F-4D97-AF65-F5344CB8AC3E}">
        <p14:creationId xmlns:p14="http://schemas.microsoft.com/office/powerpoint/2010/main" val="34013208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35"/>
        <p:cNvGrpSpPr/>
        <p:nvPr/>
      </p:nvGrpSpPr>
      <p:grpSpPr>
        <a:xfrm>
          <a:off x="0" y="0"/>
          <a:ext cx="0" cy="0"/>
          <a:chOff x="0" y="0"/>
          <a:chExt cx="0" cy="0"/>
        </a:xfrm>
      </p:grpSpPr>
      <p:sp>
        <p:nvSpPr>
          <p:cNvPr id="36" name="Google Shape;36;p32"/>
          <p:cNvSpPr txBox="1">
            <a:spLocks noGrp="1"/>
          </p:cNvSpPr>
          <p:nvPr>
            <p:ph type="title"/>
          </p:nvPr>
        </p:nvSpPr>
        <p:spPr>
          <a:xfrm>
            <a:off x="1724297" y="274321"/>
            <a:ext cx="10018713"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2"/>
          <p:cNvSpPr txBox="1">
            <a:spLocks noGrp="1"/>
          </p:cNvSpPr>
          <p:nvPr>
            <p:ph type="body" idx="1"/>
          </p:nvPr>
        </p:nvSpPr>
        <p:spPr>
          <a:xfrm>
            <a:off x="1724297" y="1410789"/>
            <a:ext cx="10018713" cy="4663440"/>
          </a:xfrm>
          <a:prstGeom prst="rect">
            <a:avLst/>
          </a:prstGeom>
          <a:noFill/>
          <a:ln>
            <a:noFill/>
          </a:ln>
        </p:spPr>
        <p:txBody>
          <a:bodyPr spcFirstLastPara="1" wrap="square" lIns="91425" tIns="45700" rIns="91425" bIns="45700" anchor="t" anchorCtr="0">
            <a:normAutofit/>
          </a:bodyPr>
          <a:lstStyle>
            <a:lvl1pPr marL="457200" lvl="0" indent="-449580" algn="l">
              <a:lnSpc>
                <a:spcPct val="100000"/>
              </a:lnSpc>
              <a:spcBef>
                <a:spcPts val="480"/>
              </a:spcBef>
              <a:spcAft>
                <a:spcPts val="0"/>
              </a:spcAft>
              <a:buSzPts val="3480"/>
              <a:buChar char="•"/>
              <a:defRPr>
                <a:latin typeface="Calibri"/>
                <a:ea typeface="Calibri"/>
                <a:cs typeface="Calibri"/>
                <a:sym typeface="Calibri"/>
              </a:defRPr>
            </a:lvl1pPr>
            <a:lvl2pPr marL="914400" lvl="1" indent="-412750" algn="l">
              <a:lnSpc>
                <a:spcPct val="100000"/>
              </a:lnSpc>
              <a:spcBef>
                <a:spcPts val="600"/>
              </a:spcBef>
              <a:spcAft>
                <a:spcPts val="0"/>
              </a:spcAft>
              <a:buSzPts val="2900"/>
              <a:buChar char="•"/>
              <a:defRPr>
                <a:latin typeface="Calibri"/>
                <a:ea typeface="Calibri"/>
                <a:cs typeface="Calibri"/>
                <a:sym typeface="Calibri"/>
              </a:defRPr>
            </a:lvl2pPr>
            <a:lvl3pPr marL="1371600" lvl="2" indent="-394335" algn="l">
              <a:lnSpc>
                <a:spcPct val="100000"/>
              </a:lnSpc>
              <a:spcBef>
                <a:spcPts val="600"/>
              </a:spcBef>
              <a:spcAft>
                <a:spcPts val="0"/>
              </a:spcAft>
              <a:buSzPts val="2610"/>
              <a:buChar char="•"/>
              <a:defRPr>
                <a:latin typeface="Calibri"/>
                <a:ea typeface="Calibri"/>
                <a:cs typeface="Calibri"/>
                <a:sym typeface="Calibri"/>
              </a:defRPr>
            </a:lvl3pPr>
            <a:lvl4pPr marL="1828800" lvl="3" indent="-375919" algn="l">
              <a:lnSpc>
                <a:spcPct val="100000"/>
              </a:lnSpc>
              <a:spcBef>
                <a:spcPts val="600"/>
              </a:spcBef>
              <a:spcAft>
                <a:spcPts val="0"/>
              </a:spcAft>
              <a:buSzPts val="2320"/>
              <a:buChar char="•"/>
              <a:defRPr>
                <a:latin typeface="Calibri"/>
                <a:ea typeface="Calibri"/>
                <a:cs typeface="Calibri"/>
                <a:sym typeface="Calibri"/>
              </a:defRPr>
            </a:lvl4pPr>
            <a:lvl5pPr marL="2286000" lvl="4" indent="-357504" algn="l">
              <a:lnSpc>
                <a:spcPct val="100000"/>
              </a:lnSpc>
              <a:spcBef>
                <a:spcPts val="600"/>
              </a:spcBef>
              <a:spcAft>
                <a:spcPts val="0"/>
              </a:spcAft>
              <a:buSzPts val="203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38" name="Google Shape;38;p32"/>
          <p:cNvSpPr txBox="1">
            <a:spLocks noGrp="1"/>
          </p:cNvSpPr>
          <p:nvPr>
            <p:ph type="sldNum" idx="12"/>
          </p:nvPr>
        </p:nvSpPr>
        <p:spPr>
          <a:xfrm>
            <a:off x="11640833" y="6492875"/>
            <a:ext cx="551167" cy="365125"/>
          </a:xfrm>
          <a:prstGeom prst="rect">
            <a:avLst/>
          </a:prstGeom>
          <a:gradFill>
            <a:gsLst>
              <a:gs pos="0">
                <a:srgbClr val="AEAEAE"/>
              </a:gs>
              <a:gs pos="100000">
                <a:srgbClr val="6F6F6F"/>
              </a:gs>
            </a:gsLst>
            <a:lin ang="5400000" scaled="0"/>
          </a:gradFill>
          <a:ln w="9525" cap="rnd" cmpd="sng">
            <a:solidFill>
              <a:srgbClr val="A8A8A8"/>
            </a:solid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s-CO"/>
              <a:t>‹#›</a:t>
            </a:fld>
            <a:endParaRPr/>
          </a:p>
        </p:txBody>
      </p:sp>
    </p:spTree>
    <p:extLst>
      <p:ext uri="{BB962C8B-B14F-4D97-AF65-F5344CB8AC3E}">
        <p14:creationId xmlns:p14="http://schemas.microsoft.com/office/powerpoint/2010/main" val="14048508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_Título y objetos">
  <p:cSld name="2_Título y objetos">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2076994" y="222069"/>
            <a:ext cx="9666016" cy="1018902"/>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sz="44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body" idx="1"/>
          </p:nvPr>
        </p:nvSpPr>
        <p:spPr>
          <a:xfrm>
            <a:off x="2076994" y="1410789"/>
            <a:ext cx="9666016" cy="466344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a:latin typeface="Calibri"/>
                <a:ea typeface="Calibri"/>
                <a:cs typeface="Calibri"/>
                <a:sym typeface="Calibri"/>
              </a:defRPr>
            </a:lvl1pPr>
            <a:lvl2pPr marL="914400" lvl="1" indent="-355600" algn="l">
              <a:lnSpc>
                <a:spcPct val="100000"/>
              </a:lnSpc>
              <a:spcBef>
                <a:spcPts val="600"/>
              </a:spcBef>
              <a:spcAft>
                <a:spcPts val="0"/>
              </a:spcAft>
              <a:buSzPts val="2000"/>
              <a:buChar char="•"/>
              <a:defRPr>
                <a:latin typeface="Calibri"/>
                <a:ea typeface="Calibri"/>
                <a:cs typeface="Calibri"/>
                <a:sym typeface="Calibri"/>
              </a:defRPr>
            </a:lvl2pPr>
            <a:lvl3pPr marL="1371600" lvl="2" indent="-342900" algn="l">
              <a:lnSpc>
                <a:spcPct val="100000"/>
              </a:lnSpc>
              <a:spcBef>
                <a:spcPts val="600"/>
              </a:spcBef>
              <a:spcAft>
                <a:spcPts val="0"/>
              </a:spcAft>
              <a:buSzPts val="1800"/>
              <a:buChar char="•"/>
              <a:defRPr>
                <a:latin typeface="Calibri"/>
                <a:ea typeface="Calibri"/>
                <a:cs typeface="Calibri"/>
                <a:sym typeface="Calibri"/>
              </a:defRPr>
            </a:lvl3pPr>
            <a:lvl4pPr marL="1828800" lvl="3" indent="-330200" algn="l">
              <a:lnSpc>
                <a:spcPct val="100000"/>
              </a:lnSpc>
              <a:spcBef>
                <a:spcPts val="600"/>
              </a:spcBef>
              <a:spcAft>
                <a:spcPts val="0"/>
              </a:spcAft>
              <a:buSzPts val="1600"/>
              <a:buChar char="•"/>
              <a:defRPr>
                <a:latin typeface="Calibri"/>
                <a:ea typeface="Calibri"/>
                <a:cs typeface="Calibri"/>
                <a:sym typeface="Calibri"/>
              </a:defRPr>
            </a:lvl4pPr>
            <a:lvl5pPr marL="2286000" lvl="4" indent="-317500" algn="l">
              <a:lnSpc>
                <a:spcPct val="100000"/>
              </a:lnSpc>
              <a:spcBef>
                <a:spcPts val="600"/>
              </a:spcBef>
              <a:spcAft>
                <a:spcPts val="0"/>
              </a:spcAft>
              <a:buSzPts val="1400"/>
              <a:buChar char="•"/>
              <a:defRPr>
                <a:latin typeface="Calibri"/>
                <a:ea typeface="Calibri"/>
                <a:cs typeface="Calibri"/>
                <a:sym typeface="Calibri"/>
              </a:defRPr>
            </a:lvl5pPr>
            <a:lvl6pPr marL="2743200" lvl="5" indent="-394335" algn="l">
              <a:lnSpc>
                <a:spcPct val="100000"/>
              </a:lnSpc>
              <a:spcBef>
                <a:spcPts val="600"/>
              </a:spcBef>
              <a:spcAft>
                <a:spcPts val="0"/>
              </a:spcAft>
              <a:buSzPts val="2610"/>
              <a:buChar char="•"/>
              <a:defRPr/>
            </a:lvl6pPr>
            <a:lvl7pPr marL="3200400" lvl="6" indent="-394335" algn="l">
              <a:lnSpc>
                <a:spcPct val="100000"/>
              </a:lnSpc>
              <a:spcBef>
                <a:spcPts val="600"/>
              </a:spcBef>
              <a:spcAft>
                <a:spcPts val="0"/>
              </a:spcAft>
              <a:buSzPts val="2610"/>
              <a:buChar char="•"/>
              <a:defRPr/>
            </a:lvl7pPr>
            <a:lvl8pPr marL="3657600" lvl="7" indent="-394334" algn="l">
              <a:lnSpc>
                <a:spcPct val="100000"/>
              </a:lnSpc>
              <a:spcBef>
                <a:spcPts val="600"/>
              </a:spcBef>
              <a:spcAft>
                <a:spcPts val="0"/>
              </a:spcAft>
              <a:buSzPts val="2610"/>
              <a:buChar char="•"/>
              <a:defRPr/>
            </a:lvl8pPr>
            <a:lvl9pPr marL="4114800" lvl="8" indent="-394334" algn="l">
              <a:lnSpc>
                <a:spcPct val="100000"/>
              </a:lnSpc>
              <a:spcBef>
                <a:spcPts val="600"/>
              </a:spcBef>
              <a:spcAft>
                <a:spcPts val="600"/>
              </a:spcAft>
              <a:buSzPts val="2610"/>
              <a:buChar char="•"/>
              <a:defRPr/>
            </a:lvl9pPr>
          </a:lstStyle>
          <a:p>
            <a:endParaRPr/>
          </a:p>
        </p:txBody>
      </p:sp>
      <p:sp>
        <p:nvSpPr>
          <p:cNvPr id="42" name="Google Shape;42;p33"/>
          <p:cNvSpPr txBox="1">
            <a:spLocks noGrp="1"/>
          </p:cNvSpPr>
          <p:nvPr>
            <p:ph type="sldNum" idx="12"/>
          </p:nvPr>
        </p:nvSpPr>
        <p:spPr>
          <a:xfrm>
            <a:off x="11640833" y="6492875"/>
            <a:ext cx="551167" cy="365125"/>
          </a:xfrm>
          <a:prstGeom prst="rect">
            <a:avLst/>
          </a:prstGeom>
          <a:gradFill>
            <a:gsLst>
              <a:gs pos="0">
                <a:srgbClr val="AEAEAE"/>
              </a:gs>
              <a:gs pos="100000">
                <a:srgbClr val="6F6F6F"/>
              </a:gs>
            </a:gsLst>
            <a:lin ang="5400000" scaled="0"/>
          </a:gradFill>
          <a:ln w="9525" cap="rnd" cmpd="sng">
            <a:solidFill>
              <a:srgbClr val="A8A8A8"/>
            </a:solidFill>
            <a:prstDash val="solid"/>
            <a:round/>
            <a:headEnd type="none" w="sm" len="sm"/>
            <a:tailEnd type="none" w="sm" len="sm"/>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1" i="0" u="none" strike="noStrike" cap="none">
                <a:solidFill>
                  <a:schemeClr val="dk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s-CO"/>
              <a:t>‹#›</a:t>
            </a:fld>
            <a:endParaRPr/>
          </a:p>
        </p:txBody>
      </p:sp>
    </p:spTree>
    <p:extLst>
      <p:ext uri="{BB962C8B-B14F-4D97-AF65-F5344CB8AC3E}">
        <p14:creationId xmlns:p14="http://schemas.microsoft.com/office/powerpoint/2010/main" val="2473543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1">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11598729" y="6492875"/>
            <a:ext cx="593271" cy="365125"/>
          </a:xfrm>
          <a:prstGeom prst="rect">
            <a:avLst/>
          </a:prstGeom>
        </p:spPr>
        <p:txBody>
          <a:bodyPr vert="horz" lIns="91440" tIns="45720" rIns="91440" bIns="45720" rtlCol="0" anchor="ctr"/>
          <a:lstStyle>
            <a:lvl1pPr algn="r">
              <a:defRPr sz="1200" b="1">
                <a:solidFill>
                  <a:schemeClr val="tx1"/>
                </a:solidFill>
              </a:defRPr>
            </a:lvl1pPr>
          </a:lstStyle>
          <a:p>
            <a:pPr marL="0" lvl="0" indent="0" algn="r" rtl="0">
              <a:spcBef>
                <a:spcPts val="0"/>
              </a:spcBef>
              <a:spcAft>
                <a:spcPts val="0"/>
              </a:spcAft>
              <a:buNone/>
            </a:pPr>
            <a:fld id="{00000000-1234-1234-1234-123412341234}" type="slidenum">
              <a:rPr lang="es-CO" smtClean="0"/>
              <a:t>‹#›</a:t>
            </a:fld>
            <a:endParaRPr lang="es-CO"/>
          </a:p>
        </p:txBody>
      </p:sp>
    </p:spTree>
    <p:extLst>
      <p:ext uri="{BB962C8B-B14F-4D97-AF65-F5344CB8AC3E}">
        <p14:creationId xmlns:p14="http://schemas.microsoft.com/office/powerpoint/2010/main" val="337975175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0" r:id="rId4"/>
    <p:sldLayoutId id="2147483675"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707" r:id="rId20"/>
    <p:sldLayoutId id="2147483702" r:id="rId21"/>
    <p:sldLayoutId id="2147483691" r:id="rId22"/>
    <p:sldLayoutId id="2147483692" r:id="rId23"/>
    <p:sldLayoutId id="2147483693" r:id="rId24"/>
    <p:sldLayoutId id="2147483708" r:id="rId25"/>
    <p:sldLayoutId id="2147483695" r:id="rId26"/>
    <p:sldLayoutId id="2147483696" r:id="rId27"/>
    <p:sldLayoutId id="2147483697" r:id="rId28"/>
    <p:sldLayoutId id="2147483698" r:id="rId2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6000"/>
              <a:buFont typeface="Calibri"/>
              <a:buNone/>
            </a:pPr>
            <a:r>
              <a:rPr lang="es-CO" sz="6600"/>
              <a:t>Resolución de problemas</a:t>
            </a:r>
            <a:endParaRPr sz="6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b="1"/>
              <a:t>Resolución de problemas</a:t>
            </a:r>
          </a:p>
          <a:p>
            <a:pPr marL="457200" lvl="0" indent="-457200">
              <a:spcBef>
                <a:spcPts val="0"/>
              </a:spcBef>
              <a:buSzPts val="2400"/>
              <a:buFont typeface="Calibri"/>
              <a:buAutoNum type="arabicPeriod"/>
            </a:pPr>
            <a:r>
              <a:rPr lang="es-ES"/>
              <a:t>Ejemplo</a:t>
            </a:r>
          </a:p>
          <a:p>
            <a:pPr marL="457200" lvl="0" indent="-457200">
              <a:spcBef>
                <a:spcPts val="0"/>
              </a:spcBef>
              <a:buSzPts val="2400"/>
              <a:buFont typeface="Calibri"/>
              <a:buAutoNum type="arabicPeriod"/>
            </a:pPr>
            <a:r>
              <a:rPr lang="es-ES"/>
              <a:t>Ejercicios</a:t>
            </a:r>
          </a:p>
          <a:p>
            <a:pPr marL="457200" lvl="0" indent="-457200">
              <a:spcBef>
                <a:spcPts val="0"/>
              </a:spcBef>
              <a:buSzPts val="2400"/>
              <a:buFont typeface="Calibri"/>
              <a:buAutoNum type="arabicPeriod"/>
            </a:pPr>
            <a:r>
              <a:rPr lang="es-ES"/>
              <a:t>Proyecto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01213B02-1F74-4AA8-97E3-D4AE5EECC540}"/>
              </a:ext>
            </a:extLst>
          </p:cNvPr>
          <p:cNvSpPr>
            <a:spLocks noGrp="1"/>
          </p:cNvSpPr>
          <p:nvPr>
            <p:ph type="title"/>
          </p:nvPr>
        </p:nvSpPr>
        <p:spPr/>
        <p:txBody>
          <a:bodyPr/>
          <a:lstStyle/>
          <a:p>
            <a:r>
              <a:rPr lang="es-CO"/>
              <a:t>¿Qué es un problema?</a:t>
            </a:r>
          </a:p>
        </p:txBody>
      </p:sp>
      <p:sp>
        <p:nvSpPr>
          <p:cNvPr id="6" name="Marcador de texto 5">
            <a:extLst>
              <a:ext uri="{FF2B5EF4-FFF2-40B4-BE49-F238E27FC236}">
                <a16:creationId xmlns:a16="http://schemas.microsoft.com/office/drawing/2014/main" id="{3FB3CF90-E2C7-4718-AC23-3D32F893E4CF}"/>
              </a:ext>
            </a:extLst>
          </p:cNvPr>
          <p:cNvSpPr>
            <a:spLocks noGrp="1"/>
          </p:cNvSpPr>
          <p:nvPr>
            <p:ph type="body" idx="1"/>
          </p:nvPr>
        </p:nvSpPr>
        <p:spPr>
          <a:xfrm>
            <a:off x="2076994" y="1410789"/>
            <a:ext cx="9637232" cy="4663440"/>
          </a:xfrm>
        </p:spPr>
        <p:txBody>
          <a:bodyPr>
            <a:normAutofit/>
          </a:bodyPr>
          <a:lstStyle/>
          <a:p>
            <a:pPr algn="just"/>
            <a:r>
              <a:rPr lang="es-ES" sz="2100" dirty="0"/>
              <a:t>Un </a:t>
            </a:r>
            <a:r>
              <a:rPr lang="es-ES" sz="2100" b="1" dirty="0"/>
              <a:t>problema</a:t>
            </a:r>
            <a:r>
              <a:rPr lang="es-ES" sz="2100" dirty="0"/>
              <a:t> es una situación que plantea un obstáculo o una dificultad que requiere una solución. </a:t>
            </a:r>
          </a:p>
          <a:p>
            <a:pPr algn="just"/>
            <a:r>
              <a:rPr lang="es-ES" sz="2100" dirty="0"/>
              <a:t>Los problemas pueden surgir en cualquier ámbito de la vida, desde lo personal hasta lo profesional, y pueden variar en complejidad. </a:t>
            </a:r>
          </a:p>
          <a:p>
            <a:pPr algn="just"/>
            <a:r>
              <a:rPr lang="es-ES" sz="2100" dirty="0"/>
              <a:t>En términos generales, un problema implica una </a:t>
            </a:r>
            <a:r>
              <a:rPr lang="es-ES" sz="2100" b="1" dirty="0"/>
              <a:t>diferencia</a:t>
            </a:r>
            <a:r>
              <a:rPr lang="es-ES" sz="2100" dirty="0"/>
              <a:t> entre el </a:t>
            </a:r>
            <a:r>
              <a:rPr lang="es-ES" sz="2100" b="1" dirty="0"/>
              <a:t>estado actual </a:t>
            </a:r>
            <a:r>
              <a:rPr lang="es-ES" sz="2100" dirty="0"/>
              <a:t>(lo que está sucediendo)</a:t>
            </a:r>
            <a:r>
              <a:rPr lang="es-ES" sz="2100" dirty="0">
                <a:solidFill>
                  <a:srgbClr val="FF0000"/>
                </a:solidFill>
              </a:rPr>
              <a:t> </a:t>
            </a:r>
            <a:r>
              <a:rPr lang="es-ES" sz="2100" dirty="0"/>
              <a:t>y el </a:t>
            </a:r>
            <a:r>
              <a:rPr lang="es-ES" sz="2100" b="1" dirty="0"/>
              <a:t>estado deseado </a:t>
            </a:r>
            <a:r>
              <a:rPr lang="es-ES" sz="2100" dirty="0"/>
              <a:t>(lo que se quiere tener), lo que requiere un proceso de análisis, toma de decisiones y ejecución de acciones para encontrar una solución.</a:t>
            </a:r>
          </a:p>
          <a:p>
            <a:pPr algn="just"/>
            <a:r>
              <a:rPr lang="es-ES" sz="2100" b="1" dirty="0"/>
              <a:t>Ejemplos  de problemas:</a:t>
            </a:r>
            <a:r>
              <a:rPr lang="es-ES" sz="2100" dirty="0"/>
              <a:t> </a:t>
            </a:r>
            <a:r>
              <a:rPr lang="es-MX" sz="2100" dirty="0"/>
              <a:t>“¿Por qué será que no duermo bien?”​, “No puedo comprar un Ferrari en este momento porque no tengo suficientes recursos”, “Mi vecino siempre está escuchando música a ‘todo’ volumen”​, “Calcular la hipotenusa del triángulo rectángulo de lados 3cm y 4cm”, “¿Cómo disminuir los efectos de la polución en Medellín?​”</a:t>
            </a:r>
            <a:endParaRPr lang="es-ES" sz="2100" dirty="0"/>
          </a:p>
          <a:p>
            <a:pPr algn="just"/>
            <a:endParaRPr lang="es-CO" sz="2100" dirty="0"/>
          </a:p>
        </p:txBody>
      </p:sp>
      <p:sp>
        <p:nvSpPr>
          <p:cNvPr id="4" name="Marcador de número de diapositiva 3">
            <a:extLst>
              <a:ext uri="{FF2B5EF4-FFF2-40B4-BE49-F238E27FC236}">
                <a16:creationId xmlns:a16="http://schemas.microsoft.com/office/drawing/2014/main" id="{5E5CB095-A786-461C-AFCA-988691C757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a:t>
            </a:fld>
            <a:endParaRPr lang="es-CO"/>
          </a:p>
        </p:txBody>
      </p:sp>
    </p:spTree>
    <p:extLst>
      <p:ext uri="{BB962C8B-B14F-4D97-AF65-F5344CB8AC3E}">
        <p14:creationId xmlns:p14="http://schemas.microsoft.com/office/powerpoint/2010/main" val="2091121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D1B563-982D-4421-AD47-B0084559EC44}"/>
              </a:ext>
            </a:extLst>
          </p:cNvPr>
          <p:cNvSpPr>
            <a:spLocks noGrp="1"/>
          </p:cNvSpPr>
          <p:nvPr>
            <p:ph type="title"/>
          </p:nvPr>
        </p:nvSpPr>
        <p:spPr>
          <a:xfrm>
            <a:off x="2076994" y="64752"/>
            <a:ext cx="9666016" cy="1018902"/>
          </a:xfrm>
        </p:spPr>
        <p:txBody>
          <a:bodyPr/>
          <a:lstStyle/>
          <a:p>
            <a:r>
              <a:rPr lang="es-CO"/>
              <a:t>Clasificación de los problemas</a:t>
            </a:r>
          </a:p>
        </p:txBody>
      </p:sp>
      <p:sp>
        <p:nvSpPr>
          <p:cNvPr id="3" name="Marcador de texto 2">
            <a:extLst>
              <a:ext uri="{FF2B5EF4-FFF2-40B4-BE49-F238E27FC236}">
                <a16:creationId xmlns:a16="http://schemas.microsoft.com/office/drawing/2014/main" id="{70AE4F7C-8ED2-40C1-8515-773D054C9914}"/>
              </a:ext>
            </a:extLst>
          </p:cNvPr>
          <p:cNvSpPr>
            <a:spLocks noGrp="1"/>
          </p:cNvSpPr>
          <p:nvPr>
            <p:ph type="body" idx="1"/>
          </p:nvPr>
        </p:nvSpPr>
        <p:spPr>
          <a:xfrm>
            <a:off x="2076994" y="885731"/>
            <a:ext cx="9666016" cy="574102"/>
          </a:xfrm>
        </p:spPr>
        <p:txBody>
          <a:bodyPr>
            <a:normAutofit/>
          </a:bodyPr>
          <a:lstStyle/>
          <a:p>
            <a:pPr marL="76200" indent="0">
              <a:buNone/>
            </a:pPr>
            <a:r>
              <a:rPr lang="es-MX" sz="2100"/>
              <a:t>Según </a:t>
            </a:r>
            <a:r>
              <a:rPr lang="es-MX" sz="2100" err="1"/>
              <a:t>Jonassen</a:t>
            </a:r>
            <a:r>
              <a:rPr lang="es-MX" sz="2100"/>
              <a:t> (2000), los problemas pueden clasificarse de la siguiente manera:​</a:t>
            </a:r>
            <a:endParaRPr lang="es-CO" sz="2100"/>
          </a:p>
        </p:txBody>
      </p:sp>
      <p:sp>
        <p:nvSpPr>
          <p:cNvPr id="4" name="Marcador de número de diapositiva 3">
            <a:extLst>
              <a:ext uri="{FF2B5EF4-FFF2-40B4-BE49-F238E27FC236}">
                <a16:creationId xmlns:a16="http://schemas.microsoft.com/office/drawing/2014/main" id="{14140918-DB3C-48D2-A83D-5700802914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4</a:t>
            </a:fld>
            <a:endParaRPr lang="es-CO"/>
          </a:p>
        </p:txBody>
      </p:sp>
      <p:graphicFrame>
        <p:nvGraphicFramePr>
          <p:cNvPr id="13" name="Tabla 12">
            <a:extLst>
              <a:ext uri="{FF2B5EF4-FFF2-40B4-BE49-F238E27FC236}">
                <a16:creationId xmlns:a16="http://schemas.microsoft.com/office/drawing/2014/main" id="{D5623F51-064E-5CB0-1B81-A13E211A9683}"/>
              </a:ext>
            </a:extLst>
          </p:cNvPr>
          <p:cNvGraphicFramePr>
            <a:graphicFrameLocks noGrp="1"/>
          </p:cNvGraphicFramePr>
          <p:nvPr>
            <p:extLst>
              <p:ext uri="{D42A27DB-BD31-4B8C-83A1-F6EECF244321}">
                <p14:modId xmlns:p14="http://schemas.microsoft.com/office/powerpoint/2010/main" val="1928370375"/>
              </p:ext>
            </p:extLst>
          </p:nvPr>
        </p:nvGraphicFramePr>
        <p:xfrm>
          <a:off x="2076994" y="1446795"/>
          <a:ext cx="9666016" cy="4297680"/>
        </p:xfrm>
        <a:graphic>
          <a:graphicData uri="http://schemas.openxmlformats.org/drawingml/2006/table">
            <a:tbl>
              <a:tblPr firstRow="1" bandRow="1">
                <a:tableStyleId>{5940675A-B579-460E-94D1-54222C63F5DA}</a:tableStyleId>
              </a:tblPr>
              <a:tblGrid>
                <a:gridCol w="1596648">
                  <a:extLst>
                    <a:ext uri="{9D8B030D-6E8A-4147-A177-3AD203B41FA5}">
                      <a16:colId xmlns:a16="http://schemas.microsoft.com/office/drawing/2014/main" val="722552213"/>
                    </a:ext>
                  </a:extLst>
                </a:gridCol>
                <a:gridCol w="8069368">
                  <a:extLst>
                    <a:ext uri="{9D8B030D-6E8A-4147-A177-3AD203B41FA5}">
                      <a16:colId xmlns:a16="http://schemas.microsoft.com/office/drawing/2014/main" val="3688458231"/>
                    </a:ext>
                  </a:extLst>
                </a:gridCol>
              </a:tblGrid>
              <a:tr h="370840">
                <a:tc>
                  <a:txBody>
                    <a:bodyPr/>
                    <a:lstStyle/>
                    <a:p>
                      <a:pPr algn="ctr"/>
                      <a:r>
                        <a:rPr lang="es-CO" sz="2100" b="1">
                          <a:solidFill>
                            <a:schemeClr val="bg1"/>
                          </a:solidFill>
                        </a:rPr>
                        <a:t>Criterio</a:t>
                      </a:r>
                    </a:p>
                  </a:txBody>
                  <a:tcPr>
                    <a:solidFill>
                      <a:srgbClr val="113649"/>
                    </a:solidFill>
                  </a:tcPr>
                </a:tc>
                <a:tc>
                  <a:txBody>
                    <a:bodyPr/>
                    <a:lstStyle/>
                    <a:p>
                      <a:pPr algn="ctr"/>
                      <a:r>
                        <a:rPr lang="es-CO" sz="2100" b="1">
                          <a:solidFill>
                            <a:schemeClr val="bg1"/>
                          </a:solidFill>
                        </a:rPr>
                        <a:t>Características</a:t>
                      </a:r>
                    </a:p>
                  </a:txBody>
                  <a:tcPr>
                    <a:solidFill>
                      <a:srgbClr val="113649"/>
                    </a:solidFill>
                  </a:tcPr>
                </a:tc>
                <a:extLst>
                  <a:ext uri="{0D108BD9-81ED-4DB2-BD59-A6C34878D82A}">
                    <a16:rowId xmlns:a16="http://schemas.microsoft.com/office/drawing/2014/main" val="1757604693"/>
                  </a:ext>
                </a:extLst>
              </a:tr>
              <a:tr h="370840">
                <a:tc>
                  <a:txBody>
                    <a:bodyPr/>
                    <a:lstStyle/>
                    <a:p>
                      <a:r>
                        <a:rPr lang="es-CO" sz="2100" b="1"/>
                        <a:t>Estructura</a:t>
                      </a:r>
                    </a:p>
                  </a:txBody>
                  <a:tcPr/>
                </a:tc>
                <a:tc>
                  <a:txBody>
                    <a:bodyPr/>
                    <a:lstStyle/>
                    <a:p>
                      <a:r>
                        <a:rPr lang="es-ES" sz="2100" b="1" i="0" kern="1200">
                          <a:solidFill>
                            <a:schemeClr val="tx1"/>
                          </a:solidFill>
                          <a:effectLst/>
                          <a:highlight>
                            <a:srgbClr val="00FFFF"/>
                          </a:highlight>
                          <a:latin typeface="+mn-lt"/>
                          <a:ea typeface="+mn-ea"/>
                          <a:cs typeface="+mn-cs"/>
                        </a:rPr>
                        <a:t>Bien definido</a:t>
                      </a:r>
                      <a:r>
                        <a:rPr lang="es-ES" sz="2100" b="1" i="0" kern="1200">
                          <a:solidFill>
                            <a:schemeClr val="tx1"/>
                          </a:solidFill>
                          <a:effectLst/>
                          <a:latin typeface="+mn-lt"/>
                          <a:ea typeface="+mn-ea"/>
                          <a:cs typeface="+mn-cs"/>
                        </a:rPr>
                        <a:t> </a:t>
                      </a:r>
                      <a:r>
                        <a:rPr lang="es-ES" sz="2100" b="0" i="0" kern="1200">
                          <a:solidFill>
                            <a:schemeClr val="tx1"/>
                          </a:solidFill>
                          <a:effectLst/>
                          <a:latin typeface="+mn-lt"/>
                          <a:ea typeface="+mn-ea"/>
                          <a:cs typeface="+mn-cs"/>
                        </a:rPr>
                        <a:t>(con datos claros y solución establecida) </a:t>
                      </a:r>
                    </a:p>
                    <a:p>
                      <a:r>
                        <a:rPr lang="es-ES" sz="2100" b="1" i="0" kern="1200">
                          <a:solidFill>
                            <a:schemeClr val="tx1"/>
                          </a:solidFill>
                          <a:effectLst/>
                          <a:latin typeface="+mn-lt"/>
                          <a:ea typeface="+mn-ea"/>
                          <a:cs typeface="+mn-cs"/>
                        </a:rPr>
                        <a:t>Mal definido </a:t>
                      </a:r>
                      <a:r>
                        <a:rPr lang="es-ES" sz="2100" b="0" i="0" kern="1200">
                          <a:solidFill>
                            <a:schemeClr val="tx1"/>
                          </a:solidFill>
                          <a:effectLst/>
                          <a:latin typeface="+mn-lt"/>
                          <a:ea typeface="+mn-ea"/>
                          <a:cs typeface="+mn-cs"/>
                        </a:rPr>
                        <a:t>(sin información precisa o con múltiples soluciones) (Simon, 1973)</a:t>
                      </a:r>
                      <a:endParaRPr lang="es-CO" sz="2100">
                        <a:solidFill>
                          <a:schemeClr val="tx1"/>
                        </a:solidFill>
                      </a:endParaRPr>
                    </a:p>
                  </a:txBody>
                  <a:tcPr/>
                </a:tc>
                <a:extLst>
                  <a:ext uri="{0D108BD9-81ED-4DB2-BD59-A6C34878D82A}">
                    <a16:rowId xmlns:a16="http://schemas.microsoft.com/office/drawing/2014/main" val="12410076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2100" b="1"/>
                        <a:t>Ámbito</a:t>
                      </a:r>
                    </a:p>
                    <a:p>
                      <a:endParaRPr lang="es-CO" sz="2100" b="1"/>
                    </a:p>
                  </a:txBody>
                  <a:tcPr/>
                </a:tc>
                <a:tc>
                  <a:txBody>
                    <a:bodyPr/>
                    <a:lstStyle/>
                    <a:p>
                      <a:r>
                        <a:rPr lang="es-CO" sz="2100" b="0" i="0" kern="1200">
                          <a:solidFill>
                            <a:schemeClr val="tx1"/>
                          </a:solidFill>
                          <a:effectLst/>
                          <a:latin typeface="+mn-lt"/>
                          <a:ea typeface="+mn-ea"/>
                          <a:cs typeface="+mn-cs"/>
                        </a:rPr>
                        <a:t>Científico, matemático, filosófico, técnico, social, entre otros (Newell &amp; Simon, 1972)</a:t>
                      </a:r>
                      <a:endParaRPr lang="es-CO" sz="2100">
                        <a:solidFill>
                          <a:schemeClr val="tx1"/>
                        </a:solidFill>
                      </a:endParaRPr>
                    </a:p>
                  </a:txBody>
                  <a:tcPr/>
                </a:tc>
                <a:extLst>
                  <a:ext uri="{0D108BD9-81ED-4DB2-BD59-A6C34878D82A}">
                    <a16:rowId xmlns:a16="http://schemas.microsoft.com/office/drawing/2014/main" val="247851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2100" b="1"/>
                        <a:t>Resolución</a:t>
                      </a:r>
                    </a:p>
                  </a:txBody>
                  <a:tcPr/>
                </a:tc>
                <a:tc>
                  <a:txBody>
                    <a:bodyPr/>
                    <a:lstStyle/>
                    <a:p>
                      <a:r>
                        <a:rPr lang="es-ES" sz="2100" b="1" i="0" kern="1200">
                          <a:solidFill>
                            <a:schemeClr val="tx1"/>
                          </a:solidFill>
                          <a:effectLst/>
                          <a:highlight>
                            <a:srgbClr val="00FFFF"/>
                          </a:highlight>
                          <a:latin typeface="+mn-lt"/>
                          <a:ea typeface="+mn-ea"/>
                          <a:cs typeface="+mn-cs"/>
                        </a:rPr>
                        <a:t>Algorítmico</a:t>
                      </a:r>
                      <a:r>
                        <a:rPr lang="es-ES" sz="2100" b="0" i="0" kern="1200">
                          <a:solidFill>
                            <a:schemeClr val="tx1"/>
                          </a:solidFill>
                          <a:effectLst/>
                          <a:latin typeface="+mn-lt"/>
                          <a:ea typeface="+mn-ea"/>
                          <a:cs typeface="+mn-cs"/>
                        </a:rPr>
                        <a:t> (con pasos claros y definidos)</a:t>
                      </a:r>
                    </a:p>
                    <a:p>
                      <a:r>
                        <a:rPr lang="es-ES" sz="2100" b="1" i="0" kern="1200">
                          <a:solidFill>
                            <a:schemeClr val="tx1"/>
                          </a:solidFill>
                          <a:effectLst/>
                          <a:latin typeface="+mn-lt"/>
                          <a:ea typeface="+mn-ea"/>
                          <a:cs typeface="+mn-cs"/>
                        </a:rPr>
                        <a:t>Heurístico</a:t>
                      </a:r>
                      <a:r>
                        <a:rPr lang="es-ES" sz="2100" b="0" i="0" kern="1200">
                          <a:solidFill>
                            <a:schemeClr val="tx1"/>
                          </a:solidFill>
                          <a:effectLst/>
                          <a:latin typeface="+mn-lt"/>
                          <a:ea typeface="+mn-ea"/>
                          <a:cs typeface="+mn-cs"/>
                        </a:rPr>
                        <a:t> (requiere creatividad o intuición) (</a:t>
                      </a:r>
                      <a:r>
                        <a:rPr lang="es-ES" sz="2100" b="0" i="0" kern="1200" err="1">
                          <a:solidFill>
                            <a:schemeClr val="tx1"/>
                          </a:solidFill>
                          <a:effectLst/>
                          <a:latin typeface="+mn-lt"/>
                          <a:ea typeface="+mn-ea"/>
                          <a:cs typeface="+mn-cs"/>
                        </a:rPr>
                        <a:t>Polya</a:t>
                      </a:r>
                      <a:r>
                        <a:rPr lang="es-ES" sz="2100" b="0" i="0" kern="1200">
                          <a:solidFill>
                            <a:schemeClr val="tx1"/>
                          </a:solidFill>
                          <a:effectLst/>
                          <a:latin typeface="+mn-lt"/>
                          <a:ea typeface="+mn-ea"/>
                          <a:cs typeface="+mn-cs"/>
                        </a:rPr>
                        <a:t>, 1945)</a:t>
                      </a:r>
                      <a:endParaRPr lang="es-CO" sz="2100">
                        <a:solidFill>
                          <a:schemeClr val="tx1"/>
                        </a:solidFill>
                      </a:endParaRPr>
                    </a:p>
                  </a:txBody>
                  <a:tcPr/>
                </a:tc>
                <a:extLst>
                  <a:ext uri="{0D108BD9-81ED-4DB2-BD59-A6C34878D82A}">
                    <a16:rowId xmlns:a16="http://schemas.microsoft.com/office/drawing/2014/main" val="562835410"/>
                  </a:ext>
                </a:extLst>
              </a:tr>
              <a:tr h="370840">
                <a:tc>
                  <a:txBody>
                    <a:bodyPr/>
                    <a:lstStyle/>
                    <a:p>
                      <a:r>
                        <a:rPr lang="es-CO" sz="2100" b="1"/>
                        <a:t>Complejidad</a:t>
                      </a:r>
                    </a:p>
                  </a:txBody>
                  <a:tcPr/>
                </a:tc>
                <a:tc>
                  <a:txBody>
                    <a:bodyPr/>
                    <a:lstStyle/>
                    <a:p>
                      <a:r>
                        <a:rPr lang="es-CO" sz="2100" b="1" i="0" kern="1200">
                          <a:solidFill>
                            <a:schemeClr val="tx1"/>
                          </a:solidFill>
                          <a:effectLst/>
                          <a:highlight>
                            <a:srgbClr val="00FFFF"/>
                          </a:highlight>
                          <a:latin typeface="+mn-lt"/>
                          <a:ea typeface="+mn-ea"/>
                          <a:cs typeface="+mn-cs"/>
                        </a:rPr>
                        <a:t>Simple</a:t>
                      </a:r>
                      <a:r>
                        <a:rPr lang="es-CO" sz="2100" b="0" i="0" kern="1200">
                          <a:solidFill>
                            <a:schemeClr val="tx1"/>
                          </a:solidFill>
                          <a:effectLst/>
                          <a:latin typeface="+mn-lt"/>
                          <a:ea typeface="+mn-ea"/>
                          <a:cs typeface="+mn-cs"/>
                        </a:rPr>
                        <a:t> (fácil de resolver, tiene pocas variables con pocas relaciones entre ellas)</a:t>
                      </a:r>
                    </a:p>
                    <a:p>
                      <a:r>
                        <a:rPr lang="es-CO" sz="2100" b="1" i="0" kern="1200">
                          <a:solidFill>
                            <a:schemeClr val="tx1"/>
                          </a:solidFill>
                          <a:effectLst/>
                          <a:latin typeface="+mn-lt"/>
                          <a:ea typeface="+mn-ea"/>
                          <a:cs typeface="+mn-cs"/>
                        </a:rPr>
                        <a:t>Complejo</a:t>
                      </a:r>
                      <a:r>
                        <a:rPr lang="es-CO" sz="2100" b="0" i="0" kern="1200">
                          <a:solidFill>
                            <a:schemeClr val="tx1"/>
                          </a:solidFill>
                          <a:effectLst/>
                          <a:latin typeface="+mn-lt"/>
                          <a:ea typeface="+mn-ea"/>
                          <a:cs typeface="+mn-cs"/>
                        </a:rPr>
                        <a:t> (requiere múltiples pasos o conocimientos especializados) (</a:t>
                      </a:r>
                      <a:r>
                        <a:rPr lang="es-CO" sz="2100" b="0" i="0" kern="1200" err="1">
                          <a:solidFill>
                            <a:schemeClr val="tx1"/>
                          </a:solidFill>
                          <a:effectLst/>
                          <a:latin typeface="+mn-lt"/>
                          <a:ea typeface="+mn-ea"/>
                          <a:cs typeface="+mn-cs"/>
                        </a:rPr>
                        <a:t>Jonassen</a:t>
                      </a:r>
                      <a:r>
                        <a:rPr lang="es-CO" sz="2100" b="0" i="0" kern="1200">
                          <a:solidFill>
                            <a:schemeClr val="tx1"/>
                          </a:solidFill>
                          <a:effectLst/>
                          <a:latin typeface="+mn-lt"/>
                          <a:ea typeface="+mn-ea"/>
                          <a:cs typeface="+mn-cs"/>
                        </a:rPr>
                        <a:t>, 2000)</a:t>
                      </a:r>
                      <a:endParaRPr lang="es-CO" sz="2100">
                        <a:solidFill>
                          <a:schemeClr val="tx1"/>
                        </a:solidFill>
                      </a:endParaRPr>
                    </a:p>
                  </a:txBody>
                  <a:tcPr/>
                </a:tc>
                <a:extLst>
                  <a:ext uri="{0D108BD9-81ED-4DB2-BD59-A6C34878D82A}">
                    <a16:rowId xmlns:a16="http://schemas.microsoft.com/office/drawing/2014/main" val="2629848083"/>
                  </a:ext>
                </a:extLst>
              </a:tr>
            </a:tbl>
          </a:graphicData>
        </a:graphic>
      </p:graphicFrame>
      <p:sp>
        <p:nvSpPr>
          <p:cNvPr id="14" name="Google Shape;558;p27">
            <a:extLst>
              <a:ext uri="{FF2B5EF4-FFF2-40B4-BE49-F238E27FC236}">
                <a16:creationId xmlns:a16="http://schemas.microsoft.com/office/drawing/2014/main" id="{89D3A536-DAA9-5261-251A-AFA4C91BFF35}"/>
              </a:ext>
            </a:extLst>
          </p:cNvPr>
          <p:cNvSpPr/>
          <p:nvPr/>
        </p:nvSpPr>
        <p:spPr>
          <a:xfrm>
            <a:off x="2076994" y="5842875"/>
            <a:ext cx="9666016" cy="776500"/>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marL="76200" indent="0" algn="ctr" fontAlgn="base">
              <a:buNone/>
            </a:pPr>
            <a:r>
              <a:rPr lang="es-CO" sz="2000" b="1"/>
              <a:t>En este curso trabajaremos con problemas bien definidos y simples. La resolución de los problemas se hará por medio de algoritmos.</a:t>
            </a:r>
            <a:endParaRPr lang="en-US" sz="2000" b="1"/>
          </a:p>
        </p:txBody>
      </p:sp>
    </p:spTree>
    <p:extLst>
      <p:ext uri="{BB962C8B-B14F-4D97-AF65-F5344CB8AC3E}">
        <p14:creationId xmlns:p14="http://schemas.microsoft.com/office/powerpoint/2010/main" val="3591056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D50B99-3A3B-4757-B6F6-75D36AEEC59D}"/>
              </a:ext>
            </a:extLst>
          </p:cNvPr>
          <p:cNvSpPr>
            <a:spLocks noGrp="1"/>
          </p:cNvSpPr>
          <p:nvPr>
            <p:ph type="title"/>
          </p:nvPr>
        </p:nvSpPr>
        <p:spPr>
          <a:xfrm>
            <a:off x="2076994" y="56081"/>
            <a:ext cx="9666016" cy="1018902"/>
          </a:xfrm>
        </p:spPr>
        <p:txBody>
          <a:bodyPr/>
          <a:lstStyle/>
          <a:p>
            <a:r>
              <a:rPr lang="es-CO"/>
              <a:t>Métodos de resolución de problemas</a:t>
            </a:r>
          </a:p>
        </p:txBody>
      </p:sp>
      <p:sp>
        <p:nvSpPr>
          <p:cNvPr id="3" name="Marcador de texto 2">
            <a:extLst>
              <a:ext uri="{FF2B5EF4-FFF2-40B4-BE49-F238E27FC236}">
                <a16:creationId xmlns:a16="http://schemas.microsoft.com/office/drawing/2014/main" id="{0DA8C663-3168-40E6-9A9B-9B430C33F08B}"/>
              </a:ext>
            </a:extLst>
          </p:cNvPr>
          <p:cNvSpPr>
            <a:spLocks noGrp="1"/>
          </p:cNvSpPr>
          <p:nvPr>
            <p:ph type="body" idx="1"/>
          </p:nvPr>
        </p:nvSpPr>
        <p:spPr>
          <a:xfrm>
            <a:off x="2076994" y="962525"/>
            <a:ext cx="9666016" cy="588879"/>
          </a:xfrm>
        </p:spPr>
        <p:txBody>
          <a:bodyPr>
            <a:normAutofit/>
          </a:bodyPr>
          <a:lstStyle/>
          <a:p>
            <a:pPr marL="0" indent="0" algn="just">
              <a:buNone/>
            </a:pPr>
            <a:r>
              <a:rPr lang="es-CO" sz="2000"/>
              <a:t>Existen diferentes métodos pare resolver problemas según su tipo:</a:t>
            </a:r>
            <a:endParaRPr lang="es-CO" sz="2000" b="1"/>
          </a:p>
        </p:txBody>
      </p:sp>
      <p:sp>
        <p:nvSpPr>
          <p:cNvPr id="4" name="Marcador de número de diapositiva 3">
            <a:extLst>
              <a:ext uri="{FF2B5EF4-FFF2-40B4-BE49-F238E27FC236}">
                <a16:creationId xmlns:a16="http://schemas.microsoft.com/office/drawing/2014/main" id="{EB64A480-13D8-4473-8534-750D60EB595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5</a:t>
            </a:fld>
            <a:endParaRPr lang="es-CO"/>
          </a:p>
        </p:txBody>
      </p:sp>
      <p:graphicFrame>
        <p:nvGraphicFramePr>
          <p:cNvPr id="5" name="Tabla 4">
            <a:extLst>
              <a:ext uri="{FF2B5EF4-FFF2-40B4-BE49-F238E27FC236}">
                <a16:creationId xmlns:a16="http://schemas.microsoft.com/office/drawing/2014/main" id="{457159E4-80C8-DA3C-614C-81C6F8004066}"/>
              </a:ext>
            </a:extLst>
          </p:cNvPr>
          <p:cNvGraphicFramePr>
            <a:graphicFrameLocks noGrp="1"/>
          </p:cNvGraphicFramePr>
          <p:nvPr>
            <p:extLst>
              <p:ext uri="{D42A27DB-BD31-4B8C-83A1-F6EECF244321}">
                <p14:modId xmlns:p14="http://schemas.microsoft.com/office/powerpoint/2010/main" val="3646775463"/>
              </p:ext>
            </p:extLst>
          </p:nvPr>
        </p:nvGraphicFramePr>
        <p:xfrm>
          <a:off x="2076994" y="1560485"/>
          <a:ext cx="9666017" cy="4097020"/>
        </p:xfrm>
        <a:graphic>
          <a:graphicData uri="http://schemas.openxmlformats.org/drawingml/2006/table">
            <a:tbl>
              <a:tblPr firstRow="1" bandRow="1">
                <a:tableStyleId>{5940675A-B579-460E-94D1-54222C63F5DA}</a:tableStyleId>
              </a:tblPr>
              <a:tblGrid>
                <a:gridCol w="1618706">
                  <a:extLst>
                    <a:ext uri="{9D8B030D-6E8A-4147-A177-3AD203B41FA5}">
                      <a16:colId xmlns:a16="http://schemas.microsoft.com/office/drawing/2014/main" val="722552213"/>
                    </a:ext>
                  </a:extLst>
                </a:gridCol>
                <a:gridCol w="1892300">
                  <a:extLst>
                    <a:ext uri="{9D8B030D-6E8A-4147-A177-3AD203B41FA5}">
                      <a16:colId xmlns:a16="http://schemas.microsoft.com/office/drawing/2014/main" val="3688458231"/>
                    </a:ext>
                  </a:extLst>
                </a:gridCol>
                <a:gridCol w="3388049">
                  <a:extLst>
                    <a:ext uri="{9D8B030D-6E8A-4147-A177-3AD203B41FA5}">
                      <a16:colId xmlns:a16="http://schemas.microsoft.com/office/drawing/2014/main" val="1586084338"/>
                    </a:ext>
                  </a:extLst>
                </a:gridCol>
                <a:gridCol w="2766962">
                  <a:extLst>
                    <a:ext uri="{9D8B030D-6E8A-4147-A177-3AD203B41FA5}">
                      <a16:colId xmlns:a16="http://schemas.microsoft.com/office/drawing/2014/main" val="2567778166"/>
                    </a:ext>
                  </a:extLst>
                </a:gridCol>
              </a:tblGrid>
              <a:tr h="370840">
                <a:tc>
                  <a:txBody>
                    <a:bodyPr/>
                    <a:lstStyle/>
                    <a:p>
                      <a:pPr algn="ctr"/>
                      <a:r>
                        <a:rPr lang="es-CO" sz="1650" b="1">
                          <a:solidFill>
                            <a:schemeClr val="bg1"/>
                          </a:solidFill>
                        </a:rPr>
                        <a:t>Método</a:t>
                      </a:r>
                    </a:p>
                  </a:txBody>
                  <a:tcPr>
                    <a:solidFill>
                      <a:srgbClr val="113649"/>
                    </a:solidFill>
                  </a:tcPr>
                </a:tc>
                <a:tc>
                  <a:txBody>
                    <a:bodyPr/>
                    <a:lstStyle/>
                    <a:p>
                      <a:pPr algn="ctr"/>
                      <a:r>
                        <a:rPr lang="es-CO" sz="1650" b="1">
                          <a:solidFill>
                            <a:schemeClr val="bg1"/>
                          </a:solidFill>
                        </a:rPr>
                        <a:t>Aplicación principal</a:t>
                      </a:r>
                    </a:p>
                  </a:txBody>
                  <a:tcPr>
                    <a:solidFill>
                      <a:srgbClr val="113649"/>
                    </a:solidFill>
                  </a:tcPr>
                </a:tc>
                <a:tc>
                  <a:txBody>
                    <a:bodyPr/>
                    <a:lstStyle/>
                    <a:p>
                      <a:pPr algn="ctr"/>
                      <a:r>
                        <a:rPr lang="es-CO" sz="1650" b="1">
                          <a:solidFill>
                            <a:schemeClr val="bg1"/>
                          </a:solidFill>
                        </a:rPr>
                        <a:t>Pasos clave</a:t>
                      </a:r>
                    </a:p>
                  </a:txBody>
                  <a:tcPr>
                    <a:solidFill>
                      <a:srgbClr val="113649"/>
                    </a:solidFill>
                  </a:tcPr>
                </a:tc>
                <a:tc>
                  <a:txBody>
                    <a:bodyPr/>
                    <a:lstStyle/>
                    <a:p>
                      <a:pPr algn="ctr"/>
                      <a:r>
                        <a:rPr lang="es-CO" sz="1650" b="1">
                          <a:solidFill>
                            <a:schemeClr val="bg1"/>
                          </a:solidFill>
                        </a:rPr>
                        <a:t>Ejemplo de uso</a:t>
                      </a:r>
                    </a:p>
                  </a:txBody>
                  <a:tcPr>
                    <a:solidFill>
                      <a:srgbClr val="113649"/>
                    </a:solidFill>
                  </a:tcPr>
                </a:tc>
                <a:extLst>
                  <a:ext uri="{0D108BD9-81ED-4DB2-BD59-A6C34878D82A}">
                    <a16:rowId xmlns:a16="http://schemas.microsoft.com/office/drawing/2014/main" val="1757604693"/>
                  </a:ext>
                </a:extLst>
              </a:tr>
              <a:tr h="370840">
                <a:tc>
                  <a:txBody>
                    <a:bodyPr/>
                    <a:lstStyle/>
                    <a:p>
                      <a:r>
                        <a:rPr lang="es-CO" sz="1650" b="1" i="0" kern="1200">
                          <a:solidFill>
                            <a:schemeClr val="tx1"/>
                          </a:solidFill>
                          <a:effectLst/>
                          <a:latin typeface="+mn-lt"/>
                          <a:ea typeface="+mn-ea"/>
                          <a:cs typeface="+mn-cs"/>
                        </a:rPr>
                        <a:t>Polya (1945)</a:t>
                      </a:r>
                      <a:endParaRPr lang="es-CO" sz="1650" b="1">
                        <a:solidFill>
                          <a:schemeClr val="tx1"/>
                        </a:solidFill>
                      </a:endParaRPr>
                    </a:p>
                  </a:txBody>
                  <a:tcPr/>
                </a:tc>
                <a:tc>
                  <a:txBody>
                    <a:bodyPr/>
                    <a:lstStyle/>
                    <a:p>
                      <a:r>
                        <a:rPr lang="es-CO" sz="1650" b="0" i="0" kern="1200">
                          <a:solidFill>
                            <a:schemeClr val="tx1"/>
                          </a:solidFill>
                          <a:effectLst/>
                          <a:latin typeface="+mn-lt"/>
                          <a:ea typeface="+mn-ea"/>
                          <a:cs typeface="+mn-cs"/>
                        </a:rPr>
                        <a:t>Problemas matemáticos​</a:t>
                      </a:r>
                      <a:endParaRPr lang="es-CO" sz="1650">
                        <a:solidFill>
                          <a:srgbClr val="FF0000"/>
                        </a:solidFill>
                      </a:endParaRPr>
                    </a:p>
                  </a:txBody>
                  <a:tcPr/>
                </a:tc>
                <a:tc>
                  <a:txBody>
                    <a:bodyPr/>
                    <a:lstStyle/>
                    <a:p>
                      <a:r>
                        <a:rPr lang="es-CO" sz="1650" b="0" i="0" kern="1200">
                          <a:solidFill>
                            <a:schemeClr val="tx1"/>
                          </a:solidFill>
                          <a:effectLst/>
                          <a:latin typeface="+mn-lt"/>
                          <a:ea typeface="+mn-ea"/>
                          <a:cs typeface="+mn-cs"/>
                        </a:rPr>
                        <a:t>1. Comprender → 2. Planear →         3. Ejecutar → 4. Verificar</a:t>
                      </a:r>
                      <a:endParaRPr lang="es-CO" sz="1650">
                        <a:solidFill>
                          <a:srgbClr val="FF0000"/>
                        </a:solidFill>
                      </a:endParaRPr>
                    </a:p>
                  </a:txBody>
                  <a:tcPr/>
                </a:tc>
                <a:tc>
                  <a:txBody>
                    <a:bodyPr/>
                    <a:lstStyle/>
                    <a:p>
                      <a:r>
                        <a:rPr lang="es-CO" sz="1650" b="0" i="0" kern="1200">
                          <a:solidFill>
                            <a:schemeClr val="tx1"/>
                          </a:solidFill>
                          <a:effectLst/>
                          <a:latin typeface="+mn-lt"/>
                          <a:ea typeface="+mn-ea"/>
                          <a:cs typeface="+mn-cs"/>
                        </a:rPr>
                        <a:t>Resolver ecuaciones cuadráticas</a:t>
                      </a:r>
                      <a:endParaRPr lang="es-CO" sz="1650">
                        <a:solidFill>
                          <a:srgbClr val="FF0000"/>
                        </a:solidFill>
                      </a:endParaRPr>
                    </a:p>
                  </a:txBody>
                  <a:tcPr/>
                </a:tc>
                <a:extLst>
                  <a:ext uri="{0D108BD9-81ED-4DB2-BD59-A6C34878D82A}">
                    <a16:rowId xmlns:a16="http://schemas.microsoft.com/office/drawing/2014/main" val="12410076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50" b="1" i="0" kern="1200">
                          <a:solidFill>
                            <a:schemeClr val="tx1"/>
                          </a:solidFill>
                          <a:effectLst/>
                          <a:latin typeface="+mn-lt"/>
                          <a:ea typeface="+mn-ea"/>
                          <a:cs typeface="+mn-cs"/>
                        </a:rPr>
                        <a:t>Algorítmico – Pensamiento computacional</a:t>
                      </a:r>
                      <a:endParaRPr lang="es-CO" sz="1650" b="1"/>
                    </a:p>
                  </a:txBody>
                  <a:tcPr>
                    <a:solidFill>
                      <a:srgbClr val="009BAF">
                        <a:alpha val="30000"/>
                      </a:srgbClr>
                    </a:solidFill>
                  </a:tcPr>
                </a:tc>
                <a:tc>
                  <a:txBody>
                    <a:bodyPr/>
                    <a:lstStyle/>
                    <a:p>
                      <a:r>
                        <a:rPr lang="es-CO" sz="1650" b="0" i="0" kern="1200">
                          <a:solidFill>
                            <a:schemeClr val="tx1"/>
                          </a:solidFill>
                          <a:effectLst/>
                          <a:latin typeface="+mn-lt"/>
                          <a:ea typeface="+mn-ea"/>
                          <a:cs typeface="+mn-cs"/>
                        </a:rPr>
                        <a:t>Problemas matemáticos​</a:t>
                      </a:r>
                      <a:endParaRPr lang="es-CO" sz="1650">
                        <a:solidFill>
                          <a:srgbClr val="FF0000"/>
                        </a:solidFill>
                      </a:endParaRPr>
                    </a:p>
                  </a:txBody>
                  <a:tcPr>
                    <a:solidFill>
                      <a:srgbClr val="009BAF">
                        <a:alpha val="30000"/>
                      </a:srgbClr>
                    </a:solidFill>
                  </a:tcPr>
                </a:tc>
                <a:tc>
                  <a:txBody>
                    <a:bodyPr/>
                    <a:lstStyle/>
                    <a:p>
                      <a:r>
                        <a:rPr lang="es-CO" sz="1650" b="0" i="0" kern="1200">
                          <a:solidFill>
                            <a:schemeClr val="tx1"/>
                          </a:solidFill>
                          <a:effectLst/>
                          <a:latin typeface="+mn-lt"/>
                          <a:ea typeface="+mn-ea"/>
                          <a:cs typeface="+mn-cs"/>
                        </a:rPr>
                        <a:t>1. Definir problema→ 2. Dividir →    3. Identificar patrones → 4. Codificar → 5. Evaluar</a:t>
                      </a:r>
                      <a:endParaRPr lang="es-CO" sz="1650">
                        <a:solidFill>
                          <a:srgbClr val="FF0000"/>
                        </a:solidFill>
                      </a:endParaRPr>
                    </a:p>
                  </a:txBody>
                  <a:tcPr>
                    <a:solidFill>
                      <a:srgbClr val="009BAF">
                        <a:alpha val="30000"/>
                      </a:srgbClr>
                    </a:solidFill>
                  </a:tcPr>
                </a:tc>
                <a:tc>
                  <a:txBody>
                    <a:bodyPr/>
                    <a:lstStyle/>
                    <a:p>
                      <a:r>
                        <a:rPr lang="es-ES" sz="1650" b="0" i="0" kern="1200">
                          <a:solidFill>
                            <a:schemeClr val="tx1"/>
                          </a:solidFill>
                          <a:effectLst/>
                          <a:latin typeface="+mn-lt"/>
                          <a:ea typeface="+mn-ea"/>
                          <a:cs typeface="+mn-cs"/>
                        </a:rPr>
                        <a:t>Ordenar una lista de datos en Python</a:t>
                      </a:r>
                      <a:endParaRPr lang="es-CO" sz="1650">
                        <a:solidFill>
                          <a:srgbClr val="FF0000"/>
                        </a:solidFill>
                      </a:endParaRPr>
                    </a:p>
                  </a:txBody>
                  <a:tcPr>
                    <a:solidFill>
                      <a:srgbClr val="009BAF">
                        <a:alpha val="30000"/>
                      </a:srgbClr>
                    </a:solidFill>
                  </a:tcPr>
                </a:tc>
                <a:extLst>
                  <a:ext uri="{0D108BD9-81ED-4DB2-BD59-A6C34878D82A}">
                    <a16:rowId xmlns:a16="http://schemas.microsoft.com/office/drawing/2014/main" val="247851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50" b="1" i="0" kern="1200">
                          <a:solidFill>
                            <a:schemeClr val="tx1"/>
                          </a:solidFill>
                          <a:effectLst/>
                          <a:latin typeface="+mn-lt"/>
                          <a:ea typeface="+mn-ea"/>
                          <a:cs typeface="+mn-cs"/>
                        </a:rPr>
                        <a:t>Heurístico</a:t>
                      </a:r>
                      <a:endParaRPr lang="es-CO" sz="1650" b="1"/>
                    </a:p>
                  </a:txBody>
                  <a:tcPr/>
                </a:tc>
                <a:tc>
                  <a:txBody>
                    <a:bodyPr/>
                    <a:lstStyle/>
                    <a:p>
                      <a:r>
                        <a:rPr lang="es-CO" sz="1650" b="0" i="0" kern="1200">
                          <a:solidFill>
                            <a:schemeClr val="tx1"/>
                          </a:solidFill>
                          <a:effectLst/>
                          <a:latin typeface="+mn-lt"/>
                          <a:ea typeface="+mn-ea"/>
                          <a:cs typeface="+mn-cs"/>
                        </a:rPr>
                        <a:t>Problemas creativos e inciertos</a:t>
                      </a:r>
                      <a:endParaRPr lang="es-CO" sz="1650">
                        <a:solidFill>
                          <a:srgbClr val="FF0000"/>
                        </a:solidFill>
                      </a:endParaRPr>
                    </a:p>
                  </a:txBody>
                  <a:tcPr/>
                </a:tc>
                <a:tc>
                  <a:txBody>
                    <a:bodyPr/>
                    <a:lstStyle/>
                    <a:p>
                      <a:r>
                        <a:rPr lang="es-ES" sz="1650" b="0" i="0" kern="1200">
                          <a:solidFill>
                            <a:schemeClr val="tx1"/>
                          </a:solidFill>
                          <a:effectLst/>
                          <a:latin typeface="+mn-lt"/>
                          <a:ea typeface="+mn-ea"/>
                          <a:cs typeface="+mn-cs"/>
                        </a:rPr>
                        <a:t>1. Explorar → 2. Generar ideas →     3. Seleccionar → 4. Implementar</a:t>
                      </a:r>
                      <a:endParaRPr lang="es-CO" sz="1650">
                        <a:solidFill>
                          <a:srgbClr val="FF0000"/>
                        </a:solidFill>
                      </a:endParaRPr>
                    </a:p>
                  </a:txBody>
                  <a:tcPr/>
                </a:tc>
                <a:tc>
                  <a:txBody>
                    <a:bodyPr/>
                    <a:lstStyle/>
                    <a:p>
                      <a:r>
                        <a:rPr lang="es-ES" sz="1650" b="0" i="0" kern="1200">
                          <a:solidFill>
                            <a:schemeClr val="tx1"/>
                          </a:solidFill>
                          <a:effectLst/>
                          <a:latin typeface="+mn-lt"/>
                          <a:ea typeface="+mn-ea"/>
                          <a:cs typeface="+mn-cs"/>
                        </a:rPr>
                        <a:t>Crear una estrategia de marketing innovadora</a:t>
                      </a:r>
                      <a:endParaRPr lang="es-CO" sz="1650">
                        <a:solidFill>
                          <a:srgbClr val="FF0000"/>
                        </a:solidFill>
                      </a:endParaRPr>
                    </a:p>
                  </a:txBody>
                  <a:tcPr/>
                </a:tc>
                <a:extLst>
                  <a:ext uri="{0D108BD9-81ED-4DB2-BD59-A6C34878D82A}">
                    <a16:rowId xmlns:a16="http://schemas.microsoft.com/office/drawing/2014/main" val="562835410"/>
                  </a:ext>
                </a:extLst>
              </a:tr>
              <a:tr h="370840">
                <a:tc>
                  <a:txBody>
                    <a:bodyPr/>
                    <a:lstStyle/>
                    <a:p>
                      <a:r>
                        <a:rPr lang="es-CO" sz="1650" b="1" i="0" kern="1200">
                          <a:solidFill>
                            <a:schemeClr val="tx1"/>
                          </a:solidFill>
                          <a:effectLst/>
                          <a:latin typeface="+mn-lt"/>
                          <a:ea typeface="+mn-ea"/>
                          <a:cs typeface="+mn-cs"/>
                        </a:rPr>
                        <a:t>Científico</a:t>
                      </a:r>
                      <a:endParaRPr lang="es-CO" sz="1650" b="1"/>
                    </a:p>
                  </a:txBody>
                  <a:tcPr/>
                </a:tc>
                <a:tc>
                  <a:txBody>
                    <a:bodyPr/>
                    <a:lstStyle/>
                    <a:p>
                      <a:r>
                        <a:rPr lang="es-CO" sz="1650" b="0" i="0" kern="1200">
                          <a:solidFill>
                            <a:schemeClr val="tx1"/>
                          </a:solidFill>
                          <a:effectLst/>
                          <a:latin typeface="+mn-lt"/>
                          <a:ea typeface="+mn-ea"/>
                          <a:cs typeface="+mn-cs"/>
                        </a:rPr>
                        <a:t>Investigación y experimentación</a:t>
                      </a:r>
                      <a:endParaRPr lang="es-CO" sz="1650">
                        <a:solidFill>
                          <a:srgbClr val="FF0000"/>
                        </a:solidFill>
                      </a:endParaRPr>
                    </a:p>
                  </a:txBody>
                  <a:tcPr/>
                </a:tc>
                <a:tc>
                  <a:txBody>
                    <a:bodyPr/>
                    <a:lstStyle/>
                    <a:p>
                      <a:r>
                        <a:rPr lang="es-CO" sz="1650" b="0" i="0" kern="1200">
                          <a:solidFill>
                            <a:schemeClr val="tx1"/>
                          </a:solidFill>
                          <a:effectLst/>
                          <a:latin typeface="+mn-lt"/>
                          <a:ea typeface="+mn-ea"/>
                          <a:cs typeface="+mn-cs"/>
                        </a:rPr>
                        <a:t>1. Observar → 2. Formular hipótesis → 3. Experimentar → 4. Analizar →   5. Concluir</a:t>
                      </a:r>
                      <a:endParaRPr lang="es-CO" sz="1650">
                        <a:solidFill>
                          <a:srgbClr val="FF0000"/>
                        </a:solidFill>
                      </a:endParaRPr>
                    </a:p>
                  </a:txBody>
                  <a:tcPr/>
                </a:tc>
                <a:tc>
                  <a:txBody>
                    <a:bodyPr/>
                    <a:lstStyle/>
                    <a:p>
                      <a:r>
                        <a:rPr lang="es-ES" sz="1650" b="0" i="0" kern="1200">
                          <a:solidFill>
                            <a:schemeClr val="tx1"/>
                          </a:solidFill>
                          <a:effectLst/>
                          <a:latin typeface="+mn-lt"/>
                          <a:ea typeface="+mn-ea"/>
                          <a:cs typeface="+mn-cs"/>
                        </a:rPr>
                        <a:t>Evaluar el impacto de un medicamento en la salud pública</a:t>
                      </a:r>
                      <a:endParaRPr lang="es-CO" sz="1650">
                        <a:solidFill>
                          <a:srgbClr val="FF0000"/>
                        </a:solidFill>
                      </a:endParaRPr>
                    </a:p>
                  </a:txBody>
                  <a:tcPr/>
                </a:tc>
                <a:extLst>
                  <a:ext uri="{0D108BD9-81ED-4DB2-BD59-A6C34878D82A}">
                    <a16:rowId xmlns:a16="http://schemas.microsoft.com/office/drawing/2014/main" val="2629848083"/>
                  </a:ext>
                </a:extLst>
              </a:tr>
              <a:tr h="370840">
                <a:tc>
                  <a:txBody>
                    <a:bodyPr/>
                    <a:lstStyle/>
                    <a:p>
                      <a:r>
                        <a:rPr lang="es-CO" sz="1650" b="1" i="0" kern="1200" err="1">
                          <a:solidFill>
                            <a:schemeClr val="tx1"/>
                          </a:solidFill>
                          <a:effectLst/>
                          <a:latin typeface="+mn-lt"/>
                          <a:ea typeface="+mn-ea"/>
                          <a:cs typeface="+mn-cs"/>
                        </a:rPr>
                        <a:t>Design</a:t>
                      </a:r>
                      <a:r>
                        <a:rPr lang="es-CO" sz="1650" b="1" i="0" kern="1200">
                          <a:solidFill>
                            <a:schemeClr val="tx1"/>
                          </a:solidFill>
                          <a:effectLst/>
                          <a:latin typeface="+mn-lt"/>
                          <a:ea typeface="+mn-ea"/>
                          <a:cs typeface="+mn-cs"/>
                        </a:rPr>
                        <a:t> </a:t>
                      </a:r>
                      <a:r>
                        <a:rPr lang="es-CO" sz="1650" b="1" i="0" kern="1200" err="1">
                          <a:solidFill>
                            <a:schemeClr val="tx1"/>
                          </a:solidFill>
                          <a:effectLst/>
                          <a:latin typeface="+mn-lt"/>
                          <a:ea typeface="+mn-ea"/>
                          <a:cs typeface="+mn-cs"/>
                        </a:rPr>
                        <a:t>Thinking</a:t>
                      </a:r>
                      <a:endParaRPr lang="es-CO" sz="1650" b="1"/>
                    </a:p>
                  </a:txBody>
                  <a:tcPr/>
                </a:tc>
                <a:tc>
                  <a:txBody>
                    <a:bodyPr/>
                    <a:lstStyle/>
                    <a:p>
                      <a:r>
                        <a:rPr lang="es-ES" sz="1650" b="0" i="0" kern="1200">
                          <a:solidFill>
                            <a:schemeClr val="tx1"/>
                          </a:solidFill>
                          <a:effectLst/>
                          <a:latin typeface="+mn-lt"/>
                          <a:ea typeface="+mn-ea"/>
                          <a:cs typeface="+mn-cs"/>
                        </a:rPr>
                        <a:t>Innovación y diseño de productos</a:t>
                      </a:r>
                      <a:endParaRPr lang="es-CO" sz="1650">
                        <a:solidFill>
                          <a:srgbClr val="FF0000"/>
                        </a:solidFill>
                      </a:endParaRPr>
                    </a:p>
                  </a:txBody>
                  <a:tcPr/>
                </a:tc>
                <a:tc>
                  <a:txBody>
                    <a:bodyPr/>
                    <a:lstStyle/>
                    <a:p>
                      <a:r>
                        <a:rPr lang="pt-BR" sz="1650" b="0" i="0" kern="1200">
                          <a:solidFill>
                            <a:schemeClr val="tx1"/>
                          </a:solidFill>
                          <a:effectLst/>
                          <a:latin typeface="+mn-lt"/>
                          <a:ea typeface="+mn-ea"/>
                          <a:cs typeface="+mn-cs"/>
                        </a:rPr>
                        <a:t>1. Empatizar → 2. Definir → 3. Idear → 4. </a:t>
                      </a:r>
                      <a:r>
                        <a:rPr lang="pt-BR" sz="1650" b="0" i="0" kern="1200" err="1">
                          <a:solidFill>
                            <a:schemeClr val="tx1"/>
                          </a:solidFill>
                          <a:effectLst/>
                          <a:latin typeface="+mn-lt"/>
                          <a:ea typeface="+mn-ea"/>
                          <a:cs typeface="+mn-cs"/>
                        </a:rPr>
                        <a:t>Prototipar</a:t>
                      </a:r>
                      <a:r>
                        <a:rPr lang="pt-BR" sz="1650" b="0" i="0" kern="1200">
                          <a:solidFill>
                            <a:schemeClr val="tx1"/>
                          </a:solidFill>
                          <a:effectLst/>
                          <a:latin typeface="+mn-lt"/>
                          <a:ea typeface="+mn-ea"/>
                          <a:cs typeface="+mn-cs"/>
                        </a:rPr>
                        <a:t> → 5. </a:t>
                      </a:r>
                      <a:r>
                        <a:rPr lang="pt-BR" sz="1650" b="0" i="0" kern="1200" err="1">
                          <a:solidFill>
                            <a:schemeClr val="tx1"/>
                          </a:solidFill>
                          <a:effectLst/>
                          <a:latin typeface="+mn-lt"/>
                          <a:ea typeface="+mn-ea"/>
                          <a:cs typeface="+mn-cs"/>
                        </a:rPr>
                        <a:t>Testear</a:t>
                      </a:r>
                      <a:endParaRPr lang="es-CO" sz="1650">
                        <a:solidFill>
                          <a:srgbClr val="FF0000"/>
                        </a:solidFill>
                      </a:endParaRPr>
                    </a:p>
                  </a:txBody>
                  <a:tcPr/>
                </a:tc>
                <a:tc>
                  <a:txBody>
                    <a:bodyPr/>
                    <a:lstStyle/>
                    <a:p>
                      <a:r>
                        <a:rPr lang="es-ES" sz="1650" b="0" i="0" kern="1200">
                          <a:solidFill>
                            <a:schemeClr val="tx1"/>
                          </a:solidFill>
                          <a:effectLst/>
                          <a:latin typeface="+mn-lt"/>
                          <a:ea typeface="+mn-ea"/>
                          <a:cs typeface="+mn-cs"/>
                        </a:rPr>
                        <a:t>Diseñar una </a:t>
                      </a:r>
                      <a:r>
                        <a:rPr lang="es-ES" sz="1650" b="0" i="1" kern="1200">
                          <a:solidFill>
                            <a:schemeClr val="tx1"/>
                          </a:solidFill>
                          <a:effectLst/>
                          <a:latin typeface="+mn-lt"/>
                          <a:ea typeface="+mn-ea"/>
                          <a:cs typeface="+mn-cs"/>
                        </a:rPr>
                        <a:t>app</a:t>
                      </a:r>
                      <a:r>
                        <a:rPr lang="es-ES" sz="1650" b="0" i="0" kern="1200">
                          <a:solidFill>
                            <a:schemeClr val="tx1"/>
                          </a:solidFill>
                          <a:effectLst/>
                          <a:latin typeface="+mn-lt"/>
                          <a:ea typeface="+mn-ea"/>
                          <a:cs typeface="+mn-cs"/>
                        </a:rPr>
                        <a:t> accesible para personas con discapacidad</a:t>
                      </a:r>
                      <a:endParaRPr lang="es-CO" sz="1650">
                        <a:solidFill>
                          <a:srgbClr val="FF0000"/>
                        </a:solidFill>
                      </a:endParaRPr>
                    </a:p>
                  </a:txBody>
                  <a:tcPr/>
                </a:tc>
                <a:extLst>
                  <a:ext uri="{0D108BD9-81ED-4DB2-BD59-A6C34878D82A}">
                    <a16:rowId xmlns:a16="http://schemas.microsoft.com/office/drawing/2014/main" val="3902500672"/>
                  </a:ext>
                </a:extLst>
              </a:tr>
            </a:tbl>
          </a:graphicData>
        </a:graphic>
      </p:graphicFrame>
      <p:sp>
        <p:nvSpPr>
          <p:cNvPr id="6" name="Google Shape;228;p4">
            <a:extLst>
              <a:ext uri="{FF2B5EF4-FFF2-40B4-BE49-F238E27FC236}">
                <a16:creationId xmlns:a16="http://schemas.microsoft.com/office/drawing/2014/main" id="{D7F3D7A7-4936-903A-EABA-35BD535281DD}"/>
              </a:ext>
            </a:extLst>
          </p:cNvPr>
          <p:cNvSpPr txBox="1">
            <a:spLocks/>
          </p:cNvSpPr>
          <p:nvPr/>
        </p:nvSpPr>
        <p:spPr>
          <a:xfrm>
            <a:off x="2048210" y="5756602"/>
            <a:ext cx="9666016" cy="748740"/>
          </a:xfrm>
          <a:prstGeom prst="rect">
            <a:avLst/>
          </a:prstGeom>
          <a:gradFill>
            <a:gsLst>
              <a:gs pos="0">
                <a:srgbClr val="F7B224"/>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defPPr>
              <a:defRPr lang="es-ES"/>
            </a:defPPr>
            <a:lvl1pPr marL="0" algn="ctr" defTabSz="914400" rtl="0" eaLnBrk="1" latinLnBrk="0" hangingPunct="1">
              <a:defRPr sz="1800" b="1" kern="1200">
                <a:solidFill>
                  <a:schemeClr val="dk1"/>
                </a:solidFill>
                <a:latin typeface="Calibri"/>
                <a:ea typeface="+mn-ea"/>
                <a:cs typeface="Calibri"/>
              </a:defRPr>
            </a:lvl1pPr>
            <a:lvl2pPr marL="914400" lvl="1" indent="-355600" algn="l" defTabSz="914400" rtl="0" eaLnBrk="1" latinLnBrk="0" hangingPunct="1">
              <a:lnSpc>
                <a:spcPct val="100000"/>
              </a:lnSpc>
              <a:spcBef>
                <a:spcPts val="600"/>
              </a:spcBef>
              <a:spcAft>
                <a:spcPts val="0"/>
              </a:spcAft>
              <a:buSzPts val="2000"/>
              <a:buFont typeface="Arial" panose="020B0604020202020204" pitchFamily="34" charset="0"/>
              <a:buChar char="•"/>
              <a:defRPr sz="2400" kern="1200">
                <a:solidFill>
                  <a:schemeClr val="tx1"/>
                </a:solidFill>
                <a:latin typeface="Calibri"/>
                <a:ea typeface="Calibri"/>
                <a:cs typeface="Calibri"/>
                <a:sym typeface="Calibri"/>
              </a:defRPr>
            </a:lvl2pPr>
            <a:lvl3pPr marL="1371600" lvl="2" indent="-342900" algn="l" defTabSz="914400" rtl="0" eaLnBrk="1" latinLnBrk="0" hangingPunct="1">
              <a:lnSpc>
                <a:spcPct val="100000"/>
              </a:lnSpc>
              <a:spcBef>
                <a:spcPts val="600"/>
              </a:spcBef>
              <a:spcAft>
                <a:spcPts val="0"/>
              </a:spcAft>
              <a:buSzPts val="1800"/>
              <a:buFont typeface="Arial" panose="020B0604020202020204" pitchFamily="34" charset="0"/>
              <a:buChar char="•"/>
              <a:defRPr sz="2000" kern="1200">
                <a:solidFill>
                  <a:schemeClr val="tx1"/>
                </a:solidFill>
                <a:latin typeface="Calibri"/>
                <a:ea typeface="Calibri"/>
                <a:cs typeface="Calibri"/>
                <a:sym typeface="Calibri"/>
              </a:defRPr>
            </a:lvl3pPr>
            <a:lvl4pPr marL="1828800" lvl="3" indent="-330200" algn="l" defTabSz="914400" rtl="0" eaLnBrk="1" latinLnBrk="0" hangingPunct="1">
              <a:lnSpc>
                <a:spcPct val="100000"/>
              </a:lnSpc>
              <a:spcBef>
                <a:spcPts val="600"/>
              </a:spcBef>
              <a:spcAft>
                <a:spcPts val="0"/>
              </a:spcAft>
              <a:buSzPts val="1600"/>
              <a:buFont typeface="Arial" panose="020B0604020202020204" pitchFamily="34" charset="0"/>
              <a:buChar char="•"/>
              <a:defRPr sz="1800" kern="1200">
                <a:solidFill>
                  <a:schemeClr val="tx1"/>
                </a:solidFill>
                <a:latin typeface="Calibri"/>
                <a:ea typeface="Calibri"/>
                <a:cs typeface="Calibri"/>
                <a:sym typeface="Calibri"/>
              </a:defRPr>
            </a:lvl4pPr>
            <a:lvl5pPr marL="2286000" lvl="4" indent="-317500" algn="l" defTabSz="914400" rtl="0" eaLnBrk="1" latinLnBrk="0" hangingPunct="1">
              <a:lnSpc>
                <a:spcPct val="100000"/>
              </a:lnSpc>
              <a:spcBef>
                <a:spcPts val="600"/>
              </a:spcBef>
              <a:spcAft>
                <a:spcPts val="0"/>
              </a:spcAft>
              <a:buSzPts val="1400"/>
              <a:buFont typeface="Arial" panose="020B0604020202020204" pitchFamily="34" charset="0"/>
              <a:buChar char="•"/>
              <a:defRPr sz="1800" kern="1200">
                <a:solidFill>
                  <a:schemeClr val="tx1"/>
                </a:solidFill>
                <a:latin typeface="Calibri"/>
                <a:ea typeface="Calibri"/>
                <a:cs typeface="Calibri"/>
                <a:sym typeface="Calibri"/>
              </a:defRPr>
            </a:lvl5pPr>
            <a:lvl6pPr marL="2743200" lvl="5"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6pPr>
            <a:lvl7pPr marL="3200400" lvl="6"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7pPr>
            <a:lvl8pPr marL="3657600" lvl="7" indent="-394334"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8pPr>
            <a:lvl9pPr marL="4114800" lvl="8" indent="-394334" algn="l" defTabSz="914400" rtl="0" eaLnBrk="1" latinLnBrk="0" hangingPunct="1">
              <a:lnSpc>
                <a:spcPct val="100000"/>
              </a:lnSpc>
              <a:spcBef>
                <a:spcPts val="600"/>
              </a:spcBef>
              <a:spcAft>
                <a:spcPts val="600"/>
              </a:spcAft>
              <a:buSzPts val="2610"/>
              <a:buFont typeface="Arial" panose="020B0604020202020204" pitchFamily="34" charset="0"/>
              <a:buChar char="•"/>
              <a:defRPr sz="1800" kern="1200">
                <a:solidFill>
                  <a:schemeClr val="tx1"/>
                </a:solidFill>
                <a:latin typeface="+mn-lt"/>
                <a:ea typeface="+mn-ea"/>
                <a:cs typeface="+mn-cs"/>
              </a:defRPr>
            </a:lvl9pPr>
          </a:lstStyle>
          <a:p>
            <a:r>
              <a:rPr lang="es-CO" sz="2000"/>
              <a:t>Usaremos el Pensamiento Computacional para analizar problemas y proponer soluciones algorítmicas.</a:t>
            </a:r>
            <a:endParaRPr lang="es-CO" altLang="es-CO" sz="2000"/>
          </a:p>
        </p:txBody>
      </p:sp>
    </p:spTree>
    <p:extLst>
      <p:ext uri="{BB962C8B-B14F-4D97-AF65-F5344CB8AC3E}">
        <p14:creationId xmlns:p14="http://schemas.microsoft.com/office/powerpoint/2010/main" val="224797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5E1B8-0DC1-9A49-3E9B-07467D6B81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2A0F22-F282-A0D9-98C8-00C82B041BBA}"/>
              </a:ext>
            </a:extLst>
          </p:cNvPr>
          <p:cNvSpPr>
            <a:spLocks noGrp="1"/>
          </p:cNvSpPr>
          <p:nvPr>
            <p:ph type="title"/>
          </p:nvPr>
        </p:nvSpPr>
        <p:spPr>
          <a:xfrm>
            <a:off x="1925051" y="338116"/>
            <a:ext cx="9962147" cy="586116"/>
          </a:xfrm>
        </p:spPr>
        <p:txBody>
          <a:bodyPr>
            <a:noAutofit/>
          </a:bodyPr>
          <a:lstStyle/>
          <a:p>
            <a:r>
              <a:rPr lang="es-CO" sz="2650"/>
              <a:t>Recordemos la metodología de trabajo con algoritmos y pilares del PC</a:t>
            </a:r>
          </a:p>
        </p:txBody>
      </p:sp>
      <p:sp>
        <p:nvSpPr>
          <p:cNvPr id="4" name="Marcador de número de diapositiva 3">
            <a:extLst>
              <a:ext uri="{FF2B5EF4-FFF2-40B4-BE49-F238E27FC236}">
                <a16:creationId xmlns:a16="http://schemas.microsoft.com/office/drawing/2014/main" id="{C44FE293-29A8-DD04-F1DA-AD4E8D389F67}"/>
              </a:ext>
            </a:extLst>
          </p:cNvPr>
          <p:cNvSpPr>
            <a:spLocks noGrp="1"/>
          </p:cNvSpPr>
          <p:nvPr>
            <p:ph type="sldNum" idx="12"/>
          </p:nvPr>
        </p:nvSpPr>
        <p:spPr/>
        <p:txBody>
          <a:bodyPr/>
          <a:lstStyle/>
          <a:p>
            <a:fld id="{00000000-1234-1234-1234-123412341234}" type="slidenum">
              <a:rPr lang="es-CO" smtClean="0"/>
              <a:pPr/>
              <a:t>6</a:t>
            </a:fld>
            <a:endParaRPr lang="es-CO"/>
          </a:p>
        </p:txBody>
      </p:sp>
      <p:graphicFrame>
        <p:nvGraphicFramePr>
          <p:cNvPr id="3" name="Tabla 2">
            <a:extLst>
              <a:ext uri="{FF2B5EF4-FFF2-40B4-BE49-F238E27FC236}">
                <a16:creationId xmlns:a16="http://schemas.microsoft.com/office/drawing/2014/main" id="{9551FCC6-A04E-9CFD-4750-C5AE1D932897}"/>
              </a:ext>
            </a:extLst>
          </p:cNvPr>
          <p:cNvGraphicFramePr>
            <a:graphicFrameLocks noGrp="1"/>
          </p:cNvGraphicFramePr>
          <p:nvPr>
            <p:extLst>
              <p:ext uri="{D42A27DB-BD31-4B8C-83A1-F6EECF244321}">
                <p14:modId xmlns:p14="http://schemas.microsoft.com/office/powerpoint/2010/main" val="2006871662"/>
              </p:ext>
            </p:extLst>
          </p:nvPr>
        </p:nvGraphicFramePr>
        <p:xfrm>
          <a:off x="1987607" y="924232"/>
          <a:ext cx="9962147" cy="4907280"/>
        </p:xfrm>
        <a:graphic>
          <a:graphicData uri="http://schemas.openxmlformats.org/drawingml/2006/table">
            <a:tbl>
              <a:tblPr firstRow="1" bandRow="1">
                <a:tableStyleId>{5940675A-B579-460E-94D1-54222C63F5DA}</a:tableStyleId>
              </a:tblPr>
              <a:tblGrid>
                <a:gridCol w="2823410">
                  <a:extLst>
                    <a:ext uri="{9D8B030D-6E8A-4147-A177-3AD203B41FA5}">
                      <a16:colId xmlns:a16="http://schemas.microsoft.com/office/drawing/2014/main" val="722552213"/>
                    </a:ext>
                  </a:extLst>
                </a:gridCol>
                <a:gridCol w="7138737">
                  <a:extLst>
                    <a:ext uri="{9D8B030D-6E8A-4147-A177-3AD203B41FA5}">
                      <a16:colId xmlns:a16="http://schemas.microsoft.com/office/drawing/2014/main" val="3688458231"/>
                    </a:ext>
                  </a:extLst>
                </a:gridCol>
              </a:tblGrid>
              <a:tr h="352367">
                <a:tc>
                  <a:txBody>
                    <a:bodyPr/>
                    <a:lstStyle/>
                    <a:p>
                      <a:pPr algn="ctr"/>
                      <a:r>
                        <a:rPr lang="es-CO" sz="2000" b="1">
                          <a:solidFill>
                            <a:schemeClr val="bg1"/>
                          </a:solidFill>
                        </a:rPr>
                        <a:t>Etapa de la metodología</a:t>
                      </a:r>
                    </a:p>
                  </a:txBody>
                  <a:tcPr>
                    <a:solidFill>
                      <a:srgbClr val="113649"/>
                    </a:solidFill>
                  </a:tcPr>
                </a:tc>
                <a:tc>
                  <a:txBody>
                    <a:bodyPr/>
                    <a:lstStyle/>
                    <a:p>
                      <a:pPr algn="ctr"/>
                      <a:r>
                        <a:rPr lang="es-CO" sz="2000" b="1">
                          <a:solidFill>
                            <a:schemeClr val="bg1"/>
                          </a:solidFill>
                        </a:rPr>
                        <a:t>Pilar del PC</a:t>
                      </a:r>
                    </a:p>
                  </a:txBody>
                  <a:tcPr>
                    <a:solidFill>
                      <a:srgbClr val="113649"/>
                    </a:solidFill>
                  </a:tcPr>
                </a:tc>
                <a:extLst>
                  <a:ext uri="{0D108BD9-81ED-4DB2-BD59-A6C34878D82A}">
                    <a16:rowId xmlns:a16="http://schemas.microsoft.com/office/drawing/2014/main" val="1757604693"/>
                  </a:ext>
                </a:extLst>
              </a:tr>
              <a:tr h="370840">
                <a:tc rowSpan="2">
                  <a:txBody>
                    <a:bodyPr/>
                    <a:lstStyle/>
                    <a:p>
                      <a:r>
                        <a:rPr lang="es-CO" sz="2000"/>
                        <a:t>Análisis del problema</a:t>
                      </a:r>
                    </a:p>
                  </a:txBody>
                  <a:tcPr/>
                </a:tc>
                <a:tc>
                  <a:txBody>
                    <a:bodyPr/>
                    <a:lstStyle/>
                    <a:p>
                      <a:r>
                        <a:rPr lang="es-MX" sz="2000" b="1"/>
                        <a:t>Descomposición</a:t>
                      </a:r>
                      <a:r>
                        <a:rPr lang="es-MX" sz="2000"/>
                        <a:t>: Divide el problema en subproblemas más pequeños.</a:t>
                      </a:r>
                      <a:endParaRPr lang="es-CO" sz="2000"/>
                    </a:p>
                  </a:txBody>
                  <a:tcPr/>
                </a:tc>
                <a:extLst>
                  <a:ext uri="{0D108BD9-81ED-4DB2-BD59-A6C34878D82A}">
                    <a16:rowId xmlns:a16="http://schemas.microsoft.com/office/drawing/2014/main" val="1241007629"/>
                  </a:ext>
                </a:extLst>
              </a:tr>
              <a:tr h="370840">
                <a:tc vMerge="1">
                  <a:txBody>
                    <a:bodyPr/>
                    <a:lstStyle/>
                    <a:p>
                      <a:endParaRPr lang="es-CO"/>
                    </a:p>
                  </a:txBody>
                  <a:tcPr/>
                </a:tc>
                <a:tc>
                  <a:txBody>
                    <a:bodyPr/>
                    <a:lstStyle/>
                    <a:p>
                      <a:r>
                        <a:rPr lang="es-MX" sz="2000" b="1"/>
                        <a:t>Abstracción</a:t>
                      </a:r>
                      <a:r>
                        <a:rPr lang="es-MX" sz="2000"/>
                        <a:t>: Identifica los elementos importantes del problema, eliminando detalles irrelevantes.</a:t>
                      </a:r>
                      <a:endParaRPr lang="es-CO" sz="2000"/>
                    </a:p>
                  </a:txBody>
                  <a:tcPr/>
                </a:tc>
                <a:extLst>
                  <a:ext uri="{0D108BD9-81ED-4DB2-BD59-A6C34878D82A}">
                    <a16:rowId xmlns:a16="http://schemas.microsoft.com/office/drawing/2014/main" val="3965419494"/>
                  </a:ext>
                </a:extLst>
              </a:tr>
              <a:tr h="37084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2000"/>
                        <a:t>Diseño de la solución</a:t>
                      </a:r>
                    </a:p>
                    <a:p>
                      <a:endParaRPr lang="es-CO" sz="2000"/>
                    </a:p>
                  </a:txBody>
                  <a:tcPr/>
                </a:tc>
                <a:tc>
                  <a:txBody>
                    <a:bodyPr/>
                    <a:lstStyle/>
                    <a:p>
                      <a:r>
                        <a:rPr lang="es-MX" sz="2000" b="1"/>
                        <a:t>Lógica y Algoritmia</a:t>
                      </a:r>
                      <a:r>
                        <a:rPr lang="es-MX" sz="2000"/>
                        <a:t>: Define la secuencia de pasos para resolver el problema.</a:t>
                      </a:r>
                      <a:endParaRPr lang="es-CO" sz="2000"/>
                    </a:p>
                  </a:txBody>
                  <a:tcPr/>
                </a:tc>
                <a:extLst>
                  <a:ext uri="{0D108BD9-81ED-4DB2-BD59-A6C34878D82A}">
                    <a16:rowId xmlns:a16="http://schemas.microsoft.com/office/drawing/2014/main" val="2478515418"/>
                  </a:ext>
                </a:extLst>
              </a:tr>
              <a:tr h="370840">
                <a:tc vMerge="1">
                  <a:txBody>
                    <a:bodyPr/>
                    <a:lstStyle/>
                    <a:p>
                      <a:endParaRPr lang="es-CO"/>
                    </a:p>
                  </a:txBody>
                  <a:tcPr/>
                </a:tc>
                <a:tc>
                  <a:txBody>
                    <a:bodyPr/>
                    <a:lstStyle/>
                    <a:p>
                      <a:r>
                        <a:rPr lang="es-MX" sz="2000" b="1"/>
                        <a:t>Reconocimiento de patrones</a:t>
                      </a:r>
                      <a:r>
                        <a:rPr lang="es-MX" sz="2000"/>
                        <a:t>: Aplica soluciones generales a problemas similares basándote en experiencias anteriores.</a:t>
                      </a:r>
                      <a:endParaRPr lang="es-CO" sz="2000"/>
                    </a:p>
                  </a:txBody>
                  <a:tcPr/>
                </a:tc>
                <a:extLst>
                  <a:ext uri="{0D108BD9-81ED-4DB2-BD59-A6C34878D82A}">
                    <a16:rowId xmlns:a16="http://schemas.microsoft.com/office/drawing/2014/main" val="8034546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2000"/>
                        <a:t>Validación de la solución</a:t>
                      </a:r>
                    </a:p>
                  </a:txBody>
                  <a:tcPr/>
                </a:tc>
                <a:tc>
                  <a:txBody>
                    <a:bodyPr/>
                    <a:lstStyle/>
                    <a:p>
                      <a:r>
                        <a:rPr lang="es-MX" sz="2000" b="1"/>
                        <a:t>Evaluación de la solución</a:t>
                      </a:r>
                      <a:r>
                        <a:rPr lang="es-MX" sz="2000"/>
                        <a:t>: Comprueba si el diseño cumple con los requisitos y si resuelve el problema eficientemente.</a:t>
                      </a:r>
                      <a:endParaRPr lang="es-CO" sz="2000"/>
                    </a:p>
                  </a:txBody>
                  <a:tcPr/>
                </a:tc>
                <a:extLst>
                  <a:ext uri="{0D108BD9-81ED-4DB2-BD59-A6C34878D82A}">
                    <a16:rowId xmlns:a16="http://schemas.microsoft.com/office/drawing/2014/main" val="562835410"/>
                  </a:ext>
                </a:extLst>
              </a:tr>
              <a:tr h="370840">
                <a:tc>
                  <a:txBody>
                    <a:bodyPr/>
                    <a:lstStyle/>
                    <a:p>
                      <a:r>
                        <a:rPr lang="es-CO" sz="2000"/>
                        <a:t>Codificación de la solución en un lenguaje de programación</a:t>
                      </a:r>
                    </a:p>
                  </a:txBody>
                  <a:tcPr/>
                </a:tc>
                <a:tc>
                  <a:txBody>
                    <a:bodyPr/>
                    <a:lstStyle/>
                    <a:p>
                      <a:r>
                        <a:rPr lang="es-MX" sz="2000" b="1"/>
                        <a:t>Evaluación de la solución</a:t>
                      </a:r>
                      <a:r>
                        <a:rPr lang="es-MX" sz="2000"/>
                        <a:t>: Implementa el diseño en un lenguaje de programación, asegurándote de seguir la lógica planteada en los pasos anteriores.</a:t>
                      </a:r>
                      <a:endParaRPr lang="es-CO" sz="2000"/>
                    </a:p>
                  </a:txBody>
                  <a:tcPr/>
                </a:tc>
                <a:extLst>
                  <a:ext uri="{0D108BD9-81ED-4DB2-BD59-A6C34878D82A}">
                    <a16:rowId xmlns:a16="http://schemas.microsoft.com/office/drawing/2014/main" val="2629848083"/>
                  </a:ext>
                </a:extLst>
              </a:tr>
            </a:tbl>
          </a:graphicData>
        </a:graphic>
      </p:graphicFrame>
      <p:sp>
        <p:nvSpPr>
          <p:cNvPr id="5" name="Google Shape;228;p4">
            <a:extLst>
              <a:ext uri="{FF2B5EF4-FFF2-40B4-BE49-F238E27FC236}">
                <a16:creationId xmlns:a16="http://schemas.microsoft.com/office/drawing/2014/main" id="{D7F3D7A7-4936-903A-EABA-35BD535281DD}"/>
              </a:ext>
            </a:extLst>
          </p:cNvPr>
          <p:cNvSpPr txBox="1">
            <a:spLocks/>
          </p:cNvSpPr>
          <p:nvPr/>
        </p:nvSpPr>
        <p:spPr>
          <a:xfrm>
            <a:off x="1987606" y="5943396"/>
            <a:ext cx="9962147" cy="474232"/>
          </a:xfrm>
          <a:prstGeom prst="rect">
            <a:avLst/>
          </a:prstGeom>
          <a:gradFill>
            <a:gsLst>
              <a:gs pos="0">
                <a:srgbClr val="F7B224"/>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defPPr>
              <a:defRPr lang="es-ES"/>
            </a:defPPr>
            <a:lvl1pPr marL="0" algn="ctr" defTabSz="914400" rtl="0" eaLnBrk="1" latinLnBrk="0" hangingPunct="1">
              <a:defRPr sz="1800" b="1" kern="1200">
                <a:solidFill>
                  <a:schemeClr val="dk1"/>
                </a:solidFill>
                <a:latin typeface="Calibri"/>
                <a:ea typeface="+mn-ea"/>
                <a:cs typeface="Calibri"/>
              </a:defRPr>
            </a:lvl1pPr>
            <a:lvl2pPr marL="914400" lvl="1" indent="-355600" algn="l" defTabSz="914400" rtl="0" eaLnBrk="1" latinLnBrk="0" hangingPunct="1">
              <a:lnSpc>
                <a:spcPct val="100000"/>
              </a:lnSpc>
              <a:spcBef>
                <a:spcPts val="600"/>
              </a:spcBef>
              <a:spcAft>
                <a:spcPts val="0"/>
              </a:spcAft>
              <a:buSzPts val="2000"/>
              <a:buFont typeface="Arial" panose="020B0604020202020204" pitchFamily="34" charset="0"/>
              <a:buChar char="•"/>
              <a:defRPr sz="2400" kern="1200">
                <a:solidFill>
                  <a:schemeClr val="tx1"/>
                </a:solidFill>
                <a:latin typeface="Calibri"/>
                <a:ea typeface="Calibri"/>
                <a:cs typeface="Calibri"/>
                <a:sym typeface="Calibri"/>
              </a:defRPr>
            </a:lvl2pPr>
            <a:lvl3pPr marL="1371600" lvl="2" indent="-342900" algn="l" defTabSz="914400" rtl="0" eaLnBrk="1" latinLnBrk="0" hangingPunct="1">
              <a:lnSpc>
                <a:spcPct val="100000"/>
              </a:lnSpc>
              <a:spcBef>
                <a:spcPts val="600"/>
              </a:spcBef>
              <a:spcAft>
                <a:spcPts val="0"/>
              </a:spcAft>
              <a:buSzPts val="1800"/>
              <a:buFont typeface="Arial" panose="020B0604020202020204" pitchFamily="34" charset="0"/>
              <a:buChar char="•"/>
              <a:defRPr sz="2000" kern="1200">
                <a:solidFill>
                  <a:schemeClr val="tx1"/>
                </a:solidFill>
                <a:latin typeface="Calibri"/>
                <a:ea typeface="Calibri"/>
                <a:cs typeface="Calibri"/>
                <a:sym typeface="Calibri"/>
              </a:defRPr>
            </a:lvl3pPr>
            <a:lvl4pPr marL="1828800" lvl="3" indent="-330200" algn="l" defTabSz="914400" rtl="0" eaLnBrk="1" latinLnBrk="0" hangingPunct="1">
              <a:lnSpc>
                <a:spcPct val="100000"/>
              </a:lnSpc>
              <a:spcBef>
                <a:spcPts val="600"/>
              </a:spcBef>
              <a:spcAft>
                <a:spcPts val="0"/>
              </a:spcAft>
              <a:buSzPts val="1600"/>
              <a:buFont typeface="Arial" panose="020B0604020202020204" pitchFamily="34" charset="0"/>
              <a:buChar char="•"/>
              <a:defRPr sz="1800" kern="1200">
                <a:solidFill>
                  <a:schemeClr val="tx1"/>
                </a:solidFill>
                <a:latin typeface="Calibri"/>
                <a:ea typeface="Calibri"/>
                <a:cs typeface="Calibri"/>
                <a:sym typeface="Calibri"/>
              </a:defRPr>
            </a:lvl4pPr>
            <a:lvl5pPr marL="2286000" lvl="4" indent="-317500" algn="l" defTabSz="914400" rtl="0" eaLnBrk="1" latinLnBrk="0" hangingPunct="1">
              <a:lnSpc>
                <a:spcPct val="100000"/>
              </a:lnSpc>
              <a:spcBef>
                <a:spcPts val="600"/>
              </a:spcBef>
              <a:spcAft>
                <a:spcPts val="0"/>
              </a:spcAft>
              <a:buSzPts val="1400"/>
              <a:buFont typeface="Arial" panose="020B0604020202020204" pitchFamily="34" charset="0"/>
              <a:buChar char="•"/>
              <a:defRPr sz="1800" kern="1200">
                <a:solidFill>
                  <a:schemeClr val="tx1"/>
                </a:solidFill>
                <a:latin typeface="Calibri"/>
                <a:ea typeface="Calibri"/>
                <a:cs typeface="Calibri"/>
                <a:sym typeface="Calibri"/>
              </a:defRPr>
            </a:lvl5pPr>
            <a:lvl6pPr marL="2743200" lvl="5"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6pPr>
            <a:lvl7pPr marL="3200400" lvl="6" indent="-394335"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7pPr>
            <a:lvl8pPr marL="3657600" lvl="7" indent="-394334" algn="l" defTabSz="914400" rtl="0" eaLnBrk="1" latinLnBrk="0" hangingPunct="1">
              <a:lnSpc>
                <a:spcPct val="100000"/>
              </a:lnSpc>
              <a:spcBef>
                <a:spcPts val="600"/>
              </a:spcBef>
              <a:spcAft>
                <a:spcPts val="0"/>
              </a:spcAft>
              <a:buSzPts val="2610"/>
              <a:buFont typeface="Arial" panose="020B0604020202020204" pitchFamily="34" charset="0"/>
              <a:buChar char="•"/>
              <a:defRPr sz="1800" kern="1200">
                <a:solidFill>
                  <a:schemeClr val="tx1"/>
                </a:solidFill>
                <a:latin typeface="+mn-lt"/>
                <a:ea typeface="+mn-ea"/>
                <a:cs typeface="+mn-cs"/>
              </a:defRPr>
            </a:lvl8pPr>
            <a:lvl9pPr marL="4114800" lvl="8" indent="-394334" algn="l" defTabSz="914400" rtl="0" eaLnBrk="1" latinLnBrk="0" hangingPunct="1">
              <a:lnSpc>
                <a:spcPct val="100000"/>
              </a:lnSpc>
              <a:spcBef>
                <a:spcPts val="600"/>
              </a:spcBef>
              <a:spcAft>
                <a:spcPts val="600"/>
              </a:spcAft>
              <a:buSzPts val="2610"/>
              <a:buFont typeface="Arial" panose="020B0604020202020204" pitchFamily="34" charset="0"/>
              <a:buChar char="•"/>
              <a:defRPr sz="1800" kern="1200">
                <a:solidFill>
                  <a:schemeClr val="tx1"/>
                </a:solidFill>
                <a:latin typeface="+mn-lt"/>
                <a:ea typeface="+mn-ea"/>
                <a:cs typeface="+mn-cs"/>
              </a:defRPr>
            </a:lvl9pPr>
          </a:lstStyle>
          <a:p>
            <a:r>
              <a:rPr lang="es-CO" sz="2000"/>
              <a:t>¡Pongamos en práctica lo aprendido!</a:t>
            </a:r>
            <a:endParaRPr lang="es-CO" altLang="es-CO" sz="2000"/>
          </a:p>
        </p:txBody>
      </p:sp>
    </p:spTree>
    <p:extLst>
      <p:ext uri="{BB962C8B-B14F-4D97-AF65-F5344CB8AC3E}">
        <p14:creationId xmlns:p14="http://schemas.microsoft.com/office/powerpoint/2010/main" val="255703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Resolución de problemas</a:t>
            </a:r>
          </a:p>
          <a:p>
            <a:pPr marL="457200" lvl="0" indent="-457200">
              <a:spcBef>
                <a:spcPts val="0"/>
              </a:spcBef>
              <a:buSzPts val="2400"/>
              <a:buFont typeface="Calibri"/>
              <a:buAutoNum type="arabicPeriod"/>
            </a:pPr>
            <a:r>
              <a:rPr lang="es-ES" b="1"/>
              <a:t>Ejemplo</a:t>
            </a:r>
          </a:p>
          <a:p>
            <a:pPr marL="457200" indent="-457200">
              <a:spcBef>
                <a:spcPts val="0"/>
              </a:spcBef>
              <a:buSzPts val="2400"/>
              <a:buFont typeface="Calibri"/>
              <a:buAutoNum type="arabicPeriod"/>
            </a:pPr>
            <a:r>
              <a:rPr lang="es-ES"/>
              <a:t>Ejercicios</a:t>
            </a:r>
          </a:p>
          <a:p>
            <a:pPr marL="457200" lvl="0" indent="-457200">
              <a:spcBef>
                <a:spcPts val="0"/>
              </a:spcBef>
              <a:buSzPts val="2400"/>
              <a:buFont typeface="Calibri"/>
              <a:buAutoNum type="arabicPeriod"/>
            </a:pPr>
            <a:r>
              <a:rPr lang="es-ES"/>
              <a:t>Proyecto</a:t>
            </a:r>
          </a:p>
        </p:txBody>
      </p:sp>
    </p:spTree>
    <p:extLst>
      <p:ext uri="{BB962C8B-B14F-4D97-AF65-F5344CB8AC3E}">
        <p14:creationId xmlns:p14="http://schemas.microsoft.com/office/powerpoint/2010/main" val="219382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AFC547FB-F43F-40D7-8F52-15D1C0E90A3C}"/>
              </a:ext>
            </a:extLst>
          </p:cNvPr>
          <p:cNvSpPr>
            <a:spLocks noGrp="1"/>
          </p:cNvSpPr>
          <p:nvPr>
            <p:ph type="title"/>
          </p:nvPr>
        </p:nvSpPr>
        <p:spPr/>
        <p:txBody>
          <a:bodyPr/>
          <a:lstStyle/>
          <a:p>
            <a:r>
              <a:rPr lang="es-CO"/>
              <a:t>Problema Índice de Masa Corporal</a:t>
            </a:r>
          </a:p>
        </p:txBody>
      </p:sp>
      <p:sp>
        <p:nvSpPr>
          <p:cNvPr id="6" name="Marcador de texto 5">
            <a:extLst>
              <a:ext uri="{FF2B5EF4-FFF2-40B4-BE49-F238E27FC236}">
                <a16:creationId xmlns:a16="http://schemas.microsoft.com/office/drawing/2014/main" id="{5EF71987-E68A-40CD-BAED-7EBD5A727E27}"/>
              </a:ext>
            </a:extLst>
          </p:cNvPr>
          <p:cNvSpPr>
            <a:spLocks noGrp="1"/>
          </p:cNvSpPr>
          <p:nvPr>
            <p:ph type="body" idx="1"/>
          </p:nvPr>
        </p:nvSpPr>
        <p:spPr>
          <a:xfrm>
            <a:off x="1860884" y="1096593"/>
            <a:ext cx="9780510" cy="5394959"/>
          </a:xfrm>
        </p:spPr>
        <p:txBody>
          <a:bodyPr>
            <a:noAutofit/>
          </a:bodyPr>
          <a:lstStyle/>
          <a:p>
            <a:pPr marL="76200" indent="0" algn="just">
              <a:buNone/>
            </a:pPr>
            <a:r>
              <a:rPr lang="es-ES" sz="2000" dirty="0"/>
              <a:t>Un centro de bienestar ubicado en la ciudad de Bogotá ofrece diferentes servicios, como asesoría nutricional, entrenamiento personalizado y clases de relajación. Recientemente, el director del centro ha notado que algunos clientes han solicitado recomendaciones más específicas sobre su estado físico. Para mejorar la experiencia del usuario, el centro desea </a:t>
            </a:r>
            <a:r>
              <a:rPr lang="es-ES" sz="2000" b="1" dirty="0">
                <a:solidFill>
                  <a:srgbClr val="FE963D"/>
                </a:solidFill>
              </a:rPr>
              <a:t>calcular</a:t>
            </a:r>
            <a:r>
              <a:rPr lang="es-ES" sz="2000" b="1" dirty="0"/>
              <a:t> el Índice de Masa Corporal (</a:t>
            </a:r>
            <a:r>
              <a:rPr lang="es-ES" sz="2000" b="1" dirty="0">
                <a:solidFill>
                  <a:srgbClr val="009BAF"/>
                </a:solidFill>
              </a:rPr>
              <a:t>IMC</a:t>
            </a:r>
            <a:r>
              <a:rPr lang="es-ES" sz="2000" b="1" dirty="0"/>
              <a:t>) </a:t>
            </a:r>
            <a:r>
              <a:rPr lang="es-ES" sz="2000" dirty="0"/>
              <a:t>de cada cliente y </a:t>
            </a:r>
            <a:r>
              <a:rPr lang="es-ES" sz="2000" b="1" dirty="0">
                <a:solidFill>
                  <a:srgbClr val="FE963D"/>
                </a:solidFill>
              </a:rPr>
              <a:t>clasificar</a:t>
            </a:r>
            <a:r>
              <a:rPr lang="es-ES" sz="2000" b="1" dirty="0"/>
              <a:t> al cliente según su categoría </a:t>
            </a:r>
            <a:r>
              <a:rPr lang="es-ES" sz="2000" dirty="0"/>
              <a:t>(peso saludable y riesgo de sobrepeso).</a:t>
            </a:r>
          </a:p>
          <a:p>
            <a:pPr marL="76200" indent="0" algn="just">
              <a:buNone/>
            </a:pPr>
            <a:endParaRPr lang="es-ES" sz="2000" dirty="0"/>
          </a:p>
          <a:p>
            <a:pPr marL="76200" indent="0" algn="just">
              <a:buNone/>
            </a:pPr>
            <a:r>
              <a:rPr lang="es-ES" sz="2000" dirty="0"/>
              <a:t>Sobre los clientes se conoce su </a:t>
            </a:r>
            <a:r>
              <a:rPr lang="es-ES" sz="2000" b="1" dirty="0"/>
              <a:t>nombre</a:t>
            </a:r>
            <a:r>
              <a:rPr lang="es-ES" sz="2000" dirty="0"/>
              <a:t>, </a:t>
            </a:r>
            <a:r>
              <a:rPr lang="es-ES" sz="2000" b="1" dirty="0"/>
              <a:t>edad</a:t>
            </a:r>
            <a:r>
              <a:rPr lang="es-ES" sz="2000" dirty="0"/>
              <a:t>, </a:t>
            </a:r>
            <a:r>
              <a:rPr lang="es-ES" sz="2000" b="1" dirty="0">
                <a:solidFill>
                  <a:srgbClr val="02C9B6"/>
                </a:solidFill>
              </a:rPr>
              <a:t>peso</a:t>
            </a:r>
            <a:r>
              <a:rPr lang="es-ES" sz="2000" dirty="0"/>
              <a:t>, </a:t>
            </a:r>
            <a:r>
              <a:rPr lang="es-ES" sz="2000" b="1" dirty="0">
                <a:solidFill>
                  <a:srgbClr val="02C9B6"/>
                </a:solidFill>
              </a:rPr>
              <a:t>altura</a:t>
            </a:r>
            <a:r>
              <a:rPr lang="es-ES" sz="2000" dirty="0"/>
              <a:t>, </a:t>
            </a:r>
            <a:r>
              <a:rPr lang="es-ES" sz="2000" b="1" dirty="0"/>
              <a:t>correo electrónico</a:t>
            </a:r>
            <a:r>
              <a:rPr lang="es-ES" sz="2000" dirty="0"/>
              <a:t>, </a:t>
            </a:r>
            <a:r>
              <a:rPr lang="es-ES" sz="2000" b="1" dirty="0"/>
              <a:t>número de membresía</a:t>
            </a:r>
            <a:r>
              <a:rPr lang="es-ES" sz="2000" dirty="0"/>
              <a:t>, </a:t>
            </a:r>
            <a:r>
              <a:rPr lang="es-ES" sz="2000" b="1" dirty="0"/>
              <a:t>historial de asistencia a clases</a:t>
            </a:r>
            <a:r>
              <a:rPr lang="es-ES" sz="2000" dirty="0"/>
              <a:t> y </a:t>
            </a:r>
            <a:r>
              <a:rPr lang="es-ES" sz="2000" b="1" dirty="0"/>
              <a:t>preferencia de horario</a:t>
            </a:r>
            <a:r>
              <a:rPr lang="es-ES" sz="2000" dirty="0"/>
              <a:t>. </a:t>
            </a:r>
          </a:p>
          <a:p>
            <a:pPr marL="76200" indent="0" algn="just">
              <a:buNone/>
            </a:pPr>
            <a:r>
              <a:rPr lang="es-ES" sz="2000" dirty="0"/>
              <a:t>El director del centro espera utilizar esta información para generar reportes que podrían ayudar a los entrenadores a personalizar sus programas de ejercicio, pero por ahora solo desea conocer la clasificación de los clientes según su IMC.</a:t>
            </a:r>
          </a:p>
          <a:p>
            <a:pPr marL="76200" indent="0" algn="just">
              <a:buNone/>
            </a:pPr>
            <a:endParaRPr lang="es-ES" sz="2000" dirty="0"/>
          </a:p>
          <a:p>
            <a:pPr marL="76200" indent="0" algn="just">
              <a:buNone/>
            </a:pPr>
            <a:r>
              <a:rPr lang="es-ES" sz="1900" b="1" dirty="0"/>
              <a:t>Nota:</a:t>
            </a:r>
            <a:r>
              <a:rPr lang="es-ES" sz="1900" dirty="0"/>
              <a:t> </a:t>
            </a:r>
            <a:r>
              <a:rPr lang="es-MX" sz="1900" dirty="0"/>
              <a:t>Aunque el IMC tiene otras categorías, en esta fase el centro de bienestar se concentra en dos (</a:t>
            </a:r>
            <a:r>
              <a:rPr lang="es-MX" sz="1900" b="1" dirty="0">
                <a:solidFill>
                  <a:srgbClr val="009BAF"/>
                </a:solidFill>
              </a:rPr>
              <a:t>IMC &lt; 25 → "Peso saludable"</a:t>
            </a:r>
            <a:r>
              <a:rPr lang="es-MX" sz="1900" b="1" dirty="0"/>
              <a:t> </a:t>
            </a:r>
            <a:r>
              <a:rPr lang="es-MX" sz="1900" dirty="0"/>
              <a:t>e </a:t>
            </a:r>
            <a:r>
              <a:rPr lang="es-MX" sz="1900" b="1" dirty="0">
                <a:solidFill>
                  <a:srgbClr val="009BAF"/>
                </a:solidFill>
              </a:rPr>
              <a:t>IMC ≥ 25 → "Riesgo de sobrepeso"</a:t>
            </a:r>
            <a:r>
              <a:rPr lang="es-MX" sz="1900" dirty="0"/>
              <a:t>)</a:t>
            </a:r>
            <a:r>
              <a:rPr lang="es-MX" sz="1900" b="1" dirty="0"/>
              <a:t> </a:t>
            </a:r>
            <a:r>
              <a:rPr lang="es-MX" sz="1900" dirty="0"/>
              <a:t>debido a su énfasis en clientes con posible riesgo de sobrepeso. </a:t>
            </a:r>
            <a:r>
              <a:rPr lang="es-MX" sz="1900" i="1" dirty="0"/>
              <a:t>Este ejercicio es meramente académico y no busca contradecir teorías médicas ni reemplazar el criterio de un profesional de la salud.</a:t>
            </a:r>
            <a:endParaRPr lang="es-CO" sz="1900" i="1" dirty="0"/>
          </a:p>
        </p:txBody>
      </p:sp>
      <p:sp>
        <p:nvSpPr>
          <p:cNvPr id="4" name="Marcador de número de diapositiva 3">
            <a:extLst>
              <a:ext uri="{FF2B5EF4-FFF2-40B4-BE49-F238E27FC236}">
                <a16:creationId xmlns:a16="http://schemas.microsoft.com/office/drawing/2014/main" id="{9EB3CB94-A4D6-4AF6-A1C3-6729565B1A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8</a:t>
            </a:fld>
            <a:endParaRPr lang="es-CO"/>
          </a:p>
        </p:txBody>
      </p:sp>
    </p:spTree>
    <p:extLst>
      <p:ext uri="{BB962C8B-B14F-4D97-AF65-F5344CB8AC3E}">
        <p14:creationId xmlns:p14="http://schemas.microsoft.com/office/powerpoint/2010/main" val="2468078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AFC547FB-F43F-40D7-8F52-15D1C0E90A3C}"/>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9EB3CB94-A4D6-4AF6-A1C3-6729565B1A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9</a:t>
            </a:fld>
            <a:endParaRPr lang="es-CO"/>
          </a:p>
        </p:txBody>
      </p:sp>
      <p:sp>
        <p:nvSpPr>
          <p:cNvPr id="8" name="CuadroTexto 7">
            <a:extLst>
              <a:ext uri="{FF2B5EF4-FFF2-40B4-BE49-F238E27FC236}">
                <a16:creationId xmlns:a16="http://schemas.microsoft.com/office/drawing/2014/main" id="{18BB93FD-2F57-568F-E0F5-8ACE9A487EAC}"/>
              </a:ext>
            </a:extLst>
          </p:cNvPr>
          <p:cNvSpPr txBox="1"/>
          <p:nvPr/>
        </p:nvSpPr>
        <p:spPr>
          <a:xfrm>
            <a:off x="2076994" y="2105561"/>
            <a:ext cx="9637232" cy="2523768"/>
          </a:xfrm>
          <a:prstGeom prst="rect">
            <a:avLst/>
          </a:prstGeom>
          <a:noFill/>
        </p:spPr>
        <p:txBody>
          <a:bodyPr wrap="square" lIns="91440" tIns="45720" rIns="91440" bIns="45720" anchor="t">
            <a:spAutoFit/>
          </a:bodyPr>
          <a:lstStyle/>
          <a:p>
            <a:r>
              <a:rPr lang="es-ES" sz="2400" b="1" dirty="0"/>
              <a:t>1.1 Problema </a:t>
            </a:r>
          </a:p>
          <a:p>
            <a:pPr marL="285750" indent="-285750">
              <a:buClr>
                <a:srgbClr val="02C9B6"/>
              </a:buClr>
              <a:buFont typeface="Arial" panose="020B0604020202020204" pitchFamily="34" charset="0"/>
              <a:buChar char="•"/>
            </a:pPr>
            <a:r>
              <a:rPr lang="es-ES" sz="2000" b="1" dirty="0">
                <a:ea typeface="Calibri"/>
                <a:cs typeface="Calibri"/>
              </a:rPr>
              <a:t>Indicar brevemente el problema a resolver</a:t>
            </a:r>
          </a:p>
          <a:p>
            <a:pPr>
              <a:buClr>
                <a:srgbClr val="02C9B6"/>
              </a:buClr>
            </a:pPr>
            <a:r>
              <a:rPr lang="es-ES" sz="2000" dirty="0">
                <a:ea typeface="Calibri"/>
                <a:cs typeface="Calibri"/>
              </a:rPr>
              <a:t>Un centro de bienestar quiere calcular el </a:t>
            </a:r>
            <a:r>
              <a:rPr lang="es-ES" sz="2000" b="1" dirty="0">
                <a:solidFill>
                  <a:srgbClr val="009BAF"/>
                </a:solidFill>
                <a:ea typeface="Calibri"/>
                <a:cs typeface="Calibri"/>
              </a:rPr>
              <a:t>IMC</a:t>
            </a:r>
            <a:r>
              <a:rPr lang="es-ES" sz="2000" dirty="0">
                <a:ea typeface="Calibri"/>
                <a:cs typeface="Calibri"/>
              </a:rPr>
              <a:t> de sus clientes para clasificarlos según su estado nutricional en </a:t>
            </a:r>
            <a:r>
              <a:rPr lang="es-MX" sz="2000" b="1" dirty="0">
                <a:solidFill>
                  <a:srgbClr val="009BAF"/>
                </a:solidFill>
              </a:rPr>
              <a:t>"Peso saludable" </a:t>
            </a:r>
            <a:r>
              <a:rPr lang="es-MX" sz="2000" dirty="0"/>
              <a:t>y</a:t>
            </a:r>
            <a:r>
              <a:rPr lang="es-MX" sz="2000" b="1" dirty="0"/>
              <a:t> </a:t>
            </a:r>
            <a:r>
              <a:rPr lang="es-MX" sz="2000" b="1" dirty="0">
                <a:solidFill>
                  <a:srgbClr val="009BAF"/>
                </a:solidFill>
              </a:rPr>
              <a:t>"Riesgo de sobrepeso"</a:t>
            </a:r>
            <a:r>
              <a:rPr lang="es-ES" sz="2000" dirty="0">
                <a:ea typeface="Calibri"/>
                <a:cs typeface="Calibri"/>
              </a:rPr>
              <a:t>. </a:t>
            </a:r>
          </a:p>
          <a:p>
            <a:pPr marL="285750" indent="-285750">
              <a:buClr>
                <a:srgbClr val="02C9B6"/>
              </a:buClr>
              <a:buFont typeface="Arial" panose="020B0604020202020204" pitchFamily="34" charset="0"/>
              <a:buChar char="•"/>
            </a:pPr>
            <a:endParaRPr lang="es-ES" sz="2000" b="1" dirty="0">
              <a:ea typeface="Calibri" panose="020F0502020204030204"/>
              <a:cs typeface="Calibri" panose="020F0502020204030204"/>
            </a:endParaRPr>
          </a:p>
          <a:p>
            <a:pPr marL="285750" indent="-285750">
              <a:buClr>
                <a:srgbClr val="02C9B6"/>
              </a:buClr>
              <a:buFont typeface="Arial" panose="020B0604020202020204" pitchFamily="34" charset="0"/>
              <a:buChar char="•"/>
            </a:pPr>
            <a:r>
              <a:rPr lang="es-ES" sz="2000" b="1" dirty="0">
                <a:ea typeface="Calibri" panose="020F0502020204030204"/>
                <a:cs typeface="Calibri" panose="020F0502020204030204"/>
              </a:rPr>
              <a:t>Indicar el objetivo buscado</a:t>
            </a:r>
          </a:p>
          <a:p>
            <a:pPr>
              <a:buClr>
                <a:srgbClr val="02C9B6"/>
              </a:buClr>
            </a:pPr>
            <a:r>
              <a:rPr lang="es-ES" sz="2000" b="1" dirty="0">
                <a:solidFill>
                  <a:srgbClr val="FE963D"/>
                </a:solidFill>
                <a:ea typeface="Calibri"/>
                <a:cs typeface="Calibri"/>
              </a:rPr>
              <a:t>Calcular</a:t>
            </a:r>
            <a:r>
              <a:rPr lang="es-ES" sz="2000" dirty="0">
                <a:ea typeface="Calibri"/>
                <a:cs typeface="Calibri"/>
              </a:rPr>
              <a:t> el IMC y </a:t>
            </a:r>
            <a:r>
              <a:rPr lang="es-ES" sz="2000" b="1" dirty="0">
                <a:solidFill>
                  <a:srgbClr val="FE963D"/>
                </a:solidFill>
                <a:ea typeface="Calibri"/>
                <a:cs typeface="Calibri"/>
              </a:rPr>
              <a:t>clasificar</a:t>
            </a:r>
            <a:r>
              <a:rPr lang="es-ES" sz="2000" dirty="0">
                <a:ea typeface="Calibri"/>
                <a:cs typeface="Calibri"/>
              </a:rPr>
              <a:t> al cliente según el IMC.</a:t>
            </a:r>
          </a:p>
          <a:p>
            <a:pPr lvl="1"/>
            <a:endParaRPr lang="es-ES" sz="1400" dirty="0"/>
          </a:p>
        </p:txBody>
      </p:sp>
      <p:sp>
        <p:nvSpPr>
          <p:cNvPr id="2" name="Título 4">
            <a:extLst>
              <a:ext uri="{FF2B5EF4-FFF2-40B4-BE49-F238E27FC236}">
                <a16:creationId xmlns:a16="http://schemas.microsoft.com/office/drawing/2014/main" id="{92F979D6-E4D4-5B1F-001B-6E84D061A761}"/>
              </a:ext>
            </a:extLst>
          </p:cNvPr>
          <p:cNvSpPr txBox="1">
            <a:spLocks/>
          </p:cNvSpPr>
          <p:nvPr/>
        </p:nvSpPr>
        <p:spPr>
          <a:xfrm>
            <a:off x="2076994" y="1062796"/>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1. Análisis del problema</a:t>
            </a:r>
          </a:p>
        </p:txBody>
      </p:sp>
    </p:spTree>
    <p:extLst>
      <p:ext uri="{BB962C8B-B14F-4D97-AF65-F5344CB8AC3E}">
        <p14:creationId xmlns:p14="http://schemas.microsoft.com/office/powerpoint/2010/main" val="3843198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7FCB6-D5E2-3BEC-F697-472A5D8BDF2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E6C1F326-2D79-CB09-8FD3-A277C2868F19}"/>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C8CEB747-6915-0B50-9114-206DDECB2A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10</a:t>
            </a:fld>
            <a:endParaRPr lang="es-CO"/>
          </a:p>
        </p:txBody>
      </p:sp>
      <p:sp>
        <p:nvSpPr>
          <p:cNvPr id="14" name="CuadroTexto 13">
            <a:extLst>
              <a:ext uri="{FF2B5EF4-FFF2-40B4-BE49-F238E27FC236}">
                <a16:creationId xmlns:a16="http://schemas.microsoft.com/office/drawing/2014/main" id="{5963AB3A-202F-50E9-20BC-744C6FB045CA}"/>
              </a:ext>
            </a:extLst>
          </p:cNvPr>
          <p:cNvSpPr txBox="1"/>
          <p:nvPr/>
        </p:nvSpPr>
        <p:spPr>
          <a:xfrm>
            <a:off x="2224032" y="1834345"/>
            <a:ext cx="4347972" cy="1077218"/>
          </a:xfrm>
          <a:prstGeom prst="rect">
            <a:avLst/>
          </a:prstGeom>
          <a:noFill/>
        </p:spPr>
        <p:txBody>
          <a:bodyPr wrap="square" lIns="91440" tIns="45720" rIns="91440" bIns="45720" anchor="t">
            <a:spAutoFit/>
          </a:bodyPr>
          <a:lstStyle/>
          <a:p>
            <a:r>
              <a:rPr lang="es-ES" sz="2400" b="1"/>
              <a:t>1.2 Abstracción</a:t>
            </a:r>
          </a:p>
          <a:p>
            <a:pPr marL="342900" indent="-342900">
              <a:buClr>
                <a:srgbClr val="02C9B6"/>
              </a:buClr>
              <a:buFont typeface="Arial" panose="020B0604020202020204" pitchFamily="34" charset="0"/>
              <a:buChar char="•"/>
            </a:pPr>
            <a:r>
              <a:rPr lang="es-ES" sz="2000" b="1">
                <a:ea typeface="Calibri"/>
                <a:cs typeface="Calibri"/>
              </a:rPr>
              <a:t>Listar los datos relevantes para resolver el problema</a:t>
            </a:r>
          </a:p>
        </p:txBody>
      </p:sp>
      <p:sp>
        <p:nvSpPr>
          <p:cNvPr id="2" name="Título 4">
            <a:extLst>
              <a:ext uri="{FF2B5EF4-FFF2-40B4-BE49-F238E27FC236}">
                <a16:creationId xmlns:a16="http://schemas.microsoft.com/office/drawing/2014/main" id="{776D1623-D84C-0B68-3E23-670E454E9BBD}"/>
              </a:ext>
            </a:extLst>
          </p:cNvPr>
          <p:cNvSpPr txBox="1">
            <a:spLocks/>
          </p:cNvSpPr>
          <p:nvPr/>
        </p:nvSpPr>
        <p:spPr>
          <a:xfrm>
            <a:off x="2076994" y="982586"/>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1. Análisis del problema</a:t>
            </a:r>
          </a:p>
        </p:txBody>
      </p:sp>
      <p:sp>
        <p:nvSpPr>
          <p:cNvPr id="3" name="CuadroTexto 2">
            <a:extLst>
              <a:ext uri="{FF2B5EF4-FFF2-40B4-BE49-F238E27FC236}">
                <a16:creationId xmlns:a16="http://schemas.microsoft.com/office/drawing/2014/main" id="{6A2D4B6D-0393-4DA6-DDA5-8E386FEB84D4}"/>
              </a:ext>
            </a:extLst>
          </p:cNvPr>
          <p:cNvSpPr txBox="1"/>
          <p:nvPr/>
        </p:nvSpPr>
        <p:spPr>
          <a:xfrm>
            <a:off x="7106523" y="1834345"/>
            <a:ext cx="4347972" cy="707886"/>
          </a:xfrm>
          <a:prstGeom prst="rect">
            <a:avLst/>
          </a:prstGeom>
          <a:noFill/>
        </p:spPr>
        <p:txBody>
          <a:bodyPr wrap="square" lIns="91440" tIns="45720" rIns="91440" bIns="45720" anchor="t">
            <a:spAutoFit/>
          </a:bodyPr>
          <a:lstStyle/>
          <a:p>
            <a:pPr marL="342900" indent="-342900">
              <a:buClr>
                <a:srgbClr val="02C9B6"/>
              </a:buClr>
              <a:buFont typeface="Arial" panose="020B0604020202020204" pitchFamily="34" charset="0"/>
              <a:buChar char="•"/>
            </a:pPr>
            <a:r>
              <a:rPr lang="es-ES" sz="2000" b="1">
                <a:ea typeface="Calibri"/>
                <a:cs typeface="Calibri"/>
              </a:rPr>
              <a:t>Listar los datos irrelevantes que no aportan a la solución</a:t>
            </a:r>
            <a:endParaRPr lang="es-ES" sz="1400"/>
          </a:p>
        </p:txBody>
      </p:sp>
      <p:graphicFrame>
        <p:nvGraphicFramePr>
          <p:cNvPr id="6" name="Tabla 5">
            <a:extLst>
              <a:ext uri="{FF2B5EF4-FFF2-40B4-BE49-F238E27FC236}">
                <a16:creationId xmlns:a16="http://schemas.microsoft.com/office/drawing/2014/main" id="{11CE5D19-8452-971B-FDC3-0D4089CAE2EE}"/>
              </a:ext>
            </a:extLst>
          </p:cNvPr>
          <p:cNvGraphicFramePr>
            <a:graphicFrameLocks noGrp="1"/>
          </p:cNvGraphicFramePr>
          <p:nvPr>
            <p:extLst>
              <p:ext uri="{D42A27DB-BD31-4B8C-83A1-F6EECF244321}">
                <p14:modId xmlns:p14="http://schemas.microsoft.com/office/powerpoint/2010/main" val="1536047378"/>
              </p:ext>
            </p:extLst>
          </p:nvPr>
        </p:nvGraphicFramePr>
        <p:xfrm>
          <a:off x="2224032" y="3059978"/>
          <a:ext cx="4367072" cy="1529080"/>
        </p:xfrm>
        <a:graphic>
          <a:graphicData uri="http://schemas.openxmlformats.org/drawingml/2006/table">
            <a:tbl>
              <a:tblPr firstRow="1" bandRow="1">
                <a:tableStyleId>{5940675A-B579-460E-94D1-54222C63F5DA}</a:tableStyleId>
              </a:tblPr>
              <a:tblGrid>
                <a:gridCol w="793693">
                  <a:extLst>
                    <a:ext uri="{9D8B030D-6E8A-4147-A177-3AD203B41FA5}">
                      <a16:colId xmlns:a16="http://schemas.microsoft.com/office/drawing/2014/main" val="722552213"/>
                    </a:ext>
                  </a:extLst>
                </a:gridCol>
                <a:gridCol w="3573379">
                  <a:extLst>
                    <a:ext uri="{9D8B030D-6E8A-4147-A177-3AD203B41FA5}">
                      <a16:colId xmlns:a16="http://schemas.microsoft.com/office/drawing/2014/main" val="3688458231"/>
                    </a:ext>
                  </a:extLst>
                </a:gridCol>
              </a:tblGrid>
              <a:tr h="370840">
                <a:tc>
                  <a:txBody>
                    <a:bodyPr/>
                    <a:lstStyle/>
                    <a:p>
                      <a:pPr algn="ctr"/>
                      <a:r>
                        <a:rPr lang="es-CO" sz="1600" b="1">
                          <a:solidFill>
                            <a:schemeClr val="bg1"/>
                          </a:solidFill>
                        </a:rPr>
                        <a:t>Dato</a:t>
                      </a:r>
                    </a:p>
                  </a:txBody>
                  <a:tcPr>
                    <a:solidFill>
                      <a:srgbClr val="113649"/>
                    </a:solidFill>
                  </a:tcPr>
                </a:tc>
                <a:tc>
                  <a:txBody>
                    <a:bodyPr/>
                    <a:lstStyle/>
                    <a:p>
                      <a:pPr algn="ctr"/>
                      <a:r>
                        <a:rPr lang="es-CO" sz="1600" b="1">
                          <a:solidFill>
                            <a:schemeClr val="bg1"/>
                          </a:solidFill>
                        </a:rPr>
                        <a:t>Explicación</a:t>
                      </a:r>
                    </a:p>
                  </a:txBody>
                  <a:tcPr>
                    <a:solidFill>
                      <a:srgbClr val="113649"/>
                    </a:solidFill>
                  </a:tcPr>
                </a:tc>
                <a:extLst>
                  <a:ext uri="{0D108BD9-81ED-4DB2-BD59-A6C34878D82A}">
                    <a16:rowId xmlns:a16="http://schemas.microsoft.com/office/drawing/2014/main" val="1757604693"/>
                  </a:ext>
                </a:extLst>
              </a:tr>
              <a:tr h="370840">
                <a:tc>
                  <a:txBody>
                    <a:bodyPr/>
                    <a:lstStyle/>
                    <a:p>
                      <a:r>
                        <a:rPr lang="es-CO" sz="1600" b="1">
                          <a:solidFill>
                            <a:srgbClr val="02C9B6"/>
                          </a:solidFill>
                        </a:rPr>
                        <a:t>Peso</a:t>
                      </a:r>
                    </a:p>
                  </a:txBody>
                  <a:tcPr/>
                </a:tc>
                <a:tc>
                  <a:txBody>
                    <a:bodyPr/>
                    <a:lstStyle/>
                    <a:p>
                      <a:pPr algn="l" fontAlgn="b"/>
                      <a:r>
                        <a:rPr lang="es-ES" sz="1600"/>
                        <a:t>Es necesario para calcular el IMC, ya que indica la masa corporal del cliente</a:t>
                      </a:r>
                      <a:endParaRPr lang="es-CO" sz="16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12410076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1">
                          <a:solidFill>
                            <a:srgbClr val="02C9B6"/>
                          </a:solidFill>
                        </a:rPr>
                        <a:t>Altura</a:t>
                      </a:r>
                    </a:p>
                    <a:p>
                      <a:endParaRPr lang="es-CO" sz="1600" b="1"/>
                    </a:p>
                  </a:txBody>
                  <a:tcPr/>
                </a:tc>
                <a:tc>
                  <a:txBody>
                    <a:bodyPr/>
                    <a:lstStyle/>
                    <a:p>
                      <a:pPr algn="l" fontAlgn="b"/>
                      <a:r>
                        <a:rPr lang="es-ES" sz="1600"/>
                        <a:t>Permite determinar la relación con el peso, esencial para el cálculo del IMC</a:t>
                      </a:r>
                      <a:endParaRPr lang="es-CO" sz="16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2478515418"/>
                  </a:ext>
                </a:extLst>
              </a:tr>
            </a:tbl>
          </a:graphicData>
        </a:graphic>
      </p:graphicFrame>
      <p:graphicFrame>
        <p:nvGraphicFramePr>
          <p:cNvPr id="7" name="Tabla 6">
            <a:extLst>
              <a:ext uri="{FF2B5EF4-FFF2-40B4-BE49-F238E27FC236}">
                <a16:creationId xmlns:a16="http://schemas.microsoft.com/office/drawing/2014/main" id="{0A6BDAE2-AE99-9BB0-3DD8-6AEA593A3BAF}"/>
              </a:ext>
            </a:extLst>
          </p:cNvPr>
          <p:cNvGraphicFramePr>
            <a:graphicFrameLocks noGrp="1"/>
          </p:cNvGraphicFramePr>
          <p:nvPr>
            <p:extLst>
              <p:ext uri="{D42A27DB-BD31-4B8C-83A1-F6EECF244321}">
                <p14:modId xmlns:p14="http://schemas.microsoft.com/office/powerpoint/2010/main" val="4227709776"/>
              </p:ext>
            </p:extLst>
          </p:nvPr>
        </p:nvGraphicFramePr>
        <p:xfrm>
          <a:off x="7347154" y="2599676"/>
          <a:ext cx="4367071" cy="4089400"/>
        </p:xfrm>
        <a:graphic>
          <a:graphicData uri="http://schemas.openxmlformats.org/drawingml/2006/table">
            <a:tbl>
              <a:tblPr firstRow="1" bandRow="1">
                <a:tableStyleId>{5940675A-B579-460E-94D1-54222C63F5DA}</a:tableStyleId>
              </a:tblPr>
              <a:tblGrid>
                <a:gridCol w="1171204">
                  <a:extLst>
                    <a:ext uri="{9D8B030D-6E8A-4147-A177-3AD203B41FA5}">
                      <a16:colId xmlns:a16="http://schemas.microsoft.com/office/drawing/2014/main" val="722552213"/>
                    </a:ext>
                  </a:extLst>
                </a:gridCol>
                <a:gridCol w="3195867">
                  <a:extLst>
                    <a:ext uri="{9D8B030D-6E8A-4147-A177-3AD203B41FA5}">
                      <a16:colId xmlns:a16="http://schemas.microsoft.com/office/drawing/2014/main" val="3688458231"/>
                    </a:ext>
                  </a:extLst>
                </a:gridCol>
              </a:tblGrid>
              <a:tr h="370840">
                <a:tc>
                  <a:txBody>
                    <a:bodyPr/>
                    <a:lstStyle/>
                    <a:p>
                      <a:pPr algn="ctr"/>
                      <a:r>
                        <a:rPr lang="es-CO" sz="1600" b="1">
                          <a:solidFill>
                            <a:schemeClr val="bg1"/>
                          </a:solidFill>
                        </a:rPr>
                        <a:t>Dato</a:t>
                      </a:r>
                    </a:p>
                  </a:txBody>
                  <a:tcPr>
                    <a:solidFill>
                      <a:srgbClr val="113649"/>
                    </a:solidFill>
                  </a:tcPr>
                </a:tc>
                <a:tc>
                  <a:txBody>
                    <a:bodyPr/>
                    <a:lstStyle/>
                    <a:p>
                      <a:pPr algn="ctr"/>
                      <a:r>
                        <a:rPr lang="es-CO" sz="1600" b="1">
                          <a:solidFill>
                            <a:schemeClr val="bg1"/>
                          </a:solidFill>
                        </a:rPr>
                        <a:t>Explicación</a:t>
                      </a:r>
                    </a:p>
                  </a:txBody>
                  <a:tcPr>
                    <a:solidFill>
                      <a:srgbClr val="113649"/>
                    </a:solidFill>
                  </a:tcPr>
                </a:tc>
                <a:extLst>
                  <a:ext uri="{0D108BD9-81ED-4DB2-BD59-A6C34878D82A}">
                    <a16:rowId xmlns:a16="http://schemas.microsoft.com/office/drawing/2014/main" val="1757604693"/>
                  </a:ext>
                </a:extLst>
              </a:tr>
              <a:tr h="370840">
                <a:tc>
                  <a:txBody>
                    <a:bodyPr/>
                    <a:lstStyle/>
                    <a:p>
                      <a:r>
                        <a:rPr lang="es-CO" sz="1600" b="1"/>
                        <a:t>Nombre</a:t>
                      </a:r>
                    </a:p>
                  </a:txBody>
                  <a:tcPr/>
                </a:tc>
                <a:tc>
                  <a:txBody>
                    <a:bodyPr/>
                    <a:lstStyle/>
                    <a:p>
                      <a:pPr algn="l" fontAlgn="b"/>
                      <a:r>
                        <a:rPr lang="es-ES" sz="1600"/>
                        <a:t>No afecta el cálculo del IMC, solo identifica al cliente</a:t>
                      </a:r>
                      <a:endParaRPr lang="es-CO" sz="16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12410076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1"/>
                        <a:t>Edad</a:t>
                      </a:r>
                    </a:p>
                    <a:p>
                      <a:endParaRPr lang="es-CO" sz="1600" b="1"/>
                    </a:p>
                  </a:txBody>
                  <a:tcPr/>
                </a:tc>
                <a:tc>
                  <a:txBody>
                    <a:bodyPr/>
                    <a:lstStyle/>
                    <a:p>
                      <a:pPr algn="l" fontAlgn="b"/>
                      <a:r>
                        <a:rPr lang="es-ES" sz="1600"/>
                        <a:t>Aunque puede influir en la salud, no la usaremos</a:t>
                      </a:r>
                      <a:r>
                        <a:rPr lang="es-ES" sz="1600" baseline="0"/>
                        <a:t> </a:t>
                      </a:r>
                      <a:r>
                        <a:rPr lang="es-ES" sz="1600"/>
                        <a:t>para calcular el IMC</a:t>
                      </a:r>
                      <a:endParaRPr lang="es-CO" sz="16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247851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b="1" i="0" u="none" strike="noStrike">
                          <a:solidFill>
                            <a:schemeClr val="dk1"/>
                          </a:solidFill>
                          <a:effectLst/>
                          <a:latin typeface="+mn-lt"/>
                        </a:rPr>
                        <a:t>Correo</a:t>
                      </a:r>
                      <a:r>
                        <a:rPr lang="es-MX" sz="1600" b="1" i="0" u="none" strike="noStrike" baseline="0">
                          <a:solidFill>
                            <a:schemeClr val="dk1"/>
                          </a:solidFill>
                          <a:effectLst/>
                          <a:latin typeface="+mn-lt"/>
                        </a:rPr>
                        <a:t> electrónico</a:t>
                      </a:r>
                      <a:endParaRPr lang="es-CO" sz="1600" b="1"/>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ES" sz="1600"/>
                        <a:t>No aporta al cálculo del IMC</a:t>
                      </a:r>
                      <a:endParaRPr lang="es-CO" sz="16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293359687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b="1" i="0" u="none" strike="noStrike">
                          <a:solidFill>
                            <a:srgbClr val="000000"/>
                          </a:solidFill>
                          <a:effectLst/>
                          <a:latin typeface="Calibri" panose="020F0502020204030204" pitchFamily="34" charset="0"/>
                        </a:rPr>
                        <a:t>Número de membresía</a:t>
                      </a:r>
                      <a:endParaRPr lang="es-CO" sz="1600" b="1" i="0" u="none" strike="noStrike">
                        <a:solidFill>
                          <a:srgbClr val="000000"/>
                        </a:solidFill>
                        <a:effectLst/>
                        <a:latin typeface="Calibri" panose="020F0502020204030204" pitchFamily="34" charset="0"/>
                      </a:endParaRPr>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ES" sz="1600"/>
                        <a:t>Se usa para gestión interna, pero no influye en el cálculo del IMC</a:t>
                      </a:r>
                      <a:endParaRPr lang="es-CO" sz="16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13093985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b="1" i="0" u="none" strike="noStrike">
                          <a:solidFill>
                            <a:srgbClr val="000000"/>
                          </a:solidFill>
                          <a:effectLst/>
                          <a:latin typeface="Calibri" panose="020F0502020204030204" pitchFamily="34" charset="0"/>
                        </a:rPr>
                        <a:t>Historial de asistencia</a:t>
                      </a:r>
                      <a:endParaRPr lang="es-CO" sz="1600" b="1" i="0" u="none" strike="noStrike">
                        <a:solidFill>
                          <a:srgbClr val="000000"/>
                        </a:solidFill>
                        <a:effectLst/>
                        <a:latin typeface="Calibri" panose="020F0502020204030204" pitchFamily="34" charset="0"/>
                      </a:endParaRPr>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ES" sz="1600"/>
                        <a:t>Indica la frecuencia con que el cliente usa los servicios, pero no afecta el IMC</a:t>
                      </a:r>
                      <a:endParaRPr lang="es-CO" sz="16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21154373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b="1" i="0" u="none" strike="noStrike">
                          <a:solidFill>
                            <a:srgbClr val="000000"/>
                          </a:solidFill>
                          <a:effectLst/>
                          <a:latin typeface="Calibri" panose="020F0502020204030204" pitchFamily="34" charset="0"/>
                        </a:rPr>
                        <a:t>Preferencia de horario</a:t>
                      </a:r>
                      <a:endParaRPr lang="es-CO" sz="1600" b="1" i="0" u="none" strike="noStrike">
                        <a:solidFill>
                          <a:srgbClr val="000000"/>
                        </a:solidFill>
                        <a:effectLst/>
                        <a:latin typeface="Calibri" panose="020F0502020204030204" pitchFamily="34" charset="0"/>
                      </a:endParaRPr>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ES" sz="1600"/>
                        <a:t>Sirve para la organización del centro, no tiene impacto en el IMC</a:t>
                      </a:r>
                      <a:endParaRPr lang="es-CO" sz="16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3448109376"/>
                  </a:ext>
                </a:extLst>
              </a:tr>
            </a:tbl>
          </a:graphicData>
        </a:graphic>
      </p:graphicFrame>
    </p:spTree>
    <p:extLst>
      <p:ext uri="{BB962C8B-B14F-4D97-AF65-F5344CB8AC3E}">
        <p14:creationId xmlns:p14="http://schemas.microsoft.com/office/powerpoint/2010/main" val="191808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AFC547FB-F43F-40D7-8F52-15D1C0E90A3C}"/>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9EB3CB94-A4D6-4AF6-A1C3-6729565B1A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11</a:t>
            </a:fld>
            <a:endParaRPr lang="es-CO"/>
          </a:p>
        </p:txBody>
      </p:sp>
      <p:sp>
        <p:nvSpPr>
          <p:cNvPr id="12" name="CuadroTexto 11">
            <a:extLst>
              <a:ext uri="{FF2B5EF4-FFF2-40B4-BE49-F238E27FC236}">
                <a16:creationId xmlns:a16="http://schemas.microsoft.com/office/drawing/2014/main" id="{BFDA5A3F-2651-E9C7-AAD4-29E4122EA21B}"/>
              </a:ext>
            </a:extLst>
          </p:cNvPr>
          <p:cNvSpPr txBox="1"/>
          <p:nvPr/>
        </p:nvSpPr>
        <p:spPr>
          <a:xfrm>
            <a:off x="2644470" y="1931636"/>
            <a:ext cx="8765651" cy="1908215"/>
          </a:xfrm>
          <a:prstGeom prst="rect">
            <a:avLst/>
          </a:prstGeom>
          <a:noFill/>
        </p:spPr>
        <p:txBody>
          <a:bodyPr wrap="square">
            <a:spAutoFit/>
          </a:bodyPr>
          <a:lstStyle/>
          <a:p>
            <a:r>
              <a:rPr lang="es-ES" sz="2400" b="1"/>
              <a:t>1.3 Descomposición</a:t>
            </a:r>
          </a:p>
          <a:p>
            <a:pPr marL="342900" indent="-342900">
              <a:buClr>
                <a:srgbClr val="02C9B6"/>
              </a:buClr>
              <a:buFont typeface="Arial" panose="020B0604020202020204" pitchFamily="34" charset="0"/>
              <a:buChar char="•"/>
            </a:pPr>
            <a:r>
              <a:rPr lang="es-ES" sz="2000" b="1">
                <a:ea typeface="Calibri"/>
                <a:cs typeface="Calibri"/>
              </a:rPr>
              <a:t>Listar las entradas, las salidas y los cálculos o procesos </a:t>
            </a:r>
          </a:p>
          <a:p>
            <a:pPr marL="342900" indent="-342900">
              <a:buClr>
                <a:srgbClr val="02C9B6"/>
              </a:buClr>
              <a:buFont typeface="Arial" panose="020B0604020202020204" pitchFamily="34" charset="0"/>
              <a:buChar char="•"/>
            </a:pPr>
            <a:endParaRPr lang="es-ES" sz="2000" b="1">
              <a:ea typeface="Calibri"/>
              <a:cs typeface="Calibri"/>
            </a:endParaRPr>
          </a:p>
          <a:p>
            <a:r>
              <a:rPr lang="es-ES" sz="2000" b="1">
                <a:ea typeface="Calibri"/>
                <a:cs typeface="Calibri"/>
              </a:rPr>
              <a:t>Nota: </a:t>
            </a:r>
            <a:r>
              <a:rPr lang="es-ES" sz="2000">
                <a:ea typeface="Calibri"/>
                <a:cs typeface="Calibri"/>
              </a:rPr>
              <a:t>Los datos relevantes deberían considerarse como entradas.</a:t>
            </a:r>
          </a:p>
          <a:p>
            <a:r>
              <a:rPr lang="es-ES" sz="2000" b="1">
                <a:ea typeface="Calibri"/>
                <a:cs typeface="Calibri"/>
              </a:rPr>
              <a:t>Nota: </a:t>
            </a:r>
            <a:r>
              <a:rPr lang="es-ES" sz="2000">
                <a:ea typeface="Calibri"/>
                <a:cs typeface="Calibri"/>
              </a:rPr>
              <a:t>Las salidas contribuyen a lograr el objetivo buscado.</a:t>
            </a:r>
          </a:p>
          <a:p>
            <a:endParaRPr lang="es-ES" sz="1400" b="1"/>
          </a:p>
        </p:txBody>
      </p:sp>
      <p:sp>
        <p:nvSpPr>
          <p:cNvPr id="2" name="Título 4">
            <a:extLst>
              <a:ext uri="{FF2B5EF4-FFF2-40B4-BE49-F238E27FC236}">
                <a16:creationId xmlns:a16="http://schemas.microsoft.com/office/drawing/2014/main" id="{5E8CC8FD-A4A5-F7A4-20C6-D21AE76307A7}"/>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1. Análisis del problema</a:t>
            </a:r>
          </a:p>
        </p:txBody>
      </p:sp>
      <p:graphicFrame>
        <p:nvGraphicFramePr>
          <p:cNvPr id="3" name="Tabla 2">
            <a:extLst>
              <a:ext uri="{FF2B5EF4-FFF2-40B4-BE49-F238E27FC236}">
                <a16:creationId xmlns:a16="http://schemas.microsoft.com/office/drawing/2014/main" id="{712D8447-9AC3-AD8B-7E0E-768156945D15}"/>
              </a:ext>
            </a:extLst>
          </p:cNvPr>
          <p:cNvGraphicFramePr>
            <a:graphicFrameLocks noGrp="1"/>
          </p:cNvGraphicFramePr>
          <p:nvPr>
            <p:extLst>
              <p:ext uri="{D42A27DB-BD31-4B8C-83A1-F6EECF244321}">
                <p14:modId xmlns:p14="http://schemas.microsoft.com/office/powerpoint/2010/main" val="1438043522"/>
              </p:ext>
            </p:extLst>
          </p:nvPr>
        </p:nvGraphicFramePr>
        <p:xfrm>
          <a:off x="2644470" y="3839851"/>
          <a:ext cx="8765651" cy="1896680"/>
        </p:xfrm>
        <a:graphic>
          <a:graphicData uri="http://schemas.openxmlformats.org/drawingml/2006/table">
            <a:tbl>
              <a:tblPr firstRow="1" bandRow="1">
                <a:tableStyleId>{5940675A-B579-460E-94D1-54222C63F5DA}</a:tableStyleId>
              </a:tblPr>
              <a:tblGrid>
                <a:gridCol w="981045">
                  <a:extLst>
                    <a:ext uri="{9D8B030D-6E8A-4147-A177-3AD203B41FA5}">
                      <a16:colId xmlns:a16="http://schemas.microsoft.com/office/drawing/2014/main" val="722552213"/>
                    </a:ext>
                  </a:extLst>
                </a:gridCol>
                <a:gridCol w="4417272">
                  <a:extLst>
                    <a:ext uri="{9D8B030D-6E8A-4147-A177-3AD203B41FA5}">
                      <a16:colId xmlns:a16="http://schemas.microsoft.com/office/drawing/2014/main" val="3688458231"/>
                    </a:ext>
                  </a:extLst>
                </a:gridCol>
                <a:gridCol w="3367334">
                  <a:extLst>
                    <a:ext uri="{9D8B030D-6E8A-4147-A177-3AD203B41FA5}">
                      <a16:colId xmlns:a16="http://schemas.microsoft.com/office/drawing/2014/main" val="697394819"/>
                    </a:ext>
                  </a:extLst>
                </a:gridCol>
              </a:tblGrid>
              <a:tr h="0">
                <a:tc>
                  <a:txBody>
                    <a:bodyPr/>
                    <a:lstStyle/>
                    <a:p>
                      <a:pPr algn="ctr"/>
                      <a:r>
                        <a:rPr lang="es-CO" sz="1600" b="1">
                          <a:solidFill>
                            <a:schemeClr val="bg1"/>
                          </a:solidFill>
                        </a:rPr>
                        <a:t>Entrada</a:t>
                      </a:r>
                    </a:p>
                  </a:txBody>
                  <a:tcPr>
                    <a:solidFill>
                      <a:srgbClr val="113649"/>
                    </a:solidFill>
                  </a:tcPr>
                </a:tc>
                <a:tc>
                  <a:txBody>
                    <a:bodyPr/>
                    <a:lstStyle/>
                    <a:p>
                      <a:pPr algn="ctr"/>
                      <a:r>
                        <a:rPr lang="es-CO" sz="1600" b="1">
                          <a:solidFill>
                            <a:schemeClr val="bg1"/>
                          </a:solidFill>
                        </a:rPr>
                        <a:t>Cálculo o proceso</a:t>
                      </a:r>
                    </a:p>
                  </a:txBody>
                  <a:tcPr>
                    <a:solidFill>
                      <a:srgbClr val="113649"/>
                    </a:solidFill>
                  </a:tcPr>
                </a:tc>
                <a:tc>
                  <a:txBody>
                    <a:bodyPr/>
                    <a:lstStyle/>
                    <a:p>
                      <a:pPr algn="ctr"/>
                      <a:r>
                        <a:rPr lang="es-CO" sz="1600" b="1">
                          <a:solidFill>
                            <a:schemeClr val="bg1"/>
                          </a:solidFill>
                        </a:rPr>
                        <a:t>Salida</a:t>
                      </a:r>
                    </a:p>
                  </a:txBody>
                  <a:tcPr>
                    <a:solidFill>
                      <a:srgbClr val="113649"/>
                    </a:solidFill>
                  </a:tcPr>
                </a:tc>
                <a:extLst>
                  <a:ext uri="{0D108BD9-81ED-4DB2-BD59-A6C34878D82A}">
                    <a16:rowId xmlns:a16="http://schemas.microsoft.com/office/drawing/2014/main" val="1757604693"/>
                  </a:ext>
                </a:extLst>
              </a:tr>
              <a:tr h="798967">
                <a:tc>
                  <a:txBody>
                    <a:bodyPr/>
                    <a:lstStyle/>
                    <a:p>
                      <a:r>
                        <a:rPr lang="es-CO" sz="1600" b="1">
                          <a:solidFill>
                            <a:srgbClr val="02C9B6"/>
                          </a:solidFill>
                        </a:rPr>
                        <a:t>Peso</a:t>
                      </a:r>
                    </a:p>
                  </a:txBody>
                  <a:tcPr/>
                </a:tc>
                <a:tc rowSpan="2">
                  <a:txBody>
                    <a:bodyPr/>
                    <a:lstStyle/>
                    <a:p>
                      <a:pPr marL="228600" indent="-228600" algn="l" fontAlgn="b">
                        <a:buAutoNum type="arabicPeriod"/>
                      </a:pPr>
                      <a:r>
                        <a:rPr lang="es-MX" sz="1600" u="none" strike="noStrike" baseline="0">
                          <a:effectLst/>
                        </a:rPr>
                        <a:t>Ingresar el valor del peso</a:t>
                      </a:r>
                    </a:p>
                    <a:p>
                      <a:pPr marL="228600" indent="-228600" algn="l" fontAlgn="b">
                        <a:buAutoNum type="arabicPeriod"/>
                      </a:pPr>
                      <a:r>
                        <a:rPr lang="es-MX" sz="1600" u="none" strike="noStrike" baseline="0">
                          <a:effectLst/>
                        </a:rPr>
                        <a:t>Ingresar el valor de la altura</a:t>
                      </a:r>
                      <a:endParaRPr lang="es-CO" sz="1600" u="none" strike="noStrike">
                        <a:effectLst/>
                      </a:endParaRPr>
                    </a:p>
                    <a:p>
                      <a:pPr marL="228600" indent="-228600" algn="l" fontAlgn="b">
                        <a:buAutoNum type="arabicPeriod"/>
                      </a:pPr>
                      <a:r>
                        <a:rPr lang="es-ES" sz="1600" b="1">
                          <a:solidFill>
                            <a:srgbClr val="FE963D"/>
                          </a:solidFill>
                        </a:rPr>
                        <a:t>Calcular</a:t>
                      </a:r>
                      <a:r>
                        <a:rPr lang="es-ES" sz="1600"/>
                        <a:t> el valor del IMC</a:t>
                      </a:r>
                    </a:p>
                    <a:p>
                      <a:pPr marL="228600" marR="0" lvl="0" indent="-228600" algn="l" defTabSz="914400" rtl="0" eaLnBrk="1" fontAlgn="b" latinLnBrk="0" hangingPunct="1">
                        <a:lnSpc>
                          <a:spcPct val="100000"/>
                        </a:lnSpc>
                        <a:spcBef>
                          <a:spcPts val="0"/>
                        </a:spcBef>
                        <a:spcAft>
                          <a:spcPts val="0"/>
                        </a:spcAft>
                        <a:buClrTx/>
                        <a:buSzTx/>
                        <a:buFontTx/>
                        <a:buAutoNum type="arabicPeriod"/>
                        <a:tabLst/>
                        <a:defRPr/>
                      </a:pPr>
                      <a:r>
                        <a:rPr lang="es-MX" sz="1600" b="0" i="0" u="none" strike="noStrike" baseline="0">
                          <a:solidFill>
                            <a:srgbClr val="000000"/>
                          </a:solidFill>
                          <a:effectLst/>
                          <a:latin typeface="Calibri" panose="020F0502020204030204" pitchFamily="34" charset="0"/>
                        </a:rPr>
                        <a:t>Mostrar el valor del IMC</a:t>
                      </a:r>
                    </a:p>
                    <a:p>
                      <a:pPr marL="228600" indent="-228600" algn="l" fontAlgn="b">
                        <a:buAutoNum type="arabicPeriod"/>
                      </a:pPr>
                      <a:r>
                        <a:rPr lang="es-MX" sz="1600" b="1" i="0" u="none" strike="noStrike" baseline="0">
                          <a:solidFill>
                            <a:srgbClr val="FE963D"/>
                          </a:solidFill>
                          <a:effectLst/>
                          <a:latin typeface="Calibri" panose="020F0502020204030204" pitchFamily="34" charset="0"/>
                        </a:rPr>
                        <a:t>Clasificar</a:t>
                      </a:r>
                      <a:r>
                        <a:rPr lang="es-MX" sz="1600" b="0" i="0" u="none" strike="noStrike" baseline="0">
                          <a:solidFill>
                            <a:srgbClr val="000000"/>
                          </a:solidFill>
                          <a:effectLst/>
                          <a:latin typeface="Calibri" panose="020F0502020204030204" pitchFamily="34" charset="0"/>
                        </a:rPr>
                        <a:t> según IMC</a:t>
                      </a:r>
                    </a:p>
                    <a:p>
                      <a:pPr marL="228600" indent="-228600" algn="l" fontAlgn="b">
                        <a:buAutoNum type="arabicPeriod"/>
                      </a:pPr>
                      <a:r>
                        <a:rPr lang="es-MX" sz="1600" b="0" i="0" u="none" strike="noStrike" baseline="0">
                          <a:solidFill>
                            <a:srgbClr val="000000"/>
                          </a:solidFill>
                          <a:effectLst/>
                          <a:latin typeface="Calibri" panose="020F0502020204030204" pitchFamily="34" charset="0"/>
                        </a:rPr>
                        <a:t>Mostrar la clasificación según IMC</a:t>
                      </a:r>
                      <a:endParaRPr lang="es-CO" sz="1600" b="0" i="0" u="none" strike="noStrike">
                        <a:solidFill>
                          <a:srgbClr val="000000"/>
                        </a:solidFill>
                        <a:effectLst/>
                        <a:latin typeface="Calibri" panose="020F0502020204030204" pitchFamily="34" charset="0"/>
                      </a:endParaRPr>
                    </a:p>
                  </a:txBody>
                  <a:tcPr/>
                </a:tc>
                <a:tc>
                  <a:txBody>
                    <a:bodyPr/>
                    <a:lstStyle/>
                    <a:p>
                      <a:pPr algn="l" fontAlgn="b"/>
                      <a:r>
                        <a:rPr lang="es-CO" sz="1600" b="1" i="0" u="none" strike="noStrike">
                          <a:solidFill>
                            <a:srgbClr val="009BAF"/>
                          </a:solidFill>
                          <a:effectLst/>
                          <a:latin typeface="Calibri" panose="020F0502020204030204" pitchFamily="34" charset="0"/>
                        </a:rPr>
                        <a:t>IMC</a:t>
                      </a:r>
                    </a:p>
                  </a:txBody>
                  <a:tcPr/>
                </a:tc>
                <a:extLst>
                  <a:ext uri="{0D108BD9-81ED-4DB2-BD59-A6C34878D82A}">
                    <a16:rowId xmlns:a16="http://schemas.microsoft.com/office/drawing/2014/main" val="1241007629"/>
                  </a:ext>
                </a:extLst>
              </a:tr>
              <a:tr h="7624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600" b="1">
                          <a:solidFill>
                            <a:srgbClr val="02C9B6"/>
                          </a:solidFill>
                        </a:rPr>
                        <a:t>Altura</a:t>
                      </a:r>
                    </a:p>
                  </a:txBody>
                  <a:tcPr/>
                </a:tc>
                <a:tc vMerge="1">
                  <a:txBody>
                    <a:bodyPr/>
                    <a:lstStyle/>
                    <a:p>
                      <a:pPr algn="l" fontAlgn="b"/>
                      <a:endParaRPr lang="es-CO" sz="1600" b="0" i="0" u="none" strike="noStrike">
                        <a:solidFill>
                          <a:srgbClr val="000000"/>
                        </a:solidFill>
                        <a:effectLst/>
                        <a:latin typeface="Calibri" panose="020F0502020204030204" pitchFamily="34" charset="0"/>
                      </a:endParaRPr>
                    </a:p>
                  </a:txBody>
                  <a:tcPr/>
                </a:tc>
                <a:tc>
                  <a:txBody>
                    <a:bodyPr/>
                    <a:lstStyle/>
                    <a:p>
                      <a:pPr algn="l" fontAlgn="b"/>
                      <a:r>
                        <a:rPr lang="es-CO" sz="1600" b="1" i="0" u="none" strike="noStrike">
                          <a:solidFill>
                            <a:srgbClr val="009BAF"/>
                          </a:solidFill>
                          <a:effectLst/>
                          <a:latin typeface="Calibri" panose="020F0502020204030204" pitchFamily="34" charset="0"/>
                        </a:rPr>
                        <a:t>Clasificación según IMC </a:t>
                      </a:r>
                      <a:r>
                        <a:rPr lang="es-CO" sz="1600" b="0" i="0" u="none" strike="noStrike">
                          <a:solidFill>
                            <a:srgbClr val="000000"/>
                          </a:solidFill>
                          <a:effectLst/>
                          <a:latin typeface="Calibri" panose="020F0502020204030204" pitchFamily="34" charset="0"/>
                        </a:rPr>
                        <a:t>(peso saludable o riesgo de sobrepeso)</a:t>
                      </a:r>
                    </a:p>
                  </a:txBody>
                  <a:tcPr/>
                </a:tc>
                <a:extLst>
                  <a:ext uri="{0D108BD9-81ED-4DB2-BD59-A6C34878D82A}">
                    <a16:rowId xmlns:a16="http://schemas.microsoft.com/office/drawing/2014/main" val="229120431"/>
                  </a:ext>
                </a:extLst>
              </a:tr>
            </a:tbl>
          </a:graphicData>
        </a:graphic>
      </p:graphicFrame>
    </p:spTree>
    <p:extLst>
      <p:ext uri="{BB962C8B-B14F-4D97-AF65-F5344CB8AC3E}">
        <p14:creationId xmlns:p14="http://schemas.microsoft.com/office/powerpoint/2010/main" val="164458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194F3B-21C7-46FD-A466-09DF3AE7B966}"/>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E7EB22D1-475A-4E89-A595-FC64AB47D8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12</a:t>
            </a:fld>
            <a:endParaRPr lang="es-CO"/>
          </a:p>
        </p:txBody>
      </p:sp>
      <p:sp>
        <p:nvSpPr>
          <p:cNvPr id="6" name="Título 4">
            <a:extLst>
              <a:ext uri="{FF2B5EF4-FFF2-40B4-BE49-F238E27FC236}">
                <a16:creationId xmlns:a16="http://schemas.microsoft.com/office/drawing/2014/main" id="{805085C1-79B4-C467-932C-E47060F3723C}"/>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2. Diseño de la solución</a:t>
            </a:r>
          </a:p>
        </p:txBody>
      </p:sp>
      <p:sp>
        <p:nvSpPr>
          <p:cNvPr id="8" name="CuadroTexto 7">
            <a:extLst>
              <a:ext uri="{FF2B5EF4-FFF2-40B4-BE49-F238E27FC236}">
                <a16:creationId xmlns:a16="http://schemas.microsoft.com/office/drawing/2014/main" id="{BDB3D758-C819-2F9D-881B-C8020621FF66}"/>
              </a:ext>
            </a:extLst>
          </p:cNvPr>
          <p:cNvSpPr txBox="1"/>
          <p:nvPr/>
        </p:nvSpPr>
        <p:spPr>
          <a:xfrm>
            <a:off x="2644470" y="1931636"/>
            <a:ext cx="8765651" cy="2277547"/>
          </a:xfrm>
          <a:prstGeom prst="rect">
            <a:avLst/>
          </a:prstGeom>
          <a:noFill/>
        </p:spPr>
        <p:txBody>
          <a:bodyPr wrap="square" lIns="91440" tIns="45720" rIns="91440" bIns="45720" anchor="t">
            <a:spAutoFit/>
          </a:bodyPr>
          <a:lstStyle/>
          <a:p>
            <a:r>
              <a:rPr lang="es-ES" sz="2400" b="1"/>
              <a:t>2.1 Reconocimiento de patrones</a:t>
            </a:r>
          </a:p>
          <a:p>
            <a:pPr marL="342900" indent="-342900">
              <a:buClr>
                <a:srgbClr val="02C9B6"/>
              </a:buClr>
              <a:buFont typeface="Arial" panose="020B0604020202020204" pitchFamily="34" charset="0"/>
              <a:buChar char="•"/>
            </a:pPr>
            <a:r>
              <a:rPr lang="es-ES" sz="2000" b="1">
                <a:ea typeface="Calibri"/>
                <a:cs typeface="Calibri"/>
              </a:rPr>
              <a:t>Listar las definiciones, fórmulas, </a:t>
            </a:r>
            <a:r>
              <a:rPr lang="es-MX" sz="2000" b="1">
                <a:ea typeface="Calibri"/>
                <a:cs typeface="Calibri"/>
              </a:rPr>
              <a:t>métodos o estructuras conocidas que pueden utilizarse en la solución</a:t>
            </a:r>
          </a:p>
          <a:p>
            <a:pPr marL="342900" indent="-342900">
              <a:buClr>
                <a:srgbClr val="02C9B6"/>
              </a:buClr>
              <a:buFont typeface="Arial" panose="020B0604020202020204" pitchFamily="34" charset="0"/>
              <a:buChar char="•"/>
            </a:pPr>
            <a:endParaRPr lang="es-MX" sz="2000" b="1">
              <a:ea typeface="Calibri"/>
              <a:cs typeface="Calibri"/>
            </a:endParaRPr>
          </a:p>
          <a:p>
            <a:pPr>
              <a:buClr>
                <a:srgbClr val="02C9B6"/>
              </a:buClr>
            </a:pPr>
            <a:r>
              <a:rPr lang="es-ES" sz="2000" b="1">
                <a:ea typeface="Calibri"/>
                <a:cs typeface="Calibri"/>
              </a:rPr>
              <a:t>Definición:</a:t>
            </a:r>
            <a:r>
              <a:rPr lang="es-ES" sz="2000">
                <a:ea typeface="Calibri"/>
                <a:cs typeface="Calibri"/>
              </a:rPr>
              <a:t> </a:t>
            </a:r>
            <a:r>
              <a:rPr lang="es-ES" sz="2000" b="1">
                <a:solidFill>
                  <a:srgbClr val="009BAF"/>
                </a:solidFill>
                <a:ea typeface="Calibri"/>
                <a:cs typeface="Calibri"/>
              </a:rPr>
              <a:t>IMC</a:t>
            </a:r>
            <a:r>
              <a:rPr lang="es-ES" sz="2000">
                <a:ea typeface="Calibri"/>
                <a:cs typeface="Calibri"/>
              </a:rPr>
              <a:t> es una razón matemática que asocia el </a:t>
            </a:r>
            <a:r>
              <a:rPr lang="es-ES" sz="2000" b="1">
                <a:solidFill>
                  <a:srgbClr val="02C9B6"/>
                </a:solidFill>
                <a:ea typeface="Calibri"/>
                <a:cs typeface="Calibri"/>
              </a:rPr>
              <a:t>peso</a:t>
            </a:r>
            <a:r>
              <a:rPr lang="es-ES" sz="2000">
                <a:ea typeface="Calibri"/>
                <a:cs typeface="Calibri"/>
              </a:rPr>
              <a:t> y la </a:t>
            </a:r>
            <a:r>
              <a:rPr lang="es-ES" sz="2000" b="1">
                <a:solidFill>
                  <a:srgbClr val="02C9B6"/>
                </a:solidFill>
                <a:ea typeface="Calibri"/>
                <a:cs typeface="Calibri"/>
              </a:rPr>
              <a:t>altura</a:t>
            </a:r>
            <a:r>
              <a:rPr lang="es-ES" sz="2000">
                <a:ea typeface="Calibri"/>
                <a:cs typeface="Calibri"/>
              </a:rPr>
              <a:t> de un individuo. Comúnmente clasifica a las personas en </a:t>
            </a:r>
            <a:r>
              <a:rPr lang="es-MX" err="1"/>
              <a:t>infrapeso</a:t>
            </a:r>
            <a:r>
              <a:rPr lang="es-MX"/>
              <a:t>, peso normal, sobrepeso y obesidad.</a:t>
            </a:r>
            <a:endParaRPr lang="es-MX">
              <a:ea typeface="Calibri"/>
              <a:cs typeface="Calibri"/>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E6FC1E9D-9BCD-A262-2A58-C0B772D0E714}"/>
                  </a:ext>
                </a:extLst>
              </p:cNvPr>
              <p:cNvSpPr txBox="1"/>
              <p:nvPr/>
            </p:nvSpPr>
            <p:spPr>
              <a:xfrm>
                <a:off x="4180103" y="4333860"/>
                <a:ext cx="2080249" cy="6325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sz="2400" b="0" i="1" smtClean="0">
                          <a:solidFill>
                            <a:srgbClr val="009BAF"/>
                          </a:solidFill>
                          <a:latin typeface="Cambria Math" panose="02040503050406030204" pitchFamily="18" charset="0"/>
                        </a:rPr>
                        <m:t>𝐼𝑀𝐶</m:t>
                      </m:r>
                      <m:r>
                        <a:rPr lang="en-US" sz="2400" i="1" smtClean="0">
                          <a:latin typeface="Cambria Math" panose="02040503050406030204" pitchFamily="18" charset="0"/>
                        </a:rPr>
                        <m:t>=</m:t>
                      </m:r>
                      <m:f>
                        <m:fPr>
                          <m:ctrlPr>
                            <a:rPr lang="en-US" sz="2400" i="1" smtClean="0">
                              <a:latin typeface="Cambria Math" panose="02040503050406030204" pitchFamily="18" charset="0"/>
                            </a:rPr>
                          </m:ctrlPr>
                        </m:fPr>
                        <m:num>
                          <m:r>
                            <a:rPr lang="es-CO" sz="2400" b="0" i="1" smtClean="0">
                              <a:solidFill>
                                <a:srgbClr val="02C9B6"/>
                              </a:solidFill>
                              <a:latin typeface="Cambria Math" panose="02040503050406030204" pitchFamily="18" charset="0"/>
                            </a:rPr>
                            <m:t>𝑝𝑒𝑠𝑜</m:t>
                          </m:r>
                        </m:num>
                        <m:den>
                          <m:sSup>
                            <m:sSupPr>
                              <m:ctrlPr>
                                <a:rPr lang="en-US" sz="2400" i="1" smtClean="0">
                                  <a:solidFill>
                                    <a:srgbClr val="02C9B6"/>
                                  </a:solidFill>
                                  <a:latin typeface="Cambria Math" panose="02040503050406030204" pitchFamily="18" charset="0"/>
                                </a:rPr>
                              </m:ctrlPr>
                            </m:sSupPr>
                            <m:e>
                              <m:r>
                                <a:rPr lang="es-CO" sz="2400" b="0" i="1" smtClean="0">
                                  <a:solidFill>
                                    <a:srgbClr val="02C9B6"/>
                                  </a:solidFill>
                                  <a:latin typeface="Cambria Math" panose="02040503050406030204" pitchFamily="18" charset="0"/>
                                </a:rPr>
                                <m:t>𝑎𝑙𝑡𝑢𝑟𝑎</m:t>
                              </m:r>
                            </m:e>
                            <m:sup>
                              <m:r>
                                <a:rPr lang="en-US" sz="2400" i="1">
                                  <a:solidFill>
                                    <a:srgbClr val="02C9B6"/>
                                  </a:solidFill>
                                  <a:latin typeface="Cambria Math" panose="02040503050406030204" pitchFamily="18" charset="0"/>
                                </a:rPr>
                                <m:t>2</m:t>
                              </m:r>
                            </m:sup>
                          </m:sSup>
                        </m:den>
                      </m:f>
                    </m:oMath>
                  </m:oMathPara>
                </a14:m>
                <a:endParaRPr lang="es-CO" sz="2400"/>
              </a:p>
            </p:txBody>
          </p:sp>
        </mc:Choice>
        <mc:Fallback xmlns="">
          <p:sp>
            <p:nvSpPr>
              <p:cNvPr id="9" name="CuadroTexto 8">
                <a:extLst>
                  <a:ext uri="{FF2B5EF4-FFF2-40B4-BE49-F238E27FC236}">
                    <a16:creationId xmlns:a16="http://schemas.microsoft.com/office/drawing/2014/main" id="{E6FC1E9D-9BCD-A262-2A58-C0B772D0E714}"/>
                  </a:ext>
                </a:extLst>
              </p:cNvPr>
              <p:cNvSpPr txBox="1">
                <a:spLocks noRot="1" noChangeAspect="1" noMove="1" noResize="1" noEditPoints="1" noAdjustHandles="1" noChangeArrowheads="1" noChangeShapeType="1" noTextEdit="1"/>
              </p:cNvSpPr>
              <p:nvPr/>
            </p:nvSpPr>
            <p:spPr>
              <a:xfrm>
                <a:off x="4180103" y="4333860"/>
                <a:ext cx="2080249" cy="632545"/>
              </a:xfrm>
              <a:prstGeom prst="rect">
                <a:avLst/>
              </a:prstGeom>
              <a:blipFill>
                <a:blip r:embed="rId3"/>
                <a:stretch>
                  <a:fillRect/>
                </a:stretch>
              </a:blipFill>
            </p:spPr>
            <p:txBody>
              <a:bodyPr/>
              <a:lstStyle/>
              <a:p>
                <a:r>
                  <a:rPr lang="en-US">
                    <a:noFill/>
                  </a:rPr>
                  <a:t> </a:t>
                </a:r>
              </a:p>
            </p:txBody>
          </p:sp>
        </mc:Fallback>
      </mc:AlternateContent>
      <p:sp>
        <p:nvSpPr>
          <p:cNvPr id="11" name="CuadroTexto 10">
            <a:extLst>
              <a:ext uri="{FF2B5EF4-FFF2-40B4-BE49-F238E27FC236}">
                <a16:creationId xmlns:a16="http://schemas.microsoft.com/office/drawing/2014/main" id="{AF77827E-A1A9-5EEB-B06B-886F668B4C7F}"/>
              </a:ext>
            </a:extLst>
          </p:cNvPr>
          <p:cNvSpPr txBox="1"/>
          <p:nvPr/>
        </p:nvSpPr>
        <p:spPr>
          <a:xfrm>
            <a:off x="2644469" y="5277887"/>
            <a:ext cx="8765651" cy="1015663"/>
          </a:xfrm>
          <a:prstGeom prst="rect">
            <a:avLst/>
          </a:prstGeom>
          <a:noFill/>
        </p:spPr>
        <p:txBody>
          <a:bodyPr wrap="square">
            <a:spAutoFit/>
          </a:bodyPr>
          <a:lstStyle/>
          <a:p>
            <a:pPr marL="76200" indent="0" algn="just">
              <a:buNone/>
            </a:pPr>
            <a:r>
              <a:rPr lang="es-ES" sz="1800" b="1"/>
              <a:t>Nota:</a:t>
            </a:r>
            <a:r>
              <a:rPr lang="es-ES" sz="1800"/>
              <a:t> </a:t>
            </a:r>
            <a:r>
              <a:rPr lang="es-MX" sz="2000">
                <a:ea typeface="Calibri"/>
                <a:cs typeface="Calibri"/>
              </a:rPr>
              <a:t>El centro de bienestar se concentra en dos categorías (</a:t>
            </a:r>
            <a:r>
              <a:rPr lang="es-MX" sz="2000">
                <a:solidFill>
                  <a:srgbClr val="009BAF"/>
                </a:solidFill>
                <a:ea typeface="Calibri"/>
                <a:cs typeface="Calibri"/>
              </a:rPr>
              <a:t>IMC &lt; 25 → "Peso saludable"</a:t>
            </a:r>
            <a:r>
              <a:rPr lang="es-MX" sz="2000">
                <a:ea typeface="Calibri"/>
                <a:cs typeface="Calibri"/>
              </a:rPr>
              <a:t> e </a:t>
            </a:r>
            <a:r>
              <a:rPr lang="es-MX" sz="2000">
                <a:solidFill>
                  <a:srgbClr val="009BAF"/>
                </a:solidFill>
                <a:ea typeface="Calibri"/>
                <a:cs typeface="Calibri"/>
              </a:rPr>
              <a:t>IMC ≥ 25 → "Riesgo de sobrepeso"</a:t>
            </a:r>
            <a:r>
              <a:rPr lang="es-MX" sz="2000">
                <a:ea typeface="Calibri"/>
                <a:cs typeface="Calibri"/>
              </a:rPr>
              <a:t>) debido a su énfasis en clientes con posible riesgo de sobrepeso. </a:t>
            </a:r>
            <a:endParaRPr lang="es-CO" sz="2000">
              <a:ea typeface="Calibri"/>
              <a:cs typeface="Calibri"/>
            </a:endParaRPr>
          </a:p>
        </p:txBody>
      </p:sp>
      <p:sp>
        <p:nvSpPr>
          <p:cNvPr id="12" name="CuadroTexto 11">
            <a:extLst>
              <a:ext uri="{FF2B5EF4-FFF2-40B4-BE49-F238E27FC236}">
                <a16:creationId xmlns:a16="http://schemas.microsoft.com/office/drawing/2014/main" id="{7F0DE72F-19D0-536E-A08A-646BA92D0383}"/>
              </a:ext>
            </a:extLst>
          </p:cNvPr>
          <p:cNvSpPr txBox="1"/>
          <p:nvPr/>
        </p:nvSpPr>
        <p:spPr>
          <a:xfrm>
            <a:off x="2644470" y="4450078"/>
            <a:ext cx="1301888" cy="400110"/>
          </a:xfrm>
          <a:prstGeom prst="rect">
            <a:avLst/>
          </a:prstGeom>
          <a:noFill/>
        </p:spPr>
        <p:txBody>
          <a:bodyPr wrap="square">
            <a:spAutoFit/>
          </a:bodyPr>
          <a:lstStyle/>
          <a:p>
            <a:pPr marL="76200" indent="0" algn="just">
              <a:buNone/>
            </a:pPr>
            <a:r>
              <a:rPr lang="es-CO" sz="2000" b="1">
                <a:ea typeface="Calibri"/>
                <a:cs typeface="Calibri"/>
              </a:rPr>
              <a:t>Fórmula: </a:t>
            </a:r>
          </a:p>
        </p:txBody>
      </p:sp>
    </p:spTree>
    <p:extLst>
      <p:ext uri="{BB962C8B-B14F-4D97-AF65-F5344CB8AC3E}">
        <p14:creationId xmlns:p14="http://schemas.microsoft.com/office/powerpoint/2010/main" val="75442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283B4-BDC3-260C-4A9A-B9DEF02CAC34}"/>
            </a:ext>
          </a:extLst>
        </p:cNvPr>
        <p:cNvGrpSpPr/>
        <p:nvPr/>
      </p:nvGrpSpPr>
      <p:grpSpPr>
        <a:xfrm>
          <a:off x="0" y="0"/>
          <a:ext cx="0" cy="0"/>
          <a:chOff x="0" y="0"/>
          <a:chExt cx="0" cy="0"/>
        </a:xfrm>
      </p:grpSpPr>
      <p:grpSp>
        <p:nvGrpSpPr>
          <p:cNvPr id="70" name="Grupo 69">
            <a:extLst>
              <a:ext uri="{FF2B5EF4-FFF2-40B4-BE49-F238E27FC236}">
                <a16:creationId xmlns:a16="http://schemas.microsoft.com/office/drawing/2014/main" id="{C8431150-C4C5-B9F8-3F54-0EF5BFB36BEC}"/>
              </a:ext>
            </a:extLst>
          </p:cNvPr>
          <p:cNvGrpSpPr/>
          <p:nvPr/>
        </p:nvGrpSpPr>
        <p:grpSpPr>
          <a:xfrm>
            <a:off x="2172386" y="2936900"/>
            <a:ext cx="4737014" cy="3730744"/>
            <a:chOff x="2763483" y="3160928"/>
            <a:chExt cx="4429374" cy="3141438"/>
          </a:xfrm>
        </p:grpSpPr>
        <p:cxnSp>
          <p:nvCxnSpPr>
            <p:cNvPr id="112" name="Conector recto de flecha 111">
              <a:extLst>
                <a:ext uri="{FF2B5EF4-FFF2-40B4-BE49-F238E27FC236}">
                  <a16:creationId xmlns:a16="http://schemas.microsoft.com/office/drawing/2014/main" id="{E21D75DC-F81A-128B-6FAF-41F3CECE6B8F}"/>
                </a:ext>
              </a:extLst>
            </p:cNvPr>
            <p:cNvCxnSpPr>
              <a:cxnSpLocks/>
              <a:stCxn id="94" idx="2"/>
              <a:endCxn id="23" idx="1"/>
            </p:cNvCxnSpPr>
            <p:nvPr/>
          </p:nvCxnSpPr>
          <p:spPr>
            <a:xfrm rot="5400000" flipH="1">
              <a:off x="3057606" y="3615821"/>
              <a:ext cx="2421056" cy="2387572"/>
            </a:xfrm>
            <a:prstGeom prst="bentConnector4">
              <a:avLst>
                <a:gd name="adj1" fmla="val -9442"/>
                <a:gd name="adj2" fmla="val 119292"/>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19" name="Diagrama de flujo: terminador 3">
              <a:extLst>
                <a:ext uri="{FF2B5EF4-FFF2-40B4-BE49-F238E27FC236}">
                  <a16:creationId xmlns:a16="http://schemas.microsoft.com/office/drawing/2014/main" id="{846B83AF-326F-8B7E-D978-4C58F77FCA86}"/>
                </a:ext>
              </a:extLst>
            </p:cNvPr>
            <p:cNvSpPr/>
            <p:nvPr/>
          </p:nvSpPr>
          <p:spPr>
            <a:xfrm>
              <a:off x="3256345" y="3160928"/>
              <a:ext cx="697725" cy="175518"/>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Inicio</a:t>
              </a:r>
            </a:p>
          </p:txBody>
        </p:sp>
        <p:cxnSp>
          <p:nvCxnSpPr>
            <p:cNvPr id="20" name="Conector recto de flecha 19">
              <a:extLst>
                <a:ext uri="{FF2B5EF4-FFF2-40B4-BE49-F238E27FC236}">
                  <a16:creationId xmlns:a16="http://schemas.microsoft.com/office/drawing/2014/main" id="{8C6DE394-2706-4B79-16D5-C9707F85DD7A}"/>
                </a:ext>
              </a:extLst>
            </p:cNvPr>
            <p:cNvCxnSpPr>
              <a:cxnSpLocks/>
            </p:cNvCxnSpPr>
            <p:nvPr/>
          </p:nvCxnSpPr>
          <p:spPr>
            <a:xfrm>
              <a:off x="3605207" y="3336446"/>
              <a:ext cx="10980" cy="16505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3" name="Rectángulo 22">
              <a:extLst>
                <a:ext uri="{FF2B5EF4-FFF2-40B4-BE49-F238E27FC236}">
                  <a16:creationId xmlns:a16="http://schemas.microsoft.com/office/drawing/2014/main" id="{0947AD74-8067-4BD1-E44A-59294C1E9275}"/>
                </a:ext>
              </a:extLst>
            </p:cNvPr>
            <p:cNvSpPr/>
            <p:nvPr/>
          </p:nvSpPr>
          <p:spPr>
            <a:xfrm>
              <a:off x="3074348" y="3501498"/>
              <a:ext cx="106171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a:solidFill>
                    <a:schemeClr val="tx1"/>
                  </a:solidFill>
                </a:rPr>
                <a:t>Ingresar el </a:t>
              </a:r>
              <a:r>
                <a:rPr lang="es-MX" sz="1000" b="1">
                  <a:solidFill>
                    <a:srgbClr val="02C9B6"/>
                  </a:solidFill>
                </a:rPr>
                <a:t>peso</a:t>
              </a:r>
              <a:endParaRPr lang="es-CO" sz="1000" b="1">
                <a:solidFill>
                  <a:srgbClr val="02C9B6"/>
                </a:solidFill>
              </a:endParaRPr>
            </a:p>
          </p:txBody>
        </p:sp>
        <p:sp>
          <p:nvSpPr>
            <p:cNvPr id="24" name="Rombo 23">
              <a:extLst>
                <a:ext uri="{FF2B5EF4-FFF2-40B4-BE49-F238E27FC236}">
                  <a16:creationId xmlns:a16="http://schemas.microsoft.com/office/drawing/2014/main" id="{0FFA872E-7AB8-89A0-8FEA-261FB6D7F917}"/>
                </a:ext>
              </a:extLst>
            </p:cNvPr>
            <p:cNvSpPr/>
            <p:nvPr/>
          </p:nvSpPr>
          <p:spPr>
            <a:xfrm>
              <a:off x="2915995" y="5062832"/>
              <a:ext cx="1378424" cy="371462"/>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IMC &lt;=25</a:t>
              </a:r>
            </a:p>
          </p:txBody>
        </p:sp>
        <p:cxnSp>
          <p:nvCxnSpPr>
            <p:cNvPr id="25" name="Conector recto de flecha 24">
              <a:extLst>
                <a:ext uri="{FF2B5EF4-FFF2-40B4-BE49-F238E27FC236}">
                  <a16:creationId xmlns:a16="http://schemas.microsoft.com/office/drawing/2014/main" id="{B73D68F5-8372-2BE4-A6C9-D799855D7F5D}"/>
                </a:ext>
              </a:extLst>
            </p:cNvPr>
            <p:cNvCxnSpPr>
              <a:cxnSpLocks/>
              <a:stCxn id="71" idx="2"/>
              <a:endCxn id="94" idx="0"/>
            </p:cNvCxnSpPr>
            <p:nvPr/>
          </p:nvCxnSpPr>
          <p:spPr>
            <a:xfrm>
              <a:off x="5461919" y="5366291"/>
              <a:ext cx="1" cy="243381"/>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2E422DE9-A34A-5291-7DEC-86FFAAD42D41}"/>
                </a:ext>
              </a:extLst>
            </p:cNvPr>
            <p:cNvCxnSpPr>
              <a:cxnSpLocks/>
            </p:cNvCxnSpPr>
            <p:nvPr/>
          </p:nvCxnSpPr>
          <p:spPr>
            <a:xfrm>
              <a:off x="3604820" y="3696660"/>
              <a:ext cx="10206" cy="189634"/>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FB111423-711A-9E09-ED1C-EE74A9B69A4A}"/>
                </a:ext>
              </a:extLst>
            </p:cNvPr>
            <p:cNvCxnSpPr>
              <a:cxnSpLocks/>
            </p:cNvCxnSpPr>
            <p:nvPr/>
          </p:nvCxnSpPr>
          <p:spPr>
            <a:xfrm>
              <a:off x="3602894" y="5434294"/>
              <a:ext cx="1" cy="217519"/>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9" name="Diagrama de flujo: terminador 38">
              <a:extLst>
                <a:ext uri="{FF2B5EF4-FFF2-40B4-BE49-F238E27FC236}">
                  <a16:creationId xmlns:a16="http://schemas.microsoft.com/office/drawing/2014/main" id="{FD5EE18B-5DEA-5E33-53E5-6B611E0DE18D}"/>
                </a:ext>
              </a:extLst>
            </p:cNvPr>
            <p:cNvSpPr/>
            <p:nvPr/>
          </p:nvSpPr>
          <p:spPr>
            <a:xfrm>
              <a:off x="6508520" y="5719657"/>
              <a:ext cx="684337" cy="190494"/>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Fin</a:t>
              </a:r>
            </a:p>
          </p:txBody>
        </p:sp>
        <p:sp>
          <p:nvSpPr>
            <p:cNvPr id="3" name="Rectángulo 2">
              <a:extLst>
                <a:ext uri="{FF2B5EF4-FFF2-40B4-BE49-F238E27FC236}">
                  <a16:creationId xmlns:a16="http://schemas.microsoft.com/office/drawing/2014/main" id="{57E75D02-22E5-A24A-3FAC-FDCCB68640D5}"/>
                </a:ext>
              </a:extLst>
            </p:cNvPr>
            <p:cNvSpPr/>
            <p:nvPr/>
          </p:nvSpPr>
          <p:spPr>
            <a:xfrm>
              <a:off x="3074348" y="3886294"/>
              <a:ext cx="106171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dirty="0">
                  <a:solidFill>
                    <a:schemeClr val="tx1"/>
                  </a:solidFill>
                </a:rPr>
                <a:t>Ingresar la </a:t>
              </a:r>
              <a:r>
                <a:rPr lang="es-MX" sz="1000" b="1" dirty="0">
                  <a:solidFill>
                    <a:srgbClr val="02C9B6"/>
                  </a:solidFill>
                </a:rPr>
                <a:t>altura</a:t>
              </a:r>
              <a:endParaRPr lang="es-CO" sz="1000" b="1" dirty="0">
                <a:solidFill>
                  <a:srgbClr val="02C9B6"/>
                </a:solidFill>
              </a:endParaRPr>
            </a:p>
          </p:txBody>
        </p:sp>
        <p:sp>
          <p:nvSpPr>
            <p:cNvPr id="5" name="Rectángulo 4">
              <a:extLst>
                <a:ext uri="{FF2B5EF4-FFF2-40B4-BE49-F238E27FC236}">
                  <a16:creationId xmlns:a16="http://schemas.microsoft.com/office/drawing/2014/main" id="{38FBD204-763F-76C7-B5DA-E5BDC0A7F8B8}"/>
                </a:ext>
              </a:extLst>
            </p:cNvPr>
            <p:cNvSpPr/>
            <p:nvPr/>
          </p:nvSpPr>
          <p:spPr>
            <a:xfrm>
              <a:off x="2763483" y="4283692"/>
              <a:ext cx="168344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b="1">
                  <a:solidFill>
                    <a:srgbClr val="009BAF"/>
                  </a:solidFill>
                </a:rPr>
                <a:t>IMC</a:t>
              </a:r>
              <a:r>
                <a:rPr lang="es-MX" sz="1000" b="1">
                  <a:solidFill>
                    <a:schemeClr val="tx1"/>
                  </a:solidFill>
                </a:rPr>
                <a:t> = </a:t>
              </a:r>
              <a:r>
                <a:rPr lang="es-MX" sz="1000" b="1">
                  <a:solidFill>
                    <a:srgbClr val="02C9B6"/>
                  </a:solidFill>
                </a:rPr>
                <a:t>peso</a:t>
              </a:r>
              <a:r>
                <a:rPr lang="es-MX" sz="1000" b="1">
                  <a:solidFill>
                    <a:schemeClr val="tx1"/>
                  </a:solidFill>
                </a:rPr>
                <a:t> / (</a:t>
              </a:r>
              <a:r>
                <a:rPr lang="es-MX" sz="1000" b="1">
                  <a:solidFill>
                    <a:srgbClr val="02C9B6"/>
                  </a:solidFill>
                </a:rPr>
                <a:t>altura</a:t>
              </a:r>
              <a:r>
                <a:rPr lang="es-MX" sz="1000" b="1">
                  <a:solidFill>
                    <a:schemeClr val="tx1"/>
                  </a:solidFill>
                </a:rPr>
                <a:t>*</a:t>
              </a:r>
              <a:r>
                <a:rPr lang="es-MX" sz="1000" b="1">
                  <a:solidFill>
                    <a:srgbClr val="02C9B6"/>
                  </a:solidFill>
                </a:rPr>
                <a:t>altura</a:t>
              </a:r>
              <a:r>
                <a:rPr lang="es-MX" sz="1000" b="1">
                  <a:solidFill>
                    <a:schemeClr val="tx1"/>
                  </a:solidFill>
                </a:rPr>
                <a:t>)</a:t>
              </a:r>
              <a:endParaRPr lang="es-ES" b="1">
                <a:solidFill>
                  <a:schemeClr val="tx1"/>
                </a:solidFill>
              </a:endParaRPr>
            </a:p>
          </p:txBody>
        </p:sp>
        <p:cxnSp>
          <p:nvCxnSpPr>
            <p:cNvPr id="15" name="Conector recto de flecha 14">
              <a:extLst>
                <a:ext uri="{FF2B5EF4-FFF2-40B4-BE49-F238E27FC236}">
                  <a16:creationId xmlns:a16="http://schemas.microsoft.com/office/drawing/2014/main" id="{1672F4A6-EA3B-D60B-B01B-68996E6D7388}"/>
                </a:ext>
              </a:extLst>
            </p:cNvPr>
            <p:cNvCxnSpPr>
              <a:cxnSpLocks/>
            </p:cNvCxnSpPr>
            <p:nvPr/>
          </p:nvCxnSpPr>
          <p:spPr>
            <a:xfrm>
              <a:off x="3600104" y="4081456"/>
              <a:ext cx="0" cy="202236"/>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1A8BBC7A-CD03-79A4-C575-73478BA94D34}"/>
                </a:ext>
              </a:extLst>
            </p:cNvPr>
            <p:cNvSpPr txBox="1"/>
            <p:nvPr/>
          </p:nvSpPr>
          <p:spPr>
            <a:xfrm>
              <a:off x="4307613" y="4996060"/>
              <a:ext cx="282790" cy="260018"/>
            </a:xfrm>
            <a:prstGeom prst="rect">
              <a:avLst/>
            </a:prstGeom>
            <a:noFill/>
          </p:spPr>
          <p:txBody>
            <a:bodyPr wrap="none" lIns="91440" tIns="45720" rIns="91440" bIns="45720" rtlCol="0" anchor="t">
              <a:spAutoFit/>
            </a:bodyPr>
            <a:lstStyle/>
            <a:p>
              <a:r>
                <a:rPr lang="es-CO" sz="1200">
                  <a:ea typeface="Calibri"/>
                  <a:cs typeface="Calibri"/>
                </a:rPr>
                <a:t>Sí</a:t>
              </a:r>
            </a:p>
          </p:txBody>
        </p:sp>
        <p:sp>
          <p:nvSpPr>
            <p:cNvPr id="32" name="CuadroTexto 31">
              <a:extLst>
                <a:ext uri="{FF2B5EF4-FFF2-40B4-BE49-F238E27FC236}">
                  <a16:creationId xmlns:a16="http://schemas.microsoft.com/office/drawing/2014/main" id="{750CC01A-CB0E-D67A-A6EF-094C170D9A67}"/>
                </a:ext>
              </a:extLst>
            </p:cNvPr>
            <p:cNvSpPr txBox="1"/>
            <p:nvPr/>
          </p:nvSpPr>
          <p:spPr>
            <a:xfrm>
              <a:off x="3263353" y="5355364"/>
              <a:ext cx="356141" cy="260018"/>
            </a:xfrm>
            <a:prstGeom prst="rect">
              <a:avLst/>
            </a:prstGeom>
            <a:noFill/>
          </p:spPr>
          <p:txBody>
            <a:bodyPr wrap="none" lIns="91440" tIns="45720" rIns="91440" bIns="45720" rtlCol="0" anchor="t">
              <a:spAutoFit/>
            </a:bodyPr>
            <a:lstStyle/>
            <a:p>
              <a:r>
                <a:rPr lang="es-CO" sz="1200"/>
                <a:t>No</a:t>
              </a:r>
            </a:p>
          </p:txBody>
        </p:sp>
        <p:sp>
          <p:nvSpPr>
            <p:cNvPr id="54" name="Rectángulo 53">
              <a:extLst>
                <a:ext uri="{FF2B5EF4-FFF2-40B4-BE49-F238E27FC236}">
                  <a16:creationId xmlns:a16="http://schemas.microsoft.com/office/drawing/2014/main" id="{3786EFCE-B85E-94E6-2D44-2120371462F4}"/>
                </a:ext>
              </a:extLst>
            </p:cNvPr>
            <p:cNvSpPr/>
            <p:nvPr/>
          </p:nvSpPr>
          <p:spPr>
            <a:xfrm>
              <a:off x="3074348" y="4660618"/>
              <a:ext cx="106171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Mostrar </a:t>
              </a:r>
              <a:r>
                <a:rPr lang="es-MX" sz="1000" b="1">
                  <a:solidFill>
                    <a:srgbClr val="009BAF"/>
                  </a:solidFill>
                </a:rPr>
                <a:t>IMC</a:t>
              </a:r>
              <a:endParaRPr lang="es-ES" b="1">
                <a:solidFill>
                  <a:srgbClr val="009BAF"/>
                </a:solidFill>
              </a:endParaRPr>
            </a:p>
          </p:txBody>
        </p:sp>
        <p:cxnSp>
          <p:nvCxnSpPr>
            <p:cNvPr id="62" name="Conector recto de flecha 61">
              <a:extLst>
                <a:ext uri="{FF2B5EF4-FFF2-40B4-BE49-F238E27FC236}">
                  <a16:creationId xmlns:a16="http://schemas.microsoft.com/office/drawing/2014/main" id="{ED82D8D5-EC15-7EB5-1500-9F4BD2343966}"/>
                </a:ext>
              </a:extLst>
            </p:cNvPr>
            <p:cNvCxnSpPr>
              <a:cxnSpLocks/>
            </p:cNvCxnSpPr>
            <p:nvPr/>
          </p:nvCxnSpPr>
          <p:spPr>
            <a:xfrm flipH="1">
              <a:off x="3604101" y="4855780"/>
              <a:ext cx="1" cy="20705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71" name="Rectángulo 70">
              <a:extLst>
                <a:ext uri="{FF2B5EF4-FFF2-40B4-BE49-F238E27FC236}">
                  <a16:creationId xmlns:a16="http://schemas.microsoft.com/office/drawing/2014/main" id="{695CA79F-297C-294B-3040-D326163C2BC7}"/>
                </a:ext>
              </a:extLst>
            </p:cNvPr>
            <p:cNvSpPr/>
            <p:nvPr/>
          </p:nvSpPr>
          <p:spPr>
            <a:xfrm>
              <a:off x="4692776" y="5134560"/>
              <a:ext cx="1538286" cy="2317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Mostrar </a:t>
              </a:r>
              <a:r>
                <a:rPr lang="es-MX" sz="1000" b="1">
                  <a:solidFill>
                    <a:srgbClr val="009BAF"/>
                  </a:solidFill>
                </a:rPr>
                <a:t>“</a:t>
              </a:r>
              <a:r>
                <a:rPr lang="es-ES" sz="1000" b="1">
                  <a:solidFill>
                    <a:srgbClr val="009BAF"/>
                  </a:solidFill>
                </a:rPr>
                <a:t>Peso saludable”</a:t>
              </a:r>
            </a:p>
          </p:txBody>
        </p:sp>
        <p:sp>
          <p:nvSpPr>
            <p:cNvPr id="72" name="Rectángulo 71">
              <a:extLst>
                <a:ext uri="{FF2B5EF4-FFF2-40B4-BE49-F238E27FC236}">
                  <a16:creationId xmlns:a16="http://schemas.microsoft.com/office/drawing/2014/main" id="{E54F001C-2B1B-7431-020A-1DE3A1823764}"/>
                </a:ext>
              </a:extLst>
            </p:cNvPr>
            <p:cNvSpPr/>
            <p:nvPr/>
          </p:nvSpPr>
          <p:spPr>
            <a:xfrm>
              <a:off x="2763483" y="5651813"/>
              <a:ext cx="1683449" cy="3261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Mostrar </a:t>
              </a:r>
              <a:r>
                <a:rPr lang="es-MX" sz="1000" b="1">
                  <a:solidFill>
                    <a:srgbClr val="009BAF"/>
                  </a:solidFill>
                </a:rPr>
                <a:t>“</a:t>
              </a:r>
              <a:r>
                <a:rPr lang="es-ES" sz="1000" b="1">
                  <a:solidFill>
                    <a:srgbClr val="009BAF"/>
                  </a:solidFill>
                </a:rPr>
                <a:t>Riesgo de sobrepeso”</a:t>
              </a:r>
            </a:p>
          </p:txBody>
        </p:sp>
        <p:cxnSp>
          <p:nvCxnSpPr>
            <p:cNvPr id="73" name="Conector recto de flecha 72">
              <a:extLst>
                <a:ext uri="{FF2B5EF4-FFF2-40B4-BE49-F238E27FC236}">
                  <a16:creationId xmlns:a16="http://schemas.microsoft.com/office/drawing/2014/main" id="{1969E8C3-4461-EC07-BA76-37E720B56FBB}"/>
                </a:ext>
              </a:extLst>
            </p:cNvPr>
            <p:cNvCxnSpPr>
              <a:cxnSpLocks/>
              <a:stCxn id="24" idx="3"/>
              <a:endCxn id="71" idx="1"/>
            </p:cNvCxnSpPr>
            <p:nvPr/>
          </p:nvCxnSpPr>
          <p:spPr>
            <a:xfrm>
              <a:off x="4294419" y="5248563"/>
              <a:ext cx="398357" cy="1863"/>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94" name="Rombo 93">
              <a:extLst>
                <a:ext uri="{FF2B5EF4-FFF2-40B4-BE49-F238E27FC236}">
                  <a16:creationId xmlns:a16="http://schemas.microsoft.com/office/drawing/2014/main" id="{AF3B39C0-EAA9-CE6E-1BA3-46C2548A246F}"/>
                </a:ext>
              </a:extLst>
            </p:cNvPr>
            <p:cNvSpPr/>
            <p:nvPr/>
          </p:nvSpPr>
          <p:spPr>
            <a:xfrm>
              <a:off x="4692777" y="5609672"/>
              <a:ext cx="1538286" cy="410463"/>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¿Más pacientes?</a:t>
              </a:r>
            </a:p>
          </p:txBody>
        </p:sp>
        <p:cxnSp>
          <p:nvCxnSpPr>
            <p:cNvPr id="97" name="Conector recto de flecha 96">
              <a:extLst>
                <a:ext uri="{FF2B5EF4-FFF2-40B4-BE49-F238E27FC236}">
                  <a16:creationId xmlns:a16="http://schemas.microsoft.com/office/drawing/2014/main" id="{300AD339-5415-5D85-00B5-388899A54E6B}"/>
                </a:ext>
              </a:extLst>
            </p:cNvPr>
            <p:cNvCxnSpPr>
              <a:cxnSpLocks/>
              <a:stCxn id="72" idx="3"/>
              <a:endCxn id="94" idx="1"/>
            </p:cNvCxnSpPr>
            <p:nvPr/>
          </p:nvCxnSpPr>
          <p:spPr>
            <a:xfrm>
              <a:off x="4446932" y="5814904"/>
              <a:ext cx="245845" cy="0"/>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Conector recto de flecha 119">
              <a:extLst>
                <a:ext uri="{FF2B5EF4-FFF2-40B4-BE49-F238E27FC236}">
                  <a16:creationId xmlns:a16="http://schemas.microsoft.com/office/drawing/2014/main" id="{E6C0303F-8F23-A4D7-20F7-67A4C2F41F39}"/>
                </a:ext>
              </a:extLst>
            </p:cNvPr>
            <p:cNvCxnSpPr>
              <a:cxnSpLocks/>
              <a:stCxn id="94" idx="3"/>
              <a:endCxn id="29" idx="1"/>
            </p:cNvCxnSpPr>
            <p:nvPr/>
          </p:nvCxnSpPr>
          <p:spPr>
            <a:xfrm>
              <a:off x="6231063" y="5814904"/>
              <a:ext cx="277457" cy="0"/>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123" name="CuadroTexto 122">
              <a:extLst>
                <a:ext uri="{FF2B5EF4-FFF2-40B4-BE49-F238E27FC236}">
                  <a16:creationId xmlns:a16="http://schemas.microsoft.com/office/drawing/2014/main" id="{D23BE28C-A811-1EEC-31C8-E194C8378723}"/>
                </a:ext>
              </a:extLst>
            </p:cNvPr>
            <p:cNvSpPr txBox="1"/>
            <p:nvPr/>
          </p:nvSpPr>
          <p:spPr>
            <a:xfrm>
              <a:off x="5435753" y="6042348"/>
              <a:ext cx="378828" cy="260018"/>
            </a:xfrm>
            <a:prstGeom prst="rect">
              <a:avLst/>
            </a:prstGeom>
            <a:noFill/>
          </p:spPr>
          <p:txBody>
            <a:bodyPr wrap="square" lIns="91440" tIns="45720" rIns="91440" bIns="45720" rtlCol="0" anchor="t">
              <a:spAutoFit/>
            </a:bodyPr>
            <a:lstStyle/>
            <a:p>
              <a:r>
                <a:rPr lang="es-CO" sz="1200"/>
                <a:t>Sí</a:t>
              </a:r>
            </a:p>
          </p:txBody>
        </p:sp>
        <p:sp>
          <p:nvSpPr>
            <p:cNvPr id="124" name="CuadroTexto 123">
              <a:extLst>
                <a:ext uri="{FF2B5EF4-FFF2-40B4-BE49-F238E27FC236}">
                  <a16:creationId xmlns:a16="http://schemas.microsoft.com/office/drawing/2014/main" id="{E06B72B6-4296-C789-1A25-60445454A298}"/>
                </a:ext>
              </a:extLst>
            </p:cNvPr>
            <p:cNvSpPr txBox="1"/>
            <p:nvPr/>
          </p:nvSpPr>
          <p:spPr>
            <a:xfrm>
              <a:off x="6168622" y="5543053"/>
              <a:ext cx="356141" cy="260018"/>
            </a:xfrm>
            <a:prstGeom prst="rect">
              <a:avLst/>
            </a:prstGeom>
            <a:noFill/>
          </p:spPr>
          <p:txBody>
            <a:bodyPr wrap="none" lIns="91440" tIns="45720" rIns="91440" bIns="45720" rtlCol="0" anchor="t">
              <a:spAutoFit/>
            </a:bodyPr>
            <a:lstStyle/>
            <a:p>
              <a:r>
                <a:rPr lang="es-CO" sz="1200"/>
                <a:t>No</a:t>
              </a:r>
            </a:p>
          </p:txBody>
        </p:sp>
        <p:cxnSp>
          <p:nvCxnSpPr>
            <p:cNvPr id="9" name="Conector recto de flecha 8">
              <a:extLst>
                <a:ext uri="{FF2B5EF4-FFF2-40B4-BE49-F238E27FC236}">
                  <a16:creationId xmlns:a16="http://schemas.microsoft.com/office/drawing/2014/main" id="{30917DBE-BAC8-80BB-E4E7-4A4D5FD69803}"/>
                </a:ext>
              </a:extLst>
            </p:cNvPr>
            <p:cNvCxnSpPr>
              <a:cxnSpLocks/>
            </p:cNvCxnSpPr>
            <p:nvPr/>
          </p:nvCxnSpPr>
          <p:spPr>
            <a:xfrm>
              <a:off x="3605207" y="4478486"/>
              <a:ext cx="0" cy="180000"/>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ítulo 1">
            <a:extLst>
              <a:ext uri="{FF2B5EF4-FFF2-40B4-BE49-F238E27FC236}">
                <a16:creationId xmlns:a16="http://schemas.microsoft.com/office/drawing/2014/main" id="{D506FB30-8095-DCAA-BE64-5E8785128E35}"/>
              </a:ext>
            </a:extLst>
          </p:cNvPr>
          <p:cNvSpPr>
            <a:spLocks noGrp="1"/>
          </p:cNvSpPr>
          <p:nvPr>
            <p:ph type="title"/>
          </p:nvPr>
        </p:nvSpPr>
        <p:spPr/>
        <p:txBody>
          <a:bodyPr/>
          <a:lstStyle/>
          <a:p>
            <a:r>
              <a:rPr lang="es-CO"/>
              <a:t>Solución aplicando PC</a:t>
            </a:r>
          </a:p>
        </p:txBody>
      </p:sp>
      <p:sp>
        <p:nvSpPr>
          <p:cNvPr id="17" name="CuadroTexto 16">
            <a:extLst>
              <a:ext uri="{FF2B5EF4-FFF2-40B4-BE49-F238E27FC236}">
                <a16:creationId xmlns:a16="http://schemas.microsoft.com/office/drawing/2014/main" id="{313D5BFD-4310-6381-E93F-38D057806C7F}"/>
              </a:ext>
            </a:extLst>
          </p:cNvPr>
          <p:cNvSpPr txBox="1"/>
          <p:nvPr/>
        </p:nvSpPr>
        <p:spPr>
          <a:xfrm>
            <a:off x="2172386" y="1644237"/>
            <a:ext cx="4420275" cy="1292662"/>
          </a:xfrm>
          <a:prstGeom prst="rect">
            <a:avLst/>
          </a:prstGeom>
          <a:noFill/>
        </p:spPr>
        <p:txBody>
          <a:bodyPr wrap="square" lIns="91440" tIns="45720" rIns="91440" bIns="45720" anchor="t">
            <a:spAutoFit/>
          </a:bodyPr>
          <a:lstStyle/>
          <a:p>
            <a:r>
              <a:rPr lang="es-ES" sz="2400" b="1"/>
              <a:t>2.2 Lógica y algoritmia</a:t>
            </a:r>
          </a:p>
          <a:p>
            <a:endParaRPr lang="es-ES" sz="1400" b="1"/>
          </a:p>
          <a:p>
            <a:pPr marL="285750" indent="-285750">
              <a:buClr>
                <a:srgbClr val="02C9B6"/>
              </a:buClr>
              <a:buFont typeface="Arial" panose="020B0604020202020204" pitchFamily="34" charset="0"/>
              <a:buChar char="•"/>
            </a:pPr>
            <a:r>
              <a:rPr lang="es-ES" sz="2000" b="1">
                <a:ea typeface="Calibri"/>
                <a:cs typeface="Calibri"/>
              </a:rPr>
              <a:t>Dibujar el diagrama de flujo que represente la solución</a:t>
            </a:r>
          </a:p>
        </p:txBody>
      </p:sp>
      <p:sp>
        <p:nvSpPr>
          <p:cNvPr id="4" name="Marcador de número de diapositiva 3">
            <a:extLst>
              <a:ext uri="{FF2B5EF4-FFF2-40B4-BE49-F238E27FC236}">
                <a16:creationId xmlns:a16="http://schemas.microsoft.com/office/drawing/2014/main" id="{2473A119-E22C-B61C-96FF-98D88FDA9F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13</a:t>
            </a:fld>
            <a:endParaRPr lang="es-CO"/>
          </a:p>
        </p:txBody>
      </p:sp>
      <p:sp>
        <p:nvSpPr>
          <p:cNvPr id="6" name="Título 4">
            <a:extLst>
              <a:ext uri="{FF2B5EF4-FFF2-40B4-BE49-F238E27FC236}">
                <a16:creationId xmlns:a16="http://schemas.microsoft.com/office/drawing/2014/main" id="{028CCCA2-B83F-0F04-5B31-D9BD95688838}"/>
              </a:ext>
            </a:extLst>
          </p:cNvPr>
          <p:cNvSpPr txBox="1">
            <a:spLocks/>
          </p:cNvSpPr>
          <p:nvPr/>
        </p:nvSpPr>
        <p:spPr>
          <a:xfrm>
            <a:off x="2076994" y="1043504"/>
            <a:ext cx="9666016" cy="640325"/>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2. Diseño de la solución</a:t>
            </a:r>
          </a:p>
        </p:txBody>
      </p:sp>
      <p:sp>
        <p:nvSpPr>
          <p:cNvPr id="8" name="CuadroTexto 7">
            <a:extLst>
              <a:ext uri="{FF2B5EF4-FFF2-40B4-BE49-F238E27FC236}">
                <a16:creationId xmlns:a16="http://schemas.microsoft.com/office/drawing/2014/main" id="{CF91EE67-081C-882F-533B-62D5905F001D}"/>
              </a:ext>
            </a:extLst>
          </p:cNvPr>
          <p:cNvSpPr txBox="1"/>
          <p:nvPr/>
        </p:nvSpPr>
        <p:spPr>
          <a:xfrm>
            <a:off x="7149033" y="1635048"/>
            <a:ext cx="4888079" cy="4278094"/>
          </a:xfrm>
          <a:prstGeom prst="rect">
            <a:avLst/>
          </a:prstGeom>
          <a:noFill/>
        </p:spPr>
        <p:txBody>
          <a:bodyPr wrap="square" lIns="91440" tIns="45720" rIns="91440" bIns="45720" anchor="t">
            <a:spAutoFit/>
          </a:bodyPr>
          <a:lstStyle/>
          <a:p>
            <a:pPr marL="285750" indent="-285750">
              <a:buClr>
                <a:srgbClr val="02C9B6"/>
              </a:buClr>
              <a:buFont typeface="Arial" panose="020B0604020202020204" pitchFamily="34" charset="0"/>
              <a:buChar char="•"/>
            </a:pPr>
            <a:r>
              <a:rPr lang="es-ES" sz="2000" b="1" dirty="0">
                <a:ea typeface="Calibri"/>
                <a:cs typeface="Calibri"/>
              </a:rPr>
              <a:t>Escribir una secuencia de pasos para resolver el problema</a:t>
            </a:r>
          </a:p>
          <a:p>
            <a:pPr>
              <a:buClr>
                <a:srgbClr val="02C9B6"/>
              </a:buClr>
            </a:pPr>
            <a:r>
              <a:rPr lang="es-ES" sz="1600" dirty="0">
                <a:ea typeface="Calibri"/>
                <a:cs typeface="Calibri"/>
              </a:rPr>
              <a:t>Inicio</a:t>
            </a:r>
            <a:endParaRPr lang="en-US" sz="1600" dirty="0">
              <a:ea typeface="Calibri"/>
              <a:cs typeface="Calibri"/>
            </a:endParaRPr>
          </a:p>
          <a:p>
            <a:pPr>
              <a:buClr>
                <a:srgbClr val="02C9B6"/>
              </a:buClr>
            </a:pPr>
            <a:r>
              <a:rPr lang="es-ES" sz="1600" dirty="0">
                <a:ea typeface="Calibri"/>
                <a:cs typeface="Calibri"/>
              </a:rPr>
              <a:t>   </a:t>
            </a:r>
            <a:r>
              <a:rPr lang="es-ES" sz="1600" i="1" dirty="0">
                <a:ea typeface="Calibri"/>
                <a:cs typeface="Calibri"/>
              </a:rPr>
              <a:t>Paso 1: </a:t>
            </a:r>
            <a:r>
              <a:rPr lang="es-CO" sz="1600" dirty="0">
                <a:ea typeface="Calibri"/>
                <a:cs typeface="Calibri"/>
              </a:rPr>
              <a:t>Ingresar el </a:t>
            </a:r>
            <a:r>
              <a:rPr lang="es-CO" sz="1600" b="1" dirty="0">
                <a:solidFill>
                  <a:srgbClr val="02C9B6"/>
                </a:solidFill>
                <a:ea typeface="Calibri"/>
                <a:cs typeface="Calibri"/>
              </a:rPr>
              <a:t>peso</a:t>
            </a:r>
            <a:endParaRPr lang="en-US" sz="1600" b="1" dirty="0">
              <a:solidFill>
                <a:srgbClr val="02C9B6"/>
              </a:solidFill>
              <a:ea typeface="Calibri"/>
              <a:cs typeface="Calibri"/>
            </a:endParaRPr>
          </a:p>
          <a:p>
            <a:pPr>
              <a:buClr>
                <a:srgbClr val="02C9B6"/>
              </a:buClr>
            </a:pPr>
            <a:r>
              <a:rPr lang="es-ES" sz="1600" dirty="0">
                <a:ea typeface="Calibri"/>
                <a:cs typeface="Calibri"/>
              </a:rPr>
              <a:t>   </a:t>
            </a:r>
            <a:r>
              <a:rPr lang="es-ES" sz="1600" i="1" dirty="0">
                <a:ea typeface="Calibri"/>
                <a:cs typeface="Calibri"/>
              </a:rPr>
              <a:t>Paso 2:</a:t>
            </a:r>
            <a:r>
              <a:rPr lang="es-ES" sz="1600" dirty="0">
                <a:ea typeface="Calibri"/>
                <a:cs typeface="Calibri"/>
              </a:rPr>
              <a:t> Ingresar la </a:t>
            </a:r>
            <a:r>
              <a:rPr lang="es-ES" sz="1600" b="1" dirty="0">
                <a:solidFill>
                  <a:srgbClr val="02C9B6"/>
                </a:solidFill>
                <a:ea typeface="Calibri"/>
                <a:cs typeface="Calibri"/>
              </a:rPr>
              <a:t>altura</a:t>
            </a:r>
            <a:endParaRPr lang="en-US" sz="1600" b="1" dirty="0">
              <a:solidFill>
                <a:srgbClr val="02C9B6"/>
              </a:solidFill>
              <a:ea typeface="Calibri"/>
              <a:cs typeface="Calibri"/>
            </a:endParaRPr>
          </a:p>
          <a:p>
            <a:pPr>
              <a:buClr>
                <a:srgbClr val="02C9B6"/>
              </a:buClr>
            </a:pPr>
            <a:r>
              <a:rPr lang="es-ES" sz="1600" dirty="0">
                <a:ea typeface="Calibri"/>
                <a:cs typeface="Calibri"/>
              </a:rPr>
              <a:t>   </a:t>
            </a:r>
            <a:r>
              <a:rPr lang="es-ES" sz="1600" i="1" dirty="0">
                <a:ea typeface="Calibri"/>
                <a:cs typeface="Calibri"/>
              </a:rPr>
              <a:t>Paso 3:</a:t>
            </a:r>
            <a:r>
              <a:rPr lang="es-ES" sz="1600" dirty="0">
                <a:ea typeface="Calibri"/>
                <a:cs typeface="Calibri"/>
              </a:rPr>
              <a:t> </a:t>
            </a:r>
            <a:r>
              <a:rPr lang="es-CO" sz="1600" b="1" dirty="0">
                <a:solidFill>
                  <a:srgbClr val="009BAF"/>
                </a:solidFill>
                <a:ea typeface="Calibri"/>
                <a:cs typeface="Calibri"/>
              </a:rPr>
              <a:t>IMC</a:t>
            </a:r>
            <a:r>
              <a:rPr lang="es-CO" sz="1600" dirty="0">
                <a:ea typeface="Calibri"/>
                <a:cs typeface="Calibri"/>
              </a:rPr>
              <a:t> = </a:t>
            </a:r>
            <a:r>
              <a:rPr lang="es-CO" sz="1600" b="1" dirty="0">
                <a:solidFill>
                  <a:srgbClr val="02C9B6"/>
                </a:solidFill>
                <a:ea typeface="Calibri"/>
                <a:cs typeface="Calibri"/>
              </a:rPr>
              <a:t>peso</a:t>
            </a:r>
            <a:r>
              <a:rPr lang="es-CO" sz="1600" b="1" dirty="0">
                <a:ea typeface="Calibri"/>
                <a:cs typeface="Calibri"/>
              </a:rPr>
              <a:t> / (</a:t>
            </a:r>
            <a:r>
              <a:rPr lang="es-CO" sz="1600" b="1" dirty="0">
                <a:solidFill>
                  <a:srgbClr val="02C9B6"/>
                </a:solidFill>
                <a:ea typeface="Calibri"/>
                <a:cs typeface="Calibri"/>
              </a:rPr>
              <a:t>altura</a:t>
            </a:r>
            <a:r>
              <a:rPr lang="es-CO" sz="1600" b="1" dirty="0">
                <a:ea typeface="Calibri"/>
                <a:cs typeface="Calibri"/>
              </a:rPr>
              <a:t>*</a:t>
            </a:r>
            <a:r>
              <a:rPr lang="es-CO" sz="1600" b="1" dirty="0">
                <a:solidFill>
                  <a:srgbClr val="02C9B6"/>
                </a:solidFill>
                <a:ea typeface="Calibri"/>
                <a:cs typeface="Calibri"/>
              </a:rPr>
              <a:t>altura</a:t>
            </a:r>
            <a:r>
              <a:rPr lang="es-CO" sz="1600" b="1" dirty="0">
                <a:ea typeface="Calibri"/>
                <a:cs typeface="Calibri"/>
              </a:rPr>
              <a:t>)</a:t>
            </a:r>
          </a:p>
          <a:p>
            <a:pPr>
              <a:buClr>
                <a:srgbClr val="02C9B6"/>
              </a:buClr>
            </a:pPr>
            <a:r>
              <a:rPr lang="es-CO" sz="1600" dirty="0">
                <a:ea typeface="Calibri"/>
                <a:cs typeface="Calibri"/>
              </a:rPr>
              <a:t>   </a:t>
            </a:r>
            <a:r>
              <a:rPr lang="es-CO" sz="1600" i="1" dirty="0">
                <a:ea typeface="Calibri"/>
                <a:cs typeface="Calibri"/>
              </a:rPr>
              <a:t>Paso 4:</a:t>
            </a:r>
            <a:r>
              <a:rPr lang="es-CO" sz="1600" dirty="0">
                <a:ea typeface="Calibri"/>
                <a:cs typeface="Calibri"/>
              </a:rPr>
              <a:t> Mostrar </a:t>
            </a:r>
            <a:r>
              <a:rPr lang="es-CO" sz="1600" b="1" dirty="0">
                <a:solidFill>
                  <a:srgbClr val="009BAF"/>
                </a:solidFill>
                <a:ea typeface="Calibri"/>
                <a:cs typeface="Calibri"/>
              </a:rPr>
              <a:t>IMC</a:t>
            </a:r>
          </a:p>
          <a:p>
            <a:pPr>
              <a:buClr>
                <a:srgbClr val="02C9B6"/>
              </a:buClr>
            </a:pPr>
            <a:r>
              <a:rPr lang="es-CO" sz="1600" dirty="0">
                <a:ea typeface="Calibri"/>
                <a:cs typeface="Calibri"/>
              </a:rPr>
              <a:t>   </a:t>
            </a:r>
            <a:r>
              <a:rPr lang="es-CO" sz="1600" i="1" dirty="0">
                <a:ea typeface="Calibri"/>
                <a:cs typeface="Calibri"/>
              </a:rPr>
              <a:t>Paso 5: </a:t>
            </a:r>
            <a:r>
              <a:rPr lang="es-CO" sz="1600" dirty="0">
                <a:ea typeface="Calibri"/>
                <a:cs typeface="Calibri"/>
              </a:rPr>
              <a:t>Preguntar Si IMC &lt;= 25</a:t>
            </a:r>
          </a:p>
          <a:p>
            <a:pPr>
              <a:buClr>
                <a:srgbClr val="02C9B6"/>
              </a:buClr>
            </a:pPr>
            <a:r>
              <a:rPr lang="es-CO" sz="1600" dirty="0">
                <a:ea typeface="Calibri"/>
                <a:cs typeface="Calibri"/>
              </a:rPr>
              <a:t>      </a:t>
            </a:r>
            <a:r>
              <a:rPr lang="es-CO" sz="1600" i="1" dirty="0">
                <a:ea typeface="Calibri"/>
                <a:cs typeface="Calibri"/>
              </a:rPr>
              <a:t>Paso 6:</a:t>
            </a:r>
            <a:r>
              <a:rPr lang="es-CO" sz="1600" dirty="0">
                <a:ea typeface="Calibri"/>
                <a:cs typeface="Calibri"/>
              </a:rPr>
              <a:t> Si IMC &lt;= 25, mostrar </a:t>
            </a:r>
            <a:r>
              <a:rPr lang="es-CO" sz="1600" b="1" dirty="0">
                <a:solidFill>
                  <a:srgbClr val="009BAF"/>
                </a:solidFill>
                <a:ea typeface="Calibri"/>
                <a:cs typeface="Calibri"/>
              </a:rPr>
              <a:t>“Peso saludable”</a:t>
            </a:r>
          </a:p>
          <a:p>
            <a:pPr>
              <a:buClr>
                <a:srgbClr val="02C9B6"/>
              </a:buClr>
            </a:pPr>
            <a:r>
              <a:rPr lang="es-CO" sz="1600" dirty="0">
                <a:ea typeface="Calibri"/>
                <a:cs typeface="Calibri"/>
              </a:rPr>
              <a:t>      </a:t>
            </a:r>
            <a:r>
              <a:rPr lang="es-CO" sz="1600" i="1" dirty="0">
                <a:ea typeface="Calibri"/>
                <a:cs typeface="Calibri"/>
              </a:rPr>
              <a:t>Paso 7:</a:t>
            </a:r>
            <a:r>
              <a:rPr lang="es-CO" sz="1600" dirty="0">
                <a:ea typeface="Calibri"/>
                <a:cs typeface="Calibri"/>
              </a:rPr>
              <a:t> Si IMC &gt; 25, mostrar </a:t>
            </a:r>
            <a:r>
              <a:rPr lang="es-CO" sz="1600" b="1" dirty="0">
                <a:solidFill>
                  <a:srgbClr val="009BAF"/>
                </a:solidFill>
                <a:ea typeface="Calibri"/>
                <a:cs typeface="Calibri"/>
              </a:rPr>
              <a:t>“Riesgo de sobrepeso”</a:t>
            </a:r>
          </a:p>
          <a:p>
            <a:pPr>
              <a:buClr>
                <a:srgbClr val="02C9B6"/>
              </a:buClr>
            </a:pPr>
            <a:r>
              <a:rPr lang="es-CO" sz="1600" dirty="0">
                <a:ea typeface="Calibri"/>
                <a:cs typeface="Calibri"/>
              </a:rPr>
              <a:t>   </a:t>
            </a:r>
            <a:r>
              <a:rPr lang="es-CO" sz="1600" i="1" dirty="0">
                <a:ea typeface="Calibri"/>
                <a:cs typeface="Calibri"/>
              </a:rPr>
              <a:t>Paso 8:</a:t>
            </a:r>
            <a:r>
              <a:rPr lang="es-CO" sz="1600" dirty="0">
                <a:ea typeface="Calibri"/>
                <a:cs typeface="Calibri"/>
              </a:rPr>
              <a:t> Preguntar si hay más pacientes</a:t>
            </a:r>
          </a:p>
          <a:p>
            <a:pPr>
              <a:buClr>
                <a:srgbClr val="02C9B6"/>
              </a:buClr>
            </a:pPr>
            <a:r>
              <a:rPr lang="es-CO" sz="1600" dirty="0">
                <a:ea typeface="Calibri"/>
                <a:cs typeface="Calibri"/>
              </a:rPr>
              <a:t>      </a:t>
            </a:r>
            <a:r>
              <a:rPr lang="es-CO" sz="1600" i="1" dirty="0">
                <a:ea typeface="Calibri"/>
                <a:cs typeface="Calibri"/>
              </a:rPr>
              <a:t>Paso 9:</a:t>
            </a:r>
            <a:r>
              <a:rPr lang="es-CO" sz="1600" dirty="0">
                <a:ea typeface="Calibri"/>
                <a:cs typeface="Calibri"/>
              </a:rPr>
              <a:t> Si hay más pacientes, volver al Paso 1</a:t>
            </a:r>
          </a:p>
          <a:p>
            <a:pPr>
              <a:buClr>
                <a:srgbClr val="02C9B6"/>
              </a:buClr>
            </a:pPr>
            <a:r>
              <a:rPr lang="es-CO" sz="1600" dirty="0">
                <a:ea typeface="Calibri"/>
                <a:cs typeface="Calibri"/>
              </a:rPr>
              <a:t>      </a:t>
            </a:r>
            <a:r>
              <a:rPr lang="es-CO" sz="1600" i="1" dirty="0">
                <a:ea typeface="Calibri"/>
                <a:cs typeface="Calibri"/>
              </a:rPr>
              <a:t>Paso 10: </a:t>
            </a:r>
            <a:r>
              <a:rPr lang="es-CO" sz="1600" dirty="0">
                <a:ea typeface="Calibri"/>
                <a:cs typeface="Calibri"/>
              </a:rPr>
              <a:t>Si no hay más pacientes, no hacer nada</a:t>
            </a:r>
            <a:endParaRPr lang="en-US" sz="1600" dirty="0">
              <a:ea typeface="Calibri"/>
              <a:cs typeface="Calibri"/>
            </a:endParaRPr>
          </a:p>
          <a:p>
            <a:pPr>
              <a:buClr>
                <a:srgbClr val="02C9B6"/>
              </a:buClr>
            </a:pPr>
            <a:r>
              <a:rPr lang="es-ES" sz="1600" dirty="0">
                <a:ea typeface="Calibri"/>
                <a:cs typeface="Calibri"/>
              </a:rPr>
              <a:t>Fin</a:t>
            </a:r>
            <a:endParaRPr lang="en-US" sz="1600" dirty="0">
              <a:ea typeface="Calibri"/>
              <a:cs typeface="Calibri"/>
            </a:endParaRPr>
          </a:p>
          <a:p>
            <a:pPr marL="285750" indent="-285750">
              <a:buClr>
                <a:srgbClr val="02C9B6"/>
              </a:buClr>
              <a:buFont typeface="Arial" panose="020B0604020202020204" pitchFamily="34" charset="0"/>
              <a:buChar char="•"/>
            </a:pPr>
            <a:endParaRPr lang="es-ES" sz="2000" b="1" dirty="0">
              <a:ea typeface="Calibri"/>
              <a:cs typeface="Calibri"/>
            </a:endParaRPr>
          </a:p>
          <a:p>
            <a:pPr marL="285750" indent="-285750">
              <a:buClr>
                <a:srgbClr val="02C9B6"/>
              </a:buClr>
              <a:buFont typeface="Arial" panose="020B0604020202020204" pitchFamily="34" charset="0"/>
              <a:buChar char="•"/>
            </a:pPr>
            <a:endParaRPr lang="es-ES" sz="2000" b="1" dirty="0">
              <a:ea typeface="Calibri"/>
              <a:cs typeface="Calibri"/>
            </a:endParaRPr>
          </a:p>
        </p:txBody>
      </p:sp>
    </p:spTree>
    <p:extLst>
      <p:ext uri="{BB962C8B-B14F-4D97-AF65-F5344CB8AC3E}">
        <p14:creationId xmlns:p14="http://schemas.microsoft.com/office/powerpoint/2010/main" val="394331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
                                            <p:txEl>
                                              <p:pRg st="10" end="1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
                                            <p:txEl>
                                              <p:pRg st="11" end="1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F927-6DD5-EBB9-41BF-05796F8479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6C94DF-8020-4328-2825-F6E0E8EA65C5}"/>
              </a:ext>
            </a:extLst>
          </p:cNvPr>
          <p:cNvSpPr>
            <a:spLocks noGrp="1"/>
          </p:cNvSpPr>
          <p:nvPr>
            <p:ph type="title"/>
          </p:nvPr>
        </p:nvSpPr>
        <p:spPr/>
        <p:txBody>
          <a:bodyPr/>
          <a:lstStyle/>
          <a:p>
            <a:r>
              <a:rPr lang="es-CO"/>
              <a:t>Solución aplicando PC</a:t>
            </a:r>
          </a:p>
        </p:txBody>
      </p:sp>
      <p:sp>
        <p:nvSpPr>
          <p:cNvPr id="17" name="CuadroTexto 16">
            <a:extLst>
              <a:ext uri="{FF2B5EF4-FFF2-40B4-BE49-F238E27FC236}">
                <a16:creationId xmlns:a16="http://schemas.microsoft.com/office/drawing/2014/main" id="{77755EDE-218A-BD37-318D-992F38352E42}"/>
              </a:ext>
            </a:extLst>
          </p:cNvPr>
          <p:cNvSpPr txBox="1"/>
          <p:nvPr/>
        </p:nvSpPr>
        <p:spPr>
          <a:xfrm>
            <a:off x="2147149" y="1563474"/>
            <a:ext cx="9595861" cy="5139869"/>
          </a:xfrm>
          <a:prstGeom prst="rect">
            <a:avLst/>
          </a:prstGeom>
          <a:noFill/>
        </p:spPr>
        <p:txBody>
          <a:bodyPr wrap="square" lIns="91440" tIns="45720" rIns="91440" bIns="45720" anchor="t">
            <a:spAutoFit/>
          </a:bodyPr>
          <a:lstStyle/>
          <a:p>
            <a:pPr marL="285750" indent="-285750">
              <a:buClr>
                <a:srgbClr val="02C9B6"/>
              </a:buClr>
              <a:buFont typeface="Arial" panose="020B0604020202020204" pitchFamily="34" charset="0"/>
              <a:buChar char="•"/>
            </a:pPr>
            <a:r>
              <a:rPr lang="es-ES" sz="2000" b="1" dirty="0">
                <a:ea typeface="Calibri"/>
                <a:cs typeface="Calibri"/>
              </a:rPr>
              <a:t>Dibujar </a:t>
            </a:r>
            <a:r>
              <a:rPr lang="es-MX" sz="2000" b="1" dirty="0">
                <a:ea typeface="Calibri"/>
                <a:cs typeface="Calibri"/>
              </a:rPr>
              <a:t>cómo sería la interacción con la solución (opciones del menú, qué sucede al ingresar a cada opción).</a:t>
            </a:r>
          </a:p>
          <a:p>
            <a:pPr>
              <a:buClr>
                <a:srgbClr val="02C9B6"/>
              </a:buClr>
            </a:pPr>
            <a:endParaRPr lang="es-CO" sz="1600" dirty="0">
              <a:ea typeface="Calibri"/>
              <a:cs typeface="Calibri"/>
            </a:endParaRPr>
          </a:p>
          <a:p>
            <a:pPr>
              <a:buClr>
                <a:srgbClr val="02C9B6"/>
              </a:buClr>
            </a:pPr>
            <a:r>
              <a:rPr lang="es-CO" sz="2000" dirty="0">
                <a:ea typeface="Calibri"/>
                <a:cs typeface="Calibri"/>
              </a:rPr>
              <a:t>Ingresar el peso: </a:t>
            </a:r>
            <a:r>
              <a:rPr lang="es-CO" sz="2400" b="1" dirty="0">
                <a:solidFill>
                  <a:schemeClr val="bg1">
                    <a:lumMod val="50000"/>
                  </a:schemeClr>
                </a:solidFill>
                <a:ea typeface="Calibri"/>
                <a:cs typeface="Calibri"/>
              </a:rPr>
              <a:t>85</a:t>
            </a:r>
            <a:endParaRPr lang="en-US" sz="2400" b="1" dirty="0">
              <a:solidFill>
                <a:schemeClr val="bg1">
                  <a:lumMod val="50000"/>
                </a:schemeClr>
              </a:solidFill>
              <a:ea typeface="Calibri"/>
              <a:cs typeface="Calibri"/>
            </a:endParaRPr>
          </a:p>
          <a:p>
            <a:pPr>
              <a:buClr>
                <a:srgbClr val="02C9B6"/>
              </a:buClr>
            </a:pPr>
            <a:r>
              <a:rPr lang="es-ES" sz="2000" dirty="0">
                <a:ea typeface="Calibri"/>
                <a:cs typeface="Calibri"/>
              </a:rPr>
              <a:t>Ingresar la altura: </a:t>
            </a:r>
            <a:r>
              <a:rPr lang="es-ES" sz="2400" b="1" dirty="0">
                <a:solidFill>
                  <a:schemeClr val="bg1">
                    <a:lumMod val="50000"/>
                  </a:schemeClr>
                </a:solidFill>
                <a:ea typeface="Calibri"/>
                <a:cs typeface="Calibri"/>
              </a:rPr>
              <a:t>1,65</a:t>
            </a:r>
            <a:endParaRPr lang="en-US" sz="2400" b="1" dirty="0">
              <a:solidFill>
                <a:schemeClr val="bg1">
                  <a:lumMod val="50000"/>
                </a:schemeClr>
              </a:solidFill>
              <a:ea typeface="Calibri"/>
              <a:cs typeface="Calibri"/>
            </a:endParaRPr>
          </a:p>
          <a:p>
            <a:pPr>
              <a:buClr>
                <a:srgbClr val="02C9B6"/>
              </a:buClr>
            </a:pPr>
            <a:r>
              <a:rPr lang="es-CO" sz="2000" dirty="0">
                <a:ea typeface="Calibri"/>
                <a:cs typeface="Calibri"/>
              </a:rPr>
              <a:t>El IMC es: </a:t>
            </a:r>
            <a:r>
              <a:rPr lang="es-ES" sz="2000" dirty="0"/>
              <a:t>31.22130394857668</a:t>
            </a:r>
            <a:r>
              <a:rPr lang="es-CO" sz="2000" dirty="0">
                <a:ea typeface="Calibri"/>
                <a:cs typeface="Calibri"/>
              </a:rPr>
              <a:t> </a:t>
            </a:r>
          </a:p>
          <a:p>
            <a:pPr>
              <a:buClr>
                <a:srgbClr val="02C9B6"/>
              </a:buClr>
            </a:pPr>
            <a:r>
              <a:rPr lang="es-ES" sz="2000" dirty="0"/>
              <a:t>Riesgo de sobrepeso</a:t>
            </a:r>
          </a:p>
          <a:p>
            <a:pPr>
              <a:buClr>
                <a:srgbClr val="02C9B6"/>
              </a:buClr>
            </a:pPr>
            <a:endParaRPr lang="es-ES" sz="1600" dirty="0"/>
          </a:p>
          <a:p>
            <a:pPr>
              <a:buClr>
                <a:srgbClr val="02C9B6"/>
              </a:buClr>
            </a:pPr>
            <a:r>
              <a:rPr lang="es-CO" sz="2000" dirty="0">
                <a:ea typeface="Calibri"/>
                <a:cs typeface="Calibri"/>
              </a:rPr>
              <a:t>¿Hay más clientes?: </a:t>
            </a:r>
            <a:r>
              <a:rPr lang="es-CO" sz="2400" b="1" dirty="0">
                <a:solidFill>
                  <a:schemeClr val="bg1">
                    <a:lumMod val="50000"/>
                  </a:schemeClr>
                </a:solidFill>
                <a:ea typeface="Calibri"/>
                <a:cs typeface="Calibri"/>
              </a:rPr>
              <a:t>sí</a:t>
            </a:r>
          </a:p>
          <a:p>
            <a:pPr>
              <a:buClr>
                <a:srgbClr val="02C9B6"/>
              </a:buClr>
            </a:pPr>
            <a:endParaRPr lang="es-CO" sz="1600" dirty="0">
              <a:ea typeface="Calibri"/>
              <a:cs typeface="Calibri"/>
            </a:endParaRPr>
          </a:p>
          <a:p>
            <a:pPr>
              <a:buClr>
                <a:srgbClr val="02C9B6"/>
              </a:buClr>
            </a:pPr>
            <a:r>
              <a:rPr lang="es-CO" sz="2000" dirty="0">
                <a:ea typeface="Calibri"/>
                <a:cs typeface="Calibri"/>
              </a:rPr>
              <a:t>Ingresar el peso: </a:t>
            </a:r>
            <a:r>
              <a:rPr lang="es-CO" sz="2400" b="1" dirty="0">
                <a:solidFill>
                  <a:schemeClr val="bg1">
                    <a:lumMod val="50000"/>
                  </a:schemeClr>
                </a:solidFill>
                <a:ea typeface="Calibri"/>
                <a:cs typeface="Calibri"/>
              </a:rPr>
              <a:t>60</a:t>
            </a:r>
            <a:endParaRPr lang="en-US" sz="2400" b="1" dirty="0">
              <a:solidFill>
                <a:schemeClr val="bg1">
                  <a:lumMod val="50000"/>
                </a:schemeClr>
              </a:solidFill>
              <a:ea typeface="Calibri"/>
              <a:cs typeface="Calibri"/>
            </a:endParaRPr>
          </a:p>
          <a:p>
            <a:pPr>
              <a:buClr>
                <a:srgbClr val="02C9B6"/>
              </a:buClr>
            </a:pPr>
            <a:r>
              <a:rPr lang="es-ES" sz="2000" dirty="0">
                <a:ea typeface="Calibri"/>
                <a:cs typeface="Calibri"/>
              </a:rPr>
              <a:t>Ingresar la altura: </a:t>
            </a:r>
            <a:r>
              <a:rPr lang="es-ES" sz="2400" b="1" dirty="0">
                <a:solidFill>
                  <a:schemeClr val="bg1">
                    <a:lumMod val="50000"/>
                  </a:schemeClr>
                </a:solidFill>
                <a:ea typeface="Calibri"/>
                <a:cs typeface="Calibri"/>
              </a:rPr>
              <a:t>1,72</a:t>
            </a:r>
            <a:endParaRPr lang="en-US" sz="2000" b="1" dirty="0">
              <a:solidFill>
                <a:schemeClr val="bg1">
                  <a:lumMod val="50000"/>
                </a:schemeClr>
              </a:solidFill>
              <a:ea typeface="Calibri"/>
              <a:cs typeface="Calibri"/>
            </a:endParaRPr>
          </a:p>
          <a:p>
            <a:pPr>
              <a:buClr>
                <a:srgbClr val="02C9B6"/>
              </a:buClr>
            </a:pPr>
            <a:r>
              <a:rPr lang="es-CO" sz="2000" dirty="0">
                <a:ea typeface="Calibri"/>
                <a:cs typeface="Calibri"/>
              </a:rPr>
              <a:t>El IMC es: </a:t>
            </a:r>
            <a:r>
              <a:rPr lang="es-ES" sz="2000" dirty="0"/>
              <a:t>20.281233098972418</a:t>
            </a:r>
          </a:p>
          <a:p>
            <a:pPr>
              <a:buClr>
                <a:srgbClr val="02C9B6"/>
              </a:buClr>
            </a:pPr>
            <a:r>
              <a:rPr lang="es-CO" sz="2000" dirty="0">
                <a:ea typeface="Calibri"/>
                <a:cs typeface="Calibri"/>
              </a:rPr>
              <a:t>Peso saludable</a:t>
            </a:r>
            <a:endParaRPr lang="es-ES" sz="2000" dirty="0"/>
          </a:p>
          <a:p>
            <a:pPr>
              <a:buClr>
                <a:srgbClr val="02C9B6"/>
              </a:buClr>
            </a:pPr>
            <a:endParaRPr lang="es-CO" sz="1600" dirty="0">
              <a:ea typeface="Calibri"/>
              <a:cs typeface="Calibri"/>
            </a:endParaRPr>
          </a:p>
          <a:p>
            <a:pPr>
              <a:buClr>
                <a:srgbClr val="02C9B6"/>
              </a:buClr>
            </a:pPr>
            <a:r>
              <a:rPr lang="es-CO" sz="2000" dirty="0">
                <a:ea typeface="Calibri"/>
                <a:cs typeface="Calibri"/>
              </a:rPr>
              <a:t>¿Hay más clientes?: </a:t>
            </a:r>
            <a:r>
              <a:rPr lang="es-CO" sz="2400" b="1" dirty="0">
                <a:solidFill>
                  <a:schemeClr val="bg1">
                    <a:lumMod val="50000"/>
                  </a:schemeClr>
                </a:solidFill>
                <a:ea typeface="Calibri"/>
                <a:cs typeface="Calibri"/>
              </a:rPr>
              <a:t>no</a:t>
            </a:r>
          </a:p>
        </p:txBody>
      </p:sp>
      <p:sp>
        <p:nvSpPr>
          <p:cNvPr id="4" name="Marcador de número de diapositiva 3">
            <a:extLst>
              <a:ext uri="{FF2B5EF4-FFF2-40B4-BE49-F238E27FC236}">
                <a16:creationId xmlns:a16="http://schemas.microsoft.com/office/drawing/2014/main" id="{A8350C67-551B-FDC4-B91D-D4367F0D29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14</a:t>
            </a:fld>
            <a:endParaRPr lang="es-CO"/>
          </a:p>
        </p:txBody>
      </p:sp>
      <p:sp>
        <p:nvSpPr>
          <p:cNvPr id="6" name="Título 4">
            <a:extLst>
              <a:ext uri="{FF2B5EF4-FFF2-40B4-BE49-F238E27FC236}">
                <a16:creationId xmlns:a16="http://schemas.microsoft.com/office/drawing/2014/main" id="{846C0A38-F793-63F7-6F33-037F6E129C1E}"/>
              </a:ext>
            </a:extLst>
          </p:cNvPr>
          <p:cNvSpPr txBox="1">
            <a:spLocks/>
          </p:cNvSpPr>
          <p:nvPr/>
        </p:nvSpPr>
        <p:spPr>
          <a:xfrm>
            <a:off x="2076994" y="852182"/>
            <a:ext cx="9666016" cy="917764"/>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2. Diseño de la solución</a:t>
            </a:r>
          </a:p>
        </p:txBody>
      </p:sp>
      <p:sp>
        <p:nvSpPr>
          <p:cNvPr id="11" name="Google Shape;558;p27">
            <a:extLst>
              <a:ext uri="{FF2B5EF4-FFF2-40B4-BE49-F238E27FC236}">
                <a16:creationId xmlns:a16="http://schemas.microsoft.com/office/drawing/2014/main" id="{5E272E6C-6FB6-77CC-0F22-F1E229B2275F}"/>
              </a:ext>
            </a:extLst>
          </p:cNvPr>
          <p:cNvSpPr/>
          <p:nvPr/>
        </p:nvSpPr>
        <p:spPr>
          <a:xfrm>
            <a:off x="5852160" y="5929852"/>
            <a:ext cx="5890850" cy="607574"/>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MX" sz="1400" b="1" dirty="0">
                <a:solidFill>
                  <a:schemeClr val="dk1"/>
                </a:solidFill>
                <a:ea typeface="Calibri"/>
                <a:cs typeface="Calibri"/>
                <a:sym typeface="Calibri"/>
              </a:rPr>
              <a:t>Los textos en color </a:t>
            </a:r>
            <a:r>
              <a:rPr lang="es-MX" b="1" dirty="0">
                <a:solidFill>
                  <a:schemeClr val="dk1"/>
                </a:solidFill>
                <a:ea typeface="Calibri"/>
                <a:cs typeface="Calibri"/>
                <a:sym typeface="Calibri"/>
              </a:rPr>
              <a:t>negro</a:t>
            </a:r>
            <a:r>
              <a:rPr lang="es-MX" sz="1400" b="1" dirty="0">
                <a:solidFill>
                  <a:schemeClr val="dk1"/>
                </a:solidFill>
                <a:ea typeface="Calibri"/>
                <a:cs typeface="Calibri"/>
                <a:sym typeface="Calibri"/>
              </a:rPr>
              <a:t> representan lo que el programa muestra.</a:t>
            </a:r>
          </a:p>
          <a:p>
            <a:pPr lvl="0" algn="ctr"/>
            <a:r>
              <a:rPr lang="es-MX" sz="1400" b="1" dirty="0">
                <a:solidFill>
                  <a:schemeClr val="dk1"/>
                </a:solidFill>
                <a:ea typeface="Calibri"/>
                <a:cs typeface="Calibri"/>
                <a:sym typeface="Calibri"/>
              </a:rPr>
              <a:t>Los textos en color </a:t>
            </a:r>
            <a:r>
              <a:rPr lang="es-MX" b="1" dirty="0">
                <a:solidFill>
                  <a:schemeClr val="dk1"/>
                </a:solidFill>
                <a:ea typeface="Calibri"/>
                <a:cs typeface="Calibri"/>
                <a:sym typeface="Calibri"/>
              </a:rPr>
              <a:t>gris</a:t>
            </a:r>
            <a:r>
              <a:rPr lang="es-MX" sz="1400" b="1" dirty="0">
                <a:solidFill>
                  <a:schemeClr val="dk1"/>
                </a:solidFill>
                <a:ea typeface="Calibri"/>
                <a:cs typeface="Calibri"/>
                <a:sym typeface="Calibri"/>
              </a:rPr>
              <a:t> representan lo que una persona escribe. </a:t>
            </a:r>
            <a:endParaRPr sz="1400" dirty="0"/>
          </a:p>
        </p:txBody>
      </p:sp>
      <p:grpSp>
        <p:nvGrpSpPr>
          <p:cNvPr id="3" name="Grupo 2">
            <a:extLst>
              <a:ext uri="{FF2B5EF4-FFF2-40B4-BE49-F238E27FC236}">
                <a16:creationId xmlns:a16="http://schemas.microsoft.com/office/drawing/2014/main" id="{4F3D74FF-F8FC-7BAB-961E-4CF56954D4DD}"/>
              </a:ext>
            </a:extLst>
          </p:cNvPr>
          <p:cNvGrpSpPr/>
          <p:nvPr/>
        </p:nvGrpSpPr>
        <p:grpSpPr>
          <a:xfrm>
            <a:off x="6910002" y="2092449"/>
            <a:ext cx="4737014" cy="3730744"/>
            <a:chOff x="2763483" y="3160928"/>
            <a:chExt cx="4429374" cy="3141438"/>
          </a:xfrm>
        </p:grpSpPr>
        <p:cxnSp>
          <p:nvCxnSpPr>
            <p:cNvPr id="5" name="Conector recto de flecha 111">
              <a:extLst>
                <a:ext uri="{FF2B5EF4-FFF2-40B4-BE49-F238E27FC236}">
                  <a16:creationId xmlns:a16="http://schemas.microsoft.com/office/drawing/2014/main" id="{72378655-2AC4-D19C-130D-99F48C9C5497}"/>
                </a:ext>
              </a:extLst>
            </p:cNvPr>
            <p:cNvCxnSpPr>
              <a:cxnSpLocks/>
              <a:stCxn id="27" idx="2"/>
              <a:endCxn id="9" idx="1"/>
            </p:cNvCxnSpPr>
            <p:nvPr/>
          </p:nvCxnSpPr>
          <p:spPr>
            <a:xfrm rot="5400000" flipH="1">
              <a:off x="3057606" y="3615821"/>
              <a:ext cx="2421056" cy="2387572"/>
            </a:xfrm>
            <a:prstGeom prst="bentConnector4">
              <a:avLst>
                <a:gd name="adj1" fmla="val -9442"/>
                <a:gd name="adj2" fmla="val 119292"/>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7" name="Diagrama de flujo: terminador 3">
              <a:extLst>
                <a:ext uri="{FF2B5EF4-FFF2-40B4-BE49-F238E27FC236}">
                  <a16:creationId xmlns:a16="http://schemas.microsoft.com/office/drawing/2014/main" id="{52FB4A99-F73D-F4A5-027C-74C85BF267A1}"/>
                </a:ext>
              </a:extLst>
            </p:cNvPr>
            <p:cNvSpPr/>
            <p:nvPr/>
          </p:nvSpPr>
          <p:spPr>
            <a:xfrm>
              <a:off x="3256345" y="3160928"/>
              <a:ext cx="697725" cy="175518"/>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Inicio</a:t>
              </a:r>
            </a:p>
          </p:txBody>
        </p:sp>
        <p:cxnSp>
          <p:nvCxnSpPr>
            <p:cNvPr id="8" name="Conector recto de flecha 7">
              <a:extLst>
                <a:ext uri="{FF2B5EF4-FFF2-40B4-BE49-F238E27FC236}">
                  <a16:creationId xmlns:a16="http://schemas.microsoft.com/office/drawing/2014/main" id="{9FFD07DE-D4F6-C6FF-D446-BA0294796F17}"/>
                </a:ext>
              </a:extLst>
            </p:cNvPr>
            <p:cNvCxnSpPr>
              <a:cxnSpLocks/>
            </p:cNvCxnSpPr>
            <p:nvPr/>
          </p:nvCxnSpPr>
          <p:spPr>
            <a:xfrm>
              <a:off x="3605207" y="3336446"/>
              <a:ext cx="10980" cy="16505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278A7E89-D463-4866-97D7-53B7E3FF49DB}"/>
                </a:ext>
              </a:extLst>
            </p:cNvPr>
            <p:cNvSpPr/>
            <p:nvPr/>
          </p:nvSpPr>
          <p:spPr>
            <a:xfrm>
              <a:off x="3074348" y="3501498"/>
              <a:ext cx="106171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a:solidFill>
                    <a:schemeClr val="tx1"/>
                  </a:solidFill>
                </a:rPr>
                <a:t>Ingresar el </a:t>
              </a:r>
              <a:r>
                <a:rPr lang="es-MX" sz="1000" b="1">
                  <a:solidFill>
                    <a:srgbClr val="02C9B6"/>
                  </a:solidFill>
                </a:rPr>
                <a:t>peso</a:t>
              </a:r>
              <a:endParaRPr lang="es-CO" sz="1000" b="1">
                <a:solidFill>
                  <a:srgbClr val="02C9B6"/>
                </a:solidFill>
              </a:endParaRPr>
            </a:p>
          </p:txBody>
        </p:sp>
        <p:sp>
          <p:nvSpPr>
            <p:cNvPr id="10" name="Rombo 9">
              <a:extLst>
                <a:ext uri="{FF2B5EF4-FFF2-40B4-BE49-F238E27FC236}">
                  <a16:creationId xmlns:a16="http://schemas.microsoft.com/office/drawing/2014/main" id="{BAB3D354-ABA1-DD07-64DA-C27AB9F760A6}"/>
                </a:ext>
              </a:extLst>
            </p:cNvPr>
            <p:cNvSpPr/>
            <p:nvPr/>
          </p:nvSpPr>
          <p:spPr>
            <a:xfrm>
              <a:off x="2915995" y="5062832"/>
              <a:ext cx="1378424" cy="371462"/>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IMC &lt;=25</a:t>
              </a:r>
            </a:p>
          </p:txBody>
        </p:sp>
        <p:cxnSp>
          <p:nvCxnSpPr>
            <p:cNvPr id="12" name="Conector recto de flecha 11">
              <a:extLst>
                <a:ext uri="{FF2B5EF4-FFF2-40B4-BE49-F238E27FC236}">
                  <a16:creationId xmlns:a16="http://schemas.microsoft.com/office/drawing/2014/main" id="{7800B13B-823B-5F9C-1790-7E5815165204}"/>
                </a:ext>
              </a:extLst>
            </p:cNvPr>
            <p:cNvCxnSpPr>
              <a:cxnSpLocks/>
              <a:stCxn id="24" idx="2"/>
              <a:endCxn id="27" idx="0"/>
            </p:cNvCxnSpPr>
            <p:nvPr/>
          </p:nvCxnSpPr>
          <p:spPr>
            <a:xfrm>
              <a:off x="5461919" y="5366291"/>
              <a:ext cx="1" cy="243381"/>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4E246019-5F7D-1AAC-D81C-339245DF39A5}"/>
                </a:ext>
              </a:extLst>
            </p:cNvPr>
            <p:cNvCxnSpPr>
              <a:cxnSpLocks/>
            </p:cNvCxnSpPr>
            <p:nvPr/>
          </p:nvCxnSpPr>
          <p:spPr>
            <a:xfrm>
              <a:off x="3604820" y="3696660"/>
              <a:ext cx="10206" cy="189634"/>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4D137CD4-67FC-29D1-6E16-DAD18A5AF82E}"/>
                </a:ext>
              </a:extLst>
            </p:cNvPr>
            <p:cNvCxnSpPr>
              <a:cxnSpLocks/>
            </p:cNvCxnSpPr>
            <p:nvPr/>
          </p:nvCxnSpPr>
          <p:spPr>
            <a:xfrm>
              <a:off x="3602894" y="5434294"/>
              <a:ext cx="1" cy="217519"/>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15" name="Diagrama de flujo: terminador 38">
              <a:extLst>
                <a:ext uri="{FF2B5EF4-FFF2-40B4-BE49-F238E27FC236}">
                  <a16:creationId xmlns:a16="http://schemas.microsoft.com/office/drawing/2014/main" id="{5F39E5EE-23C4-6718-CC92-7D2D7781DE71}"/>
                </a:ext>
              </a:extLst>
            </p:cNvPr>
            <p:cNvSpPr/>
            <p:nvPr/>
          </p:nvSpPr>
          <p:spPr>
            <a:xfrm>
              <a:off x="6508520" y="5719657"/>
              <a:ext cx="684337" cy="190494"/>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Fin</a:t>
              </a:r>
            </a:p>
          </p:txBody>
        </p:sp>
        <p:sp>
          <p:nvSpPr>
            <p:cNvPr id="16" name="Rectángulo 15">
              <a:extLst>
                <a:ext uri="{FF2B5EF4-FFF2-40B4-BE49-F238E27FC236}">
                  <a16:creationId xmlns:a16="http://schemas.microsoft.com/office/drawing/2014/main" id="{D280D023-8C09-E4CA-0DAC-05CA1EBAC575}"/>
                </a:ext>
              </a:extLst>
            </p:cNvPr>
            <p:cNvSpPr/>
            <p:nvPr/>
          </p:nvSpPr>
          <p:spPr>
            <a:xfrm>
              <a:off x="3074348" y="3886294"/>
              <a:ext cx="106171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dirty="0">
                  <a:solidFill>
                    <a:schemeClr val="tx1"/>
                  </a:solidFill>
                </a:rPr>
                <a:t>Ingresar la </a:t>
              </a:r>
              <a:r>
                <a:rPr lang="es-MX" sz="1000" b="1" dirty="0">
                  <a:solidFill>
                    <a:srgbClr val="02C9B6"/>
                  </a:solidFill>
                </a:rPr>
                <a:t>altura</a:t>
              </a:r>
              <a:endParaRPr lang="es-CO" sz="1000" b="1" dirty="0">
                <a:solidFill>
                  <a:srgbClr val="02C9B6"/>
                </a:solidFill>
              </a:endParaRPr>
            </a:p>
          </p:txBody>
        </p:sp>
        <p:sp>
          <p:nvSpPr>
            <p:cNvPr id="18" name="Rectángulo 17">
              <a:extLst>
                <a:ext uri="{FF2B5EF4-FFF2-40B4-BE49-F238E27FC236}">
                  <a16:creationId xmlns:a16="http://schemas.microsoft.com/office/drawing/2014/main" id="{4FCBB5EF-7944-7481-6A53-F76DE04AA655}"/>
                </a:ext>
              </a:extLst>
            </p:cNvPr>
            <p:cNvSpPr/>
            <p:nvPr/>
          </p:nvSpPr>
          <p:spPr>
            <a:xfrm>
              <a:off x="2763483" y="4283692"/>
              <a:ext cx="168344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b="1">
                  <a:solidFill>
                    <a:srgbClr val="009BAF"/>
                  </a:solidFill>
                </a:rPr>
                <a:t>IMC</a:t>
              </a:r>
              <a:r>
                <a:rPr lang="es-MX" sz="1000" b="1">
                  <a:solidFill>
                    <a:schemeClr val="tx1"/>
                  </a:solidFill>
                </a:rPr>
                <a:t> = </a:t>
              </a:r>
              <a:r>
                <a:rPr lang="es-MX" sz="1000" b="1">
                  <a:solidFill>
                    <a:srgbClr val="02C9B6"/>
                  </a:solidFill>
                </a:rPr>
                <a:t>peso</a:t>
              </a:r>
              <a:r>
                <a:rPr lang="es-MX" sz="1000" b="1">
                  <a:solidFill>
                    <a:schemeClr val="tx1"/>
                  </a:solidFill>
                </a:rPr>
                <a:t> / (</a:t>
              </a:r>
              <a:r>
                <a:rPr lang="es-MX" sz="1000" b="1">
                  <a:solidFill>
                    <a:srgbClr val="02C9B6"/>
                  </a:solidFill>
                </a:rPr>
                <a:t>altura</a:t>
              </a:r>
              <a:r>
                <a:rPr lang="es-MX" sz="1000" b="1">
                  <a:solidFill>
                    <a:schemeClr val="tx1"/>
                  </a:solidFill>
                </a:rPr>
                <a:t>*</a:t>
              </a:r>
              <a:r>
                <a:rPr lang="es-MX" sz="1000" b="1">
                  <a:solidFill>
                    <a:srgbClr val="02C9B6"/>
                  </a:solidFill>
                </a:rPr>
                <a:t>altura</a:t>
              </a:r>
              <a:r>
                <a:rPr lang="es-MX" sz="1000" b="1">
                  <a:solidFill>
                    <a:schemeClr val="tx1"/>
                  </a:solidFill>
                </a:rPr>
                <a:t>)</a:t>
              </a:r>
              <a:endParaRPr lang="es-ES" b="1">
                <a:solidFill>
                  <a:schemeClr val="tx1"/>
                </a:solidFill>
              </a:endParaRPr>
            </a:p>
          </p:txBody>
        </p:sp>
        <p:cxnSp>
          <p:nvCxnSpPr>
            <p:cNvPr id="19" name="Conector recto de flecha 18">
              <a:extLst>
                <a:ext uri="{FF2B5EF4-FFF2-40B4-BE49-F238E27FC236}">
                  <a16:creationId xmlns:a16="http://schemas.microsoft.com/office/drawing/2014/main" id="{18EFF0C3-0066-2061-F6BD-B90103E6D790}"/>
                </a:ext>
              </a:extLst>
            </p:cNvPr>
            <p:cNvCxnSpPr>
              <a:cxnSpLocks/>
            </p:cNvCxnSpPr>
            <p:nvPr/>
          </p:nvCxnSpPr>
          <p:spPr>
            <a:xfrm>
              <a:off x="3600104" y="4081456"/>
              <a:ext cx="0" cy="202236"/>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84BBC5F6-0614-5AB5-7D01-FA506E060AF9}"/>
                </a:ext>
              </a:extLst>
            </p:cNvPr>
            <p:cNvSpPr txBox="1"/>
            <p:nvPr/>
          </p:nvSpPr>
          <p:spPr>
            <a:xfrm>
              <a:off x="4307613" y="4996060"/>
              <a:ext cx="282790" cy="260018"/>
            </a:xfrm>
            <a:prstGeom prst="rect">
              <a:avLst/>
            </a:prstGeom>
            <a:noFill/>
          </p:spPr>
          <p:txBody>
            <a:bodyPr wrap="none" lIns="91440" tIns="45720" rIns="91440" bIns="45720" rtlCol="0" anchor="t">
              <a:spAutoFit/>
            </a:bodyPr>
            <a:lstStyle/>
            <a:p>
              <a:r>
                <a:rPr lang="es-CO" sz="1200">
                  <a:ea typeface="Calibri"/>
                  <a:cs typeface="Calibri"/>
                </a:rPr>
                <a:t>Sí</a:t>
              </a:r>
            </a:p>
          </p:txBody>
        </p:sp>
        <p:sp>
          <p:nvSpPr>
            <p:cNvPr id="21" name="CuadroTexto 20">
              <a:extLst>
                <a:ext uri="{FF2B5EF4-FFF2-40B4-BE49-F238E27FC236}">
                  <a16:creationId xmlns:a16="http://schemas.microsoft.com/office/drawing/2014/main" id="{73801556-87C0-7987-A2D4-2469310BB3F5}"/>
                </a:ext>
              </a:extLst>
            </p:cNvPr>
            <p:cNvSpPr txBox="1"/>
            <p:nvPr/>
          </p:nvSpPr>
          <p:spPr>
            <a:xfrm>
              <a:off x="3263353" y="5355364"/>
              <a:ext cx="356141" cy="260018"/>
            </a:xfrm>
            <a:prstGeom prst="rect">
              <a:avLst/>
            </a:prstGeom>
            <a:noFill/>
          </p:spPr>
          <p:txBody>
            <a:bodyPr wrap="none" lIns="91440" tIns="45720" rIns="91440" bIns="45720" rtlCol="0" anchor="t">
              <a:spAutoFit/>
            </a:bodyPr>
            <a:lstStyle/>
            <a:p>
              <a:r>
                <a:rPr lang="es-CO" sz="1200"/>
                <a:t>No</a:t>
              </a:r>
            </a:p>
          </p:txBody>
        </p:sp>
        <p:sp>
          <p:nvSpPr>
            <p:cNvPr id="22" name="Rectángulo 21">
              <a:extLst>
                <a:ext uri="{FF2B5EF4-FFF2-40B4-BE49-F238E27FC236}">
                  <a16:creationId xmlns:a16="http://schemas.microsoft.com/office/drawing/2014/main" id="{81A93C4D-5546-7983-A825-CC1055999614}"/>
                </a:ext>
              </a:extLst>
            </p:cNvPr>
            <p:cNvSpPr/>
            <p:nvPr/>
          </p:nvSpPr>
          <p:spPr>
            <a:xfrm>
              <a:off x="3074348" y="4660618"/>
              <a:ext cx="106171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Mostrar </a:t>
              </a:r>
              <a:r>
                <a:rPr lang="es-MX" sz="1000" b="1">
                  <a:solidFill>
                    <a:srgbClr val="009BAF"/>
                  </a:solidFill>
                </a:rPr>
                <a:t>IMC</a:t>
              </a:r>
              <a:endParaRPr lang="es-ES" b="1">
                <a:solidFill>
                  <a:srgbClr val="009BAF"/>
                </a:solidFill>
              </a:endParaRPr>
            </a:p>
          </p:txBody>
        </p:sp>
        <p:cxnSp>
          <p:nvCxnSpPr>
            <p:cNvPr id="23" name="Conector recto de flecha 22">
              <a:extLst>
                <a:ext uri="{FF2B5EF4-FFF2-40B4-BE49-F238E27FC236}">
                  <a16:creationId xmlns:a16="http://schemas.microsoft.com/office/drawing/2014/main" id="{4741FB5E-3A95-8D99-CC96-CC692D159A35}"/>
                </a:ext>
              </a:extLst>
            </p:cNvPr>
            <p:cNvCxnSpPr>
              <a:cxnSpLocks/>
            </p:cNvCxnSpPr>
            <p:nvPr/>
          </p:nvCxnSpPr>
          <p:spPr>
            <a:xfrm flipH="1">
              <a:off x="3604101" y="4855780"/>
              <a:ext cx="1" cy="20705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A40DDEC8-CB42-E560-225B-A9E85F723B57}"/>
                </a:ext>
              </a:extLst>
            </p:cNvPr>
            <p:cNvSpPr/>
            <p:nvPr/>
          </p:nvSpPr>
          <p:spPr>
            <a:xfrm>
              <a:off x="4692776" y="5134560"/>
              <a:ext cx="1538286" cy="2317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Mostrar </a:t>
              </a:r>
              <a:r>
                <a:rPr lang="es-MX" sz="1000" b="1">
                  <a:solidFill>
                    <a:srgbClr val="009BAF"/>
                  </a:solidFill>
                </a:rPr>
                <a:t>“</a:t>
              </a:r>
              <a:r>
                <a:rPr lang="es-ES" sz="1000" b="1">
                  <a:solidFill>
                    <a:srgbClr val="009BAF"/>
                  </a:solidFill>
                </a:rPr>
                <a:t>Peso saludable”</a:t>
              </a:r>
            </a:p>
          </p:txBody>
        </p:sp>
        <p:sp>
          <p:nvSpPr>
            <p:cNvPr id="25" name="Rectángulo 24">
              <a:extLst>
                <a:ext uri="{FF2B5EF4-FFF2-40B4-BE49-F238E27FC236}">
                  <a16:creationId xmlns:a16="http://schemas.microsoft.com/office/drawing/2014/main" id="{133EA255-A9A5-1F2A-B9B8-10E8AE226FF3}"/>
                </a:ext>
              </a:extLst>
            </p:cNvPr>
            <p:cNvSpPr/>
            <p:nvPr/>
          </p:nvSpPr>
          <p:spPr>
            <a:xfrm>
              <a:off x="2763483" y="5651813"/>
              <a:ext cx="1683449" cy="3261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Mostrar </a:t>
              </a:r>
              <a:r>
                <a:rPr lang="es-MX" sz="1000" b="1">
                  <a:solidFill>
                    <a:srgbClr val="009BAF"/>
                  </a:solidFill>
                </a:rPr>
                <a:t>“</a:t>
              </a:r>
              <a:r>
                <a:rPr lang="es-ES" sz="1000" b="1">
                  <a:solidFill>
                    <a:srgbClr val="009BAF"/>
                  </a:solidFill>
                </a:rPr>
                <a:t>Riesgo de sobrepeso”</a:t>
              </a:r>
            </a:p>
          </p:txBody>
        </p:sp>
        <p:cxnSp>
          <p:nvCxnSpPr>
            <p:cNvPr id="26" name="Conector recto de flecha 25">
              <a:extLst>
                <a:ext uri="{FF2B5EF4-FFF2-40B4-BE49-F238E27FC236}">
                  <a16:creationId xmlns:a16="http://schemas.microsoft.com/office/drawing/2014/main" id="{4FE3BEE9-01A3-CB06-A581-BC1A2D73D621}"/>
                </a:ext>
              </a:extLst>
            </p:cNvPr>
            <p:cNvCxnSpPr>
              <a:cxnSpLocks/>
              <a:stCxn id="10" idx="3"/>
              <a:endCxn id="24" idx="1"/>
            </p:cNvCxnSpPr>
            <p:nvPr/>
          </p:nvCxnSpPr>
          <p:spPr>
            <a:xfrm>
              <a:off x="4294419" y="5248563"/>
              <a:ext cx="398357" cy="1863"/>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7" name="Rombo 26">
              <a:extLst>
                <a:ext uri="{FF2B5EF4-FFF2-40B4-BE49-F238E27FC236}">
                  <a16:creationId xmlns:a16="http://schemas.microsoft.com/office/drawing/2014/main" id="{04FF6C93-E7E5-D188-B2B2-5AA059DE3EA3}"/>
                </a:ext>
              </a:extLst>
            </p:cNvPr>
            <p:cNvSpPr/>
            <p:nvPr/>
          </p:nvSpPr>
          <p:spPr>
            <a:xfrm>
              <a:off x="4692777" y="5609672"/>
              <a:ext cx="1538286" cy="410463"/>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¿Más pacientes?</a:t>
              </a:r>
            </a:p>
          </p:txBody>
        </p:sp>
        <p:cxnSp>
          <p:nvCxnSpPr>
            <p:cNvPr id="28" name="Conector recto de flecha 27">
              <a:extLst>
                <a:ext uri="{FF2B5EF4-FFF2-40B4-BE49-F238E27FC236}">
                  <a16:creationId xmlns:a16="http://schemas.microsoft.com/office/drawing/2014/main" id="{6C27D021-030E-50A3-64BA-5B35B0788B16}"/>
                </a:ext>
              </a:extLst>
            </p:cNvPr>
            <p:cNvCxnSpPr>
              <a:cxnSpLocks/>
              <a:stCxn id="25" idx="3"/>
              <a:endCxn id="27" idx="1"/>
            </p:cNvCxnSpPr>
            <p:nvPr/>
          </p:nvCxnSpPr>
          <p:spPr>
            <a:xfrm>
              <a:off x="4446932" y="5814904"/>
              <a:ext cx="245845" cy="0"/>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CA84ADCD-7F07-B776-4D51-14CF376B9928}"/>
                </a:ext>
              </a:extLst>
            </p:cNvPr>
            <p:cNvCxnSpPr>
              <a:cxnSpLocks/>
              <a:stCxn id="27" idx="3"/>
              <a:endCxn id="15" idx="1"/>
            </p:cNvCxnSpPr>
            <p:nvPr/>
          </p:nvCxnSpPr>
          <p:spPr>
            <a:xfrm>
              <a:off x="6231063" y="5814904"/>
              <a:ext cx="277457" cy="0"/>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2E1D9C74-9B8A-7584-2281-DFB2EF4E53CB}"/>
                </a:ext>
              </a:extLst>
            </p:cNvPr>
            <p:cNvSpPr txBox="1"/>
            <p:nvPr/>
          </p:nvSpPr>
          <p:spPr>
            <a:xfrm>
              <a:off x="5435753" y="6042348"/>
              <a:ext cx="378828" cy="260018"/>
            </a:xfrm>
            <a:prstGeom prst="rect">
              <a:avLst/>
            </a:prstGeom>
            <a:noFill/>
          </p:spPr>
          <p:txBody>
            <a:bodyPr wrap="square" lIns="91440" tIns="45720" rIns="91440" bIns="45720" rtlCol="0" anchor="t">
              <a:spAutoFit/>
            </a:bodyPr>
            <a:lstStyle/>
            <a:p>
              <a:r>
                <a:rPr lang="es-CO" sz="1200"/>
                <a:t>Sí</a:t>
              </a:r>
            </a:p>
          </p:txBody>
        </p:sp>
        <p:sp>
          <p:nvSpPr>
            <p:cNvPr id="31" name="CuadroTexto 30">
              <a:extLst>
                <a:ext uri="{FF2B5EF4-FFF2-40B4-BE49-F238E27FC236}">
                  <a16:creationId xmlns:a16="http://schemas.microsoft.com/office/drawing/2014/main" id="{83564A74-A480-E0AD-6216-5DF8440CEBC3}"/>
                </a:ext>
              </a:extLst>
            </p:cNvPr>
            <p:cNvSpPr txBox="1"/>
            <p:nvPr/>
          </p:nvSpPr>
          <p:spPr>
            <a:xfrm>
              <a:off x="6168622" y="5543053"/>
              <a:ext cx="356141" cy="260018"/>
            </a:xfrm>
            <a:prstGeom prst="rect">
              <a:avLst/>
            </a:prstGeom>
            <a:noFill/>
          </p:spPr>
          <p:txBody>
            <a:bodyPr wrap="none" lIns="91440" tIns="45720" rIns="91440" bIns="45720" rtlCol="0" anchor="t">
              <a:spAutoFit/>
            </a:bodyPr>
            <a:lstStyle/>
            <a:p>
              <a:r>
                <a:rPr lang="es-CO" sz="1200"/>
                <a:t>No</a:t>
              </a:r>
            </a:p>
          </p:txBody>
        </p:sp>
        <p:cxnSp>
          <p:nvCxnSpPr>
            <p:cNvPr id="32" name="Conector recto de flecha 31">
              <a:extLst>
                <a:ext uri="{FF2B5EF4-FFF2-40B4-BE49-F238E27FC236}">
                  <a16:creationId xmlns:a16="http://schemas.microsoft.com/office/drawing/2014/main" id="{149666E2-4F9F-110B-DFA1-7FC3C6697423}"/>
                </a:ext>
              </a:extLst>
            </p:cNvPr>
            <p:cNvCxnSpPr>
              <a:cxnSpLocks/>
            </p:cNvCxnSpPr>
            <p:nvPr/>
          </p:nvCxnSpPr>
          <p:spPr>
            <a:xfrm>
              <a:off x="3605207" y="4478486"/>
              <a:ext cx="0" cy="180000"/>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761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194F3B-21C7-46FD-A466-09DF3AE7B966}"/>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E7EB22D1-475A-4E89-A595-FC64AB47D8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15</a:t>
            </a:fld>
            <a:endParaRPr lang="es-CO"/>
          </a:p>
        </p:txBody>
      </p:sp>
      <p:sp>
        <p:nvSpPr>
          <p:cNvPr id="3" name="Título 4">
            <a:extLst>
              <a:ext uri="{FF2B5EF4-FFF2-40B4-BE49-F238E27FC236}">
                <a16:creationId xmlns:a16="http://schemas.microsoft.com/office/drawing/2014/main" id="{8E6C396D-0643-F720-0FAD-9D55EFE04EF9}"/>
              </a:ext>
            </a:extLst>
          </p:cNvPr>
          <p:cNvSpPr txBox="1">
            <a:spLocks/>
          </p:cNvSpPr>
          <p:nvPr/>
        </p:nvSpPr>
        <p:spPr>
          <a:xfrm>
            <a:off x="2076994" y="950502"/>
            <a:ext cx="9666016" cy="780163"/>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3. Validación de la solución</a:t>
            </a:r>
          </a:p>
        </p:txBody>
      </p:sp>
      <p:sp>
        <p:nvSpPr>
          <p:cNvPr id="6" name="CuadroTexto 5">
            <a:extLst>
              <a:ext uri="{FF2B5EF4-FFF2-40B4-BE49-F238E27FC236}">
                <a16:creationId xmlns:a16="http://schemas.microsoft.com/office/drawing/2014/main" id="{8D5DBAC9-2F34-E8EE-BEA7-59322F3A381E}"/>
              </a:ext>
            </a:extLst>
          </p:cNvPr>
          <p:cNvSpPr txBox="1"/>
          <p:nvPr/>
        </p:nvSpPr>
        <p:spPr>
          <a:xfrm>
            <a:off x="2076994" y="1762654"/>
            <a:ext cx="4020535" cy="2831544"/>
          </a:xfrm>
          <a:prstGeom prst="rect">
            <a:avLst/>
          </a:prstGeom>
          <a:noFill/>
        </p:spPr>
        <p:txBody>
          <a:bodyPr wrap="square" lIns="91440" tIns="45720" rIns="91440" bIns="45720" anchor="t">
            <a:spAutoFit/>
          </a:bodyPr>
          <a:lstStyle/>
          <a:p>
            <a:r>
              <a:rPr lang="es-ES" sz="2400" b="1"/>
              <a:t>3.1 Prueba de escritorio</a:t>
            </a:r>
          </a:p>
          <a:p>
            <a:endParaRPr lang="es-ES" sz="1400" b="1"/>
          </a:p>
          <a:p>
            <a:pPr marL="285750" indent="-285750">
              <a:buClr>
                <a:srgbClr val="02C9B6"/>
              </a:buClr>
              <a:buFont typeface="Arial" panose="020B0604020202020204" pitchFamily="34" charset="0"/>
              <a:buChar char="•"/>
            </a:pPr>
            <a:r>
              <a:rPr lang="es-MX" sz="2000" b="1">
                <a:ea typeface="Calibri"/>
                <a:cs typeface="Calibri"/>
              </a:rPr>
              <a:t>Evaluar el diagrama de flujo usando diferentes valores de entrada y analizar los resultados</a:t>
            </a:r>
          </a:p>
          <a:p>
            <a:pPr>
              <a:buClr>
                <a:srgbClr val="02C9B6"/>
              </a:buClr>
            </a:pPr>
            <a:endParaRPr lang="es-MX" sz="2000" b="1">
              <a:ea typeface="Calibri"/>
              <a:cs typeface="Calibri"/>
            </a:endParaRPr>
          </a:p>
          <a:p>
            <a:pPr>
              <a:buClr>
                <a:srgbClr val="02C9B6"/>
              </a:buClr>
            </a:pPr>
            <a:r>
              <a:rPr lang="es-MX" sz="2000" b="1">
                <a:ea typeface="Calibri"/>
                <a:cs typeface="Calibri"/>
              </a:rPr>
              <a:t>Nota: </a:t>
            </a:r>
            <a:r>
              <a:rPr lang="es-MX" sz="2000">
                <a:ea typeface="Calibri"/>
                <a:cs typeface="Calibri"/>
              </a:rPr>
              <a:t>Realice el ejercicio con varios valores de entrada.</a:t>
            </a:r>
          </a:p>
          <a:p>
            <a:pPr marL="285750" indent="-285750">
              <a:buClr>
                <a:srgbClr val="02C9B6"/>
              </a:buClr>
              <a:buFont typeface="Arial" panose="020B0604020202020204" pitchFamily="34" charset="0"/>
              <a:buChar char="•"/>
            </a:pPr>
            <a:endParaRPr lang="es-ES" sz="2000" b="1">
              <a:ea typeface="Calibri"/>
              <a:cs typeface="Calibri"/>
            </a:endParaRPr>
          </a:p>
        </p:txBody>
      </p:sp>
      <p:grpSp>
        <p:nvGrpSpPr>
          <p:cNvPr id="8" name="Grupo 7">
            <a:extLst>
              <a:ext uri="{FF2B5EF4-FFF2-40B4-BE49-F238E27FC236}">
                <a16:creationId xmlns:a16="http://schemas.microsoft.com/office/drawing/2014/main" id="{C8431150-C4C5-B9F8-3F54-0EF5BFB36BEC}"/>
              </a:ext>
            </a:extLst>
          </p:cNvPr>
          <p:cNvGrpSpPr/>
          <p:nvPr/>
        </p:nvGrpSpPr>
        <p:grpSpPr>
          <a:xfrm>
            <a:off x="6839657" y="2045203"/>
            <a:ext cx="5031439" cy="4179365"/>
            <a:chOff x="2763483" y="3160928"/>
            <a:chExt cx="4429374" cy="3141438"/>
          </a:xfrm>
        </p:grpSpPr>
        <p:cxnSp>
          <p:nvCxnSpPr>
            <p:cNvPr id="9" name="Conector recto de flecha 111">
              <a:extLst>
                <a:ext uri="{FF2B5EF4-FFF2-40B4-BE49-F238E27FC236}">
                  <a16:creationId xmlns:a16="http://schemas.microsoft.com/office/drawing/2014/main" id="{E21D75DC-F81A-128B-6FAF-41F3CECE6B8F}"/>
                </a:ext>
              </a:extLst>
            </p:cNvPr>
            <p:cNvCxnSpPr>
              <a:cxnSpLocks/>
              <a:stCxn id="28" idx="2"/>
              <a:endCxn id="12" idx="1"/>
            </p:cNvCxnSpPr>
            <p:nvPr/>
          </p:nvCxnSpPr>
          <p:spPr>
            <a:xfrm rot="5400000" flipH="1">
              <a:off x="3057606" y="3615821"/>
              <a:ext cx="2421056" cy="2387572"/>
            </a:xfrm>
            <a:prstGeom prst="bentConnector4">
              <a:avLst>
                <a:gd name="adj1" fmla="val -9442"/>
                <a:gd name="adj2" fmla="val 119292"/>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10" name="Diagrama de flujo: terminador 3">
              <a:extLst>
                <a:ext uri="{FF2B5EF4-FFF2-40B4-BE49-F238E27FC236}">
                  <a16:creationId xmlns:a16="http://schemas.microsoft.com/office/drawing/2014/main" id="{846B83AF-326F-8B7E-D978-4C58F77FCA86}"/>
                </a:ext>
              </a:extLst>
            </p:cNvPr>
            <p:cNvSpPr/>
            <p:nvPr/>
          </p:nvSpPr>
          <p:spPr>
            <a:xfrm>
              <a:off x="3256345" y="3160928"/>
              <a:ext cx="697725" cy="175518"/>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Inicio</a:t>
              </a:r>
            </a:p>
          </p:txBody>
        </p:sp>
        <p:cxnSp>
          <p:nvCxnSpPr>
            <p:cNvPr id="11" name="Conector recto de flecha 10">
              <a:extLst>
                <a:ext uri="{FF2B5EF4-FFF2-40B4-BE49-F238E27FC236}">
                  <a16:creationId xmlns:a16="http://schemas.microsoft.com/office/drawing/2014/main" id="{8C6DE394-2706-4B79-16D5-C9707F85DD7A}"/>
                </a:ext>
              </a:extLst>
            </p:cNvPr>
            <p:cNvCxnSpPr>
              <a:cxnSpLocks/>
            </p:cNvCxnSpPr>
            <p:nvPr/>
          </p:nvCxnSpPr>
          <p:spPr>
            <a:xfrm>
              <a:off x="3605207" y="3336446"/>
              <a:ext cx="10980" cy="16505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0947AD74-8067-4BD1-E44A-59294C1E9275}"/>
                </a:ext>
              </a:extLst>
            </p:cNvPr>
            <p:cNvSpPr/>
            <p:nvPr/>
          </p:nvSpPr>
          <p:spPr>
            <a:xfrm>
              <a:off x="3074348" y="3501498"/>
              <a:ext cx="106171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a:solidFill>
                    <a:schemeClr val="tx1"/>
                  </a:solidFill>
                </a:rPr>
                <a:t>Ingresar el </a:t>
              </a:r>
              <a:r>
                <a:rPr lang="es-MX" sz="1000" b="1">
                  <a:solidFill>
                    <a:srgbClr val="02C9B6"/>
                  </a:solidFill>
                </a:rPr>
                <a:t>peso</a:t>
              </a:r>
              <a:endParaRPr lang="es-CO" sz="1000" b="1">
                <a:solidFill>
                  <a:srgbClr val="02C9B6"/>
                </a:solidFill>
              </a:endParaRPr>
            </a:p>
          </p:txBody>
        </p:sp>
        <p:sp>
          <p:nvSpPr>
            <p:cNvPr id="13" name="Rombo 12">
              <a:extLst>
                <a:ext uri="{FF2B5EF4-FFF2-40B4-BE49-F238E27FC236}">
                  <a16:creationId xmlns:a16="http://schemas.microsoft.com/office/drawing/2014/main" id="{0FFA872E-7AB8-89A0-8FEA-261FB6D7F917}"/>
                </a:ext>
              </a:extLst>
            </p:cNvPr>
            <p:cNvSpPr/>
            <p:nvPr/>
          </p:nvSpPr>
          <p:spPr>
            <a:xfrm>
              <a:off x="2915995" y="5062832"/>
              <a:ext cx="1378424" cy="371462"/>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IMC &lt;=25</a:t>
              </a:r>
            </a:p>
          </p:txBody>
        </p:sp>
        <p:cxnSp>
          <p:nvCxnSpPr>
            <p:cNvPr id="14" name="Conector recto de flecha 13">
              <a:extLst>
                <a:ext uri="{FF2B5EF4-FFF2-40B4-BE49-F238E27FC236}">
                  <a16:creationId xmlns:a16="http://schemas.microsoft.com/office/drawing/2014/main" id="{B73D68F5-8372-2BE4-A6C9-D799855D7F5D}"/>
                </a:ext>
              </a:extLst>
            </p:cNvPr>
            <p:cNvCxnSpPr>
              <a:cxnSpLocks/>
              <a:stCxn id="25" idx="2"/>
              <a:endCxn id="28" idx="0"/>
            </p:cNvCxnSpPr>
            <p:nvPr/>
          </p:nvCxnSpPr>
          <p:spPr>
            <a:xfrm>
              <a:off x="5461919" y="5366291"/>
              <a:ext cx="1" cy="243381"/>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2E422DE9-A34A-5291-7DEC-86FFAAD42D41}"/>
                </a:ext>
              </a:extLst>
            </p:cNvPr>
            <p:cNvCxnSpPr>
              <a:cxnSpLocks/>
            </p:cNvCxnSpPr>
            <p:nvPr/>
          </p:nvCxnSpPr>
          <p:spPr>
            <a:xfrm>
              <a:off x="3604820" y="3696660"/>
              <a:ext cx="10206" cy="189634"/>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FB111423-711A-9E09-ED1C-EE74A9B69A4A}"/>
                </a:ext>
              </a:extLst>
            </p:cNvPr>
            <p:cNvCxnSpPr>
              <a:cxnSpLocks/>
            </p:cNvCxnSpPr>
            <p:nvPr/>
          </p:nvCxnSpPr>
          <p:spPr>
            <a:xfrm>
              <a:off x="3602894" y="5434294"/>
              <a:ext cx="1" cy="217519"/>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17" name="Diagrama de flujo: terminador 38">
              <a:extLst>
                <a:ext uri="{FF2B5EF4-FFF2-40B4-BE49-F238E27FC236}">
                  <a16:creationId xmlns:a16="http://schemas.microsoft.com/office/drawing/2014/main" id="{FD5EE18B-5DEA-5E33-53E5-6B611E0DE18D}"/>
                </a:ext>
              </a:extLst>
            </p:cNvPr>
            <p:cNvSpPr/>
            <p:nvPr/>
          </p:nvSpPr>
          <p:spPr>
            <a:xfrm>
              <a:off x="6508520" y="5719657"/>
              <a:ext cx="684337" cy="190494"/>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Fin</a:t>
              </a:r>
            </a:p>
          </p:txBody>
        </p:sp>
        <p:sp>
          <p:nvSpPr>
            <p:cNvPr id="18" name="Rectángulo 17">
              <a:extLst>
                <a:ext uri="{FF2B5EF4-FFF2-40B4-BE49-F238E27FC236}">
                  <a16:creationId xmlns:a16="http://schemas.microsoft.com/office/drawing/2014/main" id="{57E75D02-22E5-A24A-3FAC-FDCCB68640D5}"/>
                </a:ext>
              </a:extLst>
            </p:cNvPr>
            <p:cNvSpPr/>
            <p:nvPr/>
          </p:nvSpPr>
          <p:spPr>
            <a:xfrm>
              <a:off x="3074348" y="3886294"/>
              <a:ext cx="106171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Ingresar la </a:t>
              </a:r>
              <a:r>
                <a:rPr lang="es-MX" sz="1000" b="1">
                  <a:solidFill>
                    <a:srgbClr val="02C9B6"/>
                  </a:solidFill>
                </a:rPr>
                <a:t>altura</a:t>
              </a:r>
              <a:endParaRPr lang="es-CO" sz="1000" b="1">
                <a:solidFill>
                  <a:srgbClr val="02C9B6"/>
                </a:solidFill>
              </a:endParaRPr>
            </a:p>
          </p:txBody>
        </p:sp>
        <p:sp>
          <p:nvSpPr>
            <p:cNvPr id="19" name="Rectángulo 18">
              <a:extLst>
                <a:ext uri="{FF2B5EF4-FFF2-40B4-BE49-F238E27FC236}">
                  <a16:creationId xmlns:a16="http://schemas.microsoft.com/office/drawing/2014/main" id="{38FBD204-763F-76C7-B5DA-E5BDC0A7F8B8}"/>
                </a:ext>
              </a:extLst>
            </p:cNvPr>
            <p:cNvSpPr/>
            <p:nvPr/>
          </p:nvSpPr>
          <p:spPr>
            <a:xfrm>
              <a:off x="2763483" y="4283692"/>
              <a:ext cx="168344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b="1">
                  <a:solidFill>
                    <a:srgbClr val="009BAF"/>
                  </a:solidFill>
                </a:rPr>
                <a:t>IMC</a:t>
              </a:r>
              <a:r>
                <a:rPr lang="es-MX" sz="1000" b="1">
                  <a:solidFill>
                    <a:schemeClr val="tx1"/>
                  </a:solidFill>
                </a:rPr>
                <a:t> = </a:t>
              </a:r>
              <a:r>
                <a:rPr lang="es-MX" sz="1000" b="1">
                  <a:solidFill>
                    <a:srgbClr val="02C9B6"/>
                  </a:solidFill>
                </a:rPr>
                <a:t>peso</a:t>
              </a:r>
              <a:r>
                <a:rPr lang="es-MX" sz="1000" b="1">
                  <a:solidFill>
                    <a:schemeClr val="tx1"/>
                  </a:solidFill>
                </a:rPr>
                <a:t> / (</a:t>
              </a:r>
              <a:r>
                <a:rPr lang="es-MX" sz="1000" b="1">
                  <a:solidFill>
                    <a:srgbClr val="02C9B6"/>
                  </a:solidFill>
                </a:rPr>
                <a:t>altura</a:t>
              </a:r>
              <a:r>
                <a:rPr lang="es-MX" sz="1000" b="1">
                  <a:solidFill>
                    <a:schemeClr val="tx1"/>
                  </a:solidFill>
                </a:rPr>
                <a:t>*</a:t>
              </a:r>
              <a:r>
                <a:rPr lang="es-MX" sz="1000" b="1">
                  <a:solidFill>
                    <a:srgbClr val="02C9B6"/>
                  </a:solidFill>
                </a:rPr>
                <a:t>altura</a:t>
              </a:r>
              <a:r>
                <a:rPr lang="es-MX" sz="1000" b="1">
                  <a:solidFill>
                    <a:schemeClr val="tx1"/>
                  </a:solidFill>
                </a:rPr>
                <a:t>)</a:t>
              </a:r>
              <a:endParaRPr lang="es-ES" b="1">
                <a:solidFill>
                  <a:schemeClr val="tx1"/>
                </a:solidFill>
              </a:endParaRPr>
            </a:p>
          </p:txBody>
        </p:sp>
        <p:cxnSp>
          <p:nvCxnSpPr>
            <p:cNvPr id="20" name="Conector recto de flecha 19">
              <a:extLst>
                <a:ext uri="{FF2B5EF4-FFF2-40B4-BE49-F238E27FC236}">
                  <a16:creationId xmlns:a16="http://schemas.microsoft.com/office/drawing/2014/main" id="{1672F4A6-EA3B-D60B-B01B-68996E6D7388}"/>
                </a:ext>
              </a:extLst>
            </p:cNvPr>
            <p:cNvCxnSpPr>
              <a:cxnSpLocks/>
            </p:cNvCxnSpPr>
            <p:nvPr/>
          </p:nvCxnSpPr>
          <p:spPr>
            <a:xfrm>
              <a:off x="3600104" y="4081456"/>
              <a:ext cx="0" cy="202236"/>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1A8BBC7A-CD03-79A4-C575-73478BA94D34}"/>
                </a:ext>
              </a:extLst>
            </p:cNvPr>
            <p:cNvSpPr txBox="1"/>
            <p:nvPr/>
          </p:nvSpPr>
          <p:spPr>
            <a:xfrm>
              <a:off x="4307613" y="4996060"/>
              <a:ext cx="282790" cy="260018"/>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defPPr>
                <a:defRPr lang="es-ES"/>
              </a:defPPr>
              <a:lvl1pPr lvl="0" algn="ctr">
                <a:defRPr sz="1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s-CO" dirty="0"/>
                <a:t>Sí</a:t>
              </a:r>
            </a:p>
          </p:txBody>
        </p:sp>
        <p:sp>
          <p:nvSpPr>
            <p:cNvPr id="22" name="CuadroTexto 21">
              <a:extLst>
                <a:ext uri="{FF2B5EF4-FFF2-40B4-BE49-F238E27FC236}">
                  <a16:creationId xmlns:a16="http://schemas.microsoft.com/office/drawing/2014/main" id="{750CC01A-CB0E-D67A-A6EF-094C170D9A67}"/>
                </a:ext>
              </a:extLst>
            </p:cNvPr>
            <p:cNvSpPr txBox="1"/>
            <p:nvPr/>
          </p:nvSpPr>
          <p:spPr>
            <a:xfrm>
              <a:off x="3263353" y="5355364"/>
              <a:ext cx="356141" cy="260018"/>
            </a:xfrm>
            <a:prstGeom prst="rect">
              <a:avLst/>
            </a:prstGeom>
            <a:noFill/>
          </p:spPr>
          <p:txBody>
            <a:bodyPr wrap="none" lIns="91440" tIns="45720" rIns="91440" bIns="45720" rtlCol="0" anchor="t">
              <a:spAutoFit/>
            </a:bodyPr>
            <a:lstStyle/>
            <a:p>
              <a:r>
                <a:rPr lang="es-CO" sz="1200"/>
                <a:t>No</a:t>
              </a:r>
            </a:p>
          </p:txBody>
        </p:sp>
        <p:sp>
          <p:nvSpPr>
            <p:cNvPr id="23" name="Rectángulo 22">
              <a:extLst>
                <a:ext uri="{FF2B5EF4-FFF2-40B4-BE49-F238E27FC236}">
                  <a16:creationId xmlns:a16="http://schemas.microsoft.com/office/drawing/2014/main" id="{3786EFCE-B85E-94E6-2D44-2120371462F4}"/>
                </a:ext>
              </a:extLst>
            </p:cNvPr>
            <p:cNvSpPr/>
            <p:nvPr/>
          </p:nvSpPr>
          <p:spPr>
            <a:xfrm>
              <a:off x="3074348" y="4660618"/>
              <a:ext cx="1061719" cy="195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Mostrar </a:t>
              </a:r>
              <a:r>
                <a:rPr lang="es-MX" sz="1000" b="1">
                  <a:solidFill>
                    <a:srgbClr val="009BAF"/>
                  </a:solidFill>
                </a:rPr>
                <a:t>IMC</a:t>
              </a:r>
              <a:endParaRPr lang="es-ES" b="1">
                <a:solidFill>
                  <a:srgbClr val="009BAF"/>
                </a:solidFill>
              </a:endParaRPr>
            </a:p>
          </p:txBody>
        </p:sp>
        <p:cxnSp>
          <p:nvCxnSpPr>
            <p:cNvPr id="24" name="Conector recto de flecha 23">
              <a:extLst>
                <a:ext uri="{FF2B5EF4-FFF2-40B4-BE49-F238E27FC236}">
                  <a16:creationId xmlns:a16="http://schemas.microsoft.com/office/drawing/2014/main" id="{ED82D8D5-EC15-7EB5-1500-9F4BD2343966}"/>
                </a:ext>
              </a:extLst>
            </p:cNvPr>
            <p:cNvCxnSpPr>
              <a:cxnSpLocks/>
            </p:cNvCxnSpPr>
            <p:nvPr/>
          </p:nvCxnSpPr>
          <p:spPr>
            <a:xfrm flipH="1">
              <a:off x="3604101" y="4855780"/>
              <a:ext cx="1" cy="20705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5" name="Rectángulo 24">
              <a:extLst>
                <a:ext uri="{FF2B5EF4-FFF2-40B4-BE49-F238E27FC236}">
                  <a16:creationId xmlns:a16="http://schemas.microsoft.com/office/drawing/2014/main" id="{695CA79F-297C-294B-3040-D326163C2BC7}"/>
                </a:ext>
              </a:extLst>
            </p:cNvPr>
            <p:cNvSpPr/>
            <p:nvPr/>
          </p:nvSpPr>
          <p:spPr>
            <a:xfrm>
              <a:off x="4692776" y="5134560"/>
              <a:ext cx="1538286" cy="2317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Mostrar </a:t>
              </a:r>
              <a:r>
                <a:rPr lang="es-MX" sz="1000" b="1">
                  <a:solidFill>
                    <a:srgbClr val="009BAF"/>
                  </a:solidFill>
                </a:rPr>
                <a:t>“</a:t>
              </a:r>
              <a:r>
                <a:rPr lang="es-ES" sz="1000" b="1">
                  <a:solidFill>
                    <a:srgbClr val="009BAF"/>
                  </a:solidFill>
                </a:rPr>
                <a:t>Peso saludable”</a:t>
              </a:r>
            </a:p>
          </p:txBody>
        </p:sp>
        <p:sp>
          <p:nvSpPr>
            <p:cNvPr id="26" name="Rectángulo 25">
              <a:extLst>
                <a:ext uri="{FF2B5EF4-FFF2-40B4-BE49-F238E27FC236}">
                  <a16:creationId xmlns:a16="http://schemas.microsoft.com/office/drawing/2014/main" id="{E54F001C-2B1B-7431-020A-1DE3A1823764}"/>
                </a:ext>
              </a:extLst>
            </p:cNvPr>
            <p:cNvSpPr/>
            <p:nvPr/>
          </p:nvSpPr>
          <p:spPr>
            <a:xfrm>
              <a:off x="2763483" y="5651813"/>
              <a:ext cx="1683449" cy="3261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solidFill>
                    <a:schemeClr val="tx1"/>
                  </a:solidFill>
                </a:rPr>
                <a:t>Mostrar </a:t>
              </a:r>
              <a:r>
                <a:rPr lang="es-MX" sz="1000" b="1">
                  <a:solidFill>
                    <a:srgbClr val="009BAF"/>
                  </a:solidFill>
                </a:rPr>
                <a:t>“</a:t>
              </a:r>
              <a:r>
                <a:rPr lang="es-ES" sz="1000" b="1">
                  <a:solidFill>
                    <a:srgbClr val="009BAF"/>
                  </a:solidFill>
                </a:rPr>
                <a:t>Riesgo de sobrepeso”</a:t>
              </a:r>
            </a:p>
          </p:txBody>
        </p:sp>
        <p:cxnSp>
          <p:nvCxnSpPr>
            <p:cNvPr id="27" name="Conector recto de flecha 26">
              <a:extLst>
                <a:ext uri="{FF2B5EF4-FFF2-40B4-BE49-F238E27FC236}">
                  <a16:creationId xmlns:a16="http://schemas.microsoft.com/office/drawing/2014/main" id="{1969E8C3-4461-EC07-BA76-37E720B56FBB}"/>
                </a:ext>
              </a:extLst>
            </p:cNvPr>
            <p:cNvCxnSpPr>
              <a:cxnSpLocks/>
              <a:stCxn id="13" idx="3"/>
              <a:endCxn id="25" idx="1"/>
            </p:cNvCxnSpPr>
            <p:nvPr/>
          </p:nvCxnSpPr>
          <p:spPr>
            <a:xfrm>
              <a:off x="4294419" y="5248563"/>
              <a:ext cx="398357" cy="1863"/>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8" name="Rombo 27">
              <a:extLst>
                <a:ext uri="{FF2B5EF4-FFF2-40B4-BE49-F238E27FC236}">
                  <a16:creationId xmlns:a16="http://schemas.microsoft.com/office/drawing/2014/main" id="{AF3B39C0-EAA9-CE6E-1BA3-46C2548A246F}"/>
                </a:ext>
              </a:extLst>
            </p:cNvPr>
            <p:cNvSpPr/>
            <p:nvPr/>
          </p:nvSpPr>
          <p:spPr>
            <a:xfrm>
              <a:off x="4692777" y="5609672"/>
              <a:ext cx="1538286" cy="410463"/>
            </a:xfrm>
            <a:prstGeom prst="diamon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solidFill>
                    <a:schemeClr val="tx1"/>
                  </a:solidFill>
                </a:rPr>
                <a:t>¿Más pacientes?</a:t>
              </a:r>
            </a:p>
          </p:txBody>
        </p:sp>
        <p:cxnSp>
          <p:nvCxnSpPr>
            <p:cNvPr id="29" name="Conector recto de flecha 28">
              <a:extLst>
                <a:ext uri="{FF2B5EF4-FFF2-40B4-BE49-F238E27FC236}">
                  <a16:creationId xmlns:a16="http://schemas.microsoft.com/office/drawing/2014/main" id="{300AD339-5415-5D85-00B5-388899A54E6B}"/>
                </a:ext>
              </a:extLst>
            </p:cNvPr>
            <p:cNvCxnSpPr>
              <a:cxnSpLocks/>
              <a:stCxn id="26" idx="3"/>
              <a:endCxn id="28" idx="1"/>
            </p:cNvCxnSpPr>
            <p:nvPr/>
          </p:nvCxnSpPr>
          <p:spPr>
            <a:xfrm>
              <a:off x="4446932" y="5814904"/>
              <a:ext cx="245845" cy="0"/>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E6C0303F-8F23-A4D7-20F7-67A4C2F41F39}"/>
                </a:ext>
              </a:extLst>
            </p:cNvPr>
            <p:cNvCxnSpPr>
              <a:cxnSpLocks/>
              <a:stCxn id="28" idx="3"/>
              <a:endCxn id="17" idx="1"/>
            </p:cNvCxnSpPr>
            <p:nvPr/>
          </p:nvCxnSpPr>
          <p:spPr>
            <a:xfrm>
              <a:off x="6231063" y="5814904"/>
              <a:ext cx="277457" cy="0"/>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D23BE28C-A811-1EEC-31C8-E194C8378723}"/>
                </a:ext>
              </a:extLst>
            </p:cNvPr>
            <p:cNvSpPr txBox="1"/>
            <p:nvPr/>
          </p:nvSpPr>
          <p:spPr>
            <a:xfrm>
              <a:off x="5435753" y="6042348"/>
              <a:ext cx="378828" cy="260018"/>
            </a:xfrm>
            <a:prstGeom prst="rect">
              <a:avLst/>
            </a:prstGeom>
            <a:noFill/>
          </p:spPr>
          <p:txBody>
            <a:bodyPr wrap="square" lIns="91440" tIns="45720" rIns="91440" bIns="45720" rtlCol="0" anchor="t">
              <a:spAutoFit/>
            </a:bodyPr>
            <a:lstStyle/>
            <a:p>
              <a:r>
                <a:rPr lang="es-CO" sz="1200"/>
                <a:t>Sí</a:t>
              </a:r>
            </a:p>
          </p:txBody>
        </p:sp>
        <p:sp>
          <p:nvSpPr>
            <p:cNvPr id="32" name="CuadroTexto 31">
              <a:extLst>
                <a:ext uri="{FF2B5EF4-FFF2-40B4-BE49-F238E27FC236}">
                  <a16:creationId xmlns:a16="http://schemas.microsoft.com/office/drawing/2014/main" id="{E06B72B6-4296-C789-1A25-60445454A298}"/>
                </a:ext>
              </a:extLst>
            </p:cNvPr>
            <p:cNvSpPr txBox="1"/>
            <p:nvPr/>
          </p:nvSpPr>
          <p:spPr>
            <a:xfrm>
              <a:off x="6168622" y="5543053"/>
              <a:ext cx="356141" cy="260018"/>
            </a:xfrm>
            <a:prstGeom prst="rect">
              <a:avLst/>
            </a:prstGeom>
            <a:noFill/>
          </p:spPr>
          <p:txBody>
            <a:bodyPr wrap="none" lIns="91440" tIns="45720" rIns="91440" bIns="45720" rtlCol="0" anchor="t">
              <a:spAutoFit/>
            </a:bodyPr>
            <a:lstStyle/>
            <a:p>
              <a:r>
                <a:rPr lang="es-CO" sz="1200"/>
                <a:t>No</a:t>
              </a:r>
            </a:p>
          </p:txBody>
        </p:sp>
        <p:cxnSp>
          <p:nvCxnSpPr>
            <p:cNvPr id="33" name="Conector recto de flecha 32">
              <a:extLst>
                <a:ext uri="{FF2B5EF4-FFF2-40B4-BE49-F238E27FC236}">
                  <a16:creationId xmlns:a16="http://schemas.microsoft.com/office/drawing/2014/main" id="{30917DBE-BAC8-80BB-E4E7-4A4D5FD69803}"/>
                </a:ext>
              </a:extLst>
            </p:cNvPr>
            <p:cNvCxnSpPr>
              <a:cxnSpLocks/>
            </p:cNvCxnSpPr>
            <p:nvPr/>
          </p:nvCxnSpPr>
          <p:spPr>
            <a:xfrm>
              <a:off x="3605207" y="4478486"/>
              <a:ext cx="0" cy="180000"/>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grpSp>
      <p:sp>
        <p:nvSpPr>
          <p:cNvPr id="34" name="Google Shape;558;p27">
            <a:extLst>
              <a:ext uri="{FF2B5EF4-FFF2-40B4-BE49-F238E27FC236}">
                <a16:creationId xmlns:a16="http://schemas.microsoft.com/office/drawing/2014/main" id="{5E272E6C-6FB6-77CC-0F22-F1E229B2275F}"/>
              </a:ext>
            </a:extLst>
          </p:cNvPr>
          <p:cNvSpPr/>
          <p:nvPr/>
        </p:nvSpPr>
        <p:spPr>
          <a:xfrm>
            <a:off x="2271657" y="5388643"/>
            <a:ext cx="3431523" cy="835925"/>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MX" sz="1600" b="1">
                <a:solidFill>
                  <a:schemeClr val="dk1"/>
                </a:solidFill>
                <a:ea typeface="Calibri"/>
                <a:cs typeface="Calibri"/>
                <a:sym typeface="Calibri"/>
              </a:rPr>
              <a:t>Seguiremos el diagrama de flujo con algunos valores de prueba para validar el resultado.</a:t>
            </a:r>
            <a:endParaRPr sz="1600"/>
          </a:p>
        </p:txBody>
      </p:sp>
      <p:sp>
        <p:nvSpPr>
          <p:cNvPr id="35" name="Google Shape;558;p27">
            <a:extLst>
              <a:ext uri="{FF2B5EF4-FFF2-40B4-BE49-F238E27FC236}">
                <a16:creationId xmlns:a16="http://schemas.microsoft.com/office/drawing/2014/main" id="{5E272E6C-6FB6-77CC-0F22-F1E229B2275F}"/>
              </a:ext>
            </a:extLst>
          </p:cNvPr>
          <p:cNvSpPr/>
          <p:nvPr/>
        </p:nvSpPr>
        <p:spPr>
          <a:xfrm>
            <a:off x="9315817" y="2474403"/>
            <a:ext cx="418118" cy="313033"/>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CO" sz="1400"/>
              <a:t>60</a:t>
            </a:r>
            <a:endParaRPr sz="1600"/>
          </a:p>
        </p:txBody>
      </p:sp>
      <p:sp>
        <p:nvSpPr>
          <p:cNvPr id="5" name="Flecha derecha 4"/>
          <p:cNvSpPr/>
          <p:nvPr/>
        </p:nvSpPr>
        <p:spPr>
          <a:xfrm rot="10800000">
            <a:off x="8286000" y="2041036"/>
            <a:ext cx="745190" cy="226547"/>
          </a:xfrm>
          <a:prstGeom prst="rightArrow">
            <a:avLst/>
          </a:prstGeom>
          <a:solidFill>
            <a:srgbClr val="FE963D"/>
          </a:solidFill>
          <a:ln>
            <a:solidFill>
              <a:srgbClr val="FE96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6" name="Flecha derecha 35"/>
          <p:cNvSpPr/>
          <p:nvPr/>
        </p:nvSpPr>
        <p:spPr>
          <a:xfrm rot="10800000">
            <a:off x="8463058" y="2515228"/>
            <a:ext cx="745190" cy="226547"/>
          </a:xfrm>
          <a:prstGeom prst="rightArrow">
            <a:avLst/>
          </a:prstGeom>
          <a:solidFill>
            <a:srgbClr val="FE963D"/>
          </a:solidFill>
          <a:ln>
            <a:solidFill>
              <a:srgbClr val="FE96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Google Shape;558;p27">
            <a:extLst>
              <a:ext uri="{FF2B5EF4-FFF2-40B4-BE49-F238E27FC236}">
                <a16:creationId xmlns:a16="http://schemas.microsoft.com/office/drawing/2014/main" id="{5E272E6C-6FB6-77CC-0F22-F1E229B2275F}"/>
              </a:ext>
            </a:extLst>
          </p:cNvPr>
          <p:cNvSpPr/>
          <p:nvPr/>
        </p:nvSpPr>
        <p:spPr>
          <a:xfrm>
            <a:off x="9350183" y="2982648"/>
            <a:ext cx="524973" cy="301126"/>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CO" sz="1400"/>
              <a:t>1,72</a:t>
            </a:r>
            <a:endParaRPr sz="1600"/>
          </a:p>
        </p:txBody>
      </p:sp>
      <p:sp>
        <p:nvSpPr>
          <p:cNvPr id="38" name="Flecha derecha 37"/>
          <p:cNvSpPr/>
          <p:nvPr/>
        </p:nvSpPr>
        <p:spPr>
          <a:xfrm rot="10800000">
            <a:off x="8497425" y="3023472"/>
            <a:ext cx="745190" cy="226547"/>
          </a:xfrm>
          <a:prstGeom prst="rightArrow">
            <a:avLst/>
          </a:prstGeom>
          <a:solidFill>
            <a:srgbClr val="FE963D"/>
          </a:solidFill>
          <a:ln>
            <a:solidFill>
              <a:srgbClr val="FE96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9" name="Flecha derecha 38"/>
          <p:cNvSpPr/>
          <p:nvPr/>
        </p:nvSpPr>
        <p:spPr>
          <a:xfrm rot="10800000">
            <a:off x="8854691" y="3549662"/>
            <a:ext cx="745190" cy="226547"/>
          </a:xfrm>
          <a:prstGeom prst="rightArrow">
            <a:avLst/>
          </a:prstGeom>
          <a:solidFill>
            <a:srgbClr val="FE963D"/>
          </a:solidFill>
          <a:ln>
            <a:solidFill>
              <a:srgbClr val="FE96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Flecha derecha 39"/>
          <p:cNvSpPr/>
          <p:nvPr/>
        </p:nvSpPr>
        <p:spPr>
          <a:xfrm>
            <a:off x="8542307" y="4055491"/>
            <a:ext cx="745190" cy="226547"/>
          </a:xfrm>
          <a:prstGeom prst="rightArrow">
            <a:avLst/>
          </a:prstGeom>
          <a:solidFill>
            <a:srgbClr val="FE963D"/>
          </a:solidFill>
          <a:ln>
            <a:solidFill>
              <a:srgbClr val="FE96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1" name="Google Shape;558;p27">
            <a:extLst>
              <a:ext uri="{FF2B5EF4-FFF2-40B4-BE49-F238E27FC236}">
                <a16:creationId xmlns:a16="http://schemas.microsoft.com/office/drawing/2014/main" id="{5E272E6C-6FB6-77CC-0F22-F1E229B2275F}"/>
              </a:ext>
            </a:extLst>
          </p:cNvPr>
          <p:cNvSpPr/>
          <p:nvPr/>
        </p:nvSpPr>
        <p:spPr>
          <a:xfrm>
            <a:off x="9379906" y="4024019"/>
            <a:ext cx="668472" cy="276013"/>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CO" sz="1400"/>
              <a:t>20,28</a:t>
            </a:r>
            <a:endParaRPr sz="1600"/>
          </a:p>
        </p:txBody>
      </p:sp>
      <p:sp>
        <p:nvSpPr>
          <p:cNvPr id="43" name="Flecha derecha 42"/>
          <p:cNvSpPr/>
          <p:nvPr/>
        </p:nvSpPr>
        <p:spPr>
          <a:xfrm rot="20028032">
            <a:off x="10836039" y="4645375"/>
            <a:ext cx="622578" cy="215135"/>
          </a:xfrm>
          <a:prstGeom prst="rightArrow">
            <a:avLst/>
          </a:prstGeom>
          <a:solidFill>
            <a:srgbClr val="FE963D"/>
          </a:solidFill>
          <a:ln>
            <a:solidFill>
              <a:srgbClr val="FE96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4" name="Google Shape;558;p27">
            <a:extLst>
              <a:ext uri="{FF2B5EF4-FFF2-40B4-BE49-F238E27FC236}">
                <a16:creationId xmlns:a16="http://schemas.microsoft.com/office/drawing/2014/main" id="{5E272E6C-6FB6-77CC-0F22-F1E229B2275F}"/>
              </a:ext>
            </a:extLst>
          </p:cNvPr>
          <p:cNvSpPr/>
          <p:nvPr/>
        </p:nvSpPr>
        <p:spPr>
          <a:xfrm>
            <a:off x="10778568" y="4181226"/>
            <a:ext cx="1326340" cy="322025"/>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CO" sz="1400"/>
              <a:t>Peso saludable</a:t>
            </a:r>
            <a:endParaRPr sz="1600"/>
          </a:p>
        </p:txBody>
      </p:sp>
    </p:spTree>
    <p:extLst>
      <p:ext uri="{BB962C8B-B14F-4D97-AF65-F5344CB8AC3E}">
        <p14:creationId xmlns:p14="http://schemas.microsoft.com/office/powerpoint/2010/main" val="371789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36" grpId="0" animBg="1"/>
      <p:bldP spid="38" grpId="0" animBg="1"/>
      <p:bldP spid="39" grpId="0" animBg="1"/>
      <p:bldP spid="40" grpId="0" animBg="1"/>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194F3B-21C7-46FD-A466-09DF3AE7B966}"/>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E7EB22D1-475A-4E89-A595-FC64AB47D8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16</a:t>
            </a:fld>
            <a:endParaRPr lang="es-CO"/>
          </a:p>
        </p:txBody>
      </p:sp>
      <p:sp>
        <p:nvSpPr>
          <p:cNvPr id="3" name="Título 4">
            <a:extLst>
              <a:ext uri="{FF2B5EF4-FFF2-40B4-BE49-F238E27FC236}">
                <a16:creationId xmlns:a16="http://schemas.microsoft.com/office/drawing/2014/main" id="{8E6C396D-0643-F720-0FAD-9D55EFE04EF9}"/>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3. Validación de la solución</a:t>
            </a:r>
          </a:p>
        </p:txBody>
      </p:sp>
      <p:sp>
        <p:nvSpPr>
          <p:cNvPr id="6" name="CuadroTexto 5">
            <a:extLst>
              <a:ext uri="{FF2B5EF4-FFF2-40B4-BE49-F238E27FC236}">
                <a16:creationId xmlns:a16="http://schemas.microsoft.com/office/drawing/2014/main" id="{8D5DBAC9-2F34-E8EE-BEA7-59322F3A381E}"/>
              </a:ext>
            </a:extLst>
          </p:cNvPr>
          <p:cNvSpPr txBox="1"/>
          <p:nvPr/>
        </p:nvSpPr>
        <p:spPr>
          <a:xfrm>
            <a:off x="2147149" y="1868266"/>
            <a:ext cx="9330618" cy="2215991"/>
          </a:xfrm>
          <a:prstGeom prst="rect">
            <a:avLst/>
          </a:prstGeom>
          <a:noFill/>
        </p:spPr>
        <p:txBody>
          <a:bodyPr wrap="square" lIns="91440" tIns="45720" rIns="91440" bIns="45720" anchor="t">
            <a:spAutoFit/>
          </a:bodyPr>
          <a:lstStyle/>
          <a:p>
            <a:r>
              <a:rPr lang="es-ES" sz="2400" b="1"/>
              <a:t>3.1 Prueba de escritorio</a:t>
            </a:r>
          </a:p>
          <a:p>
            <a:endParaRPr lang="es-ES" sz="1400" b="1"/>
          </a:p>
          <a:p>
            <a:pPr marL="285750" indent="-285750">
              <a:buClr>
                <a:srgbClr val="02C9B6"/>
              </a:buClr>
              <a:buFont typeface="Arial" panose="020B0604020202020204" pitchFamily="34" charset="0"/>
              <a:buChar char="•"/>
            </a:pPr>
            <a:r>
              <a:rPr lang="es-MX" sz="2000" b="1">
                <a:ea typeface="Calibri"/>
                <a:cs typeface="Calibri"/>
              </a:rPr>
              <a:t>Evaluar el diagrama de flujo usando diferentes valores de entrada y analizar los resultados</a:t>
            </a:r>
          </a:p>
          <a:p>
            <a:pPr>
              <a:buClr>
                <a:srgbClr val="02C9B6"/>
              </a:buClr>
            </a:pPr>
            <a:endParaRPr lang="es-MX" sz="2000" b="1">
              <a:ea typeface="Calibri"/>
              <a:cs typeface="Calibri"/>
            </a:endParaRPr>
          </a:p>
          <a:p>
            <a:pPr>
              <a:buClr>
                <a:srgbClr val="02C9B6"/>
              </a:buClr>
            </a:pPr>
            <a:r>
              <a:rPr lang="es-MX" sz="2000" b="1">
                <a:ea typeface="Calibri"/>
                <a:cs typeface="Calibri"/>
              </a:rPr>
              <a:t>Nota: </a:t>
            </a:r>
            <a:r>
              <a:rPr lang="es-MX" sz="2000">
                <a:ea typeface="Calibri"/>
                <a:cs typeface="Calibri"/>
              </a:rPr>
              <a:t>Realice el ejercicio con varios valores de entrada.</a:t>
            </a:r>
          </a:p>
          <a:p>
            <a:pPr marL="285750" indent="-285750">
              <a:buClr>
                <a:srgbClr val="02C9B6"/>
              </a:buClr>
              <a:buFont typeface="Arial" panose="020B0604020202020204" pitchFamily="34" charset="0"/>
              <a:buChar char="•"/>
            </a:pPr>
            <a:endParaRPr lang="es-ES" sz="2000" b="1">
              <a:ea typeface="Calibri"/>
              <a:cs typeface="Calibri"/>
            </a:endParaRPr>
          </a:p>
        </p:txBody>
      </p:sp>
      <p:graphicFrame>
        <p:nvGraphicFramePr>
          <p:cNvPr id="7" name="Tabla 6">
            <a:extLst>
              <a:ext uri="{FF2B5EF4-FFF2-40B4-BE49-F238E27FC236}">
                <a16:creationId xmlns:a16="http://schemas.microsoft.com/office/drawing/2014/main" id="{228A9A07-EBAF-F2B8-C15A-4B5213B1C820}"/>
              </a:ext>
            </a:extLst>
          </p:cNvPr>
          <p:cNvGraphicFramePr>
            <a:graphicFrameLocks noGrp="1"/>
          </p:cNvGraphicFramePr>
          <p:nvPr>
            <p:extLst>
              <p:ext uri="{D42A27DB-BD31-4B8C-83A1-F6EECF244321}">
                <p14:modId xmlns:p14="http://schemas.microsoft.com/office/powerpoint/2010/main" val="2641730668"/>
              </p:ext>
            </p:extLst>
          </p:nvPr>
        </p:nvGraphicFramePr>
        <p:xfrm>
          <a:off x="2267869" y="4084257"/>
          <a:ext cx="9209898" cy="1921664"/>
        </p:xfrm>
        <a:graphic>
          <a:graphicData uri="http://schemas.openxmlformats.org/drawingml/2006/table">
            <a:tbl>
              <a:tblPr firstRow="1" bandRow="1">
                <a:tableStyleId>{5940675A-B579-460E-94D1-54222C63F5DA}</a:tableStyleId>
              </a:tblPr>
              <a:tblGrid>
                <a:gridCol w="1165144">
                  <a:extLst>
                    <a:ext uri="{9D8B030D-6E8A-4147-A177-3AD203B41FA5}">
                      <a16:colId xmlns:a16="http://schemas.microsoft.com/office/drawing/2014/main" val="722552213"/>
                    </a:ext>
                  </a:extLst>
                </a:gridCol>
                <a:gridCol w="1459831">
                  <a:extLst>
                    <a:ext uri="{9D8B030D-6E8A-4147-A177-3AD203B41FA5}">
                      <a16:colId xmlns:a16="http://schemas.microsoft.com/office/drawing/2014/main" val="3688458231"/>
                    </a:ext>
                  </a:extLst>
                </a:gridCol>
                <a:gridCol w="2582779">
                  <a:extLst>
                    <a:ext uri="{9D8B030D-6E8A-4147-A177-3AD203B41FA5}">
                      <a16:colId xmlns:a16="http://schemas.microsoft.com/office/drawing/2014/main" val="2741302842"/>
                    </a:ext>
                  </a:extLst>
                </a:gridCol>
                <a:gridCol w="2695074">
                  <a:extLst>
                    <a:ext uri="{9D8B030D-6E8A-4147-A177-3AD203B41FA5}">
                      <a16:colId xmlns:a16="http://schemas.microsoft.com/office/drawing/2014/main" val="697394819"/>
                    </a:ext>
                  </a:extLst>
                </a:gridCol>
                <a:gridCol w="1307070">
                  <a:extLst>
                    <a:ext uri="{9D8B030D-6E8A-4147-A177-3AD203B41FA5}">
                      <a16:colId xmlns:a16="http://schemas.microsoft.com/office/drawing/2014/main" val="3112449741"/>
                    </a:ext>
                  </a:extLst>
                </a:gridCol>
              </a:tblGrid>
              <a:tr h="0">
                <a:tc>
                  <a:txBody>
                    <a:bodyPr/>
                    <a:lstStyle/>
                    <a:p>
                      <a:pPr algn="ctr"/>
                      <a:r>
                        <a:rPr lang="es-CO" sz="1600" b="1">
                          <a:solidFill>
                            <a:schemeClr val="bg1"/>
                          </a:solidFill>
                        </a:rPr>
                        <a:t>Opción</a:t>
                      </a:r>
                    </a:p>
                  </a:txBody>
                  <a:tcPr>
                    <a:solidFill>
                      <a:srgbClr val="113649"/>
                    </a:solidFill>
                  </a:tcPr>
                </a:tc>
                <a:tc>
                  <a:txBody>
                    <a:bodyPr/>
                    <a:lstStyle/>
                    <a:p>
                      <a:pPr algn="ctr"/>
                      <a:r>
                        <a:rPr lang="es-CO" sz="1600" b="1">
                          <a:solidFill>
                            <a:schemeClr val="bg1"/>
                          </a:solidFill>
                        </a:rPr>
                        <a:t>Entrada</a:t>
                      </a:r>
                    </a:p>
                  </a:txBody>
                  <a:tcPr>
                    <a:solidFill>
                      <a:srgbClr val="113649"/>
                    </a:solidFill>
                  </a:tcPr>
                </a:tc>
                <a:tc>
                  <a:txBody>
                    <a:bodyPr/>
                    <a:lstStyle/>
                    <a:p>
                      <a:pPr algn="ctr"/>
                      <a:r>
                        <a:rPr lang="es-CO" sz="1600" b="1">
                          <a:solidFill>
                            <a:schemeClr val="bg1"/>
                          </a:solidFill>
                        </a:rPr>
                        <a:t>Salida esperada</a:t>
                      </a:r>
                    </a:p>
                  </a:txBody>
                  <a:tcPr>
                    <a:solidFill>
                      <a:srgbClr val="113649"/>
                    </a:solidFill>
                  </a:tcPr>
                </a:tc>
                <a:tc>
                  <a:txBody>
                    <a:bodyPr/>
                    <a:lstStyle/>
                    <a:p>
                      <a:pPr algn="ctr"/>
                      <a:r>
                        <a:rPr lang="es-CO" sz="1600" b="1">
                          <a:solidFill>
                            <a:schemeClr val="bg1"/>
                          </a:solidFill>
                        </a:rPr>
                        <a:t>Salida obtenida</a:t>
                      </a:r>
                    </a:p>
                  </a:txBody>
                  <a:tcPr>
                    <a:solidFill>
                      <a:srgbClr val="113649"/>
                    </a:solidFill>
                  </a:tcPr>
                </a:tc>
                <a:tc>
                  <a:txBody>
                    <a:bodyPr/>
                    <a:lstStyle/>
                    <a:p>
                      <a:pPr algn="ctr"/>
                      <a:r>
                        <a:rPr lang="es-CO" sz="1600" b="1">
                          <a:solidFill>
                            <a:schemeClr val="bg1"/>
                          </a:solidFill>
                        </a:rPr>
                        <a:t>¿Coinciden?</a:t>
                      </a:r>
                    </a:p>
                  </a:txBody>
                  <a:tcPr>
                    <a:solidFill>
                      <a:srgbClr val="113649"/>
                    </a:solidFill>
                  </a:tcPr>
                </a:tc>
                <a:extLst>
                  <a:ext uri="{0D108BD9-81ED-4DB2-BD59-A6C34878D82A}">
                    <a16:rowId xmlns:a16="http://schemas.microsoft.com/office/drawing/2014/main" val="1757604693"/>
                  </a:ext>
                </a:extLst>
              </a:tr>
              <a:tr h="390350">
                <a:tc rowSpan="2">
                  <a:txBody>
                    <a:bodyPr/>
                    <a:lstStyle/>
                    <a:p>
                      <a:r>
                        <a:rPr lang="es-CO" sz="1600" b="1"/>
                        <a:t>IMC &lt;= 25</a:t>
                      </a:r>
                    </a:p>
                  </a:txBody>
                  <a:tcPr/>
                </a:tc>
                <a:tc>
                  <a:txBody>
                    <a:bodyPr/>
                    <a:lstStyle/>
                    <a:p>
                      <a:pPr marL="0" indent="0" algn="l" fontAlgn="b">
                        <a:buNone/>
                      </a:pPr>
                      <a:r>
                        <a:rPr lang="es-CO" sz="1600" b="0" i="0" u="none" strike="noStrike">
                          <a:solidFill>
                            <a:srgbClr val="000000"/>
                          </a:solidFill>
                          <a:effectLst/>
                          <a:latin typeface="Calibri" panose="020F0502020204030204" pitchFamily="34" charset="0"/>
                        </a:rPr>
                        <a:t>Peso: 60</a:t>
                      </a:r>
                    </a:p>
                  </a:txBody>
                  <a:tcPr/>
                </a:tc>
                <a:tc>
                  <a:txBody>
                    <a:bodyPr/>
                    <a:lstStyle/>
                    <a:p>
                      <a:pPr marL="0" indent="0" algn="l" fontAlgn="b">
                        <a:buNone/>
                      </a:pPr>
                      <a:r>
                        <a:rPr lang="es-ES" sz="1600"/>
                        <a:t>20.281233098972418</a:t>
                      </a:r>
                      <a:endParaRPr lang="es-CO" sz="1600" b="0" i="0" u="none" strike="noStrike">
                        <a:solidFill>
                          <a:srgbClr val="000000"/>
                        </a:solidFill>
                        <a:effectLst/>
                        <a:latin typeface="Calibri" panose="020F0502020204030204" pitchFamily="34" charset="0"/>
                      </a:endParaRPr>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ES" sz="1600"/>
                        <a:t>20.28</a:t>
                      </a:r>
                      <a:endParaRPr lang="es-CO" sz="1600" b="0" i="0" u="none" strike="noStrike">
                        <a:solidFill>
                          <a:srgbClr val="000000"/>
                        </a:solidFill>
                        <a:effectLst/>
                        <a:latin typeface="Calibri" panose="020F0502020204030204" pitchFamily="34" charset="0"/>
                      </a:endParaRPr>
                    </a:p>
                  </a:txBody>
                  <a:tcPr/>
                </a:tc>
                <a:tc rowSpan="2">
                  <a:txBody>
                    <a:bodyPr/>
                    <a:lstStyle/>
                    <a:p>
                      <a:pPr algn="l" fontAlgn="b"/>
                      <a:r>
                        <a:rPr lang="es-CO" sz="1600" b="0" i="0" u="none" strike="noStrike">
                          <a:solidFill>
                            <a:srgbClr val="000000"/>
                          </a:solidFill>
                          <a:effectLst/>
                          <a:latin typeface="Calibri" panose="020F0502020204030204" pitchFamily="34" charset="0"/>
                        </a:rPr>
                        <a:t>Sí</a:t>
                      </a:r>
                    </a:p>
                  </a:txBody>
                  <a:tcPr/>
                </a:tc>
                <a:extLst>
                  <a:ext uri="{0D108BD9-81ED-4DB2-BD59-A6C34878D82A}">
                    <a16:rowId xmlns:a16="http://schemas.microsoft.com/office/drawing/2014/main" val="1241007629"/>
                  </a:ext>
                </a:extLst>
              </a:tr>
              <a:tr h="205476">
                <a:tc vMerge="1">
                  <a:txBody>
                    <a:bodyPr/>
                    <a:lstStyle/>
                    <a:p>
                      <a:endParaRPr lang="es-CO"/>
                    </a:p>
                  </a:txBody>
                  <a:tcPr/>
                </a:tc>
                <a:tc>
                  <a:txBody>
                    <a:bodyPr/>
                    <a:lstStyle/>
                    <a:p>
                      <a:pPr marL="0" indent="0" algn="l" fontAlgn="b">
                        <a:buNone/>
                      </a:pPr>
                      <a:r>
                        <a:rPr lang="es-CO" sz="1600" b="0" i="0" u="none" strike="noStrike">
                          <a:solidFill>
                            <a:srgbClr val="000000"/>
                          </a:solidFill>
                          <a:effectLst/>
                          <a:latin typeface="Calibri" panose="020F0502020204030204" pitchFamily="34" charset="0"/>
                        </a:rPr>
                        <a:t>Altura: 1,72</a:t>
                      </a:r>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CO" sz="1600">
                          <a:ea typeface="Calibri"/>
                          <a:cs typeface="Calibri"/>
                        </a:rPr>
                        <a:t>Peso saludable</a:t>
                      </a:r>
                      <a:endParaRPr lang="es-CO" sz="1600" b="0" i="0" u="none" strike="noStrike">
                        <a:solidFill>
                          <a:srgbClr val="000000"/>
                        </a:solidFill>
                        <a:effectLst/>
                        <a:latin typeface="Calibri" panose="020F0502020204030204" pitchFamily="34" charset="0"/>
                      </a:endParaRPr>
                    </a:p>
                  </a:txBody>
                  <a:tcPr/>
                </a:tc>
                <a:tc>
                  <a:txBody>
                    <a:bodyPr/>
                    <a:lstStyle/>
                    <a:p>
                      <a:pPr algn="l" fontAlgn="b"/>
                      <a:r>
                        <a:rPr lang="es-CO" sz="1600" b="0" i="0" u="none" strike="noStrike">
                          <a:solidFill>
                            <a:srgbClr val="000000"/>
                          </a:solidFill>
                          <a:effectLst/>
                          <a:latin typeface="Calibri" panose="020F0502020204030204" pitchFamily="34" charset="0"/>
                        </a:rPr>
                        <a:t>Peso saludable</a:t>
                      </a:r>
                    </a:p>
                  </a:txBody>
                  <a:tcPr/>
                </a:tc>
                <a:tc vMerge="1">
                  <a:txBody>
                    <a:bodyPr/>
                    <a:lstStyle/>
                    <a:p>
                      <a:endParaRPr lang="es-CO"/>
                    </a:p>
                  </a:txBody>
                  <a:tcPr/>
                </a:tc>
                <a:extLst>
                  <a:ext uri="{0D108BD9-81ED-4DB2-BD59-A6C34878D82A}">
                    <a16:rowId xmlns:a16="http://schemas.microsoft.com/office/drawing/2014/main" val="3314598647"/>
                  </a:ext>
                </a:extLst>
              </a:tr>
              <a:tr h="443977">
                <a:tc rowSpan="2">
                  <a:txBody>
                    <a:bodyPr/>
                    <a:lstStyle/>
                    <a:p>
                      <a:r>
                        <a:rPr lang="es-CO" sz="1600" b="1"/>
                        <a:t>IMC &gt; 25</a:t>
                      </a:r>
                      <a:endParaRPr lang="es-CO"/>
                    </a:p>
                  </a:txBody>
                  <a:tcPr/>
                </a:tc>
                <a:tc>
                  <a:txBody>
                    <a:bodyPr/>
                    <a:lstStyle/>
                    <a:p>
                      <a:pPr marL="0" indent="0" algn="l" fontAlgn="b">
                        <a:buNone/>
                      </a:pPr>
                      <a:r>
                        <a:rPr lang="es-CO" sz="1600" b="0" i="0" u="none" strike="noStrike">
                          <a:solidFill>
                            <a:srgbClr val="000000"/>
                          </a:solidFill>
                          <a:effectLst/>
                          <a:latin typeface="Calibri" panose="020F0502020204030204" pitchFamily="34" charset="0"/>
                        </a:rPr>
                        <a:t>Peso: 85</a:t>
                      </a:r>
                    </a:p>
                  </a:txBody>
                  <a:tcPr/>
                </a:tc>
                <a:tc>
                  <a:txBody>
                    <a:bodyPr/>
                    <a:lstStyle/>
                    <a:p>
                      <a:pPr marL="0" indent="0" algn="l" fontAlgn="b">
                        <a:buNone/>
                      </a:pPr>
                      <a:r>
                        <a:rPr lang="es-ES" sz="1600"/>
                        <a:t>31.22130394857668</a:t>
                      </a:r>
                      <a:endParaRPr lang="es-CO" sz="1600" b="0" i="0" u="none" strike="noStrike">
                        <a:solidFill>
                          <a:srgbClr val="000000"/>
                        </a:solidFill>
                        <a:effectLst/>
                        <a:latin typeface="Calibri" panose="020F0502020204030204" pitchFamily="34" charset="0"/>
                      </a:endParaRPr>
                    </a:p>
                  </a:txBody>
                  <a:tcPr/>
                </a:tc>
                <a:tc>
                  <a:txBody>
                    <a:bodyPr/>
                    <a:lstStyle/>
                    <a:p>
                      <a:pPr marL="0" indent="0" algn="l" fontAlgn="b">
                        <a:buNone/>
                      </a:pPr>
                      <a:r>
                        <a:rPr lang="es-ES" sz="1600"/>
                        <a:t>31.22</a:t>
                      </a:r>
                      <a:endParaRPr lang="es-CO" sz="1600" b="0" i="0" u="none" strike="noStrike">
                        <a:solidFill>
                          <a:srgbClr val="000000"/>
                        </a:solidFill>
                        <a:effectLst/>
                        <a:latin typeface="Calibri" panose="020F0502020204030204" pitchFamily="34" charset="0"/>
                      </a:endParaRPr>
                    </a:p>
                  </a:txBody>
                  <a:tcPr/>
                </a:tc>
                <a:tc rowSpan="2">
                  <a:txBody>
                    <a:bodyPr/>
                    <a:lstStyle/>
                    <a:p>
                      <a:r>
                        <a:rPr lang="es-CO"/>
                        <a:t>Sí</a:t>
                      </a:r>
                    </a:p>
                  </a:txBody>
                  <a:tcPr/>
                </a:tc>
                <a:extLst>
                  <a:ext uri="{0D108BD9-81ED-4DB2-BD59-A6C34878D82A}">
                    <a16:rowId xmlns:a16="http://schemas.microsoft.com/office/drawing/2014/main" val="1481097356"/>
                  </a:ext>
                </a:extLst>
              </a:tr>
              <a:tr h="416777">
                <a:tc vMerge="1">
                  <a:txBody>
                    <a:bodyPr/>
                    <a:lstStyle/>
                    <a:p>
                      <a:endParaRPr lang="es-CO"/>
                    </a:p>
                  </a:txBody>
                  <a:tcPr/>
                </a:tc>
                <a:tc>
                  <a:txBody>
                    <a:bodyPr/>
                    <a:lstStyle/>
                    <a:p>
                      <a:r>
                        <a:rPr lang="es-CO" sz="1600" b="0" i="0" u="none" strike="noStrike">
                          <a:solidFill>
                            <a:srgbClr val="000000"/>
                          </a:solidFill>
                          <a:effectLst/>
                          <a:latin typeface="Calibri" panose="020F0502020204030204" pitchFamily="34" charset="0"/>
                        </a:rPr>
                        <a:t>Altura: 1,65</a:t>
                      </a:r>
                      <a:endParaRPr lang="es-CO"/>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CO" sz="1600" b="0" i="0" u="none" strike="noStrike">
                          <a:solidFill>
                            <a:srgbClr val="000000"/>
                          </a:solidFill>
                          <a:effectLst/>
                          <a:latin typeface="Calibri" panose="020F0502020204030204" pitchFamily="34" charset="0"/>
                        </a:rPr>
                        <a:t>Riesgo de sobrepeso</a:t>
                      </a:r>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CO" sz="1600" b="0" i="0" u="none" strike="noStrike">
                          <a:solidFill>
                            <a:srgbClr val="000000"/>
                          </a:solidFill>
                          <a:effectLst/>
                          <a:latin typeface="Calibri" panose="020F0502020204030204" pitchFamily="34" charset="0"/>
                        </a:rPr>
                        <a:t>Riesgo de sobrepeso</a:t>
                      </a:r>
                    </a:p>
                  </a:txBody>
                  <a:tcPr/>
                </a:tc>
                <a:tc vMerge="1">
                  <a:txBody>
                    <a:bodyPr/>
                    <a:lstStyle/>
                    <a:p>
                      <a:endParaRPr lang="es-CO"/>
                    </a:p>
                  </a:txBody>
                  <a:tcPr/>
                </a:tc>
                <a:extLst>
                  <a:ext uri="{0D108BD9-81ED-4DB2-BD59-A6C34878D82A}">
                    <a16:rowId xmlns:a16="http://schemas.microsoft.com/office/drawing/2014/main" val="1204051330"/>
                  </a:ext>
                </a:extLst>
              </a:tr>
            </a:tbl>
          </a:graphicData>
        </a:graphic>
      </p:graphicFrame>
    </p:spTree>
    <p:extLst>
      <p:ext uri="{BB962C8B-B14F-4D97-AF65-F5344CB8AC3E}">
        <p14:creationId xmlns:p14="http://schemas.microsoft.com/office/powerpoint/2010/main" val="50848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173E8-640A-4653-F272-349A22E36C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E49A57-48A0-4CC9-1487-8CFF436F3B59}"/>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EBE987CB-D7CB-C225-FD94-C8F86459DC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17</a:t>
            </a:fld>
            <a:endParaRPr lang="es-CO"/>
          </a:p>
        </p:txBody>
      </p:sp>
      <p:sp>
        <p:nvSpPr>
          <p:cNvPr id="3" name="Título 4">
            <a:extLst>
              <a:ext uri="{FF2B5EF4-FFF2-40B4-BE49-F238E27FC236}">
                <a16:creationId xmlns:a16="http://schemas.microsoft.com/office/drawing/2014/main" id="{322621A4-D9BD-931C-7D05-3E3BDFA0232C}"/>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3. Validación de la solución</a:t>
            </a:r>
          </a:p>
        </p:txBody>
      </p:sp>
      <p:sp>
        <p:nvSpPr>
          <p:cNvPr id="6" name="CuadroTexto 5">
            <a:extLst>
              <a:ext uri="{FF2B5EF4-FFF2-40B4-BE49-F238E27FC236}">
                <a16:creationId xmlns:a16="http://schemas.microsoft.com/office/drawing/2014/main" id="{0B44E023-757B-EDD9-80B3-54000081CD22}"/>
              </a:ext>
            </a:extLst>
          </p:cNvPr>
          <p:cNvSpPr txBox="1"/>
          <p:nvPr/>
        </p:nvSpPr>
        <p:spPr>
          <a:xfrm>
            <a:off x="2147149" y="1868266"/>
            <a:ext cx="9330618" cy="1292662"/>
          </a:xfrm>
          <a:prstGeom prst="rect">
            <a:avLst/>
          </a:prstGeom>
          <a:noFill/>
        </p:spPr>
        <p:txBody>
          <a:bodyPr wrap="square" lIns="91440" tIns="45720" rIns="91440" bIns="45720" anchor="t">
            <a:spAutoFit/>
          </a:bodyPr>
          <a:lstStyle/>
          <a:p>
            <a:r>
              <a:rPr lang="es-ES" sz="2400" b="1"/>
              <a:t>3.2 Implementación inicial</a:t>
            </a:r>
          </a:p>
          <a:p>
            <a:endParaRPr lang="es-ES" sz="1400" b="1"/>
          </a:p>
          <a:p>
            <a:pPr marL="285750" indent="-285750">
              <a:buClr>
                <a:srgbClr val="02C9B6"/>
              </a:buClr>
              <a:buFont typeface="Arial" panose="020B0604020202020204" pitchFamily="34" charset="0"/>
              <a:buChar char="•"/>
            </a:pPr>
            <a:r>
              <a:rPr lang="es-ES" sz="2000" b="1">
                <a:ea typeface="Calibri"/>
                <a:cs typeface="Calibri"/>
              </a:rPr>
              <a:t>Implementar algún avance de implementación en Python </a:t>
            </a:r>
            <a:endParaRPr lang="es-MX" sz="2000" b="1">
              <a:ea typeface="Calibri"/>
              <a:cs typeface="Calibri"/>
            </a:endParaRPr>
          </a:p>
          <a:p>
            <a:pPr>
              <a:buClr>
                <a:srgbClr val="02C9B6"/>
              </a:buClr>
            </a:pPr>
            <a:endParaRPr lang="es-ES" sz="2000" b="1">
              <a:ea typeface="Calibri"/>
              <a:cs typeface="Calibri"/>
            </a:endParaRPr>
          </a:p>
        </p:txBody>
      </p:sp>
      <p:sp>
        <p:nvSpPr>
          <p:cNvPr id="5" name="CuadroTexto 4">
            <a:extLst>
              <a:ext uri="{FF2B5EF4-FFF2-40B4-BE49-F238E27FC236}">
                <a16:creationId xmlns:a16="http://schemas.microsoft.com/office/drawing/2014/main" id="{92197BEF-73EB-E546-CBB6-FED6DE8477D3}"/>
              </a:ext>
            </a:extLst>
          </p:cNvPr>
          <p:cNvSpPr txBox="1"/>
          <p:nvPr/>
        </p:nvSpPr>
        <p:spPr>
          <a:xfrm>
            <a:off x="2213138" y="2996497"/>
            <a:ext cx="4696864" cy="1740220"/>
          </a:xfrm>
          <a:prstGeom prst="rect">
            <a:avLst/>
          </a:prstGeom>
          <a:noFill/>
        </p:spPr>
        <p:txBody>
          <a:bodyPr wrap="square">
            <a:spAutoFit/>
          </a:bodyPr>
          <a:lstStyle/>
          <a:p>
            <a:pPr>
              <a:lnSpc>
                <a:spcPts val="1425"/>
              </a:lnSpc>
            </a:pPr>
            <a:r>
              <a:rPr lang="es-CO" sz="2000" b="0">
                <a:solidFill>
                  <a:srgbClr val="000000"/>
                </a:solidFill>
                <a:effectLst/>
                <a:latin typeface="Courier New" panose="02070309020205020404" pitchFamily="49" charset="0"/>
              </a:rPr>
              <a:t>  peso=</a:t>
            </a:r>
            <a:r>
              <a:rPr lang="es-CO" sz="2000" b="0">
                <a:solidFill>
                  <a:srgbClr val="257693"/>
                </a:solidFill>
                <a:effectLst/>
                <a:latin typeface="Courier New" panose="02070309020205020404" pitchFamily="49" charset="0"/>
              </a:rPr>
              <a:t>60</a:t>
            </a:r>
          </a:p>
          <a:p>
            <a:pPr>
              <a:lnSpc>
                <a:spcPts val="1425"/>
              </a:lnSpc>
            </a:pPr>
            <a:endParaRPr lang="es-CO" sz="2000" b="0">
              <a:solidFill>
                <a:srgbClr val="000000"/>
              </a:solidFill>
              <a:effectLst/>
              <a:latin typeface="Courier New" panose="02070309020205020404" pitchFamily="49" charset="0"/>
            </a:endParaRPr>
          </a:p>
          <a:p>
            <a:pPr>
              <a:lnSpc>
                <a:spcPts val="1425"/>
              </a:lnSpc>
            </a:pPr>
            <a:r>
              <a:rPr lang="es-CO" sz="2000" b="0">
                <a:solidFill>
                  <a:srgbClr val="000000"/>
                </a:solidFill>
                <a:effectLst/>
                <a:latin typeface="Courier New" panose="02070309020205020404" pitchFamily="49" charset="0"/>
              </a:rPr>
              <a:t>  altura=</a:t>
            </a:r>
            <a:r>
              <a:rPr lang="es-CO" sz="2000" b="0">
                <a:solidFill>
                  <a:srgbClr val="257693"/>
                </a:solidFill>
                <a:effectLst/>
                <a:latin typeface="Courier New" panose="02070309020205020404" pitchFamily="49" charset="0"/>
              </a:rPr>
              <a:t>1.72</a:t>
            </a:r>
          </a:p>
          <a:p>
            <a:pPr>
              <a:lnSpc>
                <a:spcPts val="1425"/>
              </a:lnSpc>
            </a:pPr>
            <a:endParaRPr lang="es-CO" sz="2000" b="0">
              <a:solidFill>
                <a:srgbClr val="000000"/>
              </a:solidFill>
              <a:effectLst/>
              <a:latin typeface="Courier New" panose="02070309020205020404" pitchFamily="49" charset="0"/>
            </a:endParaRPr>
          </a:p>
          <a:p>
            <a:pPr>
              <a:lnSpc>
                <a:spcPts val="1425"/>
              </a:lnSpc>
            </a:pPr>
            <a:endParaRPr lang="es-CO" sz="2000" b="0">
              <a:solidFill>
                <a:srgbClr val="000000"/>
              </a:solidFill>
              <a:effectLst/>
              <a:latin typeface="Courier New" panose="02070309020205020404" pitchFamily="49" charset="0"/>
            </a:endParaRPr>
          </a:p>
          <a:p>
            <a:pPr>
              <a:lnSpc>
                <a:spcPts val="1425"/>
              </a:lnSpc>
            </a:pPr>
            <a:br>
              <a:rPr lang="es-CO" sz="2000" b="0">
                <a:solidFill>
                  <a:srgbClr val="000000"/>
                </a:solidFill>
                <a:effectLst/>
                <a:latin typeface="Courier New" panose="02070309020205020404" pitchFamily="49" charset="0"/>
              </a:rPr>
            </a:br>
            <a:r>
              <a:rPr lang="es-CO" sz="2000" b="0">
                <a:solidFill>
                  <a:srgbClr val="000000"/>
                </a:solidFill>
                <a:effectLst/>
                <a:latin typeface="Courier New" panose="02070309020205020404" pitchFamily="49" charset="0"/>
              </a:rPr>
              <a:t>  IMC=peso/(altura*altura)</a:t>
            </a:r>
          </a:p>
          <a:p>
            <a:pPr>
              <a:lnSpc>
                <a:spcPts val="1425"/>
              </a:lnSpc>
            </a:pPr>
            <a:endParaRPr lang="es-CO" sz="2000" b="0">
              <a:solidFill>
                <a:srgbClr val="000000"/>
              </a:solidFill>
              <a:effectLst/>
              <a:latin typeface="Courier New" panose="02070309020205020404" pitchFamily="49" charset="0"/>
            </a:endParaRPr>
          </a:p>
          <a:p>
            <a:pPr>
              <a:lnSpc>
                <a:spcPts val="1425"/>
              </a:lnSpc>
            </a:pPr>
            <a:r>
              <a:rPr lang="es-CO" sz="2000" b="0">
                <a:solidFill>
                  <a:srgbClr val="000000"/>
                </a:solidFill>
                <a:effectLst/>
                <a:latin typeface="Courier New" panose="02070309020205020404" pitchFamily="49" charset="0"/>
              </a:rPr>
              <a:t>  </a:t>
            </a:r>
            <a:r>
              <a:rPr lang="es-CO" sz="2000" b="0" err="1">
                <a:solidFill>
                  <a:srgbClr val="795E26"/>
                </a:solidFill>
                <a:effectLst/>
                <a:latin typeface="Courier New" panose="02070309020205020404" pitchFamily="49" charset="0"/>
              </a:rPr>
              <a:t>print</a:t>
            </a:r>
            <a:r>
              <a:rPr lang="es-CO" sz="2000" b="0">
                <a:solidFill>
                  <a:srgbClr val="000000"/>
                </a:solidFill>
                <a:effectLst/>
                <a:latin typeface="Courier New" panose="02070309020205020404" pitchFamily="49" charset="0"/>
              </a:rPr>
              <a:t>(</a:t>
            </a:r>
            <a:r>
              <a:rPr lang="es-CO" sz="2000" b="0">
                <a:solidFill>
                  <a:srgbClr val="A31515"/>
                </a:solidFill>
                <a:effectLst/>
                <a:latin typeface="Courier New" panose="02070309020205020404" pitchFamily="49" charset="0"/>
              </a:rPr>
              <a:t>"El IMC es:"</a:t>
            </a:r>
            <a:r>
              <a:rPr lang="es-CO" sz="2000" b="0">
                <a:solidFill>
                  <a:srgbClr val="000000"/>
                </a:solidFill>
                <a:effectLst/>
                <a:latin typeface="Courier New" panose="02070309020205020404" pitchFamily="49" charset="0"/>
              </a:rPr>
              <a:t>, IMC)</a:t>
            </a:r>
            <a:endParaRPr lang="es-CO" sz="1400" b="0">
              <a:solidFill>
                <a:srgbClr val="000000"/>
              </a:solidFill>
              <a:effectLst/>
              <a:latin typeface="Courier New" panose="02070309020205020404" pitchFamily="49" charset="0"/>
            </a:endParaRPr>
          </a:p>
        </p:txBody>
      </p:sp>
      <p:sp>
        <p:nvSpPr>
          <p:cNvPr id="8" name="Google Shape;558;p27">
            <a:extLst>
              <a:ext uri="{FF2B5EF4-FFF2-40B4-BE49-F238E27FC236}">
                <a16:creationId xmlns:a16="http://schemas.microsoft.com/office/drawing/2014/main" id="{395600CC-1903-D1C8-35CE-C8B15AC5E76E}"/>
              </a:ext>
            </a:extLst>
          </p:cNvPr>
          <p:cNvSpPr/>
          <p:nvPr/>
        </p:nvSpPr>
        <p:spPr>
          <a:xfrm>
            <a:off x="2743199" y="5069409"/>
            <a:ext cx="8117305" cy="838089"/>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MX" sz="1600" b="1">
                <a:solidFill>
                  <a:schemeClr val="dk1"/>
                </a:solidFill>
                <a:ea typeface="Calibri"/>
                <a:cs typeface="Calibri"/>
                <a:sym typeface="Calibri"/>
              </a:rPr>
              <a:t>Este es un ejemplo de declaración de variables, un cálculo e impresión de resultados. </a:t>
            </a:r>
          </a:p>
          <a:p>
            <a:pPr lvl="0" algn="ctr"/>
            <a:r>
              <a:rPr lang="es-MX" sz="1600" b="1">
                <a:solidFill>
                  <a:schemeClr val="dk1"/>
                </a:solidFill>
                <a:ea typeface="Calibri"/>
                <a:cs typeface="Calibri"/>
                <a:sym typeface="Calibri"/>
              </a:rPr>
              <a:t>Aprenderemos a hacerlo en próximas clases.</a:t>
            </a:r>
            <a:endParaRPr sz="1600"/>
          </a:p>
        </p:txBody>
      </p:sp>
    </p:spTree>
    <p:extLst>
      <p:ext uri="{BB962C8B-B14F-4D97-AF65-F5344CB8AC3E}">
        <p14:creationId xmlns:p14="http://schemas.microsoft.com/office/powerpoint/2010/main" val="3003673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A4557-4710-F9C5-27B8-2BDDB04450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70C054-3CD9-5638-B654-3423D2F88416}"/>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C53E70FD-CD52-3F4F-72D8-63379667B5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18</a:t>
            </a:fld>
            <a:endParaRPr lang="es-CO"/>
          </a:p>
        </p:txBody>
      </p:sp>
      <p:sp>
        <p:nvSpPr>
          <p:cNvPr id="5" name="CuadroTexto 4">
            <a:extLst>
              <a:ext uri="{FF2B5EF4-FFF2-40B4-BE49-F238E27FC236}">
                <a16:creationId xmlns:a16="http://schemas.microsoft.com/office/drawing/2014/main" id="{29E73A48-BB79-EEB1-3EAF-667506E48ABA}"/>
              </a:ext>
            </a:extLst>
          </p:cNvPr>
          <p:cNvSpPr txBox="1"/>
          <p:nvPr/>
        </p:nvSpPr>
        <p:spPr>
          <a:xfrm>
            <a:off x="2076994" y="3097754"/>
            <a:ext cx="6382845" cy="2809744"/>
          </a:xfrm>
          <a:prstGeom prst="rect">
            <a:avLst/>
          </a:prstGeom>
          <a:noFill/>
        </p:spPr>
        <p:txBody>
          <a:bodyPr wrap="square">
            <a:spAutoFit/>
          </a:bodyPr>
          <a:lstStyle/>
          <a:p>
            <a:pPr>
              <a:lnSpc>
                <a:spcPts val="1425"/>
              </a:lnSpc>
            </a:pPr>
            <a:r>
              <a:rPr lang="es-CO" b="0" err="1">
                <a:solidFill>
                  <a:srgbClr val="AF00DB"/>
                </a:solidFill>
                <a:effectLst/>
                <a:latin typeface="Courier New" panose="02070309020205020404" pitchFamily="49" charset="0"/>
              </a:rPr>
              <a:t>while</a:t>
            </a:r>
            <a:r>
              <a:rPr lang="es-CO" b="0">
                <a:solidFill>
                  <a:srgbClr val="000000"/>
                </a:solidFill>
                <a:effectLst/>
                <a:latin typeface="Courier New" panose="02070309020205020404" pitchFamily="49" charset="0"/>
              </a:rPr>
              <a:t> (</a:t>
            </a:r>
            <a:r>
              <a:rPr lang="es-CO" b="0">
                <a:solidFill>
                  <a:srgbClr val="0000FF"/>
                </a:solidFill>
                <a:effectLst/>
                <a:latin typeface="Courier New" panose="02070309020205020404" pitchFamily="49" charset="0"/>
              </a:rPr>
              <a:t>True</a:t>
            </a:r>
            <a:r>
              <a:rPr lang="es-CO" b="0">
                <a:solidFill>
                  <a:srgbClr val="000000"/>
                </a:solidFill>
                <a:effectLst/>
                <a:latin typeface="Courier New" panose="02070309020205020404" pitchFamily="49" charset="0"/>
              </a:rPr>
              <a:t>):</a:t>
            </a:r>
          </a:p>
          <a:p>
            <a:pPr>
              <a:lnSpc>
                <a:spcPts val="1425"/>
              </a:lnSpc>
            </a:pPr>
            <a:r>
              <a:rPr lang="es-CO" b="0">
                <a:solidFill>
                  <a:srgbClr val="000000"/>
                </a:solidFill>
                <a:effectLst/>
                <a:latin typeface="Courier New" panose="02070309020205020404" pitchFamily="49" charset="0"/>
              </a:rPr>
              <a:t>  peso=</a:t>
            </a:r>
            <a:r>
              <a:rPr lang="es-CO" b="0" err="1">
                <a:solidFill>
                  <a:srgbClr val="257693"/>
                </a:solidFill>
                <a:effectLst/>
                <a:latin typeface="Courier New" panose="02070309020205020404" pitchFamily="49" charset="0"/>
              </a:rPr>
              <a:t>int</a:t>
            </a:r>
            <a:r>
              <a:rPr lang="es-CO" b="0">
                <a:solidFill>
                  <a:srgbClr val="000000"/>
                </a:solidFill>
                <a:effectLst/>
                <a:latin typeface="Courier New" panose="02070309020205020404" pitchFamily="49" charset="0"/>
              </a:rPr>
              <a:t>(</a:t>
            </a:r>
            <a:r>
              <a:rPr lang="es-CO" b="0">
                <a:solidFill>
                  <a:srgbClr val="795E26"/>
                </a:solidFill>
                <a:effectLst/>
                <a:latin typeface="Courier New" panose="02070309020205020404" pitchFamily="49" charset="0"/>
              </a:rPr>
              <a:t>input</a:t>
            </a:r>
            <a:r>
              <a:rPr lang="es-CO" b="0">
                <a:solidFill>
                  <a:srgbClr val="000000"/>
                </a:solidFill>
                <a:effectLst/>
                <a:latin typeface="Courier New" panose="02070309020205020404" pitchFamily="49" charset="0"/>
              </a:rPr>
              <a:t>(</a:t>
            </a:r>
            <a:r>
              <a:rPr lang="es-CO" b="0">
                <a:solidFill>
                  <a:srgbClr val="A31515"/>
                </a:solidFill>
                <a:effectLst/>
                <a:latin typeface="Courier New" panose="02070309020205020404" pitchFamily="49" charset="0"/>
              </a:rPr>
              <a:t>"Ingresar el peso: "</a:t>
            </a:r>
            <a:r>
              <a:rPr lang="es-CO" b="0">
                <a:solidFill>
                  <a:srgbClr val="000000"/>
                </a:solidFill>
                <a:effectLst/>
                <a:latin typeface="Courier New" panose="02070309020205020404" pitchFamily="49" charset="0"/>
              </a:rPr>
              <a:t>))</a:t>
            </a:r>
          </a:p>
          <a:p>
            <a:pPr>
              <a:lnSpc>
                <a:spcPts val="1425"/>
              </a:lnSpc>
            </a:pPr>
            <a:r>
              <a:rPr lang="es-CO" b="0">
                <a:solidFill>
                  <a:srgbClr val="000000"/>
                </a:solidFill>
                <a:effectLst/>
                <a:latin typeface="Courier New" panose="02070309020205020404" pitchFamily="49" charset="0"/>
              </a:rPr>
              <a:t>  altura=</a:t>
            </a:r>
            <a:r>
              <a:rPr lang="es-CO" b="0" err="1">
                <a:solidFill>
                  <a:srgbClr val="257693"/>
                </a:solidFill>
                <a:effectLst/>
                <a:latin typeface="Courier New" panose="02070309020205020404" pitchFamily="49" charset="0"/>
              </a:rPr>
              <a:t>float</a:t>
            </a:r>
            <a:r>
              <a:rPr lang="es-CO" b="0">
                <a:solidFill>
                  <a:srgbClr val="000000"/>
                </a:solidFill>
                <a:effectLst/>
                <a:latin typeface="Courier New" panose="02070309020205020404" pitchFamily="49" charset="0"/>
              </a:rPr>
              <a:t>(</a:t>
            </a:r>
            <a:r>
              <a:rPr lang="es-CO" b="0">
                <a:solidFill>
                  <a:srgbClr val="795E26"/>
                </a:solidFill>
                <a:effectLst/>
                <a:latin typeface="Courier New" panose="02070309020205020404" pitchFamily="49" charset="0"/>
              </a:rPr>
              <a:t>input</a:t>
            </a:r>
            <a:r>
              <a:rPr lang="es-CO" b="0">
                <a:solidFill>
                  <a:srgbClr val="000000"/>
                </a:solidFill>
                <a:effectLst/>
                <a:latin typeface="Courier New" panose="02070309020205020404" pitchFamily="49" charset="0"/>
              </a:rPr>
              <a:t>(</a:t>
            </a:r>
            <a:r>
              <a:rPr lang="es-CO" b="0">
                <a:solidFill>
                  <a:srgbClr val="A31515"/>
                </a:solidFill>
                <a:effectLst/>
                <a:latin typeface="Courier New" panose="02070309020205020404" pitchFamily="49" charset="0"/>
              </a:rPr>
              <a:t>"Ingresar la altura: "</a:t>
            </a:r>
            <a:r>
              <a:rPr lang="es-CO" b="0">
                <a:solidFill>
                  <a:srgbClr val="000000"/>
                </a:solidFill>
                <a:effectLst/>
                <a:latin typeface="Courier New" panose="02070309020205020404" pitchFamily="49" charset="0"/>
              </a:rPr>
              <a:t>))</a:t>
            </a:r>
          </a:p>
          <a:p>
            <a:pPr>
              <a:lnSpc>
                <a:spcPts val="1425"/>
              </a:lnSpc>
            </a:pPr>
            <a:br>
              <a:rPr lang="es-CO" b="0">
                <a:solidFill>
                  <a:srgbClr val="000000"/>
                </a:solidFill>
                <a:effectLst/>
                <a:latin typeface="Courier New" panose="02070309020205020404" pitchFamily="49" charset="0"/>
              </a:rPr>
            </a:br>
            <a:r>
              <a:rPr lang="es-CO" b="0">
                <a:solidFill>
                  <a:srgbClr val="000000"/>
                </a:solidFill>
                <a:effectLst/>
                <a:latin typeface="Courier New" panose="02070309020205020404" pitchFamily="49" charset="0"/>
              </a:rPr>
              <a:t>  IMC=peso/(altura*altura)</a:t>
            </a:r>
          </a:p>
          <a:p>
            <a:pPr>
              <a:lnSpc>
                <a:spcPts val="1425"/>
              </a:lnSpc>
            </a:pPr>
            <a:r>
              <a:rPr lang="es-CO" b="0">
                <a:solidFill>
                  <a:srgbClr val="000000"/>
                </a:solidFill>
                <a:effectLst/>
                <a:latin typeface="Courier New" panose="02070309020205020404" pitchFamily="49" charset="0"/>
              </a:rPr>
              <a:t>  </a:t>
            </a:r>
            <a:r>
              <a:rPr lang="es-CO" b="0" err="1">
                <a:solidFill>
                  <a:srgbClr val="795E26"/>
                </a:solidFill>
                <a:effectLst/>
                <a:latin typeface="Courier New" panose="02070309020205020404" pitchFamily="49" charset="0"/>
              </a:rPr>
              <a:t>print</a:t>
            </a:r>
            <a:r>
              <a:rPr lang="es-CO" b="0">
                <a:solidFill>
                  <a:srgbClr val="000000"/>
                </a:solidFill>
                <a:effectLst/>
                <a:latin typeface="Courier New" panose="02070309020205020404" pitchFamily="49" charset="0"/>
              </a:rPr>
              <a:t>(</a:t>
            </a:r>
            <a:r>
              <a:rPr lang="es-CO" b="0">
                <a:solidFill>
                  <a:srgbClr val="A31515"/>
                </a:solidFill>
                <a:effectLst/>
                <a:latin typeface="Courier New" panose="02070309020205020404" pitchFamily="49" charset="0"/>
              </a:rPr>
              <a:t>"El IMC es:"</a:t>
            </a:r>
            <a:r>
              <a:rPr lang="es-CO" b="0">
                <a:solidFill>
                  <a:srgbClr val="000000"/>
                </a:solidFill>
                <a:effectLst/>
                <a:latin typeface="Courier New" panose="02070309020205020404" pitchFamily="49" charset="0"/>
              </a:rPr>
              <a:t>, IMC)</a:t>
            </a:r>
          </a:p>
          <a:p>
            <a:pPr>
              <a:lnSpc>
                <a:spcPts val="1425"/>
              </a:lnSpc>
            </a:pPr>
            <a:br>
              <a:rPr lang="es-CO" b="0">
                <a:solidFill>
                  <a:srgbClr val="000000"/>
                </a:solidFill>
                <a:effectLst/>
                <a:latin typeface="Courier New" panose="02070309020205020404" pitchFamily="49" charset="0"/>
              </a:rPr>
            </a:br>
            <a:r>
              <a:rPr lang="es-CO" b="0">
                <a:solidFill>
                  <a:srgbClr val="000000"/>
                </a:solidFill>
                <a:effectLst/>
                <a:latin typeface="Courier New" panose="02070309020205020404" pitchFamily="49" charset="0"/>
              </a:rPr>
              <a:t>  </a:t>
            </a:r>
            <a:r>
              <a:rPr lang="es-CO" b="0" err="1">
                <a:solidFill>
                  <a:srgbClr val="AF00DB"/>
                </a:solidFill>
                <a:effectLst/>
                <a:latin typeface="Courier New" panose="02070309020205020404" pitchFamily="49" charset="0"/>
              </a:rPr>
              <a:t>if</a:t>
            </a:r>
            <a:r>
              <a:rPr lang="es-CO" b="0">
                <a:solidFill>
                  <a:srgbClr val="000000"/>
                </a:solidFill>
                <a:effectLst/>
                <a:latin typeface="Courier New" panose="02070309020205020404" pitchFamily="49" charset="0"/>
              </a:rPr>
              <a:t> (IMC &lt;=</a:t>
            </a:r>
            <a:r>
              <a:rPr lang="es-CO" b="0">
                <a:solidFill>
                  <a:srgbClr val="116644"/>
                </a:solidFill>
                <a:effectLst/>
                <a:latin typeface="Courier New" panose="02070309020205020404" pitchFamily="49" charset="0"/>
              </a:rPr>
              <a:t>25</a:t>
            </a:r>
            <a:r>
              <a:rPr lang="es-CO" b="0">
                <a:solidFill>
                  <a:srgbClr val="000000"/>
                </a:solidFill>
                <a:effectLst/>
                <a:latin typeface="Courier New" panose="02070309020205020404" pitchFamily="49" charset="0"/>
              </a:rPr>
              <a:t>):</a:t>
            </a:r>
          </a:p>
          <a:p>
            <a:pPr>
              <a:lnSpc>
                <a:spcPts val="1425"/>
              </a:lnSpc>
            </a:pPr>
            <a:r>
              <a:rPr lang="es-CO" b="0">
                <a:solidFill>
                  <a:srgbClr val="000000"/>
                </a:solidFill>
                <a:effectLst/>
                <a:latin typeface="Courier New" panose="02070309020205020404" pitchFamily="49" charset="0"/>
              </a:rPr>
              <a:t>    </a:t>
            </a:r>
            <a:r>
              <a:rPr lang="es-CO" b="0" err="1">
                <a:solidFill>
                  <a:srgbClr val="795E26"/>
                </a:solidFill>
                <a:effectLst/>
                <a:latin typeface="Courier New" panose="02070309020205020404" pitchFamily="49" charset="0"/>
              </a:rPr>
              <a:t>print</a:t>
            </a:r>
            <a:r>
              <a:rPr lang="es-CO" b="0">
                <a:solidFill>
                  <a:srgbClr val="000000"/>
                </a:solidFill>
                <a:effectLst/>
                <a:latin typeface="Courier New" panose="02070309020205020404" pitchFamily="49" charset="0"/>
              </a:rPr>
              <a:t>(</a:t>
            </a:r>
            <a:r>
              <a:rPr lang="es-CO" b="0">
                <a:solidFill>
                  <a:srgbClr val="A31515"/>
                </a:solidFill>
                <a:effectLst/>
                <a:latin typeface="Courier New" panose="02070309020205020404" pitchFamily="49" charset="0"/>
              </a:rPr>
              <a:t>"Peso saludable"</a:t>
            </a:r>
            <a:r>
              <a:rPr lang="es-CO" b="0">
                <a:solidFill>
                  <a:srgbClr val="000000"/>
                </a:solidFill>
                <a:effectLst/>
                <a:latin typeface="Courier New" panose="02070309020205020404" pitchFamily="49" charset="0"/>
              </a:rPr>
              <a:t>)</a:t>
            </a:r>
          </a:p>
          <a:p>
            <a:pPr>
              <a:lnSpc>
                <a:spcPts val="1425"/>
              </a:lnSpc>
            </a:pPr>
            <a:r>
              <a:rPr lang="es-CO" b="0">
                <a:solidFill>
                  <a:srgbClr val="000000"/>
                </a:solidFill>
                <a:effectLst/>
                <a:latin typeface="Courier New" panose="02070309020205020404" pitchFamily="49" charset="0"/>
              </a:rPr>
              <a:t>  </a:t>
            </a:r>
            <a:r>
              <a:rPr lang="es-CO" b="0" err="1">
                <a:solidFill>
                  <a:srgbClr val="AF00DB"/>
                </a:solidFill>
                <a:effectLst/>
                <a:latin typeface="Courier New" panose="02070309020205020404" pitchFamily="49" charset="0"/>
              </a:rPr>
              <a:t>else</a:t>
            </a:r>
            <a:r>
              <a:rPr lang="es-CO" b="0">
                <a:solidFill>
                  <a:srgbClr val="000000"/>
                </a:solidFill>
                <a:effectLst/>
                <a:latin typeface="Courier New" panose="02070309020205020404" pitchFamily="49" charset="0"/>
              </a:rPr>
              <a:t>:</a:t>
            </a:r>
          </a:p>
          <a:p>
            <a:pPr>
              <a:lnSpc>
                <a:spcPts val="1425"/>
              </a:lnSpc>
            </a:pPr>
            <a:r>
              <a:rPr lang="es-CO" b="0">
                <a:solidFill>
                  <a:srgbClr val="000000"/>
                </a:solidFill>
                <a:effectLst/>
                <a:latin typeface="Courier New" panose="02070309020205020404" pitchFamily="49" charset="0"/>
              </a:rPr>
              <a:t>    </a:t>
            </a:r>
            <a:r>
              <a:rPr lang="es-CO" b="0" err="1">
                <a:solidFill>
                  <a:srgbClr val="795E26"/>
                </a:solidFill>
                <a:effectLst/>
                <a:latin typeface="Courier New" panose="02070309020205020404" pitchFamily="49" charset="0"/>
              </a:rPr>
              <a:t>print</a:t>
            </a:r>
            <a:r>
              <a:rPr lang="es-CO" b="0">
                <a:solidFill>
                  <a:srgbClr val="000000"/>
                </a:solidFill>
                <a:effectLst/>
                <a:latin typeface="Courier New" panose="02070309020205020404" pitchFamily="49" charset="0"/>
              </a:rPr>
              <a:t>(</a:t>
            </a:r>
            <a:r>
              <a:rPr lang="es-CO" b="0">
                <a:solidFill>
                  <a:srgbClr val="A31515"/>
                </a:solidFill>
                <a:effectLst/>
                <a:latin typeface="Courier New" panose="02070309020205020404" pitchFamily="49" charset="0"/>
              </a:rPr>
              <a:t>"Riesgo de sobrepeso"</a:t>
            </a:r>
            <a:r>
              <a:rPr lang="es-CO" b="0">
                <a:solidFill>
                  <a:srgbClr val="000000"/>
                </a:solidFill>
                <a:effectLst/>
                <a:latin typeface="Courier New" panose="02070309020205020404" pitchFamily="49" charset="0"/>
              </a:rPr>
              <a:t>)</a:t>
            </a:r>
          </a:p>
          <a:p>
            <a:pPr>
              <a:lnSpc>
                <a:spcPts val="1425"/>
              </a:lnSpc>
            </a:pPr>
            <a:br>
              <a:rPr lang="es-CO" b="0">
                <a:solidFill>
                  <a:srgbClr val="000000"/>
                </a:solidFill>
                <a:effectLst/>
                <a:latin typeface="Courier New" panose="02070309020205020404" pitchFamily="49" charset="0"/>
              </a:rPr>
            </a:br>
            <a:r>
              <a:rPr lang="es-CO" b="0">
                <a:solidFill>
                  <a:srgbClr val="000000"/>
                </a:solidFill>
                <a:effectLst/>
                <a:latin typeface="Courier New" panose="02070309020205020404" pitchFamily="49" charset="0"/>
              </a:rPr>
              <a:t>  </a:t>
            </a:r>
            <a:r>
              <a:rPr lang="es-CO" b="0" err="1">
                <a:solidFill>
                  <a:srgbClr val="000000"/>
                </a:solidFill>
                <a:effectLst/>
                <a:latin typeface="Courier New" panose="02070309020205020404" pitchFamily="49" charset="0"/>
              </a:rPr>
              <a:t>masPacientes</a:t>
            </a:r>
            <a:r>
              <a:rPr lang="es-CO" b="0">
                <a:solidFill>
                  <a:srgbClr val="000000"/>
                </a:solidFill>
                <a:effectLst/>
                <a:latin typeface="Courier New" panose="02070309020205020404" pitchFamily="49" charset="0"/>
              </a:rPr>
              <a:t>=</a:t>
            </a:r>
            <a:r>
              <a:rPr lang="es-CO" b="0">
                <a:solidFill>
                  <a:srgbClr val="795E26"/>
                </a:solidFill>
                <a:effectLst/>
                <a:latin typeface="Courier New" panose="02070309020205020404" pitchFamily="49" charset="0"/>
              </a:rPr>
              <a:t>input</a:t>
            </a:r>
            <a:r>
              <a:rPr lang="es-CO" b="0">
                <a:solidFill>
                  <a:srgbClr val="000000"/>
                </a:solidFill>
                <a:effectLst/>
                <a:latin typeface="Courier New" panose="02070309020205020404" pitchFamily="49" charset="0"/>
              </a:rPr>
              <a:t>(</a:t>
            </a:r>
            <a:r>
              <a:rPr lang="es-CO" b="0">
                <a:solidFill>
                  <a:srgbClr val="A31515"/>
                </a:solidFill>
                <a:effectLst/>
                <a:latin typeface="Courier New" panose="02070309020205020404" pitchFamily="49" charset="0"/>
              </a:rPr>
              <a:t>"Tiene más pacientes:"</a:t>
            </a:r>
            <a:r>
              <a:rPr lang="es-CO" b="0">
                <a:solidFill>
                  <a:srgbClr val="000000"/>
                </a:solidFill>
                <a:effectLst/>
                <a:latin typeface="Courier New" panose="02070309020205020404" pitchFamily="49" charset="0"/>
              </a:rPr>
              <a:t>)</a:t>
            </a:r>
          </a:p>
          <a:p>
            <a:pPr>
              <a:lnSpc>
                <a:spcPts val="1425"/>
              </a:lnSpc>
            </a:pPr>
            <a:r>
              <a:rPr lang="es-CO" b="0">
                <a:solidFill>
                  <a:srgbClr val="000000"/>
                </a:solidFill>
                <a:effectLst/>
                <a:latin typeface="Courier New" panose="02070309020205020404" pitchFamily="49" charset="0"/>
              </a:rPr>
              <a:t>  </a:t>
            </a:r>
            <a:r>
              <a:rPr lang="es-CO" b="0" err="1">
                <a:solidFill>
                  <a:srgbClr val="AF00DB"/>
                </a:solidFill>
                <a:effectLst/>
                <a:latin typeface="Courier New" panose="02070309020205020404" pitchFamily="49" charset="0"/>
              </a:rPr>
              <a:t>if</a:t>
            </a:r>
            <a:r>
              <a:rPr lang="es-CO" b="0">
                <a:solidFill>
                  <a:srgbClr val="000000"/>
                </a:solidFill>
                <a:effectLst/>
                <a:latin typeface="Courier New" panose="02070309020205020404" pitchFamily="49" charset="0"/>
              </a:rPr>
              <a:t> </a:t>
            </a:r>
            <a:r>
              <a:rPr lang="es-CO" b="0" err="1">
                <a:solidFill>
                  <a:srgbClr val="000000"/>
                </a:solidFill>
                <a:effectLst/>
                <a:latin typeface="Courier New" panose="02070309020205020404" pitchFamily="49" charset="0"/>
              </a:rPr>
              <a:t>masPacientes</a:t>
            </a:r>
            <a:r>
              <a:rPr lang="es-CO" b="0">
                <a:solidFill>
                  <a:srgbClr val="000000"/>
                </a:solidFill>
                <a:effectLst/>
                <a:latin typeface="Courier New" panose="02070309020205020404" pitchFamily="49" charset="0"/>
              </a:rPr>
              <a:t>==</a:t>
            </a:r>
            <a:r>
              <a:rPr lang="es-CO" b="0">
                <a:solidFill>
                  <a:srgbClr val="A31515"/>
                </a:solidFill>
                <a:effectLst/>
                <a:latin typeface="Courier New" panose="02070309020205020404" pitchFamily="49" charset="0"/>
              </a:rPr>
              <a:t>"no"</a:t>
            </a:r>
            <a:r>
              <a:rPr lang="es-CO" b="0">
                <a:solidFill>
                  <a:srgbClr val="000000"/>
                </a:solidFill>
                <a:effectLst/>
                <a:latin typeface="Courier New" panose="02070309020205020404" pitchFamily="49" charset="0"/>
              </a:rPr>
              <a:t>:</a:t>
            </a:r>
          </a:p>
          <a:p>
            <a:pPr>
              <a:lnSpc>
                <a:spcPts val="1425"/>
              </a:lnSpc>
            </a:pPr>
            <a:r>
              <a:rPr lang="es-CO" b="0">
                <a:solidFill>
                  <a:srgbClr val="000000"/>
                </a:solidFill>
                <a:effectLst/>
                <a:latin typeface="Courier New" panose="02070309020205020404" pitchFamily="49" charset="0"/>
              </a:rPr>
              <a:t>    </a:t>
            </a:r>
            <a:r>
              <a:rPr lang="es-CO" b="0">
                <a:solidFill>
                  <a:srgbClr val="AF00DB"/>
                </a:solidFill>
                <a:effectLst/>
                <a:latin typeface="Courier New" panose="02070309020205020404" pitchFamily="49" charset="0"/>
              </a:rPr>
              <a:t>break</a:t>
            </a:r>
            <a:endParaRPr lang="es-CO" b="0">
              <a:solidFill>
                <a:srgbClr val="000000"/>
              </a:solidFill>
              <a:effectLst/>
              <a:latin typeface="Courier New" panose="02070309020205020404" pitchFamily="49" charset="0"/>
            </a:endParaRPr>
          </a:p>
        </p:txBody>
      </p:sp>
      <p:sp>
        <p:nvSpPr>
          <p:cNvPr id="3" name="Título 4">
            <a:extLst>
              <a:ext uri="{FF2B5EF4-FFF2-40B4-BE49-F238E27FC236}">
                <a16:creationId xmlns:a16="http://schemas.microsoft.com/office/drawing/2014/main" id="{EB2DE076-79E1-54A3-2909-76B6B596106B}"/>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fontScale="92500" lnSpcReduction="10000"/>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4. </a:t>
            </a:r>
            <a:r>
              <a:rPr lang="es-MX" sz="3400">
                <a:solidFill>
                  <a:srgbClr val="02C9B6"/>
                </a:solidFill>
              </a:rPr>
              <a:t>Codificación de la solución en un lenguaje de programación</a:t>
            </a:r>
          </a:p>
        </p:txBody>
      </p:sp>
      <p:sp>
        <p:nvSpPr>
          <p:cNvPr id="6" name="Google Shape;558;p27">
            <a:extLst>
              <a:ext uri="{FF2B5EF4-FFF2-40B4-BE49-F238E27FC236}">
                <a16:creationId xmlns:a16="http://schemas.microsoft.com/office/drawing/2014/main" id="{CAB35B6E-4987-9066-C0C6-FD392A66AB35}"/>
              </a:ext>
            </a:extLst>
          </p:cNvPr>
          <p:cNvSpPr/>
          <p:nvPr/>
        </p:nvSpPr>
        <p:spPr>
          <a:xfrm>
            <a:off x="8903368" y="3656752"/>
            <a:ext cx="2574399" cy="1691747"/>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MX" sz="1600" b="1">
                <a:solidFill>
                  <a:schemeClr val="dk1"/>
                </a:solidFill>
                <a:ea typeface="Calibri"/>
                <a:cs typeface="Calibri"/>
                <a:sym typeface="Calibri"/>
              </a:rPr>
              <a:t>En próximas clases aprenderemos cómo realizar código como este.</a:t>
            </a:r>
            <a:endParaRPr sz="1600"/>
          </a:p>
        </p:txBody>
      </p:sp>
      <p:sp>
        <p:nvSpPr>
          <p:cNvPr id="7" name="CuadroTexto 6">
            <a:extLst>
              <a:ext uri="{FF2B5EF4-FFF2-40B4-BE49-F238E27FC236}">
                <a16:creationId xmlns:a16="http://schemas.microsoft.com/office/drawing/2014/main" id="{65A98CAD-8AD5-6579-C6AB-C92513BAB57F}"/>
              </a:ext>
            </a:extLst>
          </p:cNvPr>
          <p:cNvSpPr txBox="1"/>
          <p:nvPr/>
        </p:nvSpPr>
        <p:spPr>
          <a:xfrm>
            <a:off x="2147149" y="1868266"/>
            <a:ext cx="9330618" cy="1292662"/>
          </a:xfrm>
          <a:prstGeom prst="rect">
            <a:avLst/>
          </a:prstGeom>
          <a:noFill/>
        </p:spPr>
        <p:txBody>
          <a:bodyPr wrap="square" lIns="91440" tIns="45720" rIns="91440" bIns="45720" anchor="t">
            <a:spAutoFit/>
          </a:bodyPr>
          <a:lstStyle/>
          <a:p>
            <a:r>
              <a:rPr lang="es-ES" sz="2400" b="1"/>
              <a:t>4.1 Implementación en Python</a:t>
            </a:r>
          </a:p>
          <a:p>
            <a:endParaRPr lang="es-ES" sz="1400" b="1"/>
          </a:p>
          <a:p>
            <a:pPr marL="285750" indent="-285750">
              <a:buClr>
                <a:srgbClr val="02C9B6"/>
              </a:buClr>
              <a:buFont typeface="Arial" panose="020B0604020202020204" pitchFamily="34" charset="0"/>
              <a:buChar char="•"/>
            </a:pPr>
            <a:r>
              <a:rPr lang="es-MX" sz="2000" b="1">
                <a:ea typeface="Calibri"/>
                <a:cs typeface="Calibri"/>
              </a:rPr>
              <a:t>Escribir el código completo en Python basado en el diagrama de flujo</a:t>
            </a:r>
          </a:p>
          <a:p>
            <a:pPr marL="285750" indent="-285750">
              <a:buClr>
                <a:srgbClr val="02C9B6"/>
              </a:buClr>
              <a:buFont typeface="Arial" panose="020B0604020202020204" pitchFamily="34" charset="0"/>
              <a:buChar char="•"/>
            </a:pPr>
            <a:endParaRPr lang="es-ES" sz="2000" b="1">
              <a:ea typeface="Calibri"/>
              <a:cs typeface="Calibri"/>
            </a:endParaRPr>
          </a:p>
        </p:txBody>
      </p:sp>
    </p:spTree>
    <p:extLst>
      <p:ext uri="{BB962C8B-B14F-4D97-AF65-F5344CB8AC3E}">
        <p14:creationId xmlns:p14="http://schemas.microsoft.com/office/powerpoint/2010/main" val="44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AFCD7-A91E-C25C-1B70-E10F247B51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0C0986-9AF5-7A66-7DFA-02146612FFF5}"/>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63BC9BB8-2F2C-D164-C289-4377E9F5F4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19</a:t>
            </a:fld>
            <a:endParaRPr lang="es-CO"/>
          </a:p>
        </p:txBody>
      </p:sp>
      <p:sp>
        <p:nvSpPr>
          <p:cNvPr id="3" name="Título 4">
            <a:extLst>
              <a:ext uri="{FF2B5EF4-FFF2-40B4-BE49-F238E27FC236}">
                <a16:creationId xmlns:a16="http://schemas.microsoft.com/office/drawing/2014/main" id="{4ABE73B5-1263-24B5-2D52-694401E8F41E}"/>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fontScale="92500" lnSpcReduction="10000"/>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4. </a:t>
            </a:r>
            <a:r>
              <a:rPr lang="es-MX" sz="3400">
                <a:solidFill>
                  <a:srgbClr val="02C9B6"/>
                </a:solidFill>
              </a:rPr>
              <a:t>Codificación de la solución en un lenguaje de programación</a:t>
            </a:r>
          </a:p>
        </p:txBody>
      </p:sp>
      <p:sp>
        <p:nvSpPr>
          <p:cNvPr id="7" name="CuadroTexto 6">
            <a:extLst>
              <a:ext uri="{FF2B5EF4-FFF2-40B4-BE49-F238E27FC236}">
                <a16:creationId xmlns:a16="http://schemas.microsoft.com/office/drawing/2014/main" id="{D91907B7-74E2-FD3B-B6CB-868E7BEDD557}"/>
              </a:ext>
            </a:extLst>
          </p:cNvPr>
          <p:cNvSpPr txBox="1"/>
          <p:nvPr/>
        </p:nvSpPr>
        <p:spPr>
          <a:xfrm>
            <a:off x="2147149" y="1868266"/>
            <a:ext cx="9330618" cy="1292662"/>
          </a:xfrm>
          <a:prstGeom prst="rect">
            <a:avLst/>
          </a:prstGeom>
          <a:noFill/>
        </p:spPr>
        <p:txBody>
          <a:bodyPr wrap="square" lIns="91440" tIns="45720" rIns="91440" bIns="45720" anchor="t">
            <a:spAutoFit/>
          </a:bodyPr>
          <a:lstStyle/>
          <a:p>
            <a:r>
              <a:rPr lang="es-ES" sz="2400" b="1"/>
              <a:t>4.2 Evaluación de la implementación</a:t>
            </a:r>
          </a:p>
          <a:p>
            <a:endParaRPr lang="es-ES" sz="1400" b="1"/>
          </a:p>
          <a:p>
            <a:pPr marL="285750" indent="-285750">
              <a:buClr>
                <a:srgbClr val="02C9B6"/>
              </a:buClr>
              <a:buFont typeface="Arial" panose="020B0604020202020204" pitchFamily="34" charset="0"/>
              <a:buChar char="•"/>
            </a:pPr>
            <a:r>
              <a:rPr lang="es-MX" sz="2000" b="1">
                <a:ea typeface="Calibri"/>
                <a:cs typeface="Calibri"/>
              </a:rPr>
              <a:t>Evaluar el código resultante</a:t>
            </a:r>
          </a:p>
          <a:p>
            <a:pPr marL="285750" indent="-285750">
              <a:buClr>
                <a:srgbClr val="02C9B6"/>
              </a:buClr>
              <a:buFont typeface="Arial" panose="020B0604020202020204" pitchFamily="34" charset="0"/>
              <a:buChar char="•"/>
            </a:pPr>
            <a:endParaRPr lang="es-ES" sz="2000" b="1">
              <a:ea typeface="Calibri"/>
              <a:cs typeface="Calibri"/>
            </a:endParaRPr>
          </a:p>
        </p:txBody>
      </p:sp>
      <p:sp>
        <p:nvSpPr>
          <p:cNvPr id="9" name="CuadroTexto 8">
            <a:extLst>
              <a:ext uri="{FF2B5EF4-FFF2-40B4-BE49-F238E27FC236}">
                <a16:creationId xmlns:a16="http://schemas.microsoft.com/office/drawing/2014/main" id="{5D89F930-5A52-02C2-B42B-ADFB37FAA63D}"/>
              </a:ext>
            </a:extLst>
          </p:cNvPr>
          <p:cNvSpPr txBox="1"/>
          <p:nvPr/>
        </p:nvSpPr>
        <p:spPr>
          <a:xfrm>
            <a:off x="2147149" y="3235408"/>
            <a:ext cx="6104020" cy="1015663"/>
          </a:xfrm>
          <a:prstGeom prst="rect">
            <a:avLst/>
          </a:prstGeom>
          <a:noFill/>
        </p:spPr>
        <p:txBody>
          <a:bodyPr wrap="square">
            <a:spAutoFit/>
          </a:bodyPr>
          <a:lstStyle/>
          <a:p>
            <a:r>
              <a:rPr lang="es-ES" sz="2000"/>
              <a:t>✅ El código sigue la lógica del diagrama de flujo.</a:t>
            </a:r>
          </a:p>
          <a:p>
            <a:r>
              <a:rPr lang="es-ES" sz="2000"/>
              <a:t>✅ Se ejecuta sin errores.</a:t>
            </a:r>
          </a:p>
          <a:p>
            <a:r>
              <a:rPr lang="es-ES" sz="2000"/>
              <a:t>✅ Se obtienen los resultados esperados.</a:t>
            </a:r>
          </a:p>
        </p:txBody>
      </p:sp>
    </p:spTree>
    <p:extLst>
      <p:ext uri="{BB962C8B-B14F-4D97-AF65-F5344CB8AC3E}">
        <p14:creationId xmlns:p14="http://schemas.microsoft.com/office/powerpoint/2010/main" val="3654956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Resolución de problemas</a:t>
            </a:r>
          </a:p>
          <a:p>
            <a:pPr marL="457200" lvl="0" indent="-457200">
              <a:spcBef>
                <a:spcPts val="0"/>
              </a:spcBef>
              <a:buSzPts val="2400"/>
              <a:buFont typeface="Calibri"/>
              <a:buAutoNum type="arabicPeriod"/>
            </a:pPr>
            <a:r>
              <a:rPr lang="es-ES"/>
              <a:t>Ejemplo</a:t>
            </a:r>
          </a:p>
          <a:p>
            <a:pPr marL="457200" indent="-457200">
              <a:spcBef>
                <a:spcPts val="0"/>
              </a:spcBef>
              <a:buSzPts val="2400"/>
              <a:buFont typeface="Calibri"/>
              <a:buAutoNum type="arabicPeriod"/>
            </a:pPr>
            <a:r>
              <a:rPr lang="es-ES" b="1"/>
              <a:t>Ejercicios</a:t>
            </a:r>
          </a:p>
          <a:p>
            <a:pPr marL="457200" lvl="0" indent="-457200">
              <a:spcBef>
                <a:spcPts val="0"/>
              </a:spcBef>
              <a:buSzPts val="2400"/>
              <a:buFont typeface="Calibri"/>
              <a:buAutoNum type="arabicPeriod"/>
            </a:pPr>
            <a:r>
              <a:rPr lang="es-ES"/>
              <a:t>Proyecto</a:t>
            </a:r>
          </a:p>
        </p:txBody>
      </p:sp>
    </p:spTree>
    <p:extLst>
      <p:ext uri="{BB962C8B-B14F-4D97-AF65-F5344CB8AC3E}">
        <p14:creationId xmlns:p14="http://schemas.microsoft.com/office/powerpoint/2010/main" val="409975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6E448-A9AD-6A1A-C4A7-DCE95BA718FB}"/>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4CFAD3DD-DC28-F212-668C-F4AD1A5F1F73}"/>
              </a:ext>
            </a:extLst>
          </p:cNvPr>
          <p:cNvSpPr>
            <a:spLocks noGrp="1"/>
          </p:cNvSpPr>
          <p:nvPr>
            <p:ph type="title"/>
          </p:nvPr>
        </p:nvSpPr>
        <p:spPr/>
        <p:txBody>
          <a:bodyPr>
            <a:normAutofit fontScale="90000"/>
          </a:bodyPr>
          <a:lstStyle/>
          <a:p>
            <a:r>
              <a:rPr lang="es-CO" dirty="0"/>
              <a:t>Problema </a:t>
            </a:r>
            <a:r>
              <a:rPr lang="es-ES" dirty="0"/>
              <a:t>Nota mínima requerida en el examen final para aprobar la materia</a:t>
            </a:r>
            <a:endParaRPr lang="es-CO" dirty="0"/>
          </a:p>
        </p:txBody>
      </p:sp>
      <p:sp>
        <p:nvSpPr>
          <p:cNvPr id="6" name="Marcador de texto 5">
            <a:extLst>
              <a:ext uri="{FF2B5EF4-FFF2-40B4-BE49-F238E27FC236}">
                <a16:creationId xmlns:a16="http://schemas.microsoft.com/office/drawing/2014/main" id="{C4A9AD7C-C659-A73B-90B5-16F8C4D88D61}"/>
              </a:ext>
            </a:extLst>
          </p:cNvPr>
          <p:cNvSpPr>
            <a:spLocks noGrp="1"/>
          </p:cNvSpPr>
          <p:nvPr>
            <p:ph type="body" idx="1"/>
          </p:nvPr>
        </p:nvSpPr>
        <p:spPr>
          <a:xfrm>
            <a:off x="2076994" y="1410788"/>
            <a:ext cx="9666016" cy="5337483"/>
          </a:xfrm>
        </p:spPr>
        <p:txBody>
          <a:bodyPr>
            <a:noAutofit/>
          </a:bodyPr>
          <a:lstStyle/>
          <a:p>
            <a:pPr marL="76200" indent="0" algn="just">
              <a:buNone/>
            </a:pPr>
            <a:r>
              <a:rPr lang="es-ES" sz="2000" dirty="0">
                <a:latin typeface="Aptos"/>
              </a:rPr>
              <a:t>Un profesor necesita un sistema que permita calcular, para cada estudiante, la nota mínima que debe obtener en el examen final para aprobar la materia, teniendo en cuenta las calificaciones acumuladas hasta el momento y su ponderación en la nota </a:t>
            </a:r>
            <a:r>
              <a:rPr lang="es-ES" sz="2000">
                <a:latin typeface="Aptos"/>
              </a:rPr>
              <a:t>final. La</a:t>
            </a:r>
            <a:r>
              <a:rPr lang="es-ES" sz="2000" dirty="0">
                <a:latin typeface="Aptos"/>
              </a:rPr>
              <a:t> asignatura se aprueba con una nota final mínima de 3.0 en una escala de 0.0 a 5.0. </a:t>
            </a:r>
          </a:p>
          <a:p>
            <a:pPr marL="76200" indent="0" algn="just">
              <a:buNone/>
            </a:pPr>
            <a:r>
              <a:rPr lang="es-ES" sz="2000" dirty="0">
                <a:latin typeface="Aptos"/>
              </a:rPr>
              <a:t>La nota definitiva se compone de los siguientes elementos: PesoParcial1(25%), </a:t>
            </a:r>
            <a:r>
              <a:rPr lang="es-ES" sz="2000">
                <a:latin typeface="Aptos"/>
              </a:rPr>
              <a:t>PesoParcial2(25%), Seguimiento(20%), Examen final (30%).</a:t>
            </a:r>
          </a:p>
          <a:p>
            <a:pPr marL="76200" indent="0" algn="just">
              <a:buNone/>
            </a:pPr>
            <a:endParaRPr lang="es-ES" sz="2000" dirty="0">
              <a:latin typeface="Aptos" panose="020B0004020202020204" pitchFamily="34" charset="0"/>
            </a:endParaRPr>
          </a:p>
          <a:p>
            <a:pPr marL="76200" indent="0" algn="just">
              <a:buNone/>
            </a:pPr>
            <a:r>
              <a:rPr lang="es-ES" sz="2000" dirty="0">
                <a:latin typeface="Aptos" panose="020B0004020202020204" pitchFamily="34" charset="0"/>
              </a:rPr>
              <a:t>Con esta información, el sistema debe calcular la nota mínima requerida en el examen final (</a:t>
            </a:r>
            <a:r>
              <a:rPr lang="es-ES" sz="2000" dirty="0" err="1">
                <a:latin typeface="Aptos" panose="020B0004020202020204" pitchFamily="34" charset="0"/>
              </a:rPr>
              <a:t>Fmin</a:t>
            </a:r>
            <a:r>
              <a:rPr lang="es-ES" sz="2000" dirty="0">
                <a:latin typeface="Aptos" panose="020B0004020202020204" pitchFamily="34" charset="0"/>
              </a:rPr>
              <a:t>) y reportar el resultado según la siguiente clasificación: Si </a:t>
            </a:r>
            <a:r>
              <a:rPr lang="es-ES" sz="2000" dirty="0" err="1">
                <a:latin typeface="Aptos" panose="020B0004020202020204" pitchFamily="34" charset="0"/>
              </a:rPr>
              <a:t>Fmin</a:t>
            </a:r>
            <a:r>
              <a:rPr lang="es-ES" sz="2000" dirty="0">
                <a:latin typeface="Aptos" panose="020B0004020202020204" pitchFamily="34" charset="0"/>
              </a:rPr>
              <a:t> ≤ 0: el estudiante ya aprueba (se puede reportar </a:t>
            </a:r>
            <a:r>
              <a:rPr lang="es-ES" sz="2000" dirty="0" err="1">
                <a:latin typeface="Aptos" panose="020B0004020202020204" pitchFamily="34" charset="0"/>
              </a:rPr>
              <a:t>Fmin</a:t>
            </a:r>
            <a:r>
              <a:rPr lang="es-ES" sz="2000" dirty="0">
                <a:latin typeface="Aptos" panose="020B0004020202020204" pitchFamily="34" charset="0"/>
              </a:rPr>
              <a:t> = 0.0).Si 0 &lt; </a:t>
            </a:r>
            <a:r>
              <a:rPr lang="es-ES" sz="2000" dirty="0" err="1">
                <a:latin typeface="Aptos" panose="020B0004020202020204" pitchFamily="34" charset="0"/>
              </a:rPr>
              <a:t>Fmin</a:t>
            </a:r>
            <a:r>
              <a:rPr lang="es-ES" sz="2000" dirty="0">
                <a:latin typeface="Aptos" panose="020B0004020202020204" pitchFamily="34" charset="0"/>
              </a:rPr>
              <a:t> ≤ 5: el estudiante debe obtener como mínimo </a:t>
            </a:r>
            <a:r>
              <a:rPr lang="es-ES" sz="2000" dirty="0" err="1">
                <a:latin typeface="Aptos" panose="020B0004020202020204" pitchFamily="34" charset="0"/>
              </a:rPr>
              <a:t>Fmin</a:t>
            </a:r>
            <a:r>
              <a:rPr lang="es-ES" sz="2000" dirty="0">
                <a:latin typeface="Aptos" panose="020B0004020202020204" pitchFamily="34" charset="0"/>
              </a:rPr>
              <a:t> en el examen </a:t>
            </a:r>
            <a:r>
              <a:rPr lang="es-ES" sz="2000" dirty="0" err="1">
                <a:latin typeface="Aptos" panose="020B0004020202020204" pitchFamily="34" charset="0"/>
              </a:rPr>
              <a:t>final.Si</a:t>
            </a:r>
            <a:r>
              <a:rPr lang="es-ES" sz="2000" dirty="0">
                <a:latin typeface="Aptos" panose="020B0004020202020204" pitchFamily="34" charset="0"/>
              </a:rPr>
              <a:t> </a:t>
            </a:r>
            <a:r>
              <a:rPr lang="es-ES" sz="2000" dirty="0" err="1">
                <a:latin typeface="Aptos" panose="020B0004020202020204" pitchFamily="34" charset="0"/>
              </a:rPr>
              <a:t>Fmin</a:t>
            </a:r>
            <a:r>
              <a:rPr lang="es-ES" sz="2000" dirty="0">
                <a:latin typeface="Aptos" panose="020B0004020202020204" pitchFamily="34" charset="0"/>
              </a:rPr>
              <a:t> &gt; 5: no es posible aprobar la materia, incluso si obtiene 5.0 en el examen final.</a:t>
            </a:r>
            <a:endParaRPr lang="es-MX" sz="2000" dirty="0">
              <a:latin typeface="Aptos" panose="020B0004020202020204" pitchFamily="34" charset="0"/>
            </a:endParaRPr>
          </a:p>
        </p:txBody>
      </p:sp>
      <p:sp>
        <p:nvSpPr>
          <p:cNvPr id="4" name="Marcador de número de diapositiva 3">
            <a:extLst>
              <a:ext uri="{FF2B5EF4-FFF2-40B4-BE49-F238E27FC236}">
                <a16:creationId xmlns:a16="http://schemas.microsoft.com/office/drawing/2014/main" id="{5D72209F-0424-E7FF-31B2-AE6AEC942D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21</a:t>
            </a:fld>
            <a:endParaRPr lang="es-CO"/>
          </a:p>
        </p:txBody>
      </p:sp>
    </p:spTree>
    <p:extLst>
      <p:ext uri="{BB962C8B-B14F-4D97-AF65-F5344CB8AC3E}">
        <p14:creationId xmlns:p14="http://schemas.microsoft.com/office/powerpoint/2010/main" val="373462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6E448-A9AD-6A1A-C4A7-DCE95BA718FB}"/>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4CFAD3DD-DC28-F212-668C-F4AD1A5F1F73}"/>
              </a:ext>
            </a:extLst>
          </p:cNvPr>
          <p:cNvSpPr>
            <a:spLocks noGrp="1"/>
          </p:cNvSpPr>
          <p:nvPr>
            <p:ph type="title"/>
          </p:nvPr>
        </p:nvSpPr>
        <p:spPr/>
        <p:txBody>
          <a:bodyPr/>
          <a:lstStyle/>
          <a:p>
            <a:r>
              <a:rPr lang="es-CO" dirty="0"/>
              <a:t>Problema gestión comedor universitario</a:t>
            </a:r>
          </a:p>
        </p:txBody>
      </p:sp>
      <p:sp>
        <p:nvSpPr>
          <p:cNvPr id="6" name="Marcador de texto 5">
            <a:extLst>
              <a:ext uri="{FF2B5EF4-FFF2-40B4-BE49-F238E27FC236}">
                <a16:creationId xmlns:a16="http://schemas.microsoft.com/office/drawing/2014/main" id="{C4A9AD7C-C659-A73B-90B5-16F8C4D88D61}"/>
              </a:ext>
            </a:extLst>
          </p:cNvPr>
          <p:cNvSpPr>
            <a:spLocks noGrp="1"/>
          </p:cNvSpPr>
          <p:nvPr>
            <p:ph type="body" idx="1"/>
          </p:nvPr>
        </p:nvSpPr>
        <p:spPr>
          <a:xfrm>
            <a:off x="2076994" y="1410788"/>
            <a:ext cx="9666016" cy="5337483"/>
          </a:xfrm>
        </p:spPr>
        <p:txBody>
          <a:bodyPr>
            <a:noAutofit/>
          </a:bodyPr>
          <a:lstStyle/>
          <a:p>
            <a:pPr algn="just"/>
            <a:r>
              <a:rPr lang="es-MX" sz="2000"/>
              <a:t>Una universidad ha decidido mejorar la gestión del comedor estudiantil mediante un sistema automatizado que ayude a clasificar los pedidos de almuerzo según su disponibilidad. El coordinador del comedor ha notado que algunos estudiantes llegan tarde a recoger su almuerzo, lo que genera desperdicios y afecta la planificación diaria.</a:t>
            </a:r>
          </a:p>
          <a:p>
            <a:pPr algn="just"/>
            <a:r>
              <a:rPr lang="es-MX" sz="2000"/>
              <a:t>Para optimizar el servicio, se desea implementar un sistema que clasifique los pedidos en dos categorías: </a:t>
            </a:r>
            <a:r>
              <a:rPr lang="es-MX" sz="2000" b="1"/>
              <a:t>"Pedido disponible"</a:t>
            </a:r>
            <a:r>
              <a:rPr lang="es-MX" sz="2000"/>
              <a:t> y </a:t>
            </a:r>
            <a:r>
              <a:rPr lang="es-MX" sz="2000" b="1"/>
              <a:t>"Pedido agotado"</a:t>
            </a:r>
            <a:r>
              <a:rPr lang="es-MX" sz="2000"/>
              <a:t>.</a:t>
            </a:r>
          </a:p>
          <a:p>
            <a:pPr algn="just"/>
            <a:r>
              <a:rPr lang="es-MX" sz="2000"/>
              <a:t>Sobre cada pedido se tiene información como el nombre del estudiante, número de identificación, carrera, tipo de almuerzo solicitado (vegetariano, estándar o especial), cantidad de raciones disponibles y cantidad de raciones pedidas.</a:t>
            </a:r>
          </a:p>
          <a:p>
            <a:pPr algn="just"/>
            <a:r>
              <a:rPr lang="es-MX" sz="2000"/>
              <a:t>El coordinador del comedor utilizará esta información para generar reportes que ayuden a mejorar la planificación de los alimentos. Sin embargo, en esta fase inicial, solo se requiere conocer si el pedido se puede entregar o no.</a:t>
            </a:r>
          </a:p>
          <a:p>
            <a:pPr algn="just"/>
            <a:endParaRPr lang="es-MX" sz="2000"/>
          </a:p>
          <a:p>
            <a:pPr marL="76200" indent="0" algn="just">
              <a:buNone/>
            </a:pPr>
            <a:r>
              <a:rPr lang="es-ES" sz="1900" b="1"/>
              <a:t>Nota:</a:t>
            </a:r>
            <a:r>
              <a:rPr lang="es-ES" sz="1900"/>
              <a:t> </a:t>
            </a:r>
            <a:r>
              <a:rPr lang="es-MX" sz="1900"/>
              <a:t>Aunque en el futuro podrían añadirse más clasificaciones, en esta fase el sistema solo distingue entre "Pedido disponible" (si hay suficientes raciones) y "Pedido agotado" (si las raciones disponibles no alcanzan para la solicitud). </a:t>
            </a:r>
            <a:endParaRPr lang="es-CO" sz="1900" i="1"/>
          </a:p>
        </p:txBody>
      </p:sp>
      <p:sp>
        <p:nvSpPr>
          <p:cNvPr id="4" name="Marcador de número de diapositiva 3">
            <a:extLst>
              <a:ext uri="{FF2B5EF4-FFF2-40B4-BE49-F238E27FC236}">
                <a16:creationId xmlns:a16="http://schemas.microsoft.com/office/drawing/2014/main" id="{5D72209F-0424-E7FF-31B2-AE6AEC942D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22</a:t>
            </a:fld>
            <a:endParaRPr lang="es-CO"/>
          </a:p>
        </p:txBody>
      </p:sp>
    </p:spTree>
    <p:extLst>
      <p:ext uri="{BB962C8B-B14F-4D97-AF65-F5344CB8AC3E}">
        <p14:creationId xmlns:p14="http://schemas.microsoft.com/office/powerpoint/2010/main" val="270519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0CF4-E369-8D85-1B0B-C27FFF4F6A2C}"/>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36A3A861-9DDA-D5FC-37A4-BC29850E628E}"/>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4AC0F093-6C4E-6532-0135-2E33081A05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23</a:t>
            </a:fld>
            <a:endParaRPr lang="es-CO"/>
          </a:p>
        </p:txBody>
      </p:sp>
      <p:sp>
        <p:nvSpPr>
          <p:cNvPr id="8" name="CuadroTexto 7">
            <a:extLst>
              <a:ext uri="{FF2B5EF4-FFF2-40B4-BE49-F238E27FC236}">
                <a16:creationId xmlns:a16="http://schemas.microsoft.com/office/drawing/2014/main" id="{A47EFBED-D2C9-000D-E0C0-26620713DB70}"/>
              </a:ext>
            </a:extLst>
          </p:cNvPr>
          <p:cNvSpPr txBox="1"/>
          <p:nvPr/>
        </p:nvSpPr>
        <p:spPr>
          <a:xfrm>
            <a:off x="2076994" y="2105561"/>
            <a:ext cx="9637232" cy="3539430"/>
          </a:xfrm>
          <a:prstGeom prst="rect">
            <a:avLst/>
          </a:prstGeom>
          <a:noFill/>
        </p:spPr>
        <p:txBody>
          <a:bodyPr wrap="square" lIns="91440" tIns="45720" rIns="91440" bIns="45720" anchor="t">
            <a:spAutoFit/>
          </a:bodyPr>
          <a:lstStyle/>
          <a:p>
            <a:r>
              <a:rPr lang="es-ES" sz="2400" b="1"/>
              <a:t>1.1 Problema </a:t>
            </a:r>
          </a:p>
          <a:p>
            <a:pPr marL="285750" indent="-285750">
              <a:buClr>
                <a:srgbClr val="02C9B6"/>
              </a:buClr>
              <a:buFont typeface="Arial" panose="020B0604020202020204" pitchFamily="34" charset="0"/>
              <a:buChar char="•"/>
            </a:pPr>
            <a:r>
              <a:rPr lang="es-ES" sz="2000" b="1">
                <a:ea typeface="Calibri"/>
                <a:cs typeface="Calibri"/>
              </a:rPr>
              <a:t>Indicar brevemente el problema a resolver </a:t>
            </a:r>
            <a:r>
              <a:rPr lang="es-ES" sz="2000" b="1">
                <a:solidFill>
                  <a:srgbClr val="009BAF"/>
                </a:solidFill>
                <a:ea typeface="Calibri"/>
                <a:cs typeface="Calibri"/>
              </a:rPr>
              <a:t>(2 minutos)</a:t>
            </a:r>
          </a:p>
          <a:p>
            <a:pPr>
              <a:buClr>
                <a:srgbClr val="02C9B6"/>
              </a:buClr>
            </a:pPr>
            <a:r>
              <a:rPr lang="es-MX" sz="2000">
                <a:ea typeface="Calibri"/>
                <a:cs typeface="Calibri"/>
              </a:rPr>
              <a:t>Gestión ineficiente de los pedidos de almuerzo en el comedor estudiantil, debido a que algunos estudiantes llegan tarde a recoger sus pedidos, lo que genera desperdicios y afecta la planificación diaria de los alimentos. Se necesita un sistema automatizado que clasifique los pedidos en "Pedido disponible" o "Pedido agotado" según la cantidad de raciones disponibles, optimizando así la asignación de alimentos y reduciendo el desperdicio.</a:t>
            </a:r>
          </a:p>
          <a:p>
            <a:pPr>
              <a:buClr>
                <a:srgbClr val="02C9B6"/>
              </a:buClr>
            </a:pPr>
            <a:endParaRPr lang="es-ES" sz="2000" b="1">
              <a:ea typeface="Calibri" panose="020F0502020204030204"/>
              <a:cs typeface="Calibri" panose="020F0502020204030204"/>
            </a:endParaRPr>
          </a:p>
          <a:p>
            <a:pPr marL="285750" indent="-285750">
              <a:buClr>
                <a:srgbClr val="02C9B6"/>
              </a:buClr>
              <a:buFont typeface="Arial" panose="020B0604020202020204" pitchFamily="34" charset="0"/>
              <a:buChar char="•"/>
            </a:pPr>
            <a:r>
              <a:rPr lang="es-ES" sz="2000" b="1">
                <a:ea typeface="Calibri" panose="020F0502020204030204"/>
                <a:cs typeface="Calibri" panose="020F0502020204030204"/>
              </a:rPr>
              <a:t>Indicar el objetivo buscado </a:t>
            </a:r>
            <a:r>
              <a:rPr lang="es-ES" sz="2000" b="1">
                <a:solidFill>
                  <a:srgbClr val="009BAF"/>
                </a:solidFill>
                <a:ea typeface="Calibri"/>
                <a:cs typeface="Calibri"/>
              </a:rPr>
              <a:t>(2 minutos)</a:t>
            </a:r>
            <a:endParaRPr lang="es-ES" sz="2000" b="1">
              <a:ea typeface="Calibri" panose="020F0502020204030204"/>
              <a:cs typeface="Calibri" panose="020F0502020204030204"/>
            </a:endParaRPr>
          </a:p>
          <a:p>
            <a:pPr>
              <a:buClr>
                <a:srgbClr val="02C9B6"/>
              </a:buClr>
            </a:pPr>
            <a:r>
              <a:rPr lang="es-MX" sz="2000">
                <a:ea typeface="Calibri"/>
                <a:cs typeface="Calibri"/>
              </a:rPr>
              <a:t>Clasificar los pedidos de almuerzo en el comedor estudiantil como "Pedido disponible" o "Pedido agotado", según la cantidad de raciones disponibles.</a:t>
            </a:r>
            <a:endParaRPr lang="es-ES" sz="1400"/>
          </a:p>
        </p:txBody>
      </p:sp>
      <p:sp>
        <p:nvSpPr>
          <p:cNvPr id="2" name="Título 4">
            <a:extLst>
              <a:ext uri="{FF2B5EF4-FFF2-40B4-BE49-F238E27FC236}">
                <a16:creationId xmlns:a16="http://schemas.microsoft.com/office/drawing/2014/main" id="{EC92B060-EAFB-C2AF-C5D2-485D933A8F14}"/>
              </a:ext>
            </a:extLst>
          </p:cNvPr>
          <p:cNvSpPr txBox="1">
            <a:spLocks/>
          </p:cNvSpPr>
          <p:nvPr/>
        </p:nvSpPr>
        <p:spPr>
          <a:xfrm>
            <a:off x="2076994" y="1062796"/>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1. Análisis del problema</a:t>
            </a:r>
          </a:p>
        </p:txBody>
      </p:sp>
    </p:spTree>
    <p:extLst>
      <p:ext uri="{BB962C8B-B14F-4D97-AF65-F5344CB8AC3E}">
        <p14:creationId xmlns:p14="http://schemas.microsoft.com/office/powerpoint/2010/main" val="186909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BD421-2F06-E656-2899-F90DC97B274B}"/>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604CF9D2-C743-1B62-C246-FA20C80CB7B6}"/>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0B69CE9C-1B4E-0058-DE93-6C2F4A2E23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24</a:t>
            </a:fld>
            <a:endParaRPr lang="es-CO"/>
          </a:p>
        </p:txBody>
      </p:sp>
      <p:sp>
        <p:nvSpPr>
          <p:cNvPr id="14" name="CuadroTexto 13">
            <a:extLst>
              <a:ext uri="{FF2B5EF4-FFF2-40B4-BE49-F238E27FC236}">
                <a16:creationId xmlns:a16="http://schemas.microsoft.com/office/drawing/2014/main" id="{00F65018-3708-D022-9CB5-19338E85AE2B}"/>
              </a:ext>
            </a:extLst>
          </p:cNvPr>
          <p:cNvSpPr txBox="1"/>
          <p:nvPr/>
        </p:nvSpPr>
        <p:spPr>
          <a:xfrm>
            <a:off x="2224032" y="1834345"/>
            <a:ext cx="4347972" cy="1077218"/>
          </a:xfrm>
          <a:prstGeom prst="rect">
            <a:avLst/>
          </a:prstGeom>
          <a:noFill/>
        </p:spPr>
        <p:txBody>
          <a:bodyPr wrap="square" lIns="91440" tIns="45720" rIns="91440" bIns="45720" anchor="t">
            <a:spAutoFit/>
          </a:bodyPr>
          <a:lstStyle/>
          <a:p>
            <a:r>
              <a:rPr lang="es-ES" sz="2400" b="1"/>
              <a:t>1.2 Abstracción</a:t>
            </a:r>
          </a:p>
          <a:p>
            <a:pPr marL="342900" indent="-342900">
              <a:buClr>
                <a:srgbClr val="02C9B6"/>
              </a:buClr>
              <a:buFont typeface="Arial" panose="020B0604020202020204" pitchFamily="34" charset="0"/>
              <a:buChar char="•"/>
            </a:pPr>
            <a:r>
              <a:rPr lang="es-ES" sz="2000" b="1">
                <a:ea typeface="Calibri"/>
                <a:cs typeface="Calibri"/>
              </a:rPr>
              <a:t>Listar los datos relevantes para resolver el problema </a:t>
            </a:r>
            <a:r>
              <a:rPr lang="es-ES" sz="2000" b="1">
                <a:solidFill>
                  <a:srgbClr val="009BAF"/>
                </a:solidFill>
                <a:ea typeface="Calibri"/>
                <a:cs typeface="Calibri"/>
              </a:rPr>
              <a:t>(2 minutos)</a:t>
            </a:r>
            <a:endParaRPr lang="es-ES" sz="2000" b="1">
              <a:ea typeface="Calibri"/>
              <a:cs typeface="Calibri"/>
            </a:endParaRPr>
          </a:p>
        </p:txBody>
      </p:sp>
      <p:sp>
        <p:nvSpPr>
          <p:cNvPr id="2" name="Título 4">
            <a:extLst>
              <a:ext uri="{FF2B5EF4-FFF2-40B4-BE49-F238E27FC236}">
                <a16:creationId xmlns:a16="http://schemas.microsoft.com/office/drawing/2014/main" id="{FD0A9BAD-B5B7-4BAB-6D54-0C699122CC05}"/>
              </a:ext>
            </a:extLst>
          </p:cNvPr>
          <p:cNvSpPr txBox="1">
            <a:spLocks/>
          </p:cNvSpPr>
          <p:nvPr/>
        </p:nvSpPr>
        <p:spPr>
          <a:xfrm>
            <a:off x="2076994" y="982586"/>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1. Análisis del problema</a:t>
            </a:r>
          </a:p>
        </p:txBody>
      </p:sp>
      <p:sp>
        <p:nvSpPr>
          <p:cNvPr id="3" name="CuadroTexto 2">
            <a:extLst>
              <a:ext uri="{FF2B5EF4-FFF2-40B4-BE49-F238E27FC236}">
                <a16:creationId xmlns:a16="http://schemas.microsoft.com/office/drawing/2014/main" id="{AD8EE497-C751-9ABC-A6EA-C0FE7E39D332}"/>
              </a:ext>
            </a:extLst>
          </p:cNvPr>
          <p:cNvSpPr txBox="1"/>
          <p:nvPr/>
        </p:nvSpPr>
        <p:spPr>
          <a:xfrm>
            <a:off x="7106523" y="1834345"/>
            <a:ext cx="4347972" cy="707886"/>
          </a:xfrm>
          <a:prstGeom prst="rect">
            <a:avLst/>
          </a:prstGeom>
          <a:noFill/>
        </p:spPr>
        <p:txBody>
          <a:bodyPr wrap="square" lIns="91440" tIns="45720" rIns="91440" bIns="45720" anchor="t">
            <a:spAutoFit/>
          </a:bodyPr>
          <a:lstStyle/>
          <a:p>
            <a:pPr marL="342900" indent="-342900">
              <a:buClr>
                <a:srgbClr val="02C9B6"/>
              </a:buClr>
              <a:buFont typeface="Arial" panose="020B0604020202020204" pitchFamily="34" charset="0"/>
              <a:buChar char="•"/>
            </a:pPr>
            <a:r>
              <a:rPr lang="es-ES" sz="2000" b="1">
                <a:ea typeface="Calibri"/>
                <a:cs typeface="Calibri"/>
              </a:rPr>
              <a:t>Listar los datos irrelevantes que no aportan a la solución </a:t>
            </a:r>
            <a:r>
              <a:rPr lang="es-ES" sz="2000" b="1">
                <a:solidFill>
                  <a:srgbClr val="009BAF"/>
                </a:solidFill>
                <a:ea typeface="Calibri"/>
                <a:cs typeface="Calibri"/>
              </a:rPr>
              <a:t>(2 minutos)</a:t>
            </a:r>
            <a:endParaRPr lang="es-ES" sz="1400" b="1">
              <a:solidFill>
                <a:srgbClr val="009BAF"/>
              </a:solidFill>
              <a:ea typeface="Calibri"/>
              <a:cs typeface="Calibri"/>
            </a:endParaRPr>
          </a:p>
        </p:txBody>
      </p:sp>
      <p:graphicFrame>
        <p:nvGraphicFramePr>
          <p:cNvPr id="6" name="Tabla 5">
            <a:extLst>
              <a:ext uri="{FF2B5EF4-FFF2-40B4-BE49-F238E27FC236}">
                <a16:creationId xmlns:a16="http://schemas.microsoft.com/office/drawing/2014/main" id="{7219E644-E242-E852-816A-DF72B50261B1}"/>
              </a:ext>
            </a:extLst>
          </p:cNvPr>
          <p:cNvGraphicFramePr>
            <a:graphicFrameLocks noGrp="1"/>
          </p:cNvGraphicFramePr>
          <p:nvPr>
            <p:extLst>
              <p:ext uri="{D42A27DB-BD31-4B8C-83A1-F6EECF244321}">
                <p14:modId xmlns:p14="http://schemas.microsoft.com/office/powerpoint/2010/main" val="575491061"/>
              </p:ext>
            </p:extLst>
          </p:nvPr>
        </p:nvGraphicFramePr>
        <p:xfrm>
          <a:off x="2113471" y="3062377"/>
          <a:ext cx="4270074" cy="2382520"/>
        </p:xfrm>
        <a:graphic>
          <a:graphicData uri="http://schemas.openxmlformats.org/drawingml/2006/table">
            <a:tbl>
              <a:tblPr firstRow="1" bandRow="1">
                <a:tableStyleId>{5940675A-B579-460E-94D1-54222C63F5DA}</a:tableStyleId>
              </a:tblPr>
              <a:tblGrid>
                <a:gridCol w="1293961">
                  <a:extLst>
                    <a:ext uri="{9D8B030D-6E8A-4147-A177-3AD203B41FA5}">
                      <a16:colId xmlns:a16="http://schemas.microsoft.com/office/drawing/2014/main" val="722552213"/>
                    </a:ext>
                  </a:extLst>
                </a:gridCol>
                <a:gridCol w="2976113">
                  <a:extLst>
                    <a:ext uri="{9D8B030D-6E8A-4147-A177-3AD203B41FA5}">
                      <a16:colId xmlns:a16="http://schemas.microsoft.com/office/drawing/2014/main" val="3688458231"/>
                    </a:ext>
                  </a:extLst>
                </a:gridCol>
              </a:tblGrid>
              <a:tr h="370840">
                <a:tc>
                  <a:txBody>
                    <a:bodyPr/>
                    <a:lstStyle/>
                    <a:p>
                      <a:pPr algn="ctr"/>
                      <a:r>
                        <a:rPr lang="es-CO" sz="1800" b="1">
                          <a:solidFill>
                            <a:schemeClr val="bg1"/>
                          </a:solidFill>
                        </a:rPr>
                        <a:t>Dato</a:t>
                      </a:r>
                    </a:p>
                  </a:txBody>
                  <a:tcPr>
                    <a:solidFill>
                      <a:srgbClr val="113649"/>
                    </a:solidFill>
                  </a:tcPr>
                </a:tc>
                <a:tc>
                  <a:txBody>
                    <a:bodyPr/>
                    <a:lstStyle/>
                    <a:p>
                      <a:pPr algn="ctr"/>
                      <a:r>
                        <a:rPr lang="es-CO" sz="1800" b="1">
                          <a:solidFill>
                            <a:schemeClr val="bg1"/>
                          </a:solidFill>
                        </a:rPr>
                        <a:t>Explicación</a:t>
                      </a:r>
                    </a:p>
                  </a:txBody>
                  <a:tcPr>
                    <a:solidFill>
                      <a:srgbClr val="113649"/>
                    </a:solidFill>
                  </a:tcPr>
                </a:tc>
                <a:extLst>
                  <a:ext uri="{0D108BD9-81ED-4DB2-BD59-A6C34878D82A}">
                    <a16:rowId xmlns:a16="http://schemas.microsoft.com/office/drawing/2014/main" val="1757604693"/>
                  </a:ext>
                </a:extLst>
              </a:tr>
              <a:tr h="370840">
                <a:tc>
                  <a:txBody>
                    <a:bodyPr/>
                    <a:lstStyle/>
                    <a:p>
                      <a:r>
                        <a:rPr lang="es-CO" sz="1600" b="1"/>
                        <a:t>Cantidad de raciones disponibles</a:t>
                      </a:r>
                      <a:endParaRPr lang="es-CO" sz="1600" b="1" err="1"/>
                    </a:p>
                  </a:txBody>
                  <a:tcPr/>
                </a:tc>
                <a:tc>
                  <a:txBody>
                    <a:bodyPr/>
                    <a:lstStyle/>
                    <a:p>
                      <a:pPr lvl="0" algn="l">
                        <a:buNone/>
                      </a:pPr>
                      <a:r>
                        <a:rPr lang="es-MX" sz="1800" b="0" i="0" u="none" strike="noStrike" noProof="0">
                          <a:solidFill>
                            <a:srgbClr val="000000"/>
                          </a:solidFill>
                          <a:latin typeface="Calibri"/>
                        </a:rPr>
                        <a:t>Es esencial para saber si se puede cumplir con el pedido</a:t>
                      </a:r>
                      <a:endParaRPr lang="es-ES"/>
                    </a:p>
                  </a:txBody>
                  <a:tcPr/>
                </a:tc>
                <a:extLst>
                  <a:ext uri="{0D108BD9-81ED-4DB2-BD59-A6C34878D82A}">
                    <a16:rowId xmlns:a16="http://schemas.microsoft.com/office/drawing/2014/main" val="1241007629"/>
                  </a:ext>
                </a:extLst>
              </a:tr>
              <a:tr h="370840">
                <a:tc>
                  <a:txBody>
                    <a:bodyPr/>
                    <a:lstStyle/>
                    <a:p>
                      <a:pPr marL="0" marR="0" lvl="0" indent="0" algn="l" rtl="0" eaLnBrk="1" fontAlgn="auto" latinLnBrk="0" hangingPunct="1">
                        <a:lnSpc>
                          <a:spcPct val="100000"/>
                        </a:lnSpc>
                        <a:spcBef>
                          <a:spcPts val="0"/>
                        </a:spcBef>
                        <a:spcAft>
                          <a:spcPts val="0"/>
                        </a:spcAft>
                        <a:buClrTx/>
                        <a:buSzTx/>
                        <a:buFontTx/>
                        <a:buNone/>
                      </a:pPr>
                      <a:r>
                        <a:rPr lang="es-CO" sz="1600" b="1"/>
                        <a:t>Cantidad de raciones pedidas</a:t>
                      </a:r>
                    </a:p>
                    <a:p>
                      <a:endParaRPr lang="es-CO" sz="1600" b="1"/>
                    </a:p>
                  </a:txBody>
                  <a:tcPr/>
                </a:tc>
                <a:tc>
                  <a:txBody>
                    <a:bodyPr/>
                    <a:lstStyle/>
                    <a:p>
                      <a:pPr lvl="0" algn="l">
                        <a:buNone/>
                      </a:pPr>
                      <a:r>
                        <a:rPr lang="es-MX" sz="1800" b="0" i="0" u="none" strike="noStrike" noProof="0">
                          <a:solidFill>
                            <a:srgbClr val="000000"/>
                          </a:solidFill>
                          <a:latin typeface="Calibri"/>
                        </a:rPr>
                        <a:t>Permite comparar con las raciones disponibles para determinar si el pedido puede ser entregado o no</a:t>
                      </a:r>
                      <a:endParaRPr lang="es-ES"/>
                    </a:p>
                  </a:txBody>
                  <a:tcPr/>
                </a:tc>
                <a:extLst>
                  <a:ext uri="{0D108BD9-81ED-4DB2-BD59-A6C34878D82A}">
                    <a16:rowId xmlns:a16="http://schemas.microsoft.com/office/drawing/2014/main" val="2478515418"/>
                  </a:ext>
                </a:extLst>
              </a:tr>
            </a:tbl>
          </a:graphicData>
        </a:graphic>
      </p:graphicFrame>
      <p:graphicFrame>
        <p:nvGraphicFramePr>
          <p:cNvPr id="7" name="Tabla 6">
            <a:extLst>
              <a:ext uri="{FF2B5EF4-FFF2-40B4-BE49-F238E27FC236}">
                <a16:creationId xmlns:a16="http://schemas.microsoft.com/office/drawing/2014/main" id="{57F92BFD-28F7-3B3E-5169-9F6815294470}"/>
              </a:ext>
            </a:extLst>
          </p:cNvPr>
          <p:cNvGraphicFramePr>
            <a:graphicFrameLocks noGrp="1"/>
          </p:cNvGraphicFramePr>
          <p:nvPr>
            <p:extLst>
              <p:ext uri="{D42A27DB-BD31-4B8C-83A1-F6EECF244321}">
                <p14:modId xmlns:p14="http://schemas.microsoft.com/office/powerpoint/2010/main" val="4016842443"/>
              </p:ext>
            </p:extLst>
          </p:nvPr>
        </p:nvGraphicFramePr>
        <p:xfrm>
          <a:off x="6858000" y="2544792"/>
          <a:ext cx="4863654" cy="4150360"/>
        </p:xfrm>
        <a:graphic>
          <a:graphicData uri="http://schemas.openxmlformats.org/drawingml/2006/table">
            <a:tbl>
              <a:tblPr firstRow="1" bandRow="1">
                <a:tableStyleId>{5940675A-B579-460E-94D1-54222C63F5DA}</a:tableStyleId>
              </a:tblPr>
              <a:tblGrid>
                <a:gridCol w="1685580">
                  <a:extLst>
                    <a:ext uri="{9D8B030D-6E8A-4147-A177-3AD203B41FA5}">
                      <a16:colId xmlns:a16="http://schemas.microsoft.com/office/drawing/2014/main" val="722552213"/>
                    </a:ext>
                  </a:extLst>
                </a:gridCol>
                <a:gridCol w="3178074">
                  <a:extLst>
                    <a:ext uri="{9D8B030D-6E8A-4147-A177-3AD203B41FA5}">
                      <a16:colId xmlns:a16="http://schemas.microsoft.com/office/drawing/2014/main" val="3688458231"/>
                    </a:ext>
                  </a:extLst>
                </a:gridCol>
              </a:tblGrid>
              <a:tr h="370840">
                <a:tc>
                  <a:txBody>
                    <a:bodyPr/>
                    <a:lstStyle/>
                    <a:p>
                      <a:pPr algn="ctr"/>
                      <a:r>
                        <a:rPr lang="es-CO" sz="1600" b="1">
                          <a:solidFill>
                            <a:schemeClr val="bg1"/>
                          </a:solidFill>
                        </a:rPr>
                        <a:t>Dato</a:t>
                      </a:r>
                    </a:p>
                  </a:txBody>
                  <a:tcPr>
                    <a:solidFill>
                      <a:srgbClr val="113649"/>
                    </a:solidFill>
                  </a:tcPr>
                </a:tc>
                <a:tc>
                  <a:txBody>
                    <a:bodyPr/>
                    <a:lstStyle/>
                    <a:p>
                      <a:pPr algn="ctr"/>
                      <a:r>
                        <a:rPr lang="es-CO" sz="1600" b="1">
                          <a:solidFill>
                            <a:schemeClr val="bg1"/>
                          </a:solidFill>
                        </a:rPr>
                        <a:t>Explicación</a:t>
                      </a:r>
                    </a:p>
                  </a:txBody>
                  <a:tcPr>
                    <a:solidFill>
                      <a:srgbClr val="113649"/>
                    </a:solidFill>
                  </a:tcPr>
                </a:tc>
                <a:extLst>
                  <a:ext uri="{0D108BD9-81ED-4DB2-BD59-A6C34878D82A}">
                    <a16:rowId xmlns:a16="http://schemas.microsoft.com/office/drawing/2014/main" val="1757604693"/>
                  </a:ext>
                </a:extLst>
              </a:tr>
              <a:tr h="370840">
                <a:tc>
                  <a:txBody>
                    <a:bodyPr/>
                    <a:lstStyle/>
                    <a:p>
                      <a:r>
                        <a:rPr lang="es-CO" sz="1600" b="1"/>
                        <a:t>Nombre del estudiante</a:t>
                      </a:r>
                    </a:p>
                  </a:txBody>
                  <a:tcPr/>
                </a:tc>
                <a:tc>
                  <a:txBody>
                    <a:bodyPr/>
                    <a:lstStyle/>
                    <a:p>
                      <a:pPr lvl="0" algn="l">
                        <a:buNone/>
                      </a:pPr>
                      <a:r>
                        <a:rPr lang="es-MX" sz="1800" b="0" i="0" u="none" strike="noStrike" noProof="0">
                          <a:solidFill>
                            <a:srgbClr val="000000"/>
                          </a:solidFill>
                          <a:latin typeface="Calibri"/>
                        </a:rPr>
                        <a:t>No es necesario para determinar si el pedido está disponible o agotado</a:t>
                      </a:r>
                      <a:endParaRPr lang="es-ES"/>
                    </a:p>
                  </a:txBody>
                  <a:tcPr/>
                </a:tc>
                <a:extLst>
                  <a:ext uri="{0D108BD9-81ED-4DB2-BD59-A6C34878D82A}">
                    <a16:rowId xmlns:a16="http://schemas.microsoft.com/office/drawing/2014/main" val="1241007629"/>
                  </a:ext>
                </a:extLst>
              </a:tr>
              <a:tr h="370840">
                <a:tc>
                  <a:txBody>
                    <a:bodyPr/>
                    <a:lstStyle/>
                    <a:p>
                      <a:pPr marL="0" marR="0" lvl="0" indent="0" algn="l" rtl="0" eaLnBrk="1" fontAlgn="auto" latinLnBrk="0" hangingPunct="1">
                        <a:lnSpc>
                          <a:spcPct val="100000"/>
                        </a:lnSpc>
                        <a:spcBef>
                          <a:spcPts val="0"/>
                        </a:spcBef>
                        <a:spcAft>
                          <a:spcPts val="0"/>
                        </a:spcAft>
                        <a:buClrTx/>
                        <a:buSzTx/>
                        <a:buFontTx/>
                        <a:buNone/>
                      </a:pPr>
                      <a:r>
                        <a:rPr lang="es-CO" sz="1600" b="1"/>
                        <a:t>Número de identificación</a:t>
                      </a:r>
                    </a:p>
                    <a:p>
                      <a:endParaRPr lang="es-CO" sz="1600" b="1"/>
                    </a:p>
                  </a:txBody>
                  <a:tcPr/>
                </a:tc>
                <a:tc>
                  <a:txBody>
                    <a:bodyPr/>
                    <a:lstStyle/>
                    <a:p>
                      <a:pPr lvl="0" algn="l">
                        <a:buNone/>
                      </a:pPr>
                      <a:r>
                        <a:rPr lang="es-MX" sz="1800" b="0" i="0" u="none" strike="noStrike" noProof="0">
                          <a:solidFill>
                            <a:srgbClr val="000000"/>
                          </a:solidFill>
                          <a:latin typeface="Calibri"/>
                        </a:rPr>
                        <a:t>Tampoco es relevante para la clasificación del pedido en disponible o agotado</a:t>
                      </a:r>
                      <a:endParaRPr lang="es-ES"/>
                    </a:p>
                  </a:txBody>
                  <a:tcPr/>
                </a:tc>
                <a:extLst>
                  <a:ext uri="{0D108BD9-81ED-4DB2-BD59-A6C34878D82A}">
                    <a16:rowId xmlns:a16="http://schemas.microsoft.com/office/drawing/2014/main" val="247851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b="1" i="0" u="none" strike="noStrike">
                          <a:solidFill>
                            <a:schemeClr val="dk1"/>
                          </a:solidFill>
                          <a:effectLst/>
                          <a:latin typeface="+mn-lt"/>
                        </a:rPr>
                        <a:t>Carrera</a:t>
                      </a:r>
                      <a:endParaRPr lang="es-MX" sz="1600" b="1" i="0" u="none" strike="noStrike" baseline="0">
                        <a:solidFill>
                          <a:schemeClr val="dk1"/>
                        </a:solidFill>
                        <a:effectLst/>
                        <a:latin typeface="+mn-lt"/>
                      </a:endParaRPr>
                    </a:p>
                  </a:txBody>
                  <a:tcPr/>
                </a:tc>
                <a:tc>
                  <a:txBody>
                    <a:bodyPr/>
                    <a:lstStyle/>
                    <a:p>
                      <a:pPr marL="0" marR="0" lvl="0" indent="0" algn="l">
                        <a:lnSpc>
                          <a:spcPct val="100000"/>
                        </a:lnSpc>
                        <a:spcBef>
                          <a:spcPts val="0"/>
                        </a:spcBef>
                        <a:spcAft>
                          <a:spcPts val="0"/>
                        </a:spcAft>
                        <a:buNone/>
                      </a:pPr>
                      <a:r>
                        <a:rPr lang="es-MX" sz="1800" b="0" i="0" u="none" strike="noStrike" noProof="0">
                          <a:solidFill>
                            <a:srgbClr val="000000"/>
                          </a:solidFill>
                          <a:latin typeface="Calibri"/>
                        </a:rPr>
                        <a:t>No influye en la decisión sobre la disponibilidad de las raciones</a:t>
                      </a:r>
                      <a:endParaRPr lang="es-ES"/>
                    </a:p>
                  </a:txBody>
                  <a:tcPr/>
                </a:tc>
                <a:extLst>
                  <a:ext uri="{0D108BD9-81ED-4DB2-BD59-A6C34878D82A}">
                    <a16:rowId xmlns:a16="http://schemas.microsoft.com/office/drawing/2014/main" val="2933596874"/>
                  </a:ext>
                </a:extLst>
              </a:tr>
              <a:tr h="1112520">
                <a:tc>
                  <a:txBody>
                    <a:bodyPr/>
                    <a:lstStyle/>
                    <a:p>
                      <a:pPr marL="0" marR="0" lvl="0" indent="0" algn="l">
                        <a:lnSpc>
                          <a:spcPct val="100000"/>
                        </a:lnSpc>
                        <a:spcBef>
                          <a:spcPts val="0"/>
                        </a:spcBef>
                        <a:spcAft>
                          <a:spcPts val="0"/>
                        </a:spcAft>
                        <a:buNone/>
                      </a:pPr>
                      <a:r>
                        <a:rPr lang="es-MX" sz="1600" b="1" i="0" u="none" strike="noStrike" noProof="0">
                          <a:solidFill>
                            <a:srgbClr val="000000"/>
                          </a:solidFill>
                          <a:effectLst/>
                          <a:latin typeface="Calibri"/>
                        </a:rPr>
                        <a:t>Tipo de almuerzo solicitado (vegetariano, estándar o especial)</a:t>
                      </a:r>
                      <a:endParaRPr lang="es-MX" sz="1600" b="0" i="0" u="none" strike="noStrike" noProof="0">
                        <a:solidFill>
                          <a:srgbClr val="000000"/>
                        </a:solidFill>
                        <a:effectLst/>
                        <a:latin typeface="Calibri"/>
                      </a:endParaRPr>
                    </a:p>
                  </a:txBody>
                  <a:tcPr/>
                </a:tc>
                <a:tc>
                  <a:txBody>
                    <a:bodyPr/>
                    <a:lstStyle/>
                    <a:p>
                      <a:pPr lvl="0" algn="l">
                        <a:lnSpc>
                          <a:spcPct val="100000"/>
                        </a:lnSpc>
                        <a:spcBef>
                          <a:spcPts val="0"/>
                        </a:spcBef>
                        <a:spcAft>
                          <a:spcPts val="0"/>
                        </a:spcAft>
                        <a:buNone/>
                      </a:pPr>
                      <a:r>
                        <a:rPr lang="es-MX" sz="1800" b="0" i="0" u="none" strike="noStrike" noProof="0">
                          <a:solidFill>
                            <a:srgbClr val="000000"/>
                          </a:solidFill>
                          <a:latin typeface="Calibri"/>
                        </a:rPr>
                        <a:t>No es necesario para la clasificación de la disponibilidad de las raciones en esta fase</a:t>
                      </a:r>
                      <a:endParaRPr lang="es-ES" sz="1800" b="0" i="0" u="none" strike="noStrike" noProof="0">
                        <a:solidFill>
                          <a:srgbClr val="000000"/>
                        </a:solidFill>
                        <a:latin typeface="Calibri"/>
                      </a:endParaRPr>
                    </a:p>
                    <a:p>
                      <a:pPr marL="0" marR="0" lvl="0" indent="0" algn="l" defTabSz="914400">
                        <a:lnSpc>
                          <a:spcPct val="100000"/>
                        </a:lnSpc>
                        <a:spcBef>
                          <a:spcPts val="0"/>
                        </a:spcBef>
                        <a:spcAft>
                          <a:spcPts val="0"/>
                        </a:spcAft>
                        <a:buClrTx/>
                        <a:buSzTx/>
                        <a:buFontTx/>
                        <a:buNone/>
                        <a:tabLst/>
                        <a:defRPr/>
                      </a:pPr>
                      <a:endParaRPr lang="es-ES" sz="1600"/>
                    </a:p>
                  </a:txBody>
                  <a:tcPr/>
                </a:tc>
                <a:extLst>
                  <a:ext uri="{0D108BD9-81ED-4DB2-BD59-A6C34878D82A}">
                    <a16:rowId xmlns:a16="http://schemas.microsoft.com/office/drawing/2014/main" val="1309398595"/>
                  </a:ext>
                </a:extLst>
              </a:tr>
            </a:tbl>
          </a:graphicData>
        </a:graphic>
      </p:graphicFrame>
    </p:spTree>
    <p:extLst>
      <p:ext uri="{BB962C8B-B14F-4D97-AF65-F5344CB8AC3E}">
        <p14:creationId xmlns:p14="http://schemas.microsoft.com/office/powerpoint/2010/main" val="1475208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5A3DF-8EF2-544E-2BCF-ED22409A4BBF}"/>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4F5E0A8B-007F-83D3-2068-0B5781F0C8A9}"/>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1EDC8A69-71BB-D2B6-B99F-A624E61ACB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25</a:t>
            </a:fld>
            <a:endParaRPr lang="es-CO"/>
          </a:p>
        </p:txBody>
      </p:sp>
      <p:sp>
        <p:nvSpPr>
          <p:cNvPr id="12" name="CuadroTexto 11">
            <a:extLst>
              <a:ext uri="{FF2B5EF4-FFF2-40B4-BE49-F238E27FC236}">
                <a16:creationId xmlns:a16="http://schemas.microsoft.com/office/drawing/2014/main" id="{38516E67-3A80-A540-512B-43625E341448}"/>
              </a:ext>
            </a:extLst>
          </p:cNvPr>
          <p:cNvSpPr txBox="1"/>
          <p:nvPr/>
        </p:nvSpPr>
        <p:spPr>
          <a:xfrm>
            <a:off x="2644470" y="1931636"/>
            <a:ext cx="8765651" cy="1969770"/>
          </a:xfrm>
          <a:prstGeom prst="rect">
            <a:avLst/>
          </a:prstGeom>
          <a:noFill/>
        </p:spPr>
        <p:txBody>
          <a:bodyPr wrap="square">
            <a:spAutoFit/>
          </a:bodyPr>
          <a:lstStyle/>
          <a:p>
            <a:r>
              <a:rPr lang="es-ES" sz="2400" b="1"/>
              <a:t>1.3 Descomposición</a:t>
            </a:r>
          </a:p>
          <a:p>
            <a:pPr marL="342900" indent="-342900">
              <a:buClr>
                <a:srgbClr val="02C9B6"/>
              </a:buClr>
              <a:buFont typeface="Arial" panose="020B0604020202020204" pitchFamily="34" charset="0"/>
              <a:buChar char="•"/>
            </a:pPr>
            <a:r>
              <a:rPr lang="es-ES" sz="2000" b="1">
                <a:ea typeface="Calibri"/>
                <a:cs typeface="Calibri"/>
              </a:rPr>
              <a:t>Listar las entradas, las salidas y los cálculos o procesos </a:t>
            </a:r>
            <a:r>
              <a:rPr lang="es-ES" sz="2000" b="1">
                <a:solidFill>
                  <a:srgbClr val="009BAF"/>
                </a:solidFill>
                <a:ea typeface="Calibri"/>
                <a:cs typeface="Calibri"/>
              </a:rPr>
              <a:t>(4 minutos)</a:t>
            </a:r>
            <a:endParaRPr lang="es-ES" sz="2000" b="1">
              <a:ea typeface="Calibri"/>
              <a:cs typeface="Calibri"/>
            </a:endParaRPr>
          </a:p>
          <a:p>
            <a:pPr marL="342900" indent="-342900">
              <a:buClr>
                <a:srgbClr val="02C9B6"/>
              </a:buClr>
              <a:buFont typeface="Arial" panose="020B0604020202020204" pitchFamily="34" charset="0"/>
              <a:buChar char="•"/>
            </a:pPr>
            <a:endParaRPr lang="es-ES" sz="2000" b="1">
              <a:ea typeface="Calibri"/>
              <a:cs typeface="Calibri"/>
            </a:endParaRPr>
          </a:p>
          <a:p>
            <a:r>
              <a:rPr lang="es-ES" sz="2000" b="1">
                <a:ea typeface="Calibri"/>
                <a:cs typeface="Calibri"/>
              </a:rPr>
              <a:t>Nota: </a:t>
            </a:r>
            <a:r>
              <a:rPr lang="es-ES" sz="2000">
                <a:ea typeface="Calibri"/>
                <a:cs typeface="Calibri"/>
              </a:rPr>
              <a:t>Los datos relevantes deberían considerarse como entradas.</a:t>
            </a:r>
          </a:p>
          <a:p>
            <a:r>
              <a:rPr lang="es-ES" sz="2000" b="1">
                <a:ea typeface="Calibri"/>
                <a:cs typeface="Calibri"/>
              </a:rPr>
              <a:t>Nota: </a:t>
            </a:r>
            <a:r>
              <a:rPr lang="es-ES" sz="2000">
                <a:ea typeface="Calibri"/>
                <a:cs typeface="Calibri"/>
              </a:rPr>
              <a:t>Las salidas contribuyen a lograr el objetivo buscado.</a:t>
            </a:r>
          </a:p>
          <a:p>
            <a:endParaRPr lang="es-ES" sz="1400" b="1"/>
          </a:p>
        </p:txBody>
      </p:sp>
      <p:sp>
        <p:nvSpPr>
          <p:cNvPr id="2" name="Título 4">
            <a:extLst>
              <a:ext uri="{FF2B5EF4-FFF2-40B4-BE49-F238E27FC236}">
                <a16:creationId xmlns:a16="http://schemas.microsoft.com/office/drawing/2014/main" id="{8C0EB451-8E76-A84F-16F3-0D753139D5C4}"/>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1. Análisis del problema</a:t>
            </a:r>
          </a:p>
        </p:txBody>
      </p:sp>
      <p:graphicFrame>
        <p:nvGraphicFramePr>
          <p:cNvPr id="3" name="Tabla 2">
            <a:extLst>
              <a:ext uri="{FF2B5EF4-FFF2-40B4-BE49-F238E27FC236}">
                <a16:creationId xmlns:a16="http://schemas.microsoft.com/office/drawing/2014/main" id="{54575994-372F-E9FF-65CC-8B733DC11008}"/>
              </a:ext>
            </a:extLst>
          </p:cNvPr>
          <p:cNvGraphicFramePr>
            <a:graphicFrameLocks noGrp="1"/>
          </p:cNvGraphicFramePr>
          <p:nvPr>
            <p:extLst>
              <p:ext uri="{D42A27DB-BD31-4B8C-83A1-F6EECF244321}">
                <p14:modId xmlns:p14="http://schemas.microsoft.com/office/powerpoint/2010/main" val="164142502"/>
              </p:ext>
            </p:extLst>
          </p:nvPr>
        </p:nvGraphicFramePr>
        <p:xfrm>
          <a:off x="2529451" y="3811096"/>
          <a:ext cx="8765646" cy="2865120"/>
        </p:xfrm>
        <a:graphic>
          <a:graphicData uri="http://schemas.openxmlformats.org/drawingml/2006/table">
            <a:tbl>
              <a:tblPr firstRow="1" bandRow="1">
                <a:tableStyleId>{5940675A-B579-460E-94D1-54222C63F5DA}</a:tableStyleId>
              </a:tblPr>
              <a:tblGrid>
                <a:gridCol w="1265207">
                  <a:extLst>
                    <a:ext uri="{9D8B030D-6E8A-4147-A177-3AD203B41FA5}">
                      <a16:colId xmlns:a16="http://schemas.microsoft.com/office/drawing/2014/main" val="722552213"/>
                    </a:ext>
                  </a:extLst>
                </a:gridCol>
                <a:gridCol w="5739948">
                  <a:extLst>
                    <a:ext uri="{9D8B030D-6E8A-4147-A177-3AD203B41FA5}">
                      <a16:colId xmlns:a16="http://schemas.microsoft.com/office/drawing/2014/main" val="3688458231"/>
                    </a:ext>
                  </a:extLst>
                </a:gridCol>
                <a:gridCol w="1760491">
                  <a:extLst>
                    <a:ext uri="{9D8B030D-6E8A-4147-A177-3AD203B41FA5}">
                      <a16:colId xmlns:a16="http://schemas.microsoft.com/office/drawing/2014/main" val="697394819"/>
                    </a:ext>
                  </a:extLst>
                </a:gridCol>
              </a:tblGrid>
              <a:tr h="0">
                <a:tc>
                  <a:txBody>
                    <a:bodyPr/>
                    <a:lstStyle/>
                    <a:p>
                      <a:pPr algn="ctr"/>
                      <a:r>
                        <a:rPr lang="es-CO" sz="1600" b="1">
                          <a:solidFill>
                            <a:schemeClr val="bg1"/>
                          </a:solidFill>
                        </a:rPr>
                        <a:t>Entrada</a:t>
                      </a:r>
                    </a:p>
                  </a:txBody>
                  <a:tcPr>
                    <a:solidFill>
                      <a:srgbClr val="113649"/>
                    </a:solidFill>
                  </a:tcPr>
                </a:tc>
                <a:tc>
                  <a:txBody>
                    <a:bodyPr/>
                    <a:lstStyle/>
                    <a:p>
                      <a:pPr algn="ctr"/>
                      <a:r>
                        <a:rPr lang="es-CO" sz="1600" b="1">
                          <a:solidFill>
                            <a:schemeClr val="bg1"/>
                          </a:solidFill>
                        </a:rPr>
                        <a:t>Cálculo o proceso</a:t>
                      </a:r>
                    </a:p>
                  </a:txBody>
                  <a:tcPr>
                    <a:solidFill>
                      <a:srgbClr val="113649"/>
                    </a:solidFill>
                  </a:tcPr>
                </a:tc>
                <a:tc>
                  <a:txBody>
                    <a:bodyPr/>
                    <a:lstStyle/>
                    <a:p>
                      <a:pPr algn="ctr"/>
                      <a:r>
                        <a:rPr lang="es-CO" sz="1600" b="1">
                          <a:solidFill>
                            <a:schemeClr val="bg1"/>
                          </a:solidFill>
                        </a:rPr>
                        <a:t>Salida</a:t>
                      </a:r>
                    </a:p>
                  </a:txBody>
                  <a:tcPr>
                    <a:solidFill>
                      <a:srgbClr val="113649"/>
                    </a:solidFill>
                  </a:tcPr>
                </a:tc>
                <a:extLst>
                  <a:ext uri="{0D108BD9-81ED-4DB2-BD59-A6C34878D82A}">
                    <a16:rowId xmlns:a16="http://schemas.microsoft.com/office/drawing/2014/main" val="1757604693"/>
                  </a:ext>
                </a:extLst>
              </a:tr>
              <a:tr h="798967">
                <a:tc>
                  <a:txBody>
                    <a:bodyPr/>
                    <a:lstStyle/>
                    <a:p>
                      <a:r>
                        <a:rPr lang="es-CO" sz="1600" b="1"/>
                        <a:t>Cantidad de raciones disponibles</a:t>
                      </a:r>
                    </a:p>
                  </a:txBody>
                  <a:tcPr/>
                </a:tc>
                <a:tc rowSpan="2">
                  <a:txBody>
                    <a:bodyPr/>
                    <a:lstStyle/>
                    <a:p>
                      <a:pPr marL="342900" marR="0" lvl="0" indent="-342900" algn="l">
                        <a:lnSpc>
                          <a:spcPct val="100000"/>
                        </a:lnSpc>
                        <a:spcBef>
                          <a:spcPts val="0"/>
                        </a:spcBef>
                        <a:spcAft>
                          <a:spcPts val="0"/>
                        </a:spcAft>
                        <a:buAutoNum type="arabicPeriod"/>
                      </a:pPr>
                      <a:r>
                        <a:rPr lang="es-MX" sz="1600" b="1" i="0" u="none" strike="noStrike" baseline="0" noProof="0">
                          <a:solidFill>
                            <a:srgbClr val="000000"/>
                          </a:solidFill>
                          <a:effectLst/>
                          <a:latin typeface="Calibri"/>
                        </a:rPr>
                        <a:t>Ingresar el valor de la cantidad de raciones disponibles</a:t>
                      </a:r>
                      <a:r>
                        <a:rPr lang="es-MX" sz="1600" b="0" i="0" u="none" strike="noStrike" baseline="0" noProof="0">
                          <a:solidFill>
                            <a:srgbClr val="000000"/>
                          </a:solidFill>
                          <a:effectLst/>
                          <a:latin typeface="Calibri"/>
                        </a:rPr>
                        <a:t>.</a:t>
                      </a:r>
                      <a:endParaRPr lang="en-US" sz="1600" b="0" i="0" u="none" strike="noStrike" baseline="0" noProof="0">
                        <a:solidFill>
                          <a:srgbClr val="000000"/>
                        </a:solidFill>
                        <a:effectLst/>
                        <a:latin typeface="Calibri"/>
                      </a:endParaRPr>
                    </a:p>
                    <a:p>
                      <a:pPr marL="342900" marR="0" lvl="0" indent="-342900" algn="l">
                        <a:lnSpc>
                          <a:spcPct val="100000"/>
                        </a:lnSpc>
                        <a:spcBef>
                          <a:spcPts val="0"/>
                        </a:spcBef>
                        <a:spcAft>
                          <a:spcPts val="0"/>
                        </a:spcAft>
                        <a:buClr>
                          <a:srgbClr val="000000"/>
                        </a:buClr>
                        <a:buAutoNum type="arabicPeriod"/>
                      </a:pPr>
                      <a:r>
                        <a:rPr lang="es-MX" sz="1600" b="1" i="0" u="none" strike="noStrike" baseline="0" noProof="0">
                          <a:solidFill>
                            <a:srgbClr val="000000"/>
                          </a:solidFill>
                          <a:effectLst/>
                          <a:latin typeface="Calibri"/>
                        </a:rPr>
                        <a:t>Ingresar el valor de la cantidad de raciones pedidas</a:t>
                      </a:r>
                      <a:r>
                        <a:rPr lang="es-MX" sz="1600" b="0" i="0" u="none" strike="noStrike" baseline="0" noProof="0">
                          <a:solidFill>
                            <a:srgbClr val="000000"/>
                          </a:solidFill>
                          <a:effectLst/>
                          <a:latin typeface="Calibri"/>
                        </a:rPr>
                        <a:t>.</a:t>
                      </a:r>
                      <a:endParaRPr lang="en-US" sz="1600" b="0" i="0" u="none" strike="noStrike" baseline="0" noProof="0">
                        <a:solidFill>
                          <a:srgbClr val="000000"/>
                        </a:solidFill>
                        <a:effectLst/>
                        <a:latin typeface="Calibri"/>
                      </a:endParaRPr>
                    </a:p>
                    <a:p>
                      <a:pPr marL="342900" marR="0" lvl="0" indent="-342900" algn="l">
                        <a:lnSpc>
                          <a:spcPct val="100000"/>
                        </a:lnSpc>
                        <a:spcBef>
                          <a:spcPts val="0"/>
                        </a:spcBef>
                        <a:spcAft>
                          <a:spcPts val="0"/>
                        </a:spcAft>
                        <a:buClr>
                          <a:srgbClr val="000000"/>
                        </a:buClr>
                        <a:buAutoNum type="arabicPeriod"/>
                      </a:pPr>
                      <a:r>
                        <a:rPr lang="es-MX" sz="1600" b="1" i="0" u="none" strike="noStrike" baseline="0" noProof="0">
                          <a:solidFill>
                            <a:srgbClr val="000000"/>
                          </a:solidFill>
                          <a:effectLst/>
                          <a:latin typeface="Calibri"/>
                        </a:rPr>
                        <a:t>Comparar la cantidad de raciones pedidas con la cantidad de raciones disponibles</a:t>
                      </a:r>
                      <a:r>
                        <a:rPr lang="es-MX" sz="1600" b="0" i="0" u="none" strike="noStrike" baseline="0" noProof="0">
                          <a:solidFill>
                            <a:srgbClr val="000000"/>
                          </a:solidFill>
                          <a:effectLst/>
                          <a:latin typeface="Calibri"/>
                        </a:rPr>
                        <a:t>:</a:t>
                      </a:r>
                      <a:endParaRPr lang="en-US" sz="1600" b="0" i="0" u="none" strike="noStrike" baseline="0" noProof="0">
                        <a:solidFill>
                          <a:srgbClr val="000000"/>
                        </a:solidFill>
                        <a:effectLst/>
                        <a:latin typeface="Calibri"/>
                      </a:endParaRPr>
                    </a:p>
                    <a:p>
                      <a:pPr marL="742950" marR="0" lvl="1" indent="-285750" algn="l">
                        <a:lnSpc>
                          <a:spcPct val="100000"/>
                        </a:lnSpc>
                        <a:spcBef>
                          <a:spcPts val="0"/>
                        </a:spcBef>
                        <a:spcAft>
                          <a:spcPts val="0"/>
                        </a:spcAft>
                        <a:buClr>
                          <a:srgbClr val="000000"/>
                        </a:buClr>
                        <a:buFont typeface="Arial,Sans-Serif"/>
                        <a:buChar char="•"/>
                      </a:pPr>
                      <a:r>
                        <a:rPr lang="es-MX" sz="1600" b="0" i="0" u="none" strike="noStrike" baseline="0" noProof="0">
                          <a:solidFill>
                            <a:srgbClr val="000000"/>
                          </a:solidFill>
                          <a:effectLst/>
                          <a:latin typeface="Calibri"/>
                        </a:rPr>
                        <a:t>Si </a:t>
                      </a:r>
                      <a:r>
                        <a:rPr lang="es-MX" sz="1600" b="1" i="0" u="none" strike="noStrike" baseline="0" noProof="0">
                          <a:solidFill>
                            <a:srgbClr val="000000"/>
                          </a:solidFill>
                          <a:effectLst/>
                          <a:latin typeface="Calibri"/>
                        </a:rPr>
                        <a:t>cantidad de raciones pedidas</a:t>
                      </a:r>
                      <a:r>
                        <a:rPr lang="es-MX" sz="1600" b="0" i="0" u="none" strike="noStrike" baseline="0" noProof="0">
                          <a:solidFill>
                            <a:srgbClr val="000000"/>
                          </a:solidFill>
                          <a:effectLst/>
                          <a:latin typeface="Calibri"/>
                        </a:rPr>
                        <a:t> ≤ </a:t>
                      </a:r>
                      <a:r>
                        <a:rPr lang="es-MX" sz="1600" b="1" i="0" u="none" strike="noStrike" baseline="0" noProof="0">
                          <a:solidFill>
                            <a:srgbClr val="000000"/>
                          </a:solidFill>
                          <a:effectLst/>
                          <a:latin typeface="Calibri"/>
                        </a:rPr>
                        <a:t>cantidad de raciones disponibles</a:t>
                      </a:r>
                      <a:r>
                        <a:rPr lang="es-MX" sz="1600" b="0" i="0" u="none" strike="noStrike" baseline="0" noProof="0">
                          <a:solidFill>
                            <a:srgbClr val="000000"/>
                          </a:solidFill>
                          <a:effectLst/>
                          <a:latin typeface="Calibri"/>
                        </a:rPr>
                        <a:t>, clasificar el pedido como "Pedido disponible“</a:t>
                      </a:r>
                      <a:endParaRPr lang="en-US" sz="1600" b="0" i="0" u="none" strike="noStrike" baseline="0" noProof="0">
                        <a:solidFill>
                          <a:srgbClr val="000000"/>
                        </a:solidFill>
                        <a:effectLst/>
                        <a:latin typeface="Calibri"/>
                      </a:endParaRPr>
                    </a:p>
                    <a:p>
                      <a:pPr marL="742950" marR="0" lvl="1" indent="-285750" algn="l">
                        <a:lnSpc>
                          <a:spcPct val="100000"/>
                        </a:lnSpc>
                        <a:spcBef>
                          <a:spcPts val="0"/>
                        </a:spcBef>
                        <a:spcAft>
                          <a:spcPts val="0"/>
                        </a:spcAft>
                        <a:buClr>
                          <a:srgbClr val="000000"/>
                        </a:buClr>
                        <a:buFont typeface="Arial,Sans-Serif"/>
                        <a:buChar char="•"/>
                      </a:pPr>
                      <a:r>
                        <a:rPr lang="es-MX" sz="1600" b="0" i="0" u="none" strike="noStrike" baseline="0" noProof="0">
                          <a:solidFill>
                            <a:srgbClr val="000000"/>
                          </a:solidFill>
                          <a:effectLst/>
                          <a:latin typeface="Calibri"/>
                        </a:rPr>
                        <a:t>Si </a:t>
                      </a:r>
                      <a:r>
                        <a:rPr lang="es-MX" sz="1600" b="1" i="0" u="none" strike="noStrike" baseline="0" noProof="0">
                          <a:solidFill>
                            <a:srgbClr val="000000"/>
                          </a:solidFill>
                          <a:effectLst/>
                          <a:latin typeface="Calibri"/>
                        </a:rPr>
                        <a:t>cantidad de raciones pedidas</a:t>
                      </a:r>
                      <a:r>
                        <a:rPr lang="es-MX" sz="1600" b="0" i="0" u="none" strike="noStrike" baseline="0" noProof="0">
                          <a:solidFill>
                            <a:srgbClr val="000000"/>
                          </a:solidFill>
                          <a:effectLst/>
                          <a:latin typeface="Calibri"/>
                        </a:rPr>
                        <a:t> &gt; </a:t>
                      </a:r>
                      <a:r>
                        <a:rPr lang="es-MX" sz="1600" b="1" i="0" u="none" strike="noStrike" baseline="0" noProof="0">
                          <a:solidFill>
                            <a:srgbClr val="000000"/>
                          </a:solidFill>
                          <a:effectLst/>
                          <a:latin typeface="Calibri"/>
                        </a:rPr>
                        <a:t>cantidad de raciones disponibles</a:t>
                      </a:r>
                      <a:r>
                        <a:rPr lang="es-MX" sz="1600" b="0" i="0" u="none" strike="noStrike" baseline="0" noProof="0">
                          <a:solidFill>
                            <a:srgbClr val="000000"/>
                          </a:solidFill>
                          <a:effectLst/>
                          <a:latin typeface="Calibri"/>
                        </a:rPr>
                        <a:t>, clasificar el pedido como "Pedido agotado“</a:t>
                      </a:r>
                      <a:endParaRPr lang="en-US" sz="1600" b="0" i="0" u="none" strike="noStrike" baseline="0" noProof="0">
                        <a:solidFill>
                          <a:srgbClr val="000000"/>
                        </a:solidFill>
                        <a:effectLst/>
                        <a:latin typeface="Calibri"/>
                      </a:endParaRPr>
                    </a:p>
                    <a:p>
                      <a:pPr marL="457200" marR="0" lvl="1" indent="0" algn="l">
                        <a:lnSpc>
                          <a:spcPct val="100000"/>
                        </a:lnSpc>
                        <a:spcBef>
                          <a:spcPts val="0"/>
                        </a:spcBef>
                        <a:spcAft>
                          <a:spcPts val="0"/>
                        </a:spcAft>
                        <a:buNone/>
                      </a:pPr>
                      <a:r>
                        <a:rPr lang="es-MX" sz="1600" b="1" i="0" u="none" strike="noStrike" baseline="0" noProof="0">
                          <a:solidFill>
                            <a:srgbClr val="000000"/>
                          </a:solidFill>
                          <a:effectLst/>
                          <a:latin typeface="Calibri"/>
                        </a:rPr>
                        <a:t>4. Mostrar la clasificación del pedido</a:t>
                      </a:r>
                      <a:r>
                        <a:rPr lang="es-MX" sz="1600" b="0" i="0" u="none" strike="noStrike" baseline="0" noProof="0">
                          <a:solidFill>
                            <a:srgbClr val="000000"/>
                          </a:solidFill>
                          <a:effectLst/>
                          <a:latin typeface="Calibri"/>
                        </a:rPr>
                        <a:t> ("Pedido disponible" o "Pedido agotado").</a:t>
                      </a:r>
                      <a:endParaRPr lang="es-MX" sz="1600"/>
                    </a:p>
                  </a:txBody>
                  <a:tcPr/>
                </a:tc>
                <a:tc rowSpan="2">
                  <a:txBody>
                    <a:bodyPr/>
                    <a:lstStyle/>
                    <a:p>
                      <a:pPr lvl="0" algn="l">
                        <a:buNone/>
                      </a:pPr>
                      <a:r>
                        <a:rPr lang="es-MX" sz="1600" b="1" i="0" u="none" strike="noStrike" noProof="0">
                          <a:solidFill>
                            <a:srgbClr val="000000"/>
                          </a:solidFill>
                          <a:effectLst/>
                          <a:latin typeface="Calibri"/>
                        </a:rPr>
                        <a:t>Clasificación del pedido</a:t>
                      </a:r>
                      <a:r>
                        <a:rPr lang="es-MX" sz="1600" b="0" i="0" u="none" strike="noStrike" noProof="0">
                          <a:solidFill>
                            <a:srgbClr val="000000"/>
                          </a:solidFill>
                          <a:effectLst/>
                          <a:latin typeface="Calibri"/>
                        </a:rPr>
                        <a:t> ("Pedido disponible" o "Pedido agotado")</a:t>
                      </a:r>
                      <a:endParaRPr lang="es-ES" sz="1600"/>
                    </a:p>
                  </a:txBody>
                  <a:tcPr/>
                </a:tc>
                <a:extLst>
                  <a:ext uri="{0D108BD9-81ED-4DB2-BD59-A6C34878D82A}">
                    <a16:rowId xmlns:a16="http://schemas.microsoft.com/office/drawing/2014/main" val="1241007629"/>
                  </a:ext>
                </a:extLst>
              </a:tr>
              <a:tr h="762433">
                <a:tc>
                  <a:txBody>
                    <a:bodyPr/>
                    <a:lstStyle/>
                    <a:p>
                      <a:pPr marL="0" marR="0" lvl="0" indent="0" algn="l" rtl="0" eaLnBrk="1" fontAlgn="auto" latinLnBrk="0" hangingPunct="1">
                        <a:lnSpc>
                          <a:spcPct val="100000"/>
                        </a:lnSpc>
                        <a:spcBef>
                          <a:spcPts val="0"/>
                        </a:spcBef>
                        <a:spcAft>
                          <a:spcPts val="0"/>
                        </a:spcAft>
                        <a:buClrTx/>
                        <a:buSzTx/>
                        <a:buFontTx/>
                        <a:buNone/>
                      </a:pPr>
                      <a:r>
                        <a:rPr lang="es-CO" sz="1600" b="1"/>
                        <a:t>Cantidad de raciones pedidas</a:t>
                      </a:r>
                    </a:p>
                  </a:txBody>
                  <a:tcPr/>
                </a:tc>
                <a:tc vMerge="1">
                  <a:txBody>
                    <a:bodyPr/>
                    <a:lstStyle/>
                    <a:p>
                      <a:pPr algn="l" fontAlgn="b"/>
                      <a:endParaRPr lang="es-CO" sz="1600" b="0" i="0" u="none" strike="noStrike">
                        <a:solidFill>
                          <a:srgbClr val="000000"/>
                        </a:solidFill>
                        <a:effectLst/>
                        <a:latin typeface="Calibri" panose="020F0502020204030204" pitchFamily="34" charset="0"/>
                      </a:endParaRPr>
                    </a:p>
                  </a:txBody>
                  <a:tcPr/>
                </a:tc>
                <a:tc vMerge="1">
                  <a:txBody>
                    <a:bodyPr/>
                    <a:lstStyle/>
                    <a:p>
                      <a:endParaRPr lang="es-CO" sz="1600" b="0" i="0" u="none" strike="noStrike">
                        <a:solidFill>
                          <a:srgbClr val="000000"/>
                        </a:solidFill>
                        <a:effectLst/>
                        <a:latin typeface="Calibri" panose="020F0502020204030204" pitchFamily="34" charset="0"/>
                      </a:endParaRPr>
                    </a:p>
                  </a:txBody>
                  <a:tcPr/>
                </a:tc>
                <a:extLst>
                  <a:ext uri="{0D108BD9-81ED-4DB2-BD59-A6C34878D82A}">
                    <a16:rowId xmlns:a16="http://schemas.microsoft.com/office/drawing/2014/main" val="229120431"/>
                  </a:ext>
                </a:extLst>
              </a:tr>
            </a:tbl>
          </a:graphicData>
        </a:graphic>
      </p:graphicFrame>
    </p:spTree>
    <p:extLst>
      <p:ext uri="{BB962C8B-B14F-4D97-AF65-F5344CB8AC3E}">
        <p14:creationId xmlns:p14="http://schemas.microsoft.com/office/powerpoint/2010/main" val="227517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891B1-7B34-5345-964D-05DA34D90A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764CCE-5C74-B043-BBD7-E737666F1BDF}"/>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BE476ABE-BC7B-1C6D-03C3-1A6428778E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26</a:t>
            </a:fld>
            <a:endParaRPr lang="es-CO"/>
          </a:p>
        </p:txBody>
      </p:sp>
      <p:sp>
        <p:nvSpPr>
          <p:cNvPr id="6" name="Título 4">
            <a:extLst>
              <a:ext uri="{FF2B5EF4-FFF2-40B4-BE49-F238E27FC236}">
                <a16:creationId xmlns:a16="http://schemas.microsoft.com/office/drawing/2014/main" id="{B4C39D8B-BADB-E586-A52C-933A9514BB1E}"/>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2. Diseño de la solución</a:t>
            </a:r>
          </a:p>
        </p:txBody>
      </p:sp>
      <p:sp>
        <p:nvSpPr>
          <p:cNvPr id="8" name="CuadroTexto 7">
            <a:extLst>
              <a:ext uri="{FF2B5EF4-FFF2-40B4-BE49-F238E27FC236}">
                <a16:creationId xmlns:a16="http://schemas.microsoft.com/office/drawing/2014/main" id="{D5A93EC8-0E2A-CA6C-BB5B-F0D0B0599061}"/>
              </a:ext>
            </a:extLst>
          </p:cNvPr>
          <p:cNvSpPr txBox="1"/>
          <p:nvPr/>
        </p:nvSpPr>
        <p:spPr>
          <a:xfrm>
            <a:off x="2644470" y="1931636"/>
            <a:ext cx="8765651" cy="1384995"/>
          </a:xfrm>
          <a:prstGeom prst="rect">
            <a:avLst/>
          </a:prstGeom>
          <a:noFill/>
        </p:spPr>
        <p:txBody>
          <a:bodyPr wrap="square" lIns="91440" tIns="45720" rIns="91440" bIns="45720" anchor="t">
            <a:spAutoFit/>
          </a:bodyPr>
          <a:lstStyle/>
          <a:p>
            <a:r>
              <a:rPr lang="es-ES" sz="2400" b="1"/>
              <a:t>2.1 Reconocimiento de patrones </a:t>
            </a:r>
            <a:r>
              <a:rPr lang="es-ES" sz="2400" b="1">
                <a:solidFill>
                  <a:srgbClr val="009BAF"/>
                </a:solidFill>
                <a:ea typeface="Calibri"/>
                <a:cs typeface="Calibri"/>
              </a:rPr>
              <a:t>(2 minutos)</a:t>
            </a:r>
            <a:endParaRPr lang="es-ES" sz="2400" b="1"/>
          </a:p>
          <a:p>
            <a:pPr marL="342900" indent="-342900">
              <a:buClr>
                <a:srgbClr val="02C9B6"/>
              </a:buClr>
              <a:buFont typeface="Arial" panose="020B0604020202020204" pitchFamily="34" charset="0"/>
              <a:buChar char="•"/>
            </a:pPr>
            <a:r>
              <a:rPr lang="es-ES" sz="2000" b="1">
                <a:ea typeface="Calibri"/>
                <a:cs typeface="Calibri"/>
              </a:rPr>
              <a:t>Listar las definiciones, fórmulas, </a:t>
            </a:r>
            <a:r>
              <a:rPr lang="es-MX" sz="2000" b="1">
                <a:ea typeface="Calibri"/>
                <a:cs typeface="Calibri"/>
              </a:rPr>
              <a:t>métodos o estructuras conocidas que pueden utilizarse en la solución</a:t>
            </a:r>
          </a:p>
          <a:p>
            <a:pPr marL="342900" indent="-342900">
              <a:buClr>
                <a:srgbClr val="02C9B6"/>
              </a:buClr>
              <a:buFont typeface="Arial" panose="020B0604020202020204" pitchFamily="34" charset="0"/>
              <a:buChar char="•"/>
            </a:pPr>
            <a:endParaRPr lang="es-MX" sz="2000" b="1">
              <a:ea typeface="Calibri"/>
              <a:cs typeface="Calibri"/>
            </a:endParaRPr>
          </a:p>
        </p:txBody>
      </p:sp>
      <p:sp>
        <p:nvSpPr>
          <p:cNvPr id="11" name="CuadroTexto 10">
            <a:extLst>
              <a:ext uri="{FF2B5EF4-FFF2-40B4-BE49-F238E27FC236}">
                <a16:creationId xmlns:a16="http://schemas.microsoft.com/office/drawing/2014/main" id="{4C096D44-E59E-64A0-3356-214684DE86B7}"/>
              </a:ext>
            </a:extLst>
          </p:cNvPr>
          <p:cNvSpPr txBox="1"/>
          <p:nvPr/>
        </p:nvSpPr>
        <p:spPr>
          <a:xfrm>
            <a:off x="2644469" y="4975962"/>
            <a:ext cx="8765651" cy="707886"/>
          </a:xfrm>
          <a:prstGeom prst="rect">
            <a:avLst/>
          </a:prstGeom>
          <a:noFill/>
        </p:spPr>
        <p:txBody>
          <a:bodyPr wrap="square" lIns="91440" tIns="45720" rIns="91440" bIns="45720" anchor="t">
            <a:spAutoFit/>
          </a:bodyPr>
          <a:lstStyle/>
          <a:p>
            <a:pPr marL="76200" algn="just"/>
            <a:r>
              <a:rPr lang="es-ES" sz="2000" b="1"/>
              <a:t>Nota:</a:t>
            </a:r>
            <a:r>
              <a:rPr lang="es-ES" sz="2000"/>
              <a:t> </a:t>
            </a:r>
            <a:r>
              <a:rPr lang="es-MX" sz="2000"/>
              <a:t>Esta fórmula no es matemática en sí, pero es un concepto de comparación utilizado en la programación para tomar decisiones.</a:t>
            </a:r>
            <a:endParaRPr lang="es-ES" sz="2000"/>
          </a:p>
        </p:txBody>
      </p:sp>
      <p:sp>
        <p:nvSpPr>
          <p:cNvPr id="12" name="CuadroTexto 11">
            <a:extLst>
              <a:ext uri="{FF2B5EF4-FFF2-40B4-BE49-F238E27FC236}">
                <a16:creationId xmlns:a16="http://schemas.microsoft.com/office/drawing/2014/main" id="{2C3A8CC6-B475-F6FB-FEB6-74006BA2F3C7}"/>
              </a:ext>
            </a:extLst>
          </p:cNvPr>
          <p:cNvSpPr txBox="1"/>
          <p:nvPr/>
        </p:nvSpPr>
        <p:spPr>
          <a:xfrm>
            <a:off x="2644470" y="3170493"/>
            <a:ext cx="8778114" cy="1631216"/>
          </a:xfrm>
          <a:prstGeom prst="rect">
            <a:avLst/>
          </a:prstGeom>
          <a:noFill/>
        </p:spPr>
        <p:txBody>
          <a:bodyPr wrap="square" lIns="91440" tIns="45720" rIns="91440" bIns="45720" anchor="t">
            <a:spAutoFit/>
          </a:bodyPr>
          <a:lstStyle/>
          <a:p>
            <a:pPr marL="76200" indent="0" algn="just">
              <a:buNone/>
            </a:pPr>
            <a:r>
              <a:rPr lang="es-CO" sz="2000" b="1">
                <a:ea typeface="Calibri"/>
                <a:cs typeface="Calibri"/>
              </a:rPr>
              <a:t>Cálculo: </a:t>
            </a:r>
          </a:p>
          <a:p>
            <a:pPr marL="76200" algn="just"/>
            <a:r>
              <a:rPr lang="es-MX" sz="2000">
                <a:ea typeface="Calibri"/>
                <a:cs typeface="Calibri"/>
              </a:rPr>
              <a:t>Si </a:t>
            </a:r>
            <a:r>
              <a:rPr lang="es-MX" sz="2000" b="1">
                <a:ea typeface="Calibri"/>
                <a:cs typeface="Calibri"/>
              </a:rPr>
              <a:t>cantidad de raciones pedidas</a:t>
            </a:r>
            <a:r>
              <a:rPr lang="es-MX" sz="2000">
                <a:ea typeface="Calibri"/>
                <a:cs typeface="Calibri"/>
              </a:rPr>
              <a:t> ≤ </a:t>
            </a:r>
            <a:r>
              <a:rPr lang="es-MX" sz="2000" b="1">
                <a:ea typeface="Calibri"/>
                <a:cs typeface="Calibri"/>
              </a:rPr>
              <a:t>cantidad de raciones disponibles</a:t>
            </a:r>
            <a:r>
              <a:rPr lang="es-MX" sz="2000">
                <a:ea typeface="Calibri"/>
                <a:cs typeface="Calibri"/>
              </a:rPr>
              <a:t> → "Pedido disponible“</a:t>
            </a:r>
            <a:endParaRPr lang="en-US" sz="2000">
              <a:ea typeface="Calibri"/>
              <a:cs typeface="Calibri"/>
            </a:endParaRPr>
          </a:p>
          <a:p>
            <a:pPr marL="76200" algn="just"/>
            <a:r>
              <a:rPr lang="es-MX" sz="2000">
                <a:ea typeface="Calibri"/>
                <a:cs typeface="Calibri"/>
              </a:rPr>
              <a:t>Si </a:t>
            </a:r>
            <a:r>
              <a:rPr lang="es-MX" sz="2000" b="1">
                <a:ea typeface="Calibri"/>
                <a:cs typeface="Calibri"/>
              </a:rPr>
              <a:t>cantidad de raciones pedidas</a:t>
            </a:r>
            <a:r>
              <a:rPr lang="es-MX" sz="2000">
                <a:ea typeface="Calibri"/>
                <a:cs typeface="Calibri"/>
              </a:rPr>
              <a:t> &gt; </a:t>
            </a:r>
            <a:r>
              <a:rPr lang="es-MX" sz="2000" b="1">
                <a:ea typeface="Calibri"/>
                <a:cs typeface="Calibri"/>
              </a:rPr>
              <a:t>cantidad de raciones disponibles</a:t>
            </a:r>
            <a:r>
              <a:rPr lang="es-MX" sz="2000">
                <a:ea typeface="Calibri"/>
                <a:cs typeface="Calibri"/>
              </a:rPr>
              <a:t> → "Pedido agotado“</a:t>
            </a:r>
            <a:endParaRPr lang="es-CO"/>
          </a:p>
        </p:txBody>
      </p:sp>
    </p:spTree>
    <p:extLst>
      <p:ext uri="{BB962C8B-B14F-4D97-AF65-F5344CB8AC3E}">
        <p14:creationId xmlns:p14="http://schemas.microsoft.com/office/powerpoint/2010/main" val="234644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13391-03C3-DF5B-CD69-1FB6C9711C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8D3325-8719-559F-987E-E8117DB76907}"/>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590D7882-E7F3-FE63-2954-AFC107F6F8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27</a:t>
            </a:fld>
            <a:endParaRPr lang="es-CO"/>
          </a:p>
        </p:txBody>
      </p:sp>
      <p:sp>
        <p:nvSpPr>
          <p:cNvPr id="17" name="CuadroTexto 16">
            <a:extLst>
              <a:ext uri="{FF2B5EF4-FFF2-40B4-BE49-F238E27FC236}">
                <a16:creationId xmlns:a16="http://schemas.microsoft.com/office/drawing/2014/main" id="{A34AF382-1528-46EB-356C-49EE0EF5DDEB}"/>
              </a:ext>
            </a:extLst>
          </p:cNvPr>
          <p:cNvSpPr txBox="1"/>
          <p:nvPr/>
        </p:nvSpPr>
        <p:spPr>
          <a:xfrm>
            <a:off x="2147149" y="1868266"/>
            <a:ext cx="4701575" cy="1292662"/>
          </a:xfrm>
          <a:prstGeom prst="rect">
            <a:avLst/>
          </a:prstGeom>
          <a:noFill/>
        </p:spPr>
        <p:txBody>
          <a:bodyPr wrap="square" lIns="91440" tIns="45720" rIns="91440" bIns="45720" anchor="t">
            <a:spAutoFit/>
          </a:bodyPr>
          <a:lstStyle/>
          <a:p>
            <a:r>
              <a:rPr lang="es-ES" sz="2400" b="1"/>
              <a:t>2.2 Lógica y algoritmia </a:t>
            </a:r>
            <a:r>
              <a:rPr lang="es-ES" sz="2400" b="1">
                <a:solidFill>
                  <a:srgbClr val="009BAF"/>
                </a:solidFill>
                <a:ea typeface="Calibri"/>
                <a:cs typeface="Calibri"/>
              </a:rPr>
              <a:t>(5 minutos)</a:t>
            </a:r>
            <a:endParaRPr lang="es-ES" sz="2400" b="1"/>
          </a:p>
          <a:p>
            <a:endParaRPr lang="es-ES" sz="1400" b="1"/>
          </a:p>
          <a:p>
            <a:pPr marL="285750" indent="-285750">
              <a:buClr>
                <a:srgbClr val="02C9B6"/>
              </a:buClr>
              <a:buFont typeface="Arial" panose="020B0604020202020204" pitchFamily="34" charset="0"/>
              <a:buChar char="•"/>
            </a:pPr>
            <a:r>
              <a:rPr lang="es-ES" sz="2000" b="1">
                <a:ea typeface="Calibri"/>
                <a:cs typeface="Calibri"/>
              </a:rPr>
              <a:t>Dibujar el diagrama de flujo que represente la solución</a:t>
            </a:r>
          </a:p>
        </p:txBody>
      </p:sp>
      <p:sp>
        <p:nvSpPr>
          <p:cNvPr id="6" name="Título 4">
            <a:extLst>
              <a:ext uri="{FF2B5EF4-FFF2-40B4-BE49-F238E27FC236}">
                <a16:creationId xmlns:a16="http://schemas.microsoft.com/office/drawing/2014/main" id="{34BA61C4-F6F2-9360-B2AF-99B49B2C3F70}"/>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2. Diseño de la solución</a:t>
            </a:r>
          </a:p>
        </p:txBody>
      </p:sp>
      <p:sp>
        <p:nvSpPr>
          <p:cNvPr id="8" name="CuadroTexto 7">
            <a:extLst>
              <a:ext uri="{FF2B5EF4-FFF2-40B4-BE49-F238E27FC236}">
                <a16:creationId xmlns:a16="http://schemas.microsoft.com/office/drawing/2014/main" id="{5E613574-5B71-5C6F-2B23-66CAFAC22748}"/>
              </a:ext>
            </a:extLst>
          </p:cNvPr>
          <p:cNvSpPr txBox="1"/>
          <p:nvPr/>
        </p:nvSpPr>
        <p:spPr>
          <a:xfrm>
            <a:off x="7293951" y="1863377"/>
            <a:ext cx="4701575" cy="4524315"/>
          </a:xfrm>
          <a:prstGeom prst="rect">
            <a:avLst/>
          </a:prstGeom>
          <a:noFill/>
        </p:spPr>
        <p:txBody>
          <a:bodyPr wrap="square" lIns="91440" tIns="45720" rIns="91440" bIns="45720" anchor="t">
            <a:spAutoFit/>
          </a:bodyPr>
          <a:lstStyle/>
          <a:p>
            <a:pPr marL="285750" indent="-285750">
              <a:buClr>
                <a:srgbClr val="02C9B6"/>
              </a:buClr>
              <a:buFont typeface="Arial" panose="020B0604020202020204" pitchFamily="34" charset="0"/>
              <a:buChar char="•"/>
            </a:pPr>
            <a:r>
              <a:rPr lang="es-ES" sz="2000" b="1" dirty="0">
                <a:ea typeface="Calibri"/>
                <a:cs typeface="Calibri"/>
              </a:rPr>
              <a:t>Escribir una secuencia de pasos para resolver el problema</a:t>
            </a:r>
          </a:p>
          <a:p>
            <a:pPr>
              <a:buClr>
                <a:srgbClr val="02C9B6"/>
              </a:buClr>
            </a:pPr>
            <a:r>
              <a:rPr lang="es-ES" sz="1600" dirty="0">
                <a:ea typeface="Calibri"/>
                <a:cs typeface="Calibri"/>
              </a:rPr>
              <a:t>Inicio</a:t>
            </a:r>
            <a:endParaRPr lang="en-US" sz="1600" dirty="0">
              <a:ea typeface="Calibri"/>
              <a:cs typeface="Calibri"/>
            </a:endParaRPr>
          </a:p>
          <a:p>
            <a:pPr>
              <a:buClr>
                <a:srgbClr val="02C9B6"/>
              </a:buClr>
            </a:pPr>
            <a:r>
              <a:rPr lang="es-ES" sz="1600" dirty="0">
                <a:ea typeface="Calibri"/>
                <a:cs typeface="Calibri"/>
              </a:rPr>
              <a:t>   </a:t>
            </a:r>
            <a:r>
              <a:rPr lang="es-ES" sz="1600" i="1" dirty="0">
                <a:ea typeface="Calibri"/>
                <a:cs typeface="Calibri"/>
              </a:rPr>
              <a:t>Paso 1: </a:t>
            </a:r>
            <a:r>
              <a:rPr lang="es-MX" sz="1600" dirty="0"/>
              <a:t>Ingresar la cantidad de raciones disponibles</a:t>
            </a:r>
            <a:endParaRPr lang="en-US" sz="1600" dirty="0">
              <a:ea typeface="Calibri"/>
              <a:cs typeface="Calibri"/>
            </a:endParaRPr>
          </a:p>
          <a:p>
            <a:pPr>
              <a:buClr>
                <a:srgbClr val="02C9B6"/>
              </a:buClr>
            </a:pPr>
            <a:r>
              <a:rPr lang="es-ES" sz="1600" dirty="0">
                <a:ea typeface="Calibri"/>
                <a:cs typeface="Calibri"/>
              </a:rPr>
              <a:t>   </a:t>
            </a:r>
            <a:r>
              <a:rPr lang="es-ES" sz="1600" i="1" dirty="0">
                <a:ea typeface="Calibri"/>
                <a:cs typeface="Calibri"/>
              </a:rPr>
              <a:t>Paso 2:</a:t>
            </a:r>
            <a:r>
              <a:rPr lang="es-ES" sz="1600" dirty="0">
                <a:ea typeface="Calibri"/>
                <a:cs typeface="Calibri"/>
              </a:rPr>
              <a:t> </a:t>
            </a:r>
            <a:r>
              <a:rPr lang="es-MX" sz="1600" dirty="0"/>
              <a:t>Ingresar la cantidad de raciones pedidas</a:t>
            </a:r>
            <a:endParaRPr lang="en-US" sz="1600" dirty="0">
              <a:ea typeface="Calibri"/>
              <a:cs typeface="Calibri"/>
            </a:endParaRPr>
          </a:p>
          <a:p>
            <a:pPr>
              <a:buClr>
                <a:srgbClr val="02C9B6"/>
              </a:buClr>
            </a:pPr>
            <a:r>
              <a:rPr lang="es-CO" sz="1600" i="1" dirty="0">
                <a:ea typeface="Calibri"/>
                <a:cs typeface="Calibri"/>
              </a:rPr>
              <a:t>   Paso 3: </a:t>
            </a:r>
            <a:r>
              <a:rPr lang="es-CO" sz="1600" dirty="0">
                <a:ea typeface="Calibri"/>
                <a:cs typeface="Calibri"/>
              </a:rPr>
              <a:t>Preguntar si </a:t>
            </a:r>
            <a:r>
              <a:rPr lang="es-CO" sz="1600" dirty="0"/>
              <a:t>raciones pedidas &lt;= raciones disponibles</a:t>
            </a:r>
            <a:endParaRPr lang="es-CO" sz="1600" dirty="0">
              <a:ea typeface="Calibri"/>
              <a:cs typeface="Calibri"/>
            </a:endParaRPr>
          </a:p>
          <a:p>
            <a:pPr>
              <a:buClr>
                <a:srgbClr val="02C9B6"/>
              </a:buClr>
            </a:pPr>
            <a:r>
              <a:rPr lang="es-CO" sz="1600" dirty="0">
                <a:ea typeface="Calibri"/>
                <a:cs typeface="Calibri"/>
              </a:rPr>
              <a:t>      </a:t>
            </a:r>
            <a:r>
              <a:rPr lang="es-CO" sz="1600" i="1" dirty="0">
                <a:ea typeface="Calibri"/>
                <a:cs typeface="Calibri"/>
              </a:rPr>
              <a:t>Paso 4:</a:t>
            </a:r>
            <a:r>
              <a:rPr lang="es-CO" sz="1600" dirty="0">
                <a:ea typeface="Calibri"/>
                <a:cs typeface="Calibri"/>
              </a:rPr>
              <a:t> Si </a:t>
            </a:r>
            <a:r>
              <a:rPr lang="es-CO" sz="1600" dirty="0"/>
              <a:t>raciones pedidas &lt;= raciones disponibles</a:t>
            </a:r>
            <a:r>
              <a:rPr lang="es-CO" sz="1600" dirty="0">
                <a:ea typeface="Calibri"/>
                <a:cs typeface="Calibri"/>
              </a:rPr>
              <a:t>, mostrar </a:t>
            </a:r>
            <a:r>
              <a:rPr lang="es-CO" sz="1600" i="1" dirty="0">
                <a:ea typeface="Calibri"/>
                <a:cs typeface="Calibri"/>
              </a:rPr>
              <a:t>“Pedido disponible”</a:t>
            </a:r>
          </a:p>
          <a:p>
            <a:pPr>
              <a:buClr>
                <a:srgbClr val="02C9B6"/>
              </a:buClr>
            </a:pPr>
            <a:r>
              <a:rPr lang="es-CO" sz="1600" dirty="0">
                <a:ea typeface="Calibri"/>
                <a:cs typeface="Calibri"/>
              </a:rPr>
              <a:t>      </a:t>
            </a:r>
            <a:r>
              <a:rPr lang="es-CO" sz="1600" i="1" dirty="0">
                <a:ea typeface="Calibri"/>
                <a:cs typeface="Calibri"/>
              </a:rPr>
              <a:t>Paso 5:</a:t>
            </a:r>
            <a:r>
              <a:rPr lang="es-CO" sz="1600" dirty="0">
                <a:ea typeface="Calibri"/>
                <a:cs typeface="Calibri"/>
              </a:rPr>
              <a:t> Si </a:t>
            </a:r>
            <a:r>
              <a:rPr lang="es-CO" sz="1600" dirty="0"/>
              <a:t>raciones pedidas &gt; raciones disponibles</a:t>
            </a:r>
            <a:r>
              <a:rPr lang="es-CO" sz="1600" dirty="0">
                <a:ea typeface="Calibri"/>
                <a:cs typeface="Calibri"/>
              </a:rPr>
              <a:t>, mostrar </a:t>
            </a:r>
            <a:r>
              <a:rPr lang="es-CO" sz="1600" i="1" dirty="0">
                <a:ea typeface="Calibri"/>
                <a:cs typeface="Calibri"/>
              </a:rPr>
              <a:t>“Pedido agotado”</a:t>
            </a:r>
          </a:p>
          <a:p>
            <a:pPr>
              <a:buClr>
                <a:srgbClr val="02C9B6"/>
              </a:buClr>
            </a:pPr>
            <a:r>
              <a:rPr lang="es-CO" sz="1600" dirty="0">
                <a:ea typeface="Calibri"/>
                <a:cs typeface="Calibri"/>
              </a:rPr>
              <a:t>   </a:t>
            </a:r>
            <a:r>
              <a:rPr lang="es-CO" sz="1600" i="1" dirty="0">
                <a:ea typeface="Calibri"/>
                <a:cs typeface="Calibri"/>
              </a:rPr>
              <a:t>Paso 6:</a:t>
            </a:r>
            <a:r>
              <a:rPr lang="es-CO" sz="1600" dirty="0">
                <a:ea typeface="Calibri"/>
                <a:cs typeface="Calibri"/>
              </a:rPr>
              <a:t> Preguntar si hay más pedidos</a:t>
            </a:r>
          </a:p>
          <a:p>
            <a:pPr>
              <a:buClr>
                <a:srgbClr val="02C9B6"/>
              </a:buClr>
            </a:pPr>
            <a:r>
              <a:rPr lang="es-CO" sz="1600" dirty="0">
                <a:ea typeface="Calibri"/>
                <a:cs typeface="Calibri"/>
              </a:rPr>
              <a:t>      </a:t>
            </a:r>
            <a:r>
              <a:rPr lang="es-CO" sz="1600" i="1" dirty="0">
                <a:ea typeface="Calibri"/>
                <a:cs typeface="Calibri"/>
              </a:rPr>
              <a:t>Paso 7:</a:t>
            </a:r>
            <a:r>
              <a:rPr lang="es-CO" sz="1600" dirty="0">
                <a:ea typeface="Calibri"/>
                <a:cs typeface="Calibri"/>
              </a:rPr>
              <a:t> Si hay más pedidos, volver al Paso 1</a:t>
            </a:r>
          </a:p>
          <a:p>
            <a:pPr>
              <a:buClr>
                <a:srgbClr val="02C9B6"/>
              </a:buClr>
            </a:pPr>
            <a:r>
              <a:rPr lang="es-CO" sz="1600" dirty="0">
                <a:ea typeface="Calibri"/>
                <a:cs typeface="Calibri"/>
              </a:rPr>
              <a:t>      </a:t>
            </a:r>
            <a:r>
              <a:rPr lang="es-CO" sz="1600" i="1" dirty="0">
                <a:ea typeface="Calibri"/>
                <a:cs typeface="Calibri"/>
              </a:rPr>
              <a:t>Paso 8: </a:t>
            </a:r>
            <a:r>
              <a:rPr lang="es-CO" sz="1600" dirty="0">
                <a:ea typeface="Calibri"/>
                <a:cs typeface="Calibri"/>
              </a:rPr>
              <a:t>Si no hay más pedidos, no hacer nada</a:t>
            </a:r>
            <a:endParaRPr lang="en-US" sz="1600" dirty="0">
              <a:ea typeface="Calibri"/>
              <a:cs typeface="Calibri"/>
            </a:endParaRPr>
          </a:p>
          <a:p>
            <a:pPr>
              <a:buClr>
                <a:srgbClr val="02C9B6"/>
              </a:buClr>
            </a:pPr>
            <a:r>
              <a:rPr lang="es-ES" sz="1600" dirty="0">
                <a:ea typeface="Calibri"/>
                <a:cs typeface="Calibri"/>
              </a:rPr>
              <a:t>Fin</a:t>
            </a:r>
            <a:endParaRPr lang="en-US" sz="1600" dirty="0">
              <a:ea typeface="Calibri"/>
              <a:cs typeface="Calibri"/>
            </a:endParaRPr>
          </a:p>
          <a:p>
            <a:pPr marL="285750" indent="-285750">
              <a:buClr>
                <a:srgbClr val="02C9B6"/>
              </a:buClr>
              <a:buFont typeface="Arial" panose="020B0604020202020204" pitchFamily="34" charset="0"/>
              <a:buChar char="•"/>
            </a:pPr>
            <a:endParaRPr lang="es-ES" sz="2000" b="1" dirty="0">
              <a:ea typeface="Calibri"/>
              <a:cs typeface="Calibri"/>
            </a:endParaRPr>
          </a:p>
          <a:p>
            <a:pPr marL="285750" indent="-285750">
              <a:buClr>
                <a:srgbClr val="02C9B6"/>
              </a:buClr>
              <a:buFont typeface="Arial" panose="020B0604020202020204" pitchFamily="34" charset="0"/>
              <a:buChar char="•"/>
            </a:pPr>
            <a:endParaRPr lang="es-ES" sz="2000" b="1" dirty="0">
              <a:ea typeface="Calibri"/>
              <a:cs typeface="Calibri"/>
            </a:endParaRPr>
          </a:p>
        </p:txBody>
      </p:sp>
      <p:grpSp>
        <p:nvGrpSpPr>
          <p:cNvPr id="13" name="Grupo 12">
            <a:extLst>
              <a:ext uri="{FF2B5EF4-FFF2-40B4-BE49-F238E27FC236}">
                <a16:creationId xmlns:a16="http://schemas.microsoft.com/office/drawing/2014/main" id="{DBBB3087-71E6-08D4-1DF5-25CC8774766D}"/>
              </a:ext>
            </a:extLst>
          </p:cNvPr>
          <p:cNvGrpSpPr/>
          <p:nvPr/>
        </p:nvGrpSpPr>
        <p:grpSpPr>
          <a:xfrm>
            <a:off x="2118409" y="3191645"/>
            <a:ext cx="4934765" cy="3347996"/>
            <a:chOff x="2118409" y="3191645"/>
            <a:chExt cx="4934765" cy="3347996"/>
          </a:xfrm>
        </p:grpSpPr>
        <p:sp>
          <p:nvSpPr>
            <p:cNvPr id="19" name="Diagrama de flujo: terminador 3">
              <a:extLst>
                <a:ext uri="{FF2B5EF4-FFF2-40B4-BE49-F238E27FC236}">
                  <a16:creationId xmlns:a16="http://schemas.microsoft.com/office/drawing/2014/main" id="{10668978-4E95-8AE6-37A7-3498B1663DE6}"/>
                </a:ext>
              </a:extLst>
            </p:cNvPr>
            <p:cNvSpPr/>
            <p:nvPr/>
          </p:nvSpPr>
          <p:spPr>
            <a:xfrm>
              <a:off x="2909195" y="3191645"/>
              <a:ext cx="716659" cy="186981"/>
            </a:xfrm>
            <a:prstGeom prst="flowChartTerminator">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t>Inicio</a:t>
              </a:r>
            </a:p>
          </p:txBody>
        </p:sp>
        <p:sp>
          <p:nvSpPr>
            <p:cNvPr id="23" name="Rectángulo 22">
              <a:extLst>
                <a:ext uri="{FF2B5EF4-FFF2-40B4-BE49-F238E27FC236}">
                  <a16:creationId xmlns:a16="http://schemas.microsoft.com/office/drawing/2014/main" id="{D6786A94-330E-435E-A334-81F84A65E762}"/>
                </a:ext>
              </a:extLst>
            </p:cNvPr>
            <p:cNvSpPr/>
            <p:nvPr/>
          </p:nvSpPr>
          <p:spPr>
            <a:xfrm>
              <a:off x="2305315" y="3611966"/>
              <a:ext cx="1907474" cy="431804"/>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a:t>Ingresar la cantidad de raciones disponibles</a:t>
              </a:r>
              <a:endParaRPr lang="es-CO" sz="1000"/>
            </a:p>
          </p:txBody>
        </p:sp>
        <p:sp>
          <p:nvSpPr>
            <p:cNvPr id="24" name="Rombo 23">
              <a:extLst>
                <a:ext uri="{FF2B5EF4-FFF2-40B4-BE49-F238E27FC236}">
                  <a16:creationId xmlns:a16="http://schemas.microsoft.com/office/drawing/2014/main" id="{37F6E475-77B2-3198-FFBF-16D539BF0D92}"/>
                </a:ext>
              </a:extLst>
            </p:cNvPr>
            <p:cNvSpPr/>
            <p:nvPr/>
          </p:nvSpPr>
          <p:spPr>
            <a:xfrm>
              <a:off x="2473344" y="4869342"/>
              <a:ext cx="1572481" cy="959800"/>
            </a:xfrm>
            <a:prstGeom prst="diamond">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CO" sz="1000"/>
                <a:t>Raciones pedidas &lt;= raciones disponibles</a:t>
              </a:r>
            </a:p>
          </p:txBody>
        </p:sp>
        <p:cxnSp>
          <p:nvCxnSpPr>
            <p:cNvPr id="28" name="Conector recto de flecha 27">
              <a:extLst>
                <a:ext uri="{FF2B5EF4-FFF2-40B4-BE49-F238E27FC236}">
                  <a16:creationId xmlns:a16="http://schemas.microsoft.com/office/drawing/2014/main" id="{B9D9193D-3507-8B4D-D100-A6EEA58EFBD1}"/>
                </a:ext>
              </a:extLst>
            </p:cNvPr>
            <p:cNvCxnSpPr>
              <a:cxnSpLocks/>
            </p:cNvCxnSpPr>
            <p:nvPr/>
          </p:nvCxnSpPr>
          <p:spPr>
            <a:xfrm>
              <a:off x="3250771" y="5814764"/>
              <a:ext cx="1" cy="231725"/>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9" name="Diagrama de flujo: terminador 38">
              <a:extLst>
                <a:ext uri="{FF2B5EF4-FFF2-40B4-BE49-F238E27FC236}">
                  <a16:creationId xmlns:a16="http://schemas.microsoft.com/office/drawing/2014/main" id="{4F69E89B-9BB9-9249-1BF8-90A77C59D94B}"/>
                </a:ext>
              </a:extLst>
            </p:cNvPr>
            <p:cNvSpPr/>
            <p:nvPr/>
          </p:nvSpPr>
          <p:spPr>
            <a:xfrm>
              <a:off x="6350266" y="6118764"/>
              <a:ext cx="702908" cy="202935"/>
            </a:xfrm>
            <a:prstGeom prst="flowChartTerminator">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t>Fin</a:t>
              </a:r>
            </a:p>
          </p:txBody>
        </p:sp>
        <p:sp>
          <p:nvSpPr>
            <p:cNvPr id="3" name="Rectángulo 2">
              <a:extLst>
                <a:ext uri="{FF2B5EF4-FFF2-40B4-BE49-F238E27FC236}">
                  <a16:creationId xmlns:a16="http://schemas.microsoft.com/office/drawing/2014/main" id="{5182C15A-9945-F363-6CF0-D93DB918E0F8}"/>
                </a:ext>
              </a:extLst>
            </p:cNvPr>
            <p:cNvSpPr/>
            <p:nvPr/>
          </p:nvSpPr>
          <p:spPr>
            <a:xfrm>
              <a:off x="2118409" y="4295063"/>
              <a:ext cx="2295663" cy="259276"/>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t>Ingresar la cantidad de raciones pedidas</a:t>
              </a:r>
              <a:endParaRPr lang="es-CO" sz="1000"/>
            </a:p>
          </p:txBody>
        </p:sp>
        <p:sp>
          <p:nvSpPr>
            <p:cNvPr id="31" name="CuadroTexto 30">
              <a:extLst>
                <a:ext uri="{FF2B5EF4-FFF2-40B4-BE49-F238E27FC236}">
                  <a16:creationId xmlns:a16="http://schemas.microsoft.com/office/drawing/2014/main" id="{4CA0D35D-6EDE-A513-CDA7-C487EECD63D9}"/>
                </a:ext>
              </a:extLst>
            </p:cNvPr>
            <p:cNvSpPr txBox="1"/>
            <p:nvPr/>
          </p:nvSpPr>
          <p:spPr>
            <a:xfrm>
              <a:off x="4204652" y="5347910"/>
              <a:ext cx="290464" cy="276999"/>
            </a:xfrm>
            <a:prstGeom prst="rect">
              <a:avLst/>
            </a:prstGeom>
            <a:noFill/>
          </p:spPr>
          <p:txBody>
            <a:bodyPr wrap="none" lIns="91440" tIns="45720" rIns="91440" bIns="45720" rtlCol="0" anchor="t">
              <a:spAutoFit/>
            </a:bodyPr>
            <a:lstStyle/>
            <a:p>
              <a:r>
                <a:rPr lang="es-CO" sz="1200"/>
                <a:t>Sí</a:t>
              </a:r>
            </a:p>
          </p:txBody>
        </p:sp>
        <p:sp>
          <p:nvSpPr>
            <p:cNvPr id="32" name="CuadroTexto 31">
              <a:extLst>
                <a:ext uri="{FF2B5EF4-FFF2-40B4-BE49-F238E27FC236}">
                  <a16:creationId xmlns:a16="http://schemas.microsoft.com/office/drawing/2014/main" id="{7F484C77-E610-B79B-7D9A-CC1B45B22EC3}"/>
                </a:ext>
              </a:extLst>
            </p:cNvPr>
            <p:cNvSpPr txBox="1"/>
            <p:nvPr/>
          </p:nvSpPr>
          <p:spPr>
            <a:xfrm>
              <a:off x="2902016" y="5730680"/>
              <a:ext cx="365806" cy="276999"/>
            </a:xfrm>
            <a:prstGeom prst="rect">
              <a:avLst/>
            </a:prstGeom>
            <a:noFill/>
          </p:spPr>
          <p:txBody>
            <a:bodyPr wrap="none" lIns="91440" tIns="45720" rIns="91440" bIns="45720" rtlCol="0" anchor="t">
              <a:spAutoFit/>
            </a:bodyPr>
            <a:lstStyle/>
            <a:p>
              <a:r>
                <a:rPr lang="es-CO" sz="1200"/>
                <a:t>No</a:t>
              </a:r>
            </a:p>
          </p:txBody>
        </p:sp>
        <p:cxnSp>
          <p:nvCxnSpPr>
            <p:cNvPr id="62" name="Conector recto de flecha 61">
              <a:extLst>
                <a:ext uri="{FF2B5EF4-FFF2-40B4-BE49-F238E27FC236}">
                  <a16:creationId xmlns:a16="http://schemas.microsoft.com/office/drawing/2014/main" id="{7C017DF5-C6CD-F4AF-3E80-D3E5B793899A}"/>
                </a:ext>
              </a:extLst>
            </p:cNvPr>
            <p:cNvCxnSpPr>
              <a:cxnSpLocks/>
            </p:cNvCxnSpPr>
            <p:nvPr/>
          </p:nvCxnSpPr>
          <p:spPr>
            <a:xfrm flipH="1">
              <a:off x="3264634" y="4621873"/>
              <a:ext cx="1" cy="220574"/>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71" name="Rectángulo 70">
              <a:extLst>
                <a:ext uri="{FF2B5EF4-FFF2-40B4-BE49-F238E27FC236}">
                  <a16:creationId xmlns:a16="http://schemas.microsoft.com/office/drawing/2014/main" id="{EE7C9F26-A3F7-7470-7E9F-D468E37E6883}"/>
                </a:ext>
              </a:extLst>
            </p:cNvPr>
            <p:cNvSpPr/>
            <p:nvPr/>
          </p:nvSpPr>
          <p:spPr>
            <a:xfrm>
              <a:off x="4648598" y="5205336"/>
              <a:ext cx="1594407" cy="289997"/>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t>Mostrar “</a:t>
              </a:r>
              <a:r>
                <a:rPr lang="es-CO" sz="1000"/>
                <a:t>Pedido disponible</a:t>
              </a:r>
              <a:r>
                <a:rPr lang="es-ES" sz="1000"/>
                <a:t>”</a:t>
              </a:r>
            </a:p>
          </p:txBody>
        </p:sp>
        <p:sp>
          <p:nvSpPr>
            <p:cNvPr id="72" name="Rectángulo 71">
              <a:extLst>
                <a:ext uri="{FF2B5EF4-FFF2-40B4-BE49-F238E27FC236}">
                  <a16:creationId xmlns:a16="http://schemas.microsoft.com/office/drawing/2014/main" id="{FD291094-4473-4BFB-4108-94FA599818E7}"/>
                </a:ext>
              </a:extLst>
            </p:cNvPr>
            <p:cNvSpPr/>
            <p:nvPr/>
          </p:nvSpPr>
          <p:spPr>
            <a:xfrm>
              <a:off x="2388581" y="6046489"/>
              <a:ext cx="1729133" cy="347485"/>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t>Mostrar “</a:t>
              </a:r>
              <a:r>
                <a:rPr lang="es-CO" sz="1000"/>
                <a:t>Pedido agotado</a:t>
              </a:r>
              <a:r>
                <a:rPr lang="es-ES" sz="1000"/>
                <a:t>”</a:t>
              </a:r>
            </a:p>
          </p:txBody>
        </p:sp>
        <p:cxnSp>
          <p:nvCxnSpPr>
            <p:cNvPr id="73" name="Conector recto de flecha 72">
              <a:extLst>
                <a:ext uri="{FF2B5EF4-FFF2-40B4-BE49-F238E27FC236}">
                  <a16:creationId xmlns:a16="http://schemas.microsoft.com/office/drawing/2014/main" id="{2F624DF9-353D-081B-6DF2-D541108AE4FF}"/>
                </a:ext>
              </a:extLst>
            </p:cNvPr>
            <p:cNvCxnSpPr>
              <a:cxnSpLocks/>
            </p:cNvCxnSpPr>
            <p:nvPr/>
          </p:nvCxnSpPr>
          <p:spPr>
            <a:xfrm>
              <a:off x="4074580" y="5334865"/>
              <a:ext cx="574018" cy="828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94" name="Rombo 93">
              <a:extLst>
                <a:ext uri="{FF2B5EF4-FFF2-40B4-BE49-F238E27FC236}">
                  <a16:creationId xmlns:a16="http://schemas.microsoft.com/office/drawing/2014/main" id="{A4BC8C7A-0277-FBED-EAC4-97ECB8A8871F}"/>
                </a:ext>
              </a:extLst>
            </p:cNvPr>
            <p:cNvSpPr/>
            <p:nvPr/>
          </p:nvSpPr>
          <p:spPr>
            <a:xfrm>
              <a:off x="4700909" y="6015973"/>
              <a:ext cx="1364371" cy="480404"/>
            </a:xfrm>
            <a:prstGeom prst="diamond">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t>¿Más pedidos?</a:t>
              </a:r>
            </a:p>
          </p:txBody>
        </p:sp>
        <p:cxnSp>
          <p:nvCxnSpPr>
            <p:cNvPr id="112" name="Conector recto de flecha 111">
              <a:extLst>
                <a:ext uri="{FF2B5EF4-FFF2-40B4-BE49-F238E27FC236}">
                  <a16:creationId xmlns:a16="http://schemas.microsoft.com/office/drawing/2014/main" id="{31557F7E-3E00-EE65-5DAE-960EB7FE6A0B}"/>
                </a:ext>
              </a:extLst>
            </p:cNvPr>
            <p:cNvCxnSpPr>
              <a:cxnSpLocks/>
            </p:cNvCxnSpPr>
            <p:nvPr/>
          </p:nvCxnSpPr>
          <p:spPr>
            <a:xfrm rot="5400000" flipH="1">
              <a:off x="2592621" y="3713091"/>
              <a:ext cx="2510356" cy="3056212"/>
            </a:xfrm>
            <a:prstGeom prst="bentConnector4">
              <a:avLst>
                <a:gd name="adj1" fmla="val -9106"/>
                <a:gd name="adj2" fmla="val 107480"/>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Conector recto de flecha 119">
              <a:extLst>
                <a:ext uri="{FF2B5EF4-FFF2-40B4-BE49-F238E27FC236}">
                  <a16:creationId xmlns:a16="http://schemas.microsoft.com/office/drawing/2014/main" id="{F3AC2C82-65A6-F492-71FE-369E1E4BA51D}"/>
                </a:ext>
              </a:extLst>
            </p:cNvPr>
            <p:cNvCxnSpPr>
              <a:cxnSpLocks/>
            </p:cNvCxnSpPr>
            <p:nvPr/>
          </p:nvCxnSpPr>
          <p:spPr>
            <a:xfrm>
              <a:off x="6065280" y="6220232"/>
              <a:ext cx="284987" cy="1"/>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ector recto de flecha 4">
              <a:extLst>
                <a:ext uri="{FF2B5EF4-FFF2-40B4-BE49-F238E27FC236}">
                  <a16:creationId xmlns:a16="http://schemas.microsoft.com/office/drawing/2014/main" id="{0F803232-B1BC-BCF0-3247-EB720209E31E}"/>
                </a:ext>
              </a:extLst>
            </p:cNvPr>
            <p:cNvCxnSpPr>
              <a:cxnSpLocks/>
            </p:cNvCxnSpPr>
            <p:nvPr/>
          </p:nvCxnSpPr>
          <p:spPr>
            <a:xfrm flipH="1">
              <a:off x="3264633" y="3385420"/>
              <a:ext cx="1" cy="220574"/>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7" name="Conector recto de flecha 6">
              <a:extLst>
                <a:ext uri="{FF2B5EF4-FFF2-40B4-BE49-F238E27FC236}">
                  <a16:creationId xmlns:a16="http://schemas.microsoft.com/office/drawing/2014/main" id="{F53B9332-AD47-0E86-C7F0-1749DCD869E3}"/>
                </a:ext>
              </a:extLst>
            </p:cNvPr>
            <p:cNvCxnSpPr>
              <a:cxnSpLocks/>
            </p:cNvCxnSpPr>
            <p:nvPr/>
          </p:nvCxnSpPr>
          <p:spPr>
            <a:xfrm flipH="1">
              <a:off x="3264633" y="4075534"/>
              <a:ext cx="1" cy="220574"/>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de flecha 8">
              <a:extLst>
                <a:ext uri="{FF2B5EF4-FFF2-40B4-BE49-F238E27FC236}">
                  <a16:creationId xmlns:a16="http://schemas.microsoft.com/office/drawing/2014/main" id="{16B6EE1B-54C6-8D3A-9AAB-450A713CC203}"/>
                </a:ext>
              </a:extLst>
            </p:cNvPr>
            <p:cNvCxnSpPr>
              <a:cxnSpLocks/>
            </p:cNvCxnSpPr>
            <p:nvPr/>
          </p:nvCxnSpPr>
          <p:spPr>
            <a:xfrm flipH="1">
              <a:off x="5449990" y="5527645"/>
              <a:ext cx="1" cy="479366"/>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DCF72BB3-1A5C-5300-3503-01D525B3B894}"/>
                </a:ext>
              </a:extLst>
            </p:cNvPr>
            <p:cNvCxnSpPr>
              <a:cxnSpLocks/>
            </p:cNvCxnSpPr>
            <p:nvPr/>
          </p:nvCxnSpPr>
          <p:spPr>
            <a:xfrm>
              <a:off x="4117712" y="6226261"/>
              <a:ext cx="574018" cy="828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1F882576-32DA-D1B1-3E72-784D9E7A7C6A}"/>
                </a:ext>
              </a:extLst>
            </p:cNvPr>
            <p:cNvSpPr txBox="1"/>
            <p:nvPr/>
          </p:nvSpPr>
          <p:spPr>
            <a:xfrm>
              <a:off x="4262161" y="6253683"/>
              <a:ext cx="290464" cy="276999"/>
            </a:xfrm>
            <a:prstGeom prst="rect">
              <a:avLst/>
            </a:prstGeom>
            <a:noFill/>
          </p:spPr>
          <p:txBody>
            <a:bodyPr wrap="none" lIns="91440" tIns="45720" rIns="91440" bIns="45720" rtlCol="0" anchor="t">
              <a:spAutoFit/>
            </a:bodyPr>
            <a:lstStyle/>
            <a:p>
              <a:r>
                <a:rPr lang="es-CO" sz="1200" dirty="0"/>
                <a:t>Sí</a:t>
              </a:r>
            </a:p>
          </p:txBody>
        </p:sp>
        <p:sp>
          <p:nvSpPr>
            <p:cNvPr id="12" name="CuadroTexto 11">
              <a:extLst>
                <a:ext uri="{FF2B5EF4-FFF2-40B4-BE49-F238E27FC236}">
                  <a16:creationId xmlns:a16="http://schemas.microsoft.com/office/drawing/2014/main" id="{AC28B847-AEF6-729F-ED6B-2467F6F1A05C}"/>
                </a:ext>
              </a:extLst>
            </p:cNvPr>
            <p:cNvSpPr txBox="1"/>
            <p:nvPr/>
          </p:nvSpPr>
          <p:spPr>
            <a:xfrm>
              <a:off x="6036280" y="6262642"/>
              <a:ext cx="365806" cy="276999"/>
            </a:xfrm>
            <a:prstGeom prst="rect">
              <a:avLst/>
            </a:prstGeom>
            <a:noFill/>
          </p:spPr>
          <p:txBody>
            <a:bodyPr wrap="none" lIns="91440" tIns="45720" rIns="91440" bIns="45720" rtlCol="0" anchor="t">
              <a:spAutoFit/>
            </a:bodyPr>
            <a:lstStyle/>
            <a:p>
              <a:r>
                <a:rPr lang="es-CO" sz="1200"/>
                <a:t>No</a:t>
              </a:r>
            </a:p>
          </p:txBody>
        </p:sp>
      </p:grpSp>
      <p:sp>
        <p:nvSpPr>
          <p:cNvPr id="15" name="CuadroTexto 14">
            <a:extLst>
              <a:ext uri="{FF2B5EF4-FFF2-40B4-BE49-F238E27FC236}">
                <a16:creationId xmlns:a16="http://schemas.microsoft.com/office/drawing/2014/main" id="{D37D7E2C-6F5C-20D4-343F-72DB3A0B40AD}"/>
              </a:ext>
            </a:extLst>
          </p:cNvPr>
          <p:cNvSpPr txBox="1"/>
          <p:nvPr/>
        </p:nvSpPr>
        <p:spPr>
          <a:xfrm>
            <a:off x="5432710" y="6496375"/>
            <a:ext cx="290464" cy="276999"/>
          </a:xfrm>
          <a:prstGeom prst="rect">
            <a:avLst/>
          </a:prstGeom>
          <a:noFill/>
        </p:spPr>
        <p:txBody>
          <a:bodyPr wrap="none" lIns="91440" tIns="45720" rIns="91440" bIns="45720" rtlCol="0" anchor="t">
            <a:spAutoFit/>
          </a:bodyPr>
          <a:lstStyle/>
          <a:p>
            <a:r>
              <a:rPr lang="es-CO" sz="1200" dirty="0"/>
              <a:t>Sí</a:t>
            </a:r>
          </a:p>
        </p:txBody>
      </p:sp>
    </p:spTree>
    <p:extLst>
      <p:ext uri="{BB962C8B-B14F-4D97-AF65-F5344CB8AC3E}">
        <p14:creationId xmlns:p14="http://schemas.microsoft.com/office/powerpoint/2010/main" val="236340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
                                            <p:txEl>
                                              <p:pRg st="8" end="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CBF9E-00CF-D6C3-7309-DD8B52CE6C6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202BCA-3AF6-48D8-9616-09EC7A713EA5}"/>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E36F6E11-A8A3-B589-D69D-8893789659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28</a:t>
            </a:fld>
            <a:endParaRPr lang="es-CO"/>
          </a:p>
        </p:txBody>
      </p:sp>
      <p:sp>
        <p:nvSpPr>
          <p:cNvPr id="17" name="CuadroTexto 16">
            <a:extLst>
              <a:ext uri="{FF2B5EF4-FFF2-40B4-BE49-F238E27FC236}">
                <a16:creationId xmlns:a16="http://schemas.microsoft.com/office/drawing/2014/main" id="{6F72D414-1ABF-E430-C875-050F1E6578A6}"/>
              </a:ext>
            </a:extLst>
          </p:cNvPr>
          <p:cNvSpPr txBox="1"/>
          <p:nvPr/>
        </p:nvSpPr>
        <p:spPr>
          <a:xfrm>
            <a:off x="1830821" y="1785352"/>
            <a:ext cx="9595861" cy="4154984"/>
          </a:xfrm>
          <a:prstGeom prst="rect">
            <a:avLst/>
          </a:prstGeom>
          <a:noFill/>
        </p:spPr>
        <p:txBody>
          <a:bodyPr wrap="square" lIns="91440" tIns="45720" rIns="91440" bIns="45720" anchor="t">
            <a:spAutoFit/>
          </a:bodyPr>
          <a:lstStyle/>
          <a:p>
            <a:pPr marL="285750" indent="-285750">
              <a:buClr>
                <a:srgbClr val="02C9B6"/>
              </a:buClr>
              <a:buFont typeface="Arial" panose="020B0604020202020204" pitchFamily="34" charset="0"/>
              <a:buChar char="•"/>
            </a:pPr>
            <a:r>
              <a:rPr lang="es-ES" sz="2000" b="1" dirty="0">
                <a:ea typeface="Calibri"/>
                <a:cs typeface="Calibri"/>
              </a:rPr>
              <a:t>Dibujar </a:t>
            </a:r>
            <a:r>
              <a:rPr lang="es-MX" sz="2000" b="1" dirty="0">
                <a:ea typeface="Calibri"/>
                <a:cs typeface="Calibri"/>
              </a:rPr>
              <a:t>cómo sería la interacción con la solución (opciones del menú, qué sucede al ingresar a cada opción). </a:t>
            </a:r>
            <a:r>
              <a:rPr lang="es-ES" sz="2000" b="1" dirty="0">
                <a:solidFill>
                  <a:srgbClr val="009BAF"/>
                </a:solidFill>
                <a:ea typeface="Calibri"/>
                <a:cs typeface="Calibri"/>
              </a:rPr>
              <a:t>(2 minutos)</a:t>
            </a:r>
            <a:endParaRPr lang="es-MX" sz="2000" b="1" dirty="0">
              <a:ea typeface="Calibri"/>
              <a:cs typeface="Calibri"/>
            </a:endParaRPr>
          </a:p>
          <a:p>
            <a:pPr>
              <a:buClr>
                <a:srgbClr val="02C9B6"/>
              </a:buClr>
            </a:pPr>
            <a:r>
              <a:rPr lang="es-CO" sz="2000" dirty="0">
                <a:ea typeface="Calibri"/>
                <a:cs typeface="Calibri"/>
              </a:rPr>
              <a:t>Ingresar cantidad de raciones disponibles: </a:t>
            </a:r>
            <a:r>
              <a:rPr lang="es-CO" sz="2000" b="1" dirty="0">
                <a:solidFill>
                  <a:srgbClr val="009BAF"/>
                </a:solidFill>
                <a:ea typeface="Calibri"/>
                <a:cs typeface="Calibri"/>
              </a:rPr>
              <a:t>5</a:t>
            </a:r>
            <a:endParaRPr lang="en-US" sz="2000" b="1" dirty="0">
              <a:solidFill>
                <a:srgbClr val="009BAF"/>
              </a:solidFill>
              <a:ea typeface="Calibri"/>
              <a:cs typeface="Calibri"/>
            </a:endParaRPr>
          </a:p>
          <a:p>
            <a:pPr>
              <a:buClr>
                <a:srgbClr val="02C9B6"/>
              </a:buClr>
            </a:pPr>
            <a:r>
              <a:rPr lang="es-ES" sz="2000" dirty="0">
                <a:ea typeface="Calibri"/>
                <a:cs typeface="Calibri"/>
              </a:rPr>
              <a:t>Ingresar cantidad de raciones pedidas: </a:t>
            </a:r>
            <a:r>
              <a:rPr lang="es-ES" sz="2000" b="1" dirty="0">
                <a:solidFill>
                  <a:srgbClr val="009BAF"/>
                </a:solidFill>
                <a:ea typeface="Calibri"/>
                <a:cs typeface="Calibri"/>
              </a:rPr>
              <a:t>3</a:t>
            </a:r>
            <a:endParaRPr lang="en-US" sz="2000" b="1" dirty="0">
              <a:solidFill>
                <a:srgbClr val="009BAF"/>
              </a:solidFill>
              <a:ea typeface="Calibri"/>
              <a:cs typeface="Calibri"/>
            </a:endParaRPr>
          </a:p>
          <a:p>
            <a:pPr>
              <a:buClr>
                <a:srgbClr val="02C9B6"/>
              </a:buClr>
            </a:pPr>
            <a:r>
              <a:rPr lang="es-ES" sz="2000" dirty="0"/>
              <a:t>Pedido disponible</a:t>
            </a:r>
          </a:p>
          <a:p>
            <a:pPr>
              <a:buClr>
                <a:srgbClr val="02C9B6"/>
              </a:buClr>
            </a:pPr>
            <a:endParaRPr lang="es-ES" sz="2000" dirty="0"/>
          </a:p>
          <a:p>
            <a:pPr>
              <a:buClr>
                <a:srgbClr val="02C9B6"/>
              </a:buClr>
            </a:pPr>
            <a:r>
              <a:rPr lang="es-CO" sz="2000" dirty="0">
                <a:ea typeface="Calibri"/>
                <a:cs typeface="Calibri"/>
              </a:rPr>
              <a:t>¿Hay más pedidos?: </a:t>
            </a:r>
            <a:r>
              <a:rPr lang="es-CO" sz="2000" b="1" dirty="0">
                <a:solidFill>
                  <a:srgbClr val="009BAF"/>
                </a:solidFill>
                <a:ea typeface="Calibri"/>
                <a:cs typeface="Calibri"/>
              </a:rPr>
              <a:t>sí</a:t>
            </a:r>
          </a:p>
          <a:p>
            <a:pPr>
              <a:buClr>
                <a:srgbClr val="02C9B6"/>
              </a:buClr>
            </a:pPr>
            <a:endParaRPr lang="es-CO" sz="2000" dirty="0">
              <a:ea typeface="Calibri"/>
              <a:cs typeface="Calibri"/>
            </a:endParaRPr>
          </a:p>
          <a:p>
            <a:pPr>
              <a:buClr>
                <a:srgbClr val="02C9B6"/>
              </a:buClr>
            </a:pPr>
            <a:r>
              <a:rPr lang="es-CO" sz="2000" dirty="0">
                <a:ea typeface="Calibri"/>
                <a:cs typeface="Calibri"/>
              </a:rPr>
              <a:t>Ingresar cantidad de raciones disponibles: </a:t>
            </a:r>
            <a:r>
              <a:rPr lang="es-CO" sz="2000" b="1" dirty="0">
                <a:solidFill>
                  <a:srgbClr val="009BAF"/>
                </a:solidFill>
                <a:ea typeface="Calibri"/>
                <a:cs typeface="Calibri"/>
              </a:rPr>
              <a:t>2</a:t>
            </a:r>
            <a:endParaRPr lang="en-US" sz="2000" b="1" dirty="0">
              <a:solidFill>
                <a:srgbClr val="009BAF"/>
              </a:solidFill>
              <a:ea typeface="Calibri"/>
              <a:cs typeface="Calibri"/>
            </a:endParaRPr>
          </a:p>
          <a:p>
            <a:pPr>
              <a:buClr>
                <a:srgbClr val="02C9B6"/>
              </a:buClr>
            </a:pPr>
            <a:r>
              <a:rPr lang="es-ES" sz="2000" dirty="0">
                <a:ea typeface="Calibri"/>
                <a:cs typeface="Calibri"/>
              </a:rPr>
              <a:t>Ingresar cantidad de raciones pedidas: </a:t>
            </a:r>
            <a:r>
              <a:rPr lang="es-ES" sz="2000" b="1" dirty="0">
                <a:solidFill>
                  <a:srgbClr val="009BAF"/>
                </a:solidFill>
                <a:ea typeface="Calibri"/>
                <a:cs typeface="Calibri"/>
              </a:rPr>
              <a:t>3</a:t>
            </a:r>
            <a:endParaRPr lang="en-US" sz="2000" b="1" dirty="0">
              <a:solidFill>
                <a:srgbClr val="009BAF"/>
              </a:solidFill>
              <a:ea typeface="Calibri"/>
              <a:cs typeface="Calibri"/>
            </a:endParaRPr>
          </a:p>
          <a:p>
            <a:pPr>
              <a:buClr>
                <a:srgbClr val="02C9B6"/>
              </a:buClr>
            </a:pPr>
            <a:r>
              <a:rPr lang="es-ES" sz="2000" dirty="0"/>
              <a:t>Pedido agotado</a:t>
            </a:r>
          </a:p>
          <a:p>
            <a:pPr>
              <a:buClr>
                <a:srgbClr val="02C9B6"/>
              </a:buClr>
            </a:pPr>
            <a:endParaRPr lang="es-CO" sz="2000" dirty="0">
              <a:ea typeface="Calibri"/>
              <a:cs typeface="Calibri"/>
            </a:endParaRPr>
          </a:p>
          <a:p>
            <a:pPr>
              <a:buClr>
                <a:srgbClr val="02C9B6"/>
              </a:buClr>
            </a:pPr>
            <a:r>
              <a:rPr lang="es-CO" sz="2000" dirty="0">
                <a:ea typeface="Calibri"/>
                <a:cs typeface="Calibri"/>
              </a:rPr>
              <a:t>¿Hay más pacientes?: </a:t>
            </a:r>
            <a:r>
              <a:rPr lang="es-CO" sz="2000" b="1" dirty="0">
                <a:solidFill>
                  <a:srgbClr val="009BAF"/>
                </a:solidFill>
                <a:ea typeface="Calibri"/>
                <a:cs typeface="Calibri"/>
              </a:rPr>
              <a:t>no</a:t>
            </a:r>
          </a:p>
        </p:txBody>
      </p:sp>
      <p:sp>
        <p:nvSpPr>
          <p:cNvPr id="6" name="Título 4">
            <a:extLst>
              <a:ext uri="{FF2B5EF4-FFF2-40B4-BE49-F238E27FC236}">
                <a16:creationId xmlns:a16="http://schemas.microsoft.com/office/drawing/2014/main" id="{3AA08513-47FD-AAFA-C11C-E1780C54445E}"/>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2. Diseño de la solución</a:t>
            </a:r>
          </a:p>
        </p:txBody>
      </p:sp>
      <p:sp>
        <p:nvSpPr>
          <p:cNvPr id="11" name="Google Shape;558;p27">
            <a:extLst>
              <a:ext uri="{FF2B5EF4-FFF2-40B4-BE49-F238E27FC236}">
                <a16:creationId xmlns:a16="http://schemas.microsoft.com/office/drawing/2014/main" id="{A118D3E3-21F4-E1B1-0456-9A5E0CC35BD4}"/>
              </a:ext>
            </a:extLst>
          </p:cNvPr>
          <p:cNvSpPr/>
          <p:nvPr/>
        </p:nvSpPr>
        <p:spPr>
          <a:xfrm>
            <a:off x="2185920" y="5937688"/>
            <a:ext cx="6328819" cy="909158"/>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MX" sz="1600" b="1">
                <a:solidFill>
                  <a:schemeClr val="dk1"/>
                </a:solidFill>
                <a:ea typeface="Calibri"/>
                <a:cs typeface="Calibri"/>
                <a:sym typeface="Calibri"/>
              </a:rPr>
              <a:t>Los textos en color </a:t>
            </a:r>
            <a:r>
              <a:rPr lang="es-MX" b="1">
                <a:solidFill>
                  <a:schemeClr val="dk1"/>
                </a:solidFill>
                <a:ea typeface="Calibri"/>
                <a:cs typeface="Calibri"/>
                <a:sym typeface="Calibri"/>
              </a:rPr>
              <a:t>negro</a:t>
            </a:r>
            <a:r>
              <a:rPr lang="es-MX" sz="1600" b="1">
                <a:solidFill>
                  <a:schemeClr val="dk1"/>
                </a:solidFill>
                <a:ea typeface="Calibri"/>
                <a:cs typeface="Calibri"/>
                <a:sym typeface="Calibri"/>
              </a:rPr>
              <a:t> representan lo que el programa muestra.</a:t>
            </a:r>
          </a:p>
          <a:p>
            <a:pPr lvl="0" algn="ctr"/>
            <a:endParaRPr lang="es-MX" sz="1600" b="1">
              <a:solidFill>
                <a:schemeClr val="dk1"/>
              </a:solidFill>
              <a:ea typeface="Calibri"/>
              <a:cs typeface="Calibri"/>
              <a:sym typeface="Calibri"/>
            </a:endParaRPr>
          </a:p>
          <a:p>
            <a:pPr lvl="0" algn="ctr"/>
            <a:r>
              <a:rPr lang="es-MX" sz="1600" b="1">
                <a:solidFill>
                  <a:schemeClr val="dk1"/>
                </a:solidFill>
                <a:ea typeface="Calibri"/>
                <a:cs typeface="Calibri"/>
                <a:sym typeface="Calibri"/>
              </a:rPr>
              <a:t>Los textos en color </a:t>
            </a:r>
            <a:r>
              <a:rPr lang="es-MX" b="1">
                <a:solidFill>
                  <a:schemeClr val="dk1"/>
                </a:solidFill>
                <a:ea typeface="Calibri"/>
                <a:cs typeface="Calibri"/>
                <a:sym typeface="Calibri"/>
              </a:rPr>
              <a:t>azul</a:t>
            </a:r>
            <a:r>
              <a:rPr lang="es-MX" sz="1600" b="1">
                <a:solidFill>
                  <a:schemeClr val="dk1"/>
                </a:solidFill>
                <a:ea typeface="Calibri"/>
                <a:cs typeface="Calibri"/>
                <a:sym typeface="Calibri"/>
              </a:rPr>
              <a:t> representan lo que una persona escribe. </a:t>
            </a:r>
            <a:endParaRPr sz="1600"/>
          </a:p>
        </p:txBody>
      </p:sp>
      <p:grpSp>
        <p:nvGrpSpPr>
          <p:cNvPr id="3" name="Grupo 2">
            <a:extLst>
              <a:ext uri="{FF2B5EF4-FFF2-40B4-BE49-F238E27FC236}">
                <a16:creationId xmlns:a16="http://schemas.microsoft.com/office/drawing/2014/main" id="{5B948ECC-D23A-C62A-9066-F2285798F243}"/>
              </a:ext>
            </a:extLst>
          </p:cNvPr>
          <p:cNvGrpSpPr/>
          <p:nvPr/>
        </p:nvGrpSpPr>
        <p:grpSpPr>
          <a:xfrm>
            <a:off x="7143005" y="2322329"/>
            <a:ext cx="4934765" cy="3347996"/>
            <a:chOff x="2118409" y="3191645"/>
            <a:chExt cx="4934765" cy="3347996"/>
          </a:xfrm>
        </p:grpSpPr>
        <p:sp>
          <p:nvSpPr>
            <p:cNvPr id="5" name="Diagrama de flujo: terminador 3">
              <a:extLst>
                <a:ext uri="{FF2B5EF4-FFF2-40B4-BE49-F238E27FC236}">
                  <a16:creationId xmlns:a16="http://schemas.microsoft.com/office/drawing/2014/main" id="{507304B3-F257-A492-47E4-D7FC617DA251}"/>
                </a:ext>
              </a:extLst>
            </p:cNvPr>
            <p:cNvSpPr/>
            <p:nvPr/>
          </p:nvSpPr>
          <p:spPr>
            <a:xfrm>
              <a:off x="2909195" y="3191645"/>
              <a:ext cx="716659" cy="186981"/>
            </a:xfrm>
            <a:prstGeom prst="flowChartTerminator">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t>Inicio</a:t>
              </a:r>
            </a:p>
          </p:txBody>
        </p:sp>
        <p:sp>
          <p:nvSpPr>
            <p:cNvPr id="7" name="Rectángulo 6">
              <a:extLst>
                <a:ext uri="{FF2B5EF4-FFF2-40B4-BE49-F238E27FC236}">
                  <a16:creationId xmlns:a16="http://schemas.microsoft.com/office/drawing/2014/main" id="{1ABF05B7-FDB0-4C88-6298-24AEC2CA8565}"/>
                </a:ext>
              </a:extLst>
            </p:cNvPr>
            <p:cNvSpPr/>
            <p:nvPr/>
          </p:nvSpPr>
          <p:spPr>
            <a:xfrm>
              <a:off x="2305315" y="3611966"/>
              <a:ext cx="1907474" cy="431804"/>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000"/>
                <a:t>Ingresar la cantidad de raciones disponibles</a:t>
              </a:r>
              <a:endParaRPr lang="es-CO" sz="1000"/>
            </a:p>
          </p:txBody>
        </p:sp>
        <p:sp>
          <p:nvSpPr>
            <p:cNvPr id="8" name="Rombo 7">
              <a:extLst>
                <a:ext uri="{FF2B5EF4-FFF2-40B4-BE49-F238E27FC236}">
                  <a16:creationId xmlns:a16="http://schemas.microsoft.com/office/drawing/2014/main" id="{1F053611-F9D3-1DF7-EF1A-8E3AC9343002}"/>
                </a:ext>
              </a:extLst>
            </p:cNvPr>
            <p:cNvSpPr/>
            <p:nvPr/>
          </p:nvSpPr>
          <p:spPr>
            <a:xfrm>
              <a:off x="2473344" y="4869342"/>
              <a:ext cx="1572481" cy="959800"/>
            </a:xfrm>
            <a:prstGeom prst="diamond">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CO" sz="1000"/>
                <a:t>Raciones pedidas &lt;= raciones disponibles</a:t>
              </a:r>
            </a:p>
          </p:txBody>
        </p:sp>
        <p:cxnSp>
          <p:nvCxnSpPr>
            <p:cNvPr id="9" name="Conector recto de flecha 8">
              <a:extLst>
                <a:ext uri="{FF2B5EF4-FFF2-40B4-BE49-F238E27FC236}">
                  <a16:creationId xmlns:a16="http://schemas.microsoft.com/office/drawing/2014/main" id="{628F1ED1-6EEC-258B-B628-C6B96C07DB41}"/>
                </a:ext>
              </a:extLst>
            </p:cNvPr>
            <p:cNvCxnSpPr>
              <a:cxnSpLocks/>
            </p:cNvCxnSpPr>
            <p:nvPr/>
          </p:nvCxnSpPr>
          <p:spPr>
            <a:xfrm>
              <a:off x="3250771" y="5814764"/>
              <a:ext cx="1" cy="231725"/>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10" name="Diagrama de flujo: terminador 38">
              <a:extLst>
                <a:ext uri="{FF2B5EF4-FFF2-40B4-BE49-F238E27FC236}">
                  <a16:creationId xmlns:a16="http://schemas.microsoft.com/office/drawing/2014/main" id="{DC1EDD46-1781-28C9-9B1F-A2D5A9A7598E}"/>
                </a:ext>
              </a:extLst>
            </p:cNvPr>
            <p:cNvSpPr/>
            <p:nvPr/>
          </p:nvSpPr>
          <p:spPr>
            <a:xfrm>
              <a:off x="6350266" y="6118764"/>
              <a:ext cx="702908" cy="202935"/>
            </a:xfrm>
            <a:prstGeom prst="flowChartTerminator">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t>Fin</a:t>
              </a:r>
            </a:p>
          </p:txBody>
        </p:sp>
        <p:sp>
          <p:nvSpPr>
            <p:cNvPr id="12" name="Rectángulo 11">
              <a:extLst>
                <a:ext uri="{FF2B5EF4-FFF2-40B4-BE49-F238E27FC236}">
                  <a16:creationId xmlns:a16="http://schemas.microsoft.com/office/drawing/2014/main" id="{ECD0A5A9-12FC-BA06-C15B-A2680EF28114}"/>
                </a:ext>
              </a:extLst>
            </p:cNvPr>
            <p:cNvSpPr/>
            <p:nvPr/>
          </p:nvSpPr>
          <p:spPr>
            <a:xfrm>
              <a:off x="2118409" y="4295063"/>
              <a:ext cx="2295663" cy="259276"/>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t>Ingresar la cantidad de raciones pedidas</a:t>
              </a:r>
              <a:endParaRPr lang="es-CO" sz="1000"/>
            </a:p>
          </p:txBody>
        </p:sp>
        <p:sp>
          <p:nvSpPr>
            <p:cNvPr id="13" name="CuadroTexto 12">
              <a:extLst>
                <a:ext uri="{FF2B5EF4-FFF2-40B4-BE49-F238E27FC236}">
                  <a16:creationId xmlns:a16="http://schemas.microsoft.com/office/drawing/2014/main" id="{2E2F0D57-BC6C-1D97-3236-3956E744BC90}"/>
                </a:ext>
              </a:extLst>
            </p:cNvPr>
            <p:cNvSpPr txBox="1"/>
            <p:nvPr/>
          </p:nvSpPr>
          <p:spPr>
            <a:xfrm>
              <a:off x="4204652" y="5347910"/>
              <a:ext cx="290464" cy="276999"/>
            </a:xfrm>
            <a:prstGeom prst="rect">
              <a:avLst/>
            </a:prstGeom>
            <a:noFill/>
          </p:spPr>
          <p:txBody>
            <a:bodyPr wrap="none" lIns="91440" tIns="45720" rIns="91440" bIns="45720" rtlCol="0" anchor="t">
              <a:spAutoFit/>
            </a:bodyPr>
            <a:lstStyle/>
            <a:p>
              <a:r>
                <a:rPr lang="es-CO" sz="1200"/>
                <a:t>Sí</a:t>
              </a:r>
            </a:p>
          </p:txBody>
        </p:sp>
        <p:sp>
          <p:nvSpPr>
            <p:cNvPr id="14" name="CuadroTexto 13">
              <a:extLst>
                <a:ext uri="{FF2B5EF4-FFF2-40B4-BE49-F238E27FC236}">
                  <a16:creationId xmlns:a16="http://schemas.microsoft.com/office/drawing/2014/main" id="{EDF0E785-7438-006A-0CB2-8599492B3CBC}"/>
                </a:ext>
              </a:extLst>
            </p:cNvPr>
            <p:cNvSpPr txBox="1"/>
            <p:nvPr/>
          </p:nvSpPr>
          <p:spPr>
            <a:xfrm>
              <a:off x="2902016" y="5730680"/>
              <a:ext cx="365806" cy="276999"/>
            </a:xfrm>
            <a:prstGeom prst="rect">
              <a:avLst/>
            </a:prstGeom>
            <a:noFill/>
          </p:spPr>
          <p:txBody>
            <a:bodyPr wrap="none" lIns="91440" tIns="45720" rIns="91440" bIns="45720" rtlCol="0" anchor="t">
              <a:spAutoFit/>
            </a:bodyPr>
            <a:lstStyle/>
            <a:p>
              <a:r>
                <a:rPr lang="es-CO" sz="1200"/>
                <a:t>No</a:t>
              </a:r>
            </a:p>
          </p:txBody>
        </p:sp>
        <p:cxnSp>
          <p:nvCxnSpPr>
            <p:cNvPr id="15" name="Conector recto de flecha 14">
              <a:extLst>
                <a:ext uri="{FF2B5EF4-FFF2-40B4-BE49-F238E27FC236}">
                  <a16:creationId xmlns:a16="http://schemas.microsoft.com/office/drawing/2014/main" id="{BE05FD8E-59A9-101E-B207-343DD889F5E7}"/>
                </a:ext>
              </a:extLst>
            </p:cNvPr>
            <p:cNvCxnSpPr>
              <a:cxnSpLocks/>
            </p:cNvCxnSpPr>
            <p:nvPr/>
          </p:nvCxnSpPr>
          <p:spPr>
            <a:xfrm flipH="1">
              <a:off x="3264634" y="4621873"/>
              <a:ext cx="1" cy="220574"/>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7A6416F9-9134-5AB1-8B61-ED5785650261}"/>
                </a:ext>
              </a:extLst>
            </p:cNvPr>
            <p:cNvSpPr/>
            <p:nvPr/>
          </p:nvSpPr>
          <p:spPr>
            <a:xfrm>
              <a:off x="4648598" y="5205336"/>
              <a:ext cx="1594407" cy="289997"/>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t>Mostrar “</a:t>
              </a:r>
              <a:r>
                <a:rPr lang="es-CO" sz="1000"/>
                <a:t>Pedido disponible</a:t>
              </a:r>
              <a:r>
                <a:rPr lang="es-ES" sz="1000"/>
                <a:t>”</a:t>
              </a:r>
            </a:p>
          </p:txBody>
        </p:sp>
        <p:sp>
          <p:nvSpPr>
            <p:cNvPr id="18" name="Rectángulo 17">
              <a:extLst>
                <a:ext uri="{FF2B5EF4-FFF2-40B4-BE49-F238E27FC236}">
                  <a16:creationId xmlns:a16="http://schemas.microsoft.com/office/drawing/2014/main" id="{C4E19D0F-EDC1-ADAC-CB4E-6AFB58514398}"/>
                </a:ext>
              </a:extLst>
            </p:cNvPr>
            <p:cNvSpPr/>
            <p:nvPr/>
          </p:nvSpPr>
          <p:spPr>
            <a:xfrm>
              <a:off x="2388581" y="6046489"/>
              <a:ext cx="1729133" cy="347485"/>
            </a:xfrm>
            <a:prstGeom prst="rect">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s-MX" sz="1000"/>
                <a:t>Mostrar “</a:t>
              </a:r>
              <a:r>
                <a:rPr lang="es-CO" sz="1000"/>
                <a:t>Pedido agotado</a:t>
              </a:r>
              <a:r>
                <a:rPr lang="es-ES" sz="1000"/>
                <a:t>”</a:t>
              </a:r>
            </a:p>
          </p:txBody>
        </p:sp>
        <p:cxnSp>
          <p:nvCxnSpPr>
            <p:cNvPr id="19" name="Conector recto de flecha 18">
              <a:extLst>
                <a:ext uri="{FF2B5EF4-FFF2-40B4-BE49-F238E27FC236}">
                  <a16:creationId xmlns:a16="http://schemas.microsoft.com/office/drawing/2014/main" id="{3ADF1291-FB27-BC72-7328-13AADD98FE2E}"/>
                </a:ext>
              </a:extLst>
            </p:cNvPr>
            <p:cNvCxnSpPr>
              <a:cxnSpLocks/>
            </p:cNvCxnSpPr>
            <p:nvPr/>
          </p:nvCxnSpPr>
          <p:spPr>
            <a:xfrm>
              <a:off x="4074580" y="5334865"/>
              <a:ext cx="574018" cy="828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0" name="Rombo 19">
              <a:extLst>
                <a:ext uri="{FF2B5EF4-FFF2-40B4-BE49-F238E27FC236}">
                  <a16:creationId xmlns:a16="http://schemas.microsoft.com/office/drawing/2014/main" id="{18DB9F34-5BC2-B0E1-67BD-86CAB3A27927}"/>
                </a:ext>
              </a:extLst>
            </p:cNvPr>
            <p:cNvSpPr/>
            <p:nvPr/>
          </p:nvSpPr>
          <p:spPr>
            <a:xfrm>
              <a:off x="4700909" y="6015973"/>
              <a:ext cx="1364371" cy="480404"/>
            </a:xfrm>
            <a:prstGeom prst="diamond">
              <a:avLst/>
            </a:prstGeom>
            <a:solidFill>
              <a:srgbClr val="009B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t>¿Más pedidos?</a:t>
              </a:r>
            </a:p>
          </p:txBody>
        </p:sp>
        <p:cxnSp>
          <p:nvCxnSpPr>
            <p:cNvPr id="21" name="Conector recto de flecha 111">
              <a:extLst>
                <a:ext uri="{FF2B5EF4-FFF2-40B4-BE49-F238E27FC236}">
                  <a16:creationId xmlns:a16="http://schemas.microsoft.com/office/drawing/2014/main" id="{6C6774DD-049C-E732-A340-CC3058494E6A}"/>
                </a:ext>
              </a:extLst>
            </p:cNvPr>
            <p:cNvCxnSpPr>
              <a:cxnSpLocks/>
            </p:cNvCxnSpPr>
            <p:nvPr/>
          </p:nvCxnSpPr>
          <p:spPr>
            <a:xfrm rot="5400000" flipH="1">
              <a:off x="2592621" y="3713091"/>
              <a:ext cx="2510356" cy="3056212"/>
            </a:xfrm>
            <a:prstGeom prst="bentConnector4">
              <a:avLst>
                <a:gd name="adj1" fmla="val -9106"/>
                <a:gd name="adj2" fmla="val 107480"/>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A894534D-D44F-61F2-E9B3-A62FEBD479D5}"/>
                </a:ext>
              </a:extLst>
            </p:cNvPr>
            <p:cNvCxnSpPr>
              <a:cxnSpLocks/>
            </p:cNvCxnSpPr>
            <p:nvPr/>
          </p:nvCxnSpPr>
          <p:spPr>
            <a:xfrm>
              <a:off x="6065280" y="6220232"/>
              <a:ext cx="284987" cy="1"/>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0FF553D2-CD18-F1DC-758F-21DEAC975E92}"/>
                </a:ext>
              </a:extLst>
            </p:cNvPr>
            <p:cNvCxnSpPr>
              <a:cxnSpLocks/>
            </p:cNvCxnSpPr>
            <p:nvPr/>
          </p:nvCxnSpPr>
          <p:spPr>
            <a:xfrm flipH="1">
              <a:off x="3264633" y="3385420"/>
              <a:ext cx="1" cy="220574"/>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1AC92381-3E74-7AFC-1441-E51DD1DC0963}"/>
                </a:ext>
              </a:extLst>
            </p:cNvPr>
            <p:cNvCxnSpPr>
              <a:cxnSpLocks/>
            </p:cNvCxnSpPr>
            <p:nvPr/>
          </p:nvCxnSpPr>
          <p:spPr>
            <a:xfrm flipH="1">
              <a:off x="3264633" y="4075534"/>
              <a:ext cx="1" cy="220574"/>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5106FA44-3D49-BDE1-1892-AE06F7DC346E}"/>
                </a:ext>
              </a:extLst>
            </p:cNvPr>
            <p:cNvCxnSpPr>
              <a:cxnSpLocks/>
            </p:cNvCxnSpPr>
            <p:nvPr/>
          </p:nvCxnSpPr>
          <p:spPr>
            <a:xfrm flipH="1">
              <a:off x="5449990" y="5527645"/>
              <a:ext cx="1" cy="479366"/>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75CC7382-4720-B136-96AD-ADEB9620CA0F}"/>
                </a:ext>
              </a:extLst>
            </p:cNvPr>
            <p:cNvCxnSpPr>
              <a:cxnSpLocks/>
            </p:cNvCxnSpPr>
            <p:nvPr/>
          </p:nvCxnSpPr>
          <p:spPr>
            <a:xfrm>
              <a:off x="4117712" y="6226261"/>
              <a:ext cx="574018" cy="8282"/>
            </a:xfrm>
            <a:prstGeom prst="straightConnector1">
              <a:avLst/>
            </a:prstGeom>
            <a:ln w="31750">
              <a:solidFill>
                <a:srgbClr val="0D3240"/>
              </a:solidFill>
              <a:tailEnd type="triangle"/>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720E41A0-7C04-435B-174F-6019E322814F}"/>
                </a:ext>
              </a:extLst>
            </p:cNvPr>
            <p:cNvSpPr txBox="1"/>
            <p:nvPr/>
          </p:nvSpPr>
          <p:spPr>
            <a:xfrm>
              <a:off x="4262161" y="6253683"/>
              <a:ext cx="290464" cy="276999"/>
            </a:xfrm>
            <a:prstGeom prst="rect">
              <a:avLst/>
            </a:prstGeom>
            <a:noFill/>
          </p:spPr>
          <p:txBody>
            <a:bodyPr wrap="none" lIns="91440" tIns="45720" rIns="91440" bIns="45720" rtlCol="0" anchor="t">
              <a:spAutoFit/>
            </a:bodyPr>
            <a:lstStyle/>
            <a:p>
              <a:r>
                <a:rPr lang="es-CO" sz="1200" dirty="0"/>
                <a:t>Sí</a:t>
              </a:r>
            </a:p>
          </p:txBody>
        </p:sp>
        <p:sp>
          <p:nvSpPr>
            <p:cNvPr id="28" name="CuadroTexto 27">
              <a:extLst>
                <a:ext uri="{FF2B5EF4-FFF2-40B4-BE49-F238E27FC236}">
                  <a16:creationId xmlns:a16="http://schemas.microsoft.com/office/drawing/2014/main" id="{76ACD413-82E1-9FC3-B8E0-4E778AD9AD22}"/>
                </a:ext>
              </a:extLst>
            </p:cNvPr>
            <p:cNvSpPr txBox="1"/>
            <p:nvPr/>
          </p:nvSpPr>
          <p:spPr>
            <a:xfrm>
              <a:off x="6036280" y="6262642"/>
              <a:ext cx="365806" cy="276999"/>
            </a:xfrm>
            <a:prstGeom prst="rect">
              <a:avLst/>
            </a:prstGeom>
            <a:noFill/>
          </p:spPr>
          <p:txBody>
            <a:bodyPr wrap="none" lIns="91440" tIns="45720" rIns="91440" bIns="45720" rtlCol="0" anchor="t">
              <a:spAutoFit/>
            </a:bodyPr>
            <a:lstStyle/>
            <a:p>
              <a:r>
                <a:rPr lang="es-CO" sz="1200"/>
                <a:t>No</a:t>
              </a:r>
            </a:p>
          </p:txBody>
        </p:sp>
      </p:grpSp>
    </p:spTree>
    <p:extLst>
      <p:ext uri="{BB962C8B-B14F-4D97-AF65-F5344CB8AC3E}">
        <p14:creationId xmlns:p14="http://schemas.microsoft.com/office/powerpoint/2010/main" val="3620672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4467A-B652-A71C-402A-B66DC1AAFB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F52B1DE-8E90-728C-3AB6-5BDB75EA0254}"/>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3A526E11-6886-9485-3FC2-2384223667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29</a:t>
            </a:fld>
            <a:endParaRPr lang="es-CO"/>
          </a:p>
        </p:txBody>
      </p:sp>
      <p:sp>
        <p:nvSpPr>
          <p:cNvPr id="3" name="Título 4">
            <a:extLst>
              <a:ext uri="{FF2B5EF4-FFF2-40B4-BE49-F238E27FC236}">
                <a16:creationId xmlns:a16="http://schemas.microsoft.com/office/drawing/2014/main" id="{ED2B6839-EAEE-15BE-84AE-D42D8EA8D98B}"/>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3. Validación de la solución</a:t>
            </a:r>
          </a:p>
        </p:txBody>
      </p:sp>
      <p:sp>
        <p:nvSpPr>
          <p:cNvPr id="6" name="CuadroTexto 5">
            <a:extLst>
              <a:ext uri="{FF2B5EF4-FFF2-40B4-BE49-F238E27FC236}">
                <a16:creationId xmlns:a16="http://schemas.microsoft.com/office/drawing/2014/main" id="{F943A431-73ED-D442-E7BE-B01B9F93CC8E}"/>
              </a:ext>
            </a:extLst>
          </p:cNvPr>
          <p:cNvSpPr txBox="1"/>
          <p:nvPr/>
        </p:nvSpPr>
        <p:spPr>
          <a:xfrm>
            <a:off x="2147149" y="1868266"/>
            <a:ext cx="9330618" cy="2277547"/>
          </a:xfrm>
          <a:prstGeom prst="rect">
            <a:avLst/>
          </a:prstGeom>
          <a:noFill/>
        </p:spPr>
        <p:txBody>
          <a:bodyPr wrap="square" lIns="91440" tIns="45720" rIns="91440" bIns="45720" anchor="t">
            <a:spAutoFit/>
          </a:bodyPr>
          <a:lstStyle/>
          <a:p>
            <a:r>
              <a:rPr lang="es-ES" sz="2400" b="1"/>
              <a:t>3.1 Prueba de escritorio</a:t>
            </a:r>
          </a:p>
          <a:p>
            <a:endParaRPr lang="es-ES" sz="1400" b="1"/>
          </a:p>
          <a:p>
            <a:pPr marL="285750" indent="-285750">
              <a:buClr>
                <a:srgbClr val="02C9B6"/>
              </a:buClr>
              <a:buFont typeface="Arial" panose="020B0604020202020204" pitchFamily="34" charset="0"/>
              <a:buChar char="•"/>
            </a:pPr>
            <a:r>
              <a:rPr lang="es-MX" sz="2000" b="1">
                <a:ea typeface="Calibri"/>
                <a:cs typeface="Calibri"/>
              </a:rPr>
              <a:t>Evaluar el diagrama de flujo usando diferentes valores de entrada y analizar los resultados </a:t>
            </a:r>
            <a:r>
              <a:rPr lang="es-ES" sz="2000" b="1">
                <a:solidFill>
                  <a:srgbClr val="009BAF"/>
                </a:solidFill>
                <a:ea typeface="Calibri"/>
                <a:cs typeface="Calibri"/>
              </a:rPr>
              <a:t>(2 minutos)</a:t>
            </a:r>
            <a:endParaRPr lang="es-MX" sz="2000" b="1">
              <a:ea typeface="Calibri"/>
              <a:cs typeface="Calibri"/>
            </a:endParaRPr>
          </a:p>
          <a:p>
            <a:pPr>
              <a:buClr>
                <a:srgbClr val="02C9B6"/>
              </a:buClr>
            </a:pPr>
            <a:endParaRPr lang="es-MX" sz="2000" b="1">
              <a:ea typeface="Calibri"/>
              <a:cs typeface="Calibri"/>
            </a:endParaRPr>
          </a:p>
          <a:p>
            <a:pPr>
              <a:buClr>
                <a:srgbClr val="02C9B6"/>
              </a:buClr>
            </a:pPr>
            <a:r>
              <a:rPr lang="es-MX" sz="2000" b="1">
                <a:ea typeface="Calibri"/>
                <a:cs typeface="Calibri"/>
              </a:rPr>
              <a:t>Nota: </a:t>
            </a:r>
            <a:r>
              <a:rPr lang="es-MX" sz="2000">
                <a:ea typeface="Calibri"/>
                <a:cs typeface="Calibri"/>
              </a:rPr>
              <a:t>Realice el ejercicio con varios valores de entrada.</a:t>
            </a:r>
          </a:p>
          <a:p>
            <a:pPr marL="285750" indent="-285750">
              <a:buClr>
                <a:srgbClr val="02C9B6"/>
              </a:buClr>
              <a:buFont typeface="Arial" panose="020B0604020202020204" pitchFamily="34" charset="0"/>
              <a:buChar char="•"/>
            </a:pPr>
            <a:endParaRPr lang="es-ES" sz="2000" b="1">
              <a:ea typeface="Calibri"/>
              <a:cs typeface="Calibri"/>
            </a:endParaRPr>
          </a:p>
        </p:txBody>
      </p:sp>
      <p:graphicFrame>
        <p:nvGraphicFramePr>
          <p:cNvPr id="7" name="Tabla 6">
            <a:extLst>
              <a:ext uri="{FF2B5EF4-FFF2-40B4-BE49-F238E27FC236}">
                <a16:creationId xmlns:a16="http://schemas.microsoft.com/office/drawing/2014/main" id="{C1CF38CF-5D4D-605C-686A-6416263EF07C}"/>
              </a:ext>
            </a:extLst>
          </p:cNvPr>
          <p:cNvGraphicFramePr>
            <a:graphicFrameLocks noGrp="1"/>
          </p:cNvGraphicFramePr>
          <p:nvPr>
            <p:extLst>
              <p:ext uri="{D42A27DB-BD31-4B8C-83A1-F6EECF244321}">
                <p14:modId xmlns:p14="http://schemas.microsoft.com/office/powerpoint/2010/main" val="3302583513"/>
              </p:ext>
            </p:extLst>
          </p:nvPr>
        </p:nvGraphicFramePr>
        <p:xfrm>
          <a:off x="2267869" y="4084257"/>
          <a:ext cx="9209898" cy="2468880"/>
        </p:xfrm>
        <a:graphic>
          <a:graphicData uri="http://schemas.openxmlformats.org/drawingml/2006/table">
            <a:tbl>
              <a:tblPr firstRow="1" bandRow="1">
                <a:tableStyleId>{5940675A-B579-460E-94D1-54222C63F5DA}</a:tableStyleId>
              </a:tblPr>
              <a:tblGrid>
                <a:gridCol w="1293478">
                  <a:extLst>
                    <a:ext uri="{9D8B030D-6E8A-4147-A177-3AD203B41FA5}">
                      <a16:colId xmlns:a16="http://schemas.microsoft.com/office/drawing/2014/main" val="722552213"/>
                    </a:ext>
                  </a:extLst>
                </a:gridCol>
                <a:gridCol w="1331497">
                  <a:extLst>
                    <a:ext uri="{9D8B030D-6E8A-4147-A177-3AD203B41FA5}">
                      <a16:colId xmlns:a16="http://schemas.microsoft.com/office/drawing/2014/main" val="3688458231"/>
                    </a:ext>
                  </a:extLst>
                </a:gridCol>
                <a:gridCol w="2582779">
                  <a:extLst>
                    <a:ext uri="{9D8B030D-6E8A-4147-A177-3AD203B41FA5}">
                      <a16:colId xmlns:a16="http://schemas.microsoft.com/office/drawing/2014/main" val="2741302842"/>
                    </a:ext>
                  </a:extLst>
                </a:gridCol>
                <a:gridCol w="2695074">
                  <a:extLst>
                    <a:ext uri="{9D8B030D-6E8A-4147-A177-3AD203B41FA5}">
                      <a16:colId xmlns:a16="http://schemas.microsoft.com/office/drawing/2014/main" val="697394819"/>
                    </a:ext>
                  </a:extLst>
                </a:gridCol>
                <a:gridCol w="1307070">
                  <a:extLst>
                    <a:ext uri="{9D8B030D-6E8A-4147-A177-3AD203B41FA5}">
                      <a16:colId xmlns:a16="http://schemas.microsoft.com/office/drawing/2014/main" val="3112449741"/>
                    </a:ext>
                  </a:extLst>
                </a:gridCol>
              </a:tblGrid>
              <a:tr h="0">
                <a:tc>
                  <a:txBody>
                    <a:bodyPr/>
                    <a:lstStyle/>
                    <a:p>
                      <a:pPr algn="ctr"/>
                      <a:r>
                        <a:rPr lang="es-CO" sz="1600" b="1">
                          <a:solidFill>
                            <a:schemeClr val="bg1"/>
                          </a:solidFill>
                        </a:rPr>
                        <a:t>Opción</a:t>
                      </a:r>
                    </a:p>
                  </a:txBody>
                  <a:tcPr>
                    <a:solidFill>
                      <a:srgbClr val="113649"/>
                    </a:solidFill>
                  </a:tcPr>
                </a:tc>
                <a:tc>
                  <a:txBody>
                    <a:bodyPr/>
                    <a:lstStyle/>
                    <a:p>
                      <a:pPr algn="ctr"/>
                      <a:r>
                        <a:rPr lang="es-CO" sz="1600" b="1">
                          <a:solidFill>
                            <a:schemeClr val="bg1"/>
                          </a:solidFill>
                        </a:rPr>
                        <a:t>Entrada</a:t>
                      </a:r>
                    </a:p>
                  </a:txBody>
                  <a:tcPr>
                    <a:solidFill>
                      <a:srgbClr val="113649"/>
                    </a:solidFill>
                  </a:tcPr>
                </a:tc>
                <a:tc>
                  <a:txBody>
                    <a:bodyPr/>
                    <a:lstStyle/>
                    <a:p>
                      <a:pPr algn="ctr"/>
                      <a:r>
                        <a:rPr lang="es-CO" sz="1600" b="1">
                          <a:solidFill>
                            <a:schemeClr val="bg1"/>
                          </a:solidFill>
                        </a:rPr>
                        <a:t>Salida esperada</a:t>
                      </a:r>
                    </a:p>
                  </a:txBody>
                  <a:tcPr>
                    <a:solidFill>
                      <a:srgbClr val="113649"/>
                    </a:solidFill>
                  </a:tcPr>
                </a:tc>
                <a:tc>
                  <a:txBody>
                    <a:bodyPr/>
                    <a:lstStyle/>
                    <a:p>
                      <a:pPr algn="ctr"/>
                      <a:r>
                        <a:rPr lang="es-CO" sz="1600" b="1">
                          <a:solidFill>
                            <a:schemeClr val="bg1"/>
                          </a:solidFill>
                        </a:rPr>
                        <a:t>Salida obtenida</a:t>
                      </a:r>
                    </a:p>
                  </a:txBody>
                  <a:tcPr>
                    <a:solidFill>
                      <a:srgbClr val="113649"/>
                    </a:solidFill>
                  </a:tcPr>
                </a:tc>
                <a:tc>
                  <a:txBody>
                    <a:bodyPr/>
                    <a:lstStyle/>
                    <a:p>
                      <a:pPr algn="ctr"/>
                      <a:r>
                        <a:rPr lang="es-CO" sz="1600" b="1">
                          <a:solidFill>
                            <a:schemeClr val="bg1"/>
                          </a:solidFill>
                        </a:rPr>
                        <a:t>¿Coinciden?</a:t>
                      </a:r>
                    </a:p>
                  </a:txBody>
                  <a:tcPr>
                    <a:solidFill>
                      <a:srgbClr val="113649"/>
                    </a:solidFill>
                  </a:tcPr>
                </a:tc>
                <a:extLst>
                  <a:ext uri="{0D108BD9-81ED-4DB2-BD59-A6C34878D82A}">
                    <a16:rowId xmlns:a16="http://schemas.microsoft.com/office/drawing/2014/main" val="1757604693"/>
                  </a:ext>
                </a:extLst>
              </a:tr>
              <a:tr h="205476">
                <a:tc>
                  <a:txBody>
                    <a:bodyPr/>
                    <a:lstStyle/>
                    <a:p>
                      <a:r>
                        <a:rPr lang="es-CO"/>
                        <a:t>Disponible</a:t>
                      </a:r>
                    </a:p>
                  </a:txBody>
                  <a:tcPr/>
                </a:tc>
                <a:tc>
                  <a:txBody>
                    <a:bodyPr/>
                    <a:lstStyle/>
                    <a:p>
                      <a:pPr marL="0" indent="0" algn="l" fontAlgn="b">
                        <a:buNone/>
                      </a:pPr>
                      <a:r>
                        <a:rPr lang="es-CO" sz="1600" b="0" i="0" u="none" strike="noStrike">
                          <a:solidFill>
                            <a:srgbClr val="000000"/>
                          </a:solidFill>
                          <a:effectLst/>
                          <a:latin typeface="Calibri" panose="020F0502020204030204" pitchFamily="34" charset="0"/>
                        </a:rPr>
                        <a:t>Raciones disponibles: 5</a:t>
                      </a:r>
                    </a:p>
                    <a:p>
                      <a:pPr marL="0" indent="0" algn="l" fontAlgn="b">
                        <a:buNone/>
                      </a:pPr>
                      <a:r>
                        <a:rPr lang="es-CO" sz="1600" b="0" i="0" u="none" strike="noStrike">
                          <a:solidFill>
                            <a:srgbClr val="000000"/>
                          </a:solidFill>
                          <a:effectLst/>
                          <a:latin typeface="Calibri" panose="020F0502020204030204" pitchFamily="34" charset="0"/>
                        </a:rPr>
                        <a:t>Raciones pedidas: 3</a:t>
                      </a:r>
                    </a:p>
                  </a:txBody>
                  <a:tcPr/>
                </a:tc>
                <a:tc>
                  <a:txBody>
                    <a:bodyPr/>
                    <a:lstStyle/>
                    <a:p>
                      <a:pPr algn="l" fontAlgn="b"/>
                      <a:r>
                        <a:rPr lang="es-CO" sz="1600" b="0" i="0" u="none" strike="noStrike">
                          <a:solidFill>
                            <a:srgbClr val="000000"/>
                          </a:solidFill>
                          <a:effectLst/>
                          <a:latin typeface="Calibri" panose="020F0502020204030204" pitchFamily="34" charset="0"/>
                        </a:rPr>
                        <a:t>Pedido disponible</a:t>
                      </a:r>
                    </a:p>
                  </a:txBody>
                  <a:tcPr/>
                </a:tc>
                <a:tc>
                  <a:txBody>
                    <a:bodyPr/>
                    <a:lstStyle/>
                    <a:p>
                      <a:pPr algn="l" fontAlgn="b"/>
                      <a:r>
                        <a:rPr lang="es-CO" sz="1600" b="0" i="0" u="none" strike="noStrike">
                          <a:solidFill>
                            <a:srgbClr val="000000"/>
                          </a:solidFill>
                          <a:effectLst/>
                          <a:latin typeface="Calibri" panose="020F0502020204030204" pitchFamily="34" charset="0"/>
                        </a:rPr>
                        <a:t>Pedido disponible</a:t>
                      </a:r>
                    </a:p>
                  </a:txBody>
                  <a:tcPr/>
                </a:tc>
                <a:tc>
                  <a:txBody>
                    <a:bodyPr/>
                    <a:lstStyle/>
                    <a:p>
                      <a:r>
                        <a:rPr lang="es-CO"/>
                        <a:t>Sí</a:t>
                      </a:r>
                    </a:p>
                  </a:txBody>
                  <a:tcPr/>
                </a:tc>
                <a:extLst>
                  <a:ext uri="{0D108BD9-81ED-4DB2-BD59-A6C34878D82A}">
                    <a16:rowId xmlns:a16="http://schemas.microsoft.com/office/drawing/2014/main" val="3314598647"/>
                  </a:ext>
                </a:extLst>
              </a:tr>
              <a:tr h="416777">
                <a:tc>
                  <a:txBody>
                    <a:bodyPr/>
                    <a:lstStyle/>
                    <a:p>
                      <a:r>
                        <a:rPr lang="es-CO"/>
                        <a:t>Agotado</a:t>
                      </a:r>
                    </a:p>
                  </a:txBody>
                  <a:tcPr/>
                </a:tc>
                <a:tc>
                  <a:txBody>
                    <a:bodyPr/>
                    <a:lstStyle/>
                    <a:p>
                      <a:r>
                        <a:rPr lang="es-CO" sz="1600" b="0" i="0" u="none" strike="noStrike">
                          <a:solidFill>
                            <a:srgbClr val="000000"/>
                          </a:solidFill>
                          <a:effectLst/>
                          <a:latin typeface="Calibri" panose="020F0502020204030204" pitchFamily="34" charset="0"/>
                        </a:rPr>
                        <a:t>Raciones disponibles: 2</a:t>
                      </a:r>
                    </a:p>
                    <a:p>
                      <a:r>
                        <a:rPr lang="es-CO" sz="1600" b="0" i="0" u="none" strike="noStrike">
                          <a:solidFill>
                            <a:srgbClr val="000000"/>
                          </a:solidFill>
                          <a:effectLst/>
                          <a:latin typeface="Calibri" panose="020F0502020204030204" pitchFamily="34" charset="0"/>
                        </a:rPr>
                        <a:t>Raciones pedidas: 3</a:t>
                      </a:r>
                      <a:endParaRPr lang="es-CO"/>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CO" sz="1600" b="0" i="0" u="none" strike="noStrike">
                          <a:solidFill>
                            <a:srgbClr val="000000"/>
                          </a:solidFill>
                          <a:effectLst/>
                          <a:latin typeface="Calibri" panose="020F0502020204030204" pitchFamily="34" charset="0"/>
                        </a:rPr>
                        <a:t>Pedido agotado</a:t>
                      </a:r>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s-CO" sz="1600" b="0" i="0" u="none" strike="noStrike">
                          <a:solidFill>
                            <a:srgbClr val="000000"/>
                          </a:solidFill>
                          <a:effectLst/>
                          <a:latin typeface="Calibri" panose="020F0502020204030204" pitchFamily="34" charset="0"/>
                        </a:rPr>
                        <a:t>Pedido agotado</a:t>
                      </a:r>
                    </a:p>
                  </a:txBody>
                  <a:tcPr/>
                </a:tc>
                <a:tc>
                  <a:txBody>
                    <a:bodyPr/>
                    <a:lstStyle/>
                    <a:p>
                      <a:r>
                        <a:rPr lang="es-CO"/>
                        <a:t>Sí</a:t>
                      </a:r>
                    </a:p>
                  </a:txBody>
                  <a:tcPr/>
                </a:tc>
                <a:extLst>
                  <a:ext uri="{0D108BD9-81ED-4DB2-BD59-A6C34878D82A}">
                    <a16:rowId xmlns:a16="http://schemas.microsoft.com/office/drawing/2014/main" val="1204051330"/>
                  </a:ext>
                </a:extLst>
              </a:tr>
            </a:tbl>
          </a:graphicData>
        </a:graphic>
      </p:graphicFrame>
    </p:spTree>
    <p:extLst>
      <p:ext uri="{BB962C8B-B14F-4D97-AF65-F5344CB8AC3E}">
        <p14:creationId xmlns:p14="http://schemas.microsoft.com/office/powerpoint/2010/main" val="491787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D061B-5012-1DB7-4A5C-5D6F618D7E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43B24D-D451-7D29-520E-D0A10E9D6DB8}"/>
              </a:ext>
            </a:extLst>
          </p:cNvPr>
          <p:cNvSpPr>
            <a:spLocks noGrp="1"/>
          </p:cNvSpPr>
          <p:nvPr>
            <p:ph type="title"/>
          </p:nvPr>
        </p:nvSpPr>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A2DEB82D-EAC6-F4BE-CD04-2C2BA99582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30</a:t>
            </a:fld>
            <a:endParaRPr lang="es-CO"/>
          </a:p>
        </p:txBody>
      </p:sp>
      <p:sp>
        <p:nvSpPr>
          <p:cNvPr id="3" name="Título 4">
            <a:extLst>
              <a:ext uri="{FF2B5EF4-FFF2-40B4-BE49-F238E27FC236}">
                <a16:creationId xmlns:a16="http://schemas.microsoft.com/office/drawing/2014/main" id="{BE6460AD-58B5-8581-9967-F24D1F33DB38}"/>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3. Validación de la solución</a:t>
            </a:r>
          </a:p>
        </p:txBody>
      </p:sp>
      <p:sp>
        <p:nvSpPr>
          <p:cNvPr id="6" name="CuadroTexto 5">
            <a:extLst>
              <a:ext uri="{FF2B5EF4-FFF2-40B4-BE49-F238E27FC236}">
                <a16:creationId xmlns:a16="http://schemas.microsoft.com/office/drawing/2014/main" id="{60DA161C-1BE2-FE5A-B741-0C5790A39FD6}"/>
              </a:ext>
            </a:extLst>
          </p:cNvPr>
          <p:cNvSpPr txBox="1"/>
          <p:nvPr/>
        </p:nvSpPr>
        <p:spPr>
          <a:xfrm>
            <a:off x="2147149" y="1868266"/>
            <a:ext cx="9330618" cy="1292662"/>
          </a:xfrm>
          <a:prstGeom prst="rect">
            <a:avLst/>
          </a:prstGeom>
          <a:noFill/>
        </p:spPr>
        <p:txBody>
          <a:bodyPr wrap="square" lIns="91440" tIns="45720" rIns="91440" bIns="45720" anchor="t">
            <a:spAutoFit/>
          </a:bodyPr>
          <a:lstStyle/>
          <a:p>
            <a:r>
              <a:rPr lang="es-ES" sz="2400" b="1"/>
              <a:t>3.2 Implementación inicial</a:t>
            </a:r>
          </a:p>
          <a:p>
            <a:endParaRPr lang="es-ES" sz="1400" b="1"/>
          </a:p>
          <a:p>
            <a:pPr marL="285750" indent="-285750">
              <a:buClr>
                <a:srgbClr val="02C9B6"/>
              </a:buClr>
              <a:buFont typeface="Arial" panose="020B0604020202020204" pitchFamily="34" charset="0"/>
              <a:buChar char="•"/>
            </a:pPr>
            <a:r>
              <a:rPr lang="es-ES" sz="2000" b="1">
                <a:ea typeface="Calibri"/>
                <a:cs typeface="Calibri"/>
              </a:rPr>
              <a:t>Implementar algún avance de implementación en Python </a:t>
            </a:r>
            <a:endParaRPr lang="es-MX" sz="2000" b="1">
              <a:ea typeface="Calibri"/>
              <a:cs typeface="Calibri"/>
            </a:endParaRPr>
          </a:p>
          <a:p>
            <a:pPr>
              <a:buClr>
                <a:srgbClr val="02C9B6"/>
              </a:buClr>
            </a:pPr>
            <a:endParaRPr lang="es-ES" sz="2000" b="1">
              <a:ea typeface="Calibri"/>
              <a:cs typeface="Calibri"/>
            </a:endParaRPr>
          </a:p>
        </p:txBody>
      </p:sp>
      <p:sp>
        <p:nvSpPr>
          <p:cNvPr id="5" name="CuadroTexto 4">
            <a:extLst>
              <a:ext uri="{FF2B5EF4-FFF2-40B4-BE49-F238E27FC236}">
                <a16:creationId xmlns:a16="http://schemas.microsoft.com/office/drawing/2014/main" id="{B18D23B5-3A05-898C-1D08-FFAA85D4B0D9}"/>
              </a:ext>
            </a:extLst>
          </p:cNvPr>
          <p:cNvSpPr txBox="1"/>
          <p:nvPr/>
        </p:nvSpPr>
        <p:spPr>
          <a:xfrm>
            <a:off x="2213138" y="2996497"/>
            <a:ext cx="4696864" cy="842538"/>
          </a:xfrm>
          <a:prstGeom prst="rect">
            <a:avLst/>
          </a:prstGeom>
          <a:noFill/>
        </p:spPr>
        <p:txBody>
          <a:bodyPr wrap="square">
            <a:spAutoFit/>
          </a:bodyPr>
          <a:lstStyle/>
          <a:p>
            <a:pPr>
              <a:lnSpc>
                <a:spcPts val="1425"/>
              </a:lnSpc>
            </a:pPr>
            <a:r>
              <a:rPr lang="es-CO" sz="2000" b="0">
                <a:solidFill>
                  <a:srgbClr val="000000"/>
                </a:solidFill>
                <a:effectLst/>
                <a:latin typeface="Courier New" panose="02070309020205020404" pitchFamily="49" charset="0"/>
              </a:rPr>
              <a:t>  </a:t>
            </a:r>
            <a:r>
              <a:rPr lang="es-CO" sz="2000" b="0" err="1">
                <a:solidFill>
                  <a:srgbClr val="000000"/>
                </a:solidFill>
                <a:effectLst/>
                <a:latin typeface="Courier New" panose="02070309020205020404" pitchFamily="49" charset="0"/>
              </a:rPr>
              <a:t>raciones_disponibles</a:t>
            </a:r>
            <a:r>
              <a:rPr lang="es-CO" sz="2000" b="0">
                <a:solidFill>
                  <a:srgbClr val="000000"/>
                </a:solidFill>
                <a:effectLst/>
                <a:latin typeface="Courier New" panose="02070309020205020404" pitchFamily="49" charset="0"/>
              </a:rPr>
              <a:t>=</a:t>
            </a:r>
            <a:r>
              <a:rPr lang="es-CO" sz="2000" b="0">
                <a:solidFill>
                  <a:srgbClr val="257693"/>
                </a:solidFill>
                <a:effectLst/>
                <a:latin typeface="Courier New" panose="02070309020205020404" pitchFamily="49" charset="0"/>
              </a:rPr>
              <a:t>5</a:t>
            </a:r>
          </a:p>
          <a:p>
            <a:pPr>
              <a:lnSpc>
                <a:spcPts val="1425"/>
              </a:lnSpc>
            </a:pPr>
            <a:endParaRPr lang="es-CO" sz="2000" b="0">
              <a:solidFill>
                <a:srgbClr val="000000"/>
              </a:solidFill>
              <a:effectLst/>
              <a:latin typeface="Courier New" panose="02070309020205020404" pitchFamily="49" charset="0"/>
            </a:endParaRPr>
          </a:p>
          <a:p>
            <a:pPr>
              <a:lnSpc>
                <a:spcPts val="1425"/>
              </a:lnSpc>
            </a:pPr>
            <a:r>
              <a:rPr lang="es-CO" sz="2000" b="0">
                <a:solidFill>
                  <a:srgbClr val="000000"/>
                </a:solidFill>
                <a:effectLst/>
                <a:latin typeface="Courier New" panose="02070309020205020404" pitchFamily="49" charset="0"/>
              </a:rPr>
              <a:t>  </a:t>
            </a:r>
            <a:r>
              <a:rPr lang="es-CO" sz="2000" b="0" err="1">
                <a:solidFill>
                  <a:srgbClr val="000000"/>
                </a:solidFill>
                <a:effectLst/>
                <a:latin typeface="Courier New" panose="02070309020205020404" pitchFamily="49" charset="0"/>
              </a:rPr>
              <a:t>raciones_</a:t>
            </a:r>
            <a:r>
              <a:rPr lang="es-CO" sz="2000" err="1">
                <a:solidFill>
                  <a:srgbClr val="000000"/>
                </a:solidFill>
                <a:latin typeface="Courier New" panose="02070309020205020404" pitchFamily="49" charset="0"/>
              </a:rPr>
              <a:t>pedidas</a:t>
            </a:r>
            <a:r>
              <a:rPr lang="es-CO" sz="2000" b="0">
                <a:solidFill>
                  <a:srgbClr val="000000"/>
                </a:solidFill>
                <a:effectLst/>
                <a:latin typeface="Courier New" panose="02070309020205020404" pitchFamily="49" charset="0"/>
              </a:rPr>
              <a:t>=</a:t>
            </a:r>
            <a:r>
              <a:rPr lang="es-CO" sz="2000">
                <a:solidFill>
                  <a:srgbClr val="257693"/>
                </a:solidFill>
                <a:latin typeface="Courier New" panose="02070309020205020404" pitchFamily="49" charset="0"/>
              </a:rPr>
              <a:t>3</a:t>
            </a:r>
            <a:endParaRPr lang="es-CO" sz="2000" b="0">
              <a:solidFill>
                <a:srgbClr val="257693"/>
              </a:solidFill>
              <a:effectLst/>
              <a:latin typeface="Courier New" panose="02070309020205020404" pitchFamily="49" charset="0"/>
            </a:endParaRPr>
          </a:p>
          <a:p>
            <a:pPr>
              <a:lnSpc>
                <a:spcPts val="1425"/>
              </a:lnSpc>
            </a:pPr>
            <a:endParaRPr lang="es-CO" sz="2000" b="0">
              <a:solidFill>
                <a:srgbClr val="000000"/>
              </a:solidFill>
              <a:effectLst/>
              <a:latin typeface="Courier New" panose="02070309020205020404" pitchFamily="49" charset="0"/>
            </a:endParaRPr>
          </a:p>
        </p:txBody>
      </p:sp>
      <p:sp>
        <p:nvSpPr>
          <p:cNvPr id="8" name="Google Shape;558;p27">
            <a:extLst>
              <a:ext uri="{FF2B5EF4-FFF2-40B4-BE49-F238E27FC236}">
                <a16:creationId xmlns:a16="http://schemas.microsoft.com/office/drawing/2014/main" id="{8A9EED18-9D01-5B61-8A80-CE832724768D}"/>
              </a:ext>
            </a:extLst>
          </p:cNvPr>
          <p:cNvSpPr/>
          <p:nvPr/>
        </p:nvSpPr>
        <p:spPr>
          <a:xfrm>
            <a:off x="2743199" y="5069409"/>
            <a:ext cx="8117305" cy="838089"/>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MX" sz="1600" b="1">
                <a:solidFill>
                  <a:schemeClr val="dk1"/>
                </a:solidFill>
                <a:ea typeface="Calibri"/>
                <a:cs typeface="Calibri"/>
                <a:sym typeface="Calibri"/>
              </a:rPr>
              <a:t>Este es un ejemplo de declaración de variables. </a:t>
            </a:r>
          </a:p>
          <a:p>
            <a:pPr lvl="0" algn="ctr"/>
            <a:r>
              <a:rPr lang="es-MX" sz="1600" b="1">
                <a:solidFill>
                  <a:schemeClr val="dk1"/>
                </a:solidFill>
                <a:ea typeface="Calibri"/>
                <a:cs typeface="Calibri"/>
                <a:sym typeface="Calibri"/>
              </a:rPr>
              <a:t>Aprenderemos a hacerlo en próximas clases.</a:t>
            </a:r>
            <a:endParaRPr sz="1600"/>
          </a:p>
        </p:txBody>
      </p:sp>
    </p:spTree>
    <p:extLst>
      <p:ext uri="{BB962C8B-B14F-4D97-AF65-F5344CB8AC3E}">
        <p14:creationId xmlns:p14="http://schemas.microsoft.com/office/powerpoint/2010/main" val="257811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583BE-48F9-B0A3-75C3-2794AB884B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AE1643-6F05-AB6C-3344-A17F58ADFB83}"/>
              </a:ext>
            </a:extLst>
          </p:cNvPr>
          <p:cNvSpPr>
            <a:spLocks noGrp="1"/>
          </p:cNvSpPr>
          <p:nvPr>
            <p:ph type="title"/>
          </p:nvPr>
        </p:nvSpPr>
        <p:spPr>
          <a:xfrm>
            <a:off x="2076994" y="121427"/>
            <a:ext cx="9666016" cy="1018902"/>
          </a:xfrm>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0386BB66-7DBC-22DC-7A98-AA3DB1810E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31</a:t>
            </a:fld>
            <a:endParaRPr lang="es-CO"/>
          </a:p>
        </p:txBody>
      </p:sp>
      <p:sp>
        <p:nvSpPr>
          <p:cNvPr id="5" name="CuadroTexto 4">
            <a:extLst>
              <a:ext uri="{FF2B5EF4-FFF2-40B4-BE49-F238E27FC236}">
                <a16:creationId xmlns:a16="http://schemas.microsoft.com/office/drawing/2014/main" id="{A4CBD124-40E0-A45D-B094-F0ADC7213934}"/>
              </a:ext>
            </a:extLst>
          </p:cNvPr>
          <p:cNvSpPr txBox="1"/>
          <p:nvPr/>
        </p:nvSpPr>
        <p:spPr>
          <a:xfrm>
            <a:off x="2151077" y="3161254"/>
            <a:ext cx="9674262" cy="2267287"/>
          </a:xfrm>
          <a:prstGeom prst="rect">
            <a:avLst/>
          </a:prstGeom>
          <a:noFill/>
        </p:spPr>
        <p:txBody>
          <a:bodyPr wrap="square">
            <a:spAutoFit/>
          </a:bodyPr>
          <a:lstStyle/>
          <a:p>
            <a:pPr>
              <a:lnSpc>
                <a:spcPts val="1425"/>
              </a:lnSpc>
            </a:pPr>
            <a:r>
              <a:rPr lang="es-CO" sz="1700" b="0" err="1">
                <a:solidFill>
                  <a:srgbClr val="AF00DB"/>
                </a:solidFill>
                <a:effectLst/>
                <a:latin typeface="Courier New" panose="02070309020205020404" pitchFamily="49" charset="0"/>
              </a:rPr>
              <a:t>while</a:t>
            </a:r>
            <a:r>
              <a:rPr lang="es-CO" sz="1700" b="0">
                <a:solidFill>
                  <a:srgbClr val="000000"/>
                </a:solidFill>
                <a:effectLst/>
                <a:latin typeface="Courier New" panose="02070309020205020404" pitchFamily="49" charset="0"/>
              </a:rPr>
              <a:t> (</a:t>
            </a:r>
            <a:r>
              <a:rPr lang="es-CO" sz="1700" b="0">
                <a:solidFill>
                  <a:srgbClr val="0000FF"/>
                </a:solidFill>
                <a:effectLst/>
                <a:latin typeface="Courier New" panose="02070309020205020404" pitchFamily="49" charset="0"/>
              </a:rPr>
              <a:t>True</a:t>
            </a:r>
            <a:r>
              <a:rPr lang="es-CO" sz="1700" b="0">
                <a:solidFill>
                  <a:srgbClr val="000000"/>
                </a:solidFill>
                <a:effectLst/>
                <a:latin typeface="Courier New" panose="02070309020205020404" pitchFamily="49" charset="0"/>
              </a:rPr>
              <a:t>):</a:t>
            </a:r>
          </a:p>
          <a:p>
            <a:pPr>
              <a:lnSpc>
                <a:spcPts val="1425"/>
              </a:lnSpc>
            </a:pPr>
            <a:r>
              <a:rPr lang="es-CO" sz="1700" b="0">
                <a:solidFill>
                  <a:srgbClr val="000000"/>
                </a:solidFill>
                <a:effectLst/>
                <a:latin typeface="Courier New" panose="02070309020205020404" pitchFamily="49" charset="0"/>
              </a:rPr>
              <a:t>  </a:t>
            </a:r>
            <a:r>
              <a:rPr lang="es-CO" sz="1700" err="1">
                <a:solidFill>
                  <a:srgbClr val="000000"/>
                </a:solidFill>
                <a:latin typeface="Courier New" panose="02070309020205020404" pitchFamily="49" charset="0"/>
              </a:rPr>
              <a:t>raciones_disponibles</a:t>
            </a:r>
            <a:r>
              <a:rPr lang="es-CO" sz="1700" b="0">
                <a:solidFill>
                  <a:srgbClr val="000000"/>
                </a:solidFill>
                <a:effectLst/>
                <a:latin typeface="Courier New" panose="02070309020205020404" pitchFamily="49" charset="0"/>
              </a:rPr>
              <a:t>=</a:t>
            </a:r>
            <a:r>
              <a:rPr lang="es-CO" sz="1700" b="0" err="1">
                <a:solidFill>
                  <a:srgbClr val="257693"/>
                </a:solidFill>
                <a:effectLst/>
                <a:latin typeface="Courier New" panose="02070309020205020404" pitchFamily="49" charset="0"/>
              </a:rPr>
              <a:t>int</a:t>
            </a:r>
            <a:r>
              <a:rPr lang="es-CO" sz="1700" b="0">
                <a:solidFill>
                  <a:srgbClr val="000000"/>
                </a:solidFill>
                <a:effectLst/>
                <a:latin typeface="Courier New" panose="02070309020205020404" pitchFamily="49" charset="0"/>
              </a:rPr>
              <a:t>(</a:t>
            </a:r>
            <a:r>
              <a:rPr lang="es-CO" sz="1700" b="0">
                <a:solidFill>
                  <a:srgbClr val="795E26"/>
                </a:solidFill>
                <a:effectLst/>
                <a:latin typeface="Courier New" panose="02070309020205020404" pitchFamily="49" charset="0"/>
              </a:rPr>
              <a:t>input</a:t>
            </a:r>
            <a:r>
              <a:rPr lang="es-CO" sz="1700" b="0">
                <a:solidFill>
                  <a:srgbClr val="000000"/>
                </a:solidFill>
                <a:effectLst/>
                <a:latin typeface="Courier New" panose="02070309020205020404" pitchFamily="49" charset="0"/>
              </a:rPr>
              <a:t>(</a:t>
            </a:r>
            <a:r>
              <a:rPr lang="es-CO" sz="1700" b="0">
                <a:solidFill>
                  <a:srgbClr val="A31515"/>
                </a:solidFill>
                <a:effectLst/>
                <a:latin typeface="Courier New" panose="02070309020205020404" pitchFamily="49" charset="0"/>
              </a:rPr>
              <a:t>"Ingresar las raciones disponibles: "</a:t>
            </a:r>
            <a:r>
              <a:rPr lang="es-CO" sz="1700" b="0">
                <a:solidFill>
                  <a:srgbClr val="000000"/>
                </a:solidFill>
                <a:effectLst/>
                <a:latin typeface="Courier New" panose="02070309020205020404" pitchFamily="49" charset="0"/>
              </a:rPr>
              <a:t>))</a:t>
            </a:r>
          </a:p>
          <a:p>
            <a:pPr>
              <a:lnSpc>
                <a:spcPts val="1425"/>
              </a:lnSpc>
            </a:pPr>
            <a:r>
              <a:rPr lang="es-CO" sz="1700" b="0">
                <a:solidFill>
                  <a:srgbClr val="000000"/>
                </a:solidFill>
                <a:effectLst/>
                <a:latin typeface="Courier New" panose="02070309020205020404" pitchFamily="49" charset="0"/>
              </a:rPr>
              <a:t>  </a:t>
            </a:r>
            <a:r>
              <a:rPr lang="es-CO" sz="1700" err="1">
                <a:solidFill>
                  <a:srgbClr val="000000"/>
                </a:solidFill>
                <a:latin typeface="Courier New" panose="02070309020205020404" pitchFamily="49" charset="0"/>
              </a:rPr>
              <a:t>raciones_pedidas</a:t>
            </a:r>
            <a:r>
              <a:rPr lang="es-CO" sz="1700" b="0">
                <a:solidFill>
                  <a:srgbClr val="000000"/>
                </a:solidFill>
                <a:effectLst/>
                <a:latin typeface="Courier New" panose="02070309020205020404" pitchFamily="49" charset="0"/>
              </a:rPr>
              <a:t>=</a:t>
            </a:r>
            <a:r>
              <a:rPr lang="es-CO" sz="1700" b="0" err="1">
                <a:solidFill>
                  <a:srgbClr val="257693"/>
                </a:solidFill>
                <a:effectLst/>
                <a:latin typeface="Courier New" panose="02070309020205020404" pitchFamily="49" charset="0"/>
              </a:rPr>
              <a:t>float</a:t>
            </a:r>
            <a:r>
              <a:rPr lang="es-CO" sz="1700" b="0">
                <a:solidFill>
                  <a:srgbClr val="000000"/>
                </a:solidFill>
                <a:effectLst/>
                <a:latin typeface="Courier New" panose="02070309020205020404" pitchFamily="49" charset="0"/>
              </a:rPr>
              <a:t>(</a:t>
            </a:r>
            <a:r>
              <a:rPr lang="es-CO" sz="1700" b="0">
                <a:solidFill>
                  <a:srgbClr val="795E26"/>
                </a:solidFill>
                <a:effectLst/>
                <a:latin typeface="Courier New" panose="02070309020205020404" pitchFamily="49" charset="0"/>
              </a:rPr>
              <a:t>input</a:t>
            </a:r>
            <a:r>
              <a:rPr lang="es-CO" sz="1700" b="0">
                <a:solidFill>
                  <a:srgbClr val="000000"/>
                </a:solidFill>
                <a:effectLst/>
                <a:latin typeface="Courier New" panose="02070309020205020404" pitchFamily="49" charset="0"/>
              </a:rPr>
              <a:t>(</a:t>
            </a:r>
            <a:r>
              <a:rPr lang="es-CO" sz="1700" b="0">
                <a:solidFill>
                  <a:srgbClr val="A31515"/>
                </a:solidFill>
                <a:effectLst/>
                <a:latin typeface="Courier New" panose="02070309020205020404" pitchFamily="49" charset="0"/>
              </a:rPr>
              <a:t>"Ingresar las raciones pedidas: "</a:t>
            </a:r>
            <a:r>
              <a:rPr lang="es-CO" sz="1700" b="0">
                <a:solidFill>
                  <a:srgbClr val="000000"/>
                </a:solidFill>
                <a:effectLst/>
                <a:latin typeface="Courier New" panose="02070309020205020404" pitchFamily="49" charset="0"/>
              </a:rPr>
              <a:t>))</a:t>
            </a:r>
          </a:p>
          <a:p>
            <a:pPr>
              <a:lnSpc>
                <a:spcPts val="1425"/>
              </a:lnSpc>
            </a:pPr>
            <a:br>
              <a:rPr lang="es-CO" sz="1700" b="0">
                <a:solidFill>
                  <a:srgbClr val="000000"/>
                </a:solidFill>
                <a:effectLst/>
                <a:latin typeface="Courier New" panose="02070309020205020404" pitchFamily="49" charset="0"/>
              </a:rPr>
            </a:br>
            <a:r>
              <a:rPr lang="es-CO" sz="1700" b="0">
                <a:solidFill>
                  <a:srgbClr val="000000"/>
                </a:solidFill>
                <a:effectLst/>
                <a:latin typeface="Courier New" panose="02070309020205020404" pitchFamily="49" charset="0"/>
              </a:rPr>
              <a:t>  </a:t>
            </a:r>
            <a:r>
              <a:rPr lang="es-CO" sz="1700" b="0" err="1">
                <a:solidFill>
                  <a:srgbClr val="AF00DB"/>
                </a:solidFill>
                <a:effectLst/>
                <a:latin typeface="Courier New" panose="02070309020205020404" pitchFamily="49" charset="0"/>
              </a:rPr>
              <a:t>if</a:t>
            </a:r>
            <a:r>
              <a:rPr lang="es-CO" sz="1700" b="0">
                <a:solidFill>
                  <a:srgbClr val="000000"/>
                </a:solidFill>
                <a:effectLst/>
                <a:latin typeface="Courier New" panose="02070309020205020404" pitchFamily="49" charset="0"/>
              </a:rPr>
              <a:t> (</a:t>
            </a:r>
            <a:r>
              <a:rPr lang="es-CO" sz="1700" err="1">
                <a:solidFill>
                  <a:srgbClr val="000000"/>
                </a:solidFill>
                <a:latin typeface="Courier New" panose="02070309020205020404" pitchFamily="49" charset="0"/>
              </a:rPr>
              <a:t>raciones_pedidas</a:t>
            </a:r>
            <a:r>
              <a:rPr lang="es-CO" sz="1700" b="0">
                <a:solidFill>
                  <a:srgbClr val="000000"/>
                </a:solidFill>
                <a:effectLst/>
                <a:latin typeface="Courier New" panose="02070309020205020404" pitchFamily="49" charset="0"/>
              </a:rPr>
              <a:t> &lt;=</a:t>
            </a:r>
            <a:r>
              <a:rPr lang="es-CO" sz="1700" err="1">
                <a:solidFill>
                  <a:srgbClr val="000000"/>
                </a:solidFill>
                <a:latin typeface="Courier New" panose="02070309020205020404" pitchFamily="49" charset="0"/>
              </a:rPr>
              <a:t>raciones_disponibles</a:t>
            </a:r>
            <a:r>
              <a:rPr lang="es-CO" sz="1700" b="0">
                <a:solidFill>
                  <a:srgbClr val="000000"/>
                </a:solidFill>
                <a:effectLst/>
                <a:latin typeface="Courier New" panose="02070309020205020404" pitchFamily="49" charset="0"/>
              </a:rPr>
              <a:t>):</a:t>
            </a:r>
          </a:p>
          <a:p>
            <a:pPr>
              <a:lnSpc>
                <a:spcPts val="1425"/>
              </a:lnSpc>
            </a:pPr>
            <a:r>
              <a:rPr lang="es-CO" sz="1700" b="0">
                <a:solidFill>
                  <a:srgbClr val="000000"/>
                </a:solidFill>
                <a:effectLst/>
                <a:latin typeface="Courier New" panose="02070309020205020404" pitchFamily="49" charset="0"/>
              </a:rPr>
              <a:t>    </a:t>
            </a:r>
            <a:r>
              <a:rPr lang="es-CO" sz="1700" b="0" err="1">
                <a:solidFill>
                  <a:srgbClr val="795E26"/>
                </a:solidFill>
                <a:effectLst/>
                <a:latin typeface="Courier New" panose="02070309020205020404" pitchFamily="49" charset="0"/>
              </a:rPr>
              <a:t>print</a:t>
            </a:r>
            <a:r>
              <a:rPr lang="es-CO" sz="1700" b="0">
                <a:solidFill>
                  <a:srgbClr val="000000"/>
                </a:solidFill>
                <a:effectLst/>
                <a:latin typeface="Courier New" panose="02070309020205020404" pitchFamily="49" charset="0"/>
              </a:rPr>
              <a:t>(</a:t>
            </a:r>
            <a:r>
              <a:rPr lang="es-CO" sz="1700" b="0">
                <a:solidFill>
                  <a:srgbClr val="A31515"/>
                </a:solidFill>
                <a:effectLst/>
                <a:latin typeface="Courier New" panose="02070309020205020404" pitchFamily="49" charset="0"/>
              </a:rPr>
              <a:t>“Pedido disponible"</a:t>
            </a:r>
            <a:r>
              <a:rPr lang="es-CO" sz="1700" b="0">
                <a:solidFill>
                  <a:srgbClr val="000000"/>
                </a:solidFill>
                <a:effectLst/>
                <a:latin typeface="Courier New" panose="02070309020205020404" pitchFamily="49" charset="0"/>
              </a:rPr>
              <a:t>)</a:t>
            </a:r>
          </a:p>
          <a:p>
            <a:pPr>
              <a:lnSpc>
                <a:spcPts val="1425"/>
              </a:lnSpc>
            </a:pPr>
            <a:r>
              <a:rPr lang="es-CO" sz="1700" b="0">
                <a:solidFill>
                  <a:srgbClr val="000000"/>
                </a:solidFill>
                <a:effectLst/>
                <a:latin typeface="Courier New" panose="02070309020205020404" pitchFamily="49" charset="0"/>
              </a:rPr>
              <a:t>  </a:t>
            </a:r>
            <a:r>
              <a:rPr lang="es-CO" sz="1700" b="0" err="1">
                <a:solidFill>
                  <a:srgbClr val="AF00DB"/>
                </a:solidFill>
                <a:effectLst/>
                <a:latin typeface="Courier New" panose="02070309020205020404" pitchFamily="49" charset="0"/>
              </a:rPr>
              <a:t>else</a:t>
            </a:r>
            <a:r>
              <a:rPr lang="es-CO" sz="1700" b="0">
                <a:solidFill>
                  <a:srgbClr val="000000"/>
                </a:solidFill>
                <a:effectLst/>
                <a:latin typeface="Courier New" panose="02070309020205020404" pitchFamily="49" charset="0"/>
              </a:rPr>
              <a:t>:</a:t>
            </a:r>
          </a:p>
          <a:p>
            <a:pPr>
              <a:lnSpc>
                <a:spcPts val="1425"/>
              </a:lnSpc>
            </a:pPr>
            <a:r>
              <a:rPr lang="es-CO" sz="1700" b="0">
                <a:solidFill>
                  <a:srgbClr val="000000"/>
                </a:solidFill>
                <a:effectLst/>
                <a:latin typeface="Courier New" panose="02070309020205020404" pitchFamily="49" charset="0"/>
              </a:rPr>
              <a:t>    </a:t>
            </a:r>
            <a:r>
              <a:rPr lang="es-CO" sz="1700" b="0" err="1">
                <a:solidFill>
                  <a:srgbClr val="795E26"/>
                </a:solidFill>
                <a:effectLst/>
                <a:latin typeface="Courier New" panose="02070309020205020404" pitchFamily="49" charset="0"/>
              </a:rPr>
              <a:t>print</a:t>
            </a:r>
            <a:r>
              <a:rPr lang="es-CO" sz="1700" b="0">
                <a:solidFill>
                  <a:srgbClr val="000000"/>
                </a:solidFill>
                <a:effectLst/>
                <a:latin typeface="Courier New" panose="02070309020205020404" pitchFamily="49" charset="0"/>
              </a:rPr>
              <a:t>(</a:t>
            </a:r>
            <a:r>
              <a:rPr lang="es-CO" sz="1700" b="0">
                <a:solidFill>
                  <a:srgbClr val="A31515"/>
                </a:solidFill>
                <a:effectLst/>
                <a:latin typeface="Courier New" panose="02070309020205020404" pitchFamily="49" charset="0"/>
              </a:rPr>
              <a:t>“Pedido agotado"</a:t>
            </a:r>
            <a:r>
              <a:rPr lang="es-CO" sz="1700" b="0">
                <a:solidFill>
                  <a:srgbClr val="000000"/>
                </a:solidFill>
                <a:effectLst/>
                <a:latin typeface="Courier New" panose="02070309020205020404" pitchFamily="49" charset="0"/>
              </a:rPr>
              <a:t>)</a:t>
            </a:r>
          </a:p>
          <a:p>
            <a:pPr>
              <a:lnSpc>
                <a:spcPts val="1425"/>
              </a:lnSpc>
            </a:pPr>
            <a:br>
              <a:rPr lang="es-CO" sz="1700" b="0">
                <a:solidFill>
                  <a:srgbClr val="000000"/>
                </a:solidFill>
                <a:effectLst/>
                <a:latin typeface="Courier New" panose="02070309020205020404" pitchFamily="49" charset="0"/>
              </a:rPr>
            </a:br>
            <a:r>
              <a:rPr lang="es-CO" sz="1700" b="0">
                <a:solidFill>
                  <a:srgbClr val="000000"/>
                </a:solidFill>
                <a:effectLst/>
                <a:latin typeface="Courier New" panose="02070309020205020404" pitchFamily="49" charset="0"/>
              </a:rPr>
              <a:t>  </a:t>
            </a:r>
            <a:r>
              <a:rPr lang="es-CO" sz="1700" b="0" err="1">
                <a:solidFill>
                  <a:srgbClr val="000000"/>
                </a:solidFill>
                <a:effectLst/>
                <a:latin typeface="Courier New" panose="02070309020205020404" pitchFamily="49" charset="0"/>
              </a:rPr>
              <a:t>masPedidos</a:t>
            </a:r>
            <a:r>
              <a:rPr lang="es-CO" sz="1700" b="0">
                <a:solidFill>
                  <a:srgbClr val="000000"/>
                </a:solidFill>
                <a:effectLst/>
                <a:latin typeface="Courier New" panose="02070309020205020404" pitchFamily="49" charset="0"/>
              </a:rPr>
              <a:t>=</a:t>
            </a:r>
            <a:r>
              <a:rPr lang="es-CO" sz="1700" b="0">
                <a:solidFill>
                  <a:srgbClr val="795E26"/>
                </a:solidFill>
                <a:effectLst/>
                <a:latin typeface="Courier New" panose="02070309020205020404" pitchFamily="49" charset="0"/>
              </a:rPr>
              <a:t>input</a:t>
            </a:r>
            <a:r>
              <a:rPr lang="es-CO" sz="1700" b="0">
                <a:solidFill>
                  <a:srgbClr val="000000"/>
                </a:solidFill>
                <a:effectLst/>
                <a:latin typeface="Courier New" panose="02070309020205020404" pitchFamily="49" charset="0"/>
              </a:rPr>
              <a:t>(</a:t>
            </a:r>
            <a:r>
              <a:rPr lang="es-CO" sz="1700" b="0">
                <a:solidFill>
                  <a:srgbClr val="A31515"/>
                </a:solidFill>
                <a:effectLst/>
                <a:latin typeface="Courier New" panose="02070309020205020404" pitchFamily="49" charset="0"/>
              </a:rPr>
              <a:t>“¿Tiene más pedidos?:"</a:t>
            </a:r>
            <a:r>
              <a:rPr lang="es-CO" sz="1700" b="0">
                <a:solidFill>
                  <a:srgbClr val="000000"/>
                </a:solidFill>
                <a:effectLst/>
                <a:latin typeface="Courier New" panose="02070309020205020404" pitchFamily="49" charset="0"/>
              </a:rPr>
              <a:t>)</a:t>
            </a:r>
          </a:p>
          <a:p>
            <a:pPr>
              <a:lnSpc>
                <a:spcPts val="1425"/>
              </a:lnSpc>
            </a:pPr>
            <a:r>
              <a:rPr lang="es-CO" sz="1700" b="0">
                <a:solidFill>
                  <a:srgbClr val="000000"/>
                </a:solidFill>
                <a:effectLst/>
                <a:latin typeface="Courier New" panose="02070309020205020404" pitchFamily="49" charset="0"/>
              </a:rPr>
              <a:t>  </a:t>
            </a:r>
            <a:r>
              <a:rPr lang="es-CO" sz="1700" b="0" err="1">
                <a:solidFill>
                  <a:srgbClr val="AF00DB"/>
                </a:solidFill>
                <a:effectLst/>
                <a:latin typeface="Courier New" panose="02070309020205020404" pitchFamily="49" charset="0"/>
              </a:rPr>
              <a:t>if</a:t>
            </a:r>
            <a:r>
              <a:rPr lang="es-CO" sz="1700" b="0">
                <a:solidFill>
                  <a:srgbClr val="000000"/>
                </a:solidFill>
                <a:effectLst/>
                <a:latin typeface="Courier New" panose="02070309020205020404" pitchFamily="49" charset="0"/>
              </a:rPr>
              <a:t> </a:t>
            </a:r>
            <a:r>
              <a:rPr lang="es-CO" sz="1700" b="0" err="1">
                <a:solidFill>
                  <a:srgbClr val="000000"/>
                </a:solidFill>
                <a:effectLst/>
                <a:latin typeface="Courier New" panose="02070309020205020404" pitchFamily="49" charset="0"/>
              </a:rPr>
              <a:t>masPedidos</a:t>
            </a:r>
            <a:r>
              <a:rPr lang="es-CO" sz="1700" b="0">
                <a:solidFill>
                  <a:srgbClr val="000000"/>
                </a:solidFill>
                <a:effectLst/>
                <a:latin typeface="Courier New" panose="02070309020205020404" pitchFamily="49" charset="0"/>
              </a:rPr>
              <a:t>==</a:t>
            </a:r>
            <a:r>
              <a:rPr lang="es-CO" sz="1700" b="0">
                <a:solidFill>
                  <a:srgbClr val="A31515"/>
                </a:solidFill>
                <a:effectLst/>
                <a:latin typeface="Courier New" panose="02070309020205020404" pitchFamily="49" charset="0"/>
              </a:rPr>
              <a:t>"no"</a:t>
            </a:r>
            <a:r>
              <a:rPr lang="es-CO" sz="1700" b="0">
                <a:solidFill>
                  <a:srgbClr val="000000"/>
                </a:solidFill>
                <a:effectLst/>
                <a:latin typeface="Courier New" panose="02070309020205020404" pitchFamily="49" charset="0"/>
              </a:rPr>
              <a:t>:</a:t>
            </a:r>
          </a:p>
          <a:p>
            <a:pPr>
              <a:lnSpc>
                <a:spcPts val="1425"/>
              </a:lnSpc>
            </a:pPr>
            <a:r>
              <a:rPr lang="es-CO" sz="1700" b="0">
                <a:solidFill>
                  <a:srgbClr val="000000"/>
                </a:solidFill>
                <a:effectLst/>
                <a:latin typeface="Courier New" panose="02070309020205020404" pitchFamily="49" charset="0"/>
              </a:rPr>
              <a:t>    </a:t>
            </a:r>
            <a:r>
              <a:rPr lang="es-CO" sz="1700" b="0">
                <a:solidFill>
                  <a:srgbClr val="AF00DB"/>
                </a:solidFill>
                <a:effectLst/>
                <a:latin typeface="Courier New" panose="02070309020205020404" pitchFamily="49" charset="0"/>
              </a:rPr>
              <a:t>break</a:t>
            </a:r>
            <a:endParaRPr lang="es-CO" sz="1700" b="0">
              <a:solidFill>
                <a:srgbClr val="000000"/>
              </a:solidFill>
              <a:effectLst/>
              <a:latin typeface="Courier New" panose="02070309020205020404" pitchFamily="49" charset="0"/>
            </a:endParaRPr>
          </a:p>
        </p:txBody>
      </p:sp>
      <p:sp>
        <p:nvSpPr>
          <p:cNvPr id="3" name="Título 4">
            <a:extLst>
              <a:ext uri="{FF2B5EF4-FFF2-40B4-BE49-F238E27FC236}">
                <a16:creationId xmlns:a16="http://schemas.microsoft.com/office/drawing/2014/main" id="{A34230AF-552E-6947-040A-5687B366009E}"/>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fontScale="92500" lnSpcReduction="10000"/>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4. </a:t>
            </a:r>
            <a:r>
              <a:rPr lang="es-MX" sz="3400">
                <a:solidFill>
                  <a:srgbClr val="02C9B6"/>
                </a:solidFill>
              </a:rPr>
              <a:t>Codificación de la solución en un lenguaje de programación</a:t>
            </a:r>
          </a:p>
        </p:txBody>
      </p:sp>
      <p:sp>
        <p:nvSpPr>
          <p:cNvPr id="6" name="Google Shape;558;p27">
            <a:extLst>
              <a:ext uri="{FF2B5EF4-FFF2-40B4-BE49-F238E27FC236}">
                <a16:creationId xmlns:a16="http://schemas.microsoft.com/office/drawing/2014/main" id="{F1DDA300-597D-A638-7214-B4599ECD964C}"/>
              </a:ext>
            </a:extLst>
          </p:cNvPr>
          <p:cNvSpPr/>
          <p:nvPr/>
        </p:nvSpPr>
        <p:spPr>
          <a:xfrm>
            <a:off x="8903368" y="3995419"/>
            <a:ext cx="2574399" cy="1691747"/>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p>
            <a:pPr lvl="0" algn="ctr"/>
            <a:r>
              <a:rPr lang="es-MX" sz="1600" b="1">
                <a:solidFill>
                  <a:schemeClr val="dk1"/>
                </a:solidFill>
                <a:ea typeface="Calibri"/>
                <a:cs typeface="Calibri"/>
                <a:sym typeface="Calibri"/>
              </a:rPr>
              <a:t>En próximas clases aprenderemos cómo realizar código como este.</a:t>
            </a:r>
            <a:endParaRPr sz="1600"/>
          </a:p>
        </p:txBody>
      </p:sp>
      <p:sp>
        <p:nvSpPr>
          <p:cNvPr id="7" name="CuadroTexto 6">
            <a:extLst>
              <a:ext uri="{FF2B5EF4-FFF2-40B4-BE49-F238E27FC236}">
                <a16:creationId xmlns:a16="http://schemas.microsoft.com/office/drawing/2014/main" id="{B8F9BA02-0E9C-6809-440C-331105601F85}"/>
              </a:ext>
            </a:extLst>
          </p:cNvPr>
          <p:cNvSpPr txBox="1"/>
          <p:nvPr/>
        </p:nvSpPr>
        <p:spPr>
          <a:xfrm>
            <a:off x="2147149" y="1868266"/>
            <a:ext cx="9330618" cy="1292662"/>
          </a:xfrm>
          <a:prstGeom prst="rect">
            <a:avLst/>
          </a:prstGeom>
          <a:noFill/>
        </p:spPr>
        <p:txBody>
          <a:bodyPr wrap="square" lIns="91440" tIns="45720" rIns="91440" bIns="45720" anchor="t">
            <a:spAutoFit/>
          </a:bodyPr>
          <a:lstStyle/>
          <a:p>
            <a:r>
              <a:rPr lang="es-ES" sz="2400" b="1"/>
              <a:t>4.1 Implementación en Python</a:t>
            </a:r>
          </a:p>
          <a:p>
            <a:endParaRPr lang="es-ES" sz="1400" b="1"/>
          </a:p>
          <a:p>
            <a:pPr marL="285750" indent="-285750">
              <a:buClr>
                <a:srgbClr val="02C9B6"/>
              </a:buClr>
              <a:buFont typeface="Arial" panose="020B0604020202020204" pitchFamily="34" charset="0"/>
              <a:buChar char="•"/>
            </a:pPr>
            <a:r>
              <a:rPr lang="es-MX" sz="2000" b="1">
                <a:ea typeface="Calibri"/>
                <a:cs typeface="Calibri"/>
              </a:rPr>
              <a:t>Escribir el código completo en Python basado en el diagrama de flujo</a:t>
            </a:r>
          </a:p>
          <a:p>
            <a:pPr marL="285750" indent="-285750">
              <a:buClr>
                <a:srgbClr val="02C9B6"/>
              </a:buClr>
              <a:buFont typeface="Arial" panose="020B0604020202020204" pitchFamily="34" charset="0"/>
              <a:buChar char="•"/>
            </a:pPr>
            <a:endParaRPr lang="es-ES" sz="2000" b="1">
              <a:ea typeface="Calibri"/>
              <a:cs typeface="Calibri"/>
            </a:endParaRPr>
          </a:p>
        </p:txBody>
      </p:sp>
    </p:spTree>
    <p:extLst>
      <p:ext uri="{BB962C8B-B14F-4D97-AF65-F5344CB8AC3E}">
        <p14:creationId xmlns:p14="http://schemas.microsoft.com/office/powerpoint/2010/main" val="192069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1C033-3852-495B-C047-81A070975B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A92E14-5C34-18F6-53AB-C93158D5C829}"/>
              </a:ext>
            </a:extLst>
          </p:cNvPr>
          <p:cNvSpPr>
            <a:spLocks noGrp="1"/>
          </p:cNvSpPr>
          <p:nvPr>
            <p:ph type="title"/>
          </p:nvPr>
        </p:nvSpPr>
        <p:spPr>
          <a:xfrm>
            <a:off x="2076994" y="193314"/>
            <a:ext cx="9666016" cy="1018902"/>
          </a:xfrm>
        </p:spPr>
        <p:txBody>
          <a:bodyPr/>
          <a:lstStyle/>
          <a:p>
            <a:r>
              <a:rPr lang="es-CO"/>
              <a:t>Solución aplicando PC</a:t>
            </a:r>
          </a:p>
        </p:txBody>
      </p:sp>
      <p:sp>
        <p:nvSpPr>
          <p:cNvPr id="4" name="Marcador de número de diapositiva 3">
            <a:extLst>
              <a:ext uri="{FF2B5EF4-FFF2-40B4-BE49-F238E27FC236}">
                <a16:creationId xmlns:a16="http://schemas.microsoft.com/office/drawing/2014/main" id="{2CBFDB09-FFBC-0B5C-C6C9-EAA07105ED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32</a:t>
            </a:fld>
            <a:endParaRPr lang="es-CO"/>
          </a:p>
        </p:txBody>
      </p:sp>
      <p:sp>
        <p:nvSpPr>
          <p:cNvPr id="3" name="Título 4">
            <a:extLst>
              <a:ext uri="{FF2B5EF4-FFF2-40B4-BE49-F238E27FC236}">
                <a16:creationId xmlns:a16="http://schemas.microsoft.com/office/drawing/2014/main" id="{A191A79E-705B-36F7-3659-7952EA19BBB0}"/>
              </a:ext>
            </a:extLst>
          </p:cNvPr>
          <p:cNvSpPr txBox="1">
            <a:spLocks/>
          </p:cNvSpPr>
          <p:nvPr/>
        </p:nvSpPr>
        <p:spPr>
          <a:xfrm>
            <a:off x="2076994" y="950502"/>
            <a:ext cx="9666016" cy="1018902"/>
          </a:xfrm>
          <a:prstGeom prst="rect">
            <a:avLst/>
          </a:prstGeom>
          <a:noFill/>
          <a:ln>
            <a:noFill/>
          </a:ln>
        </p:spPr>
        <p:txBody>
          <a:bodyPr spcFirstLastPara="1" vert="horz" wrap="square" lIns="91425" tIns="45700" rIns="91425" bIns="45700" rtlCol="0" anchor="ctr" anchorCtr="0">
            <a:normAutofit fontScale="92500" lnSpcReduction="10000"/>
          </a:bodyPr>
          <a:lstStyle>
            <a:lvl1pPr lvl="0" algn="ctr" defTabSz="914400" rtl="0" eaLnBrk="1" latinLnBrk="0" hangingPunct="1">
              <a:lnSpc>
                <a:spcPct val="100000"/>
              </a:lnSpc>
              <a:spcBef>
                <a:spcPts val="0"/>
              </a:spcBef>
              <a:spcAft>
                <a:spcPts val="0"/>
              </a:spcAft>
              <a:buClr>
                <a:schemeClr val="dk1"/>
              </a:buClr>
              <a:buSzPts val="4400"/>
              <a:buFont typeface="Calibri"/>
              <a:buNone/>
              <a:defRPr sz="4400" b="1" kern="1200">
                <a:solidFill>
                  <a:srgbClr val="009BA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CO" sz="3400">
                <a:solidFill>
                  <a:srgbClr val="02C9B6"/>
                </a:solidFill>
              </a:rPr>
              <a:t>4. </a:t>
            </a:r>
            <a:r>
              <a:rPr lang="es-MX" sz="3400">
                <a:solidFill>
                  <a:srgbClr val="02C9B6"/>
                </a:solidFill>
              </a:rPr>
              <a:t>Codificación de la solución en un lenguaje de programación</a:t>
            </a:r>
          </a:p>
        </p:txBody>
      </p:sp>
      <p:sp>
        <p:nvSpPr>
          <p:cNvPr id="7" name="CuadroTexto 6">
            <a:extLst>
              <a:ext uri="{FF2B5EF4-FFF2-40B4-BE49-F238E27FC236}">
                <a16:creationId xmlns:a16="http://schemas.microsoft.com/office/drawing/2014/main" id="{1A1EE13B-624F-9DD0-460E-A9A1BAD92AD1}"/>
              </a:ext>
            </a:extLst>
          </p:cNvPr>
          <p:cNvSpPr txBox="1"/>
          <p:nvPr/>
        </p:nvSpPr>
        <p:spPr>
          <a:xfrm>
            <a:off x="2147149" y="1968908"/>
            <a:ext cx="9330618" cy="1292662"/>
          </a:xfrm>
          <a:prstGeom prst="rect">
            <a:avLst/>
          </a:prstGeom>
          <a:noFill/>
        </p:spPr>
        <p:txBody>
          <a:bodyPr wrap="square" lIns="91440" tIns="45720" rIns="91440" bIns="45720" anchor="t">
            <a:spAutoFit/>
          </a:bodyPr>
          <a:lstStyle/>
          <a:p>
            <a:r>
              <a:rPr lang="es-ES" sz="2400" b="1"/>
              <a:t>4.2 Evaluación de la implementación</a:t>
            </a:r>
          </a:p>
          <a:p>
            <a:endParaRPr lang="es-ES" sz="1400" b="1"/>
          </a:p>
          <a:p>
            <a:pPr marL="285750" indent="-285750">
              <a:buClr>
                <a:srgbClr val="02C9B6"/>
              </a:buClr>
              <a:buFont typeface="Arial" panose="020B0604020202020204" pitchFamily="34" charset="0"/>
              <a:buChar char="•"/>
            </a:pPr>
            <a:r>
              <a:rPr lang="es-MX" sz="2000" b="1">
                <a:ea typeface="Calibri"/>
                <a:cs typeface="Calibri"/>
              </a:rPr>
              <a:t>Evaluar el código resultante</a:t>
            </a:r>
          </a:p>
          <a:p>
            <a:pPr marL="285750" indent="-285750">
              <a:buClr>
                <a:srgbClr val="02C9B6"/>
              </a:buClr>
              <a:buFont typeface="Arial" panose="020B0604020202020204" pitchFamily="34" charset="0"/>
              <a:buChar char="•"/>
            </a:pPr>
            <a:endParaRPr lang="es-ES" sz="2000" b="1">
              <a:ea typeface="Calibri"/>
              <a:cs typeface="Calibri"/>
            </a:endParaRPr>
          </a:p>
        </p:txBody>
      </p:sp>
      <p:sp>
        <p:nvSpPr>
          <p:cNvPr id="9" name="CuadroTexto 8">
            <a:extLst>
              <a:ext uri="{FF2B5EF4-FFF2-40B4-BE49-F238E27FC236}">
                <a16:creationId xmlns:a16="http://schemas.microsoft.com/office/drawing/2014/main" id="{DAEEC291-644E-ACBF-3A0D-EF956933FAD1}"/>
              </a:ext>
            </a:extLst>
          </p:cNvPr>
          <p:cNvSpPr txBox="1"/>
          <p:nvPr/>
        </p:nvSpPr>
        <p:spPr>
          <a:xfrm>
            <a:off x="2147149" y="3235408"/>
            <a:ext cx="6104020" cy="1015663"/>
          </a:xfrm>
          <a:prstGeom prst="rect">
            <a:avLst/>
          </a:prstGeom>
          <a:noFill/>
        </p:spPr>
        <p:txBody>
          <a:bodyPr wrap="square">
            <a:spAutoFit/>
          </a:bodyPr>
          <a:lstStyle/>
          <a:p>
            <a:r>
              <a:rPr lang="es-ES" sz="2000"/>
              <a:t>✅ El código sigue la lógica del diagrama de flujo.</a:t>
            </a:r>
          </a:p>
          <a:p>
            <a:r>
              <a:rPr lang="es-ES" sz="2000"/>
              <a:t>✅ Se ejecuta sin errores.</a:t>
            </a:r>
          </a:p>
          <a:p>
            <a:r>
              <a:rPr lang="es-ES" sz="2000"/>
              <a:t>✅ Se obtienen los resultados esperados.</a:t>
            </a:r>
          </a:p>
        </p:txBody>
      </p:sp>
    </p:spTree>
    <p:extLst>
      <p:ext uri="{BB962C8B-B14F-4D97-AF65-F5344CB8AC3E}">
        <p14:creationId xmlns:p14="http://schemas.microsoft.com/office/powerpoint/2010/main" val="118533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EA405-267F-D115-A430-052BE48F490A}"/>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28944286-E61C-4A28-8E7C-A92F86047176}"/>
              </a:ext>
            </a:extLst>
          </p:cNvPr>
          <p:cNvSpPr>
            <a:spLocks noGrp="1"/>
          </p:cNvSpPr>
          <p:nvPr>
            <p:ph type="title"/>
          </p:nvPr>
        </p:nvSpPr>
        <p:spPr/>
        <p:txBody>
          <a:bodyPr/>
          <a:lstStyle/>
          <a:p>
            <a:r>
              <a:rPr lang="es-CO"/>
              <a:t>Problema sistema monitoreo de reciclaje</a:t>
            </a:r>
          </a:p>
        </p:txBody>
      </p:sp>
      <p:sp>
        <p:nvSpPr>
          <p:cNvPr id="6" name="Marcador de texto 5">
            <a:extLst>
              <a:ext uri="{FF2B5EF4-FFF2-40B4-BE49-F238E27FC236}">
                <a16:creationId xmlns:a16="http://schemas.microsoft.com/office/drawing/2014/main" id="{7CA991DF-E05E-6A46-864A-7CBBB0C902E7}"/>
              </a:ext>
            </a:extLst>
          </p:cNvPr>
          <p:cNvSpPr>
            <a:spLocks noGrp="1"/>
          </p:cNvSpPr>
          <p:nvPr>
            <p:ph type="body" idx="1"/>
          </p:nvPr>
        </p:nvSpPr>
        <p:spPr>
          <a:xfrm>
            <a:off x="2076994" y="1243521"/>
            <a:ext cx="9638138" cy="5295342"/>
          </a:xfrm>
        </p:spPr>
        <p:txBody>
          <a:bodyPr>
            <a:noAutofit/>
          </a:bodyPr>
          <a:lstStyle/>
          <a:p>
            <a:r>
              <a:rPr lang="es-CO" sz="2000"/>
              <a:t>El docente hará entrega de un documento con la descripción del problema “Sistema de monitoreo de reciclaje” y la aplicación de la metodología propuesta.</a:t>
            </a:r>
          </a:p>
          <a:p>
            <a:endParaRPr lang="es-CO" sz="2000"/>
          </a:p>
          <a:p>
            <a:r>
              <a:rPr lang="es-CO" sz="2000"/>
              <a:t>Este documento le servirá de ejemplo para la realizar el proyecto del curso.</a:t>
            </a:r>
          </a:p>
          <a:p>
            <a:endParaRPr lang="es-CO" sz="2000"/>
          </a:p>
          <a:p>
            <a:r>
              <a:rPr lang="es-CO" sz="2000"/>
              <a:t>Se recomienda como ejercicio realizar cada paso de la metodología sin ver la solución y luego comparar. En cualquier caso, el docente hará las recomendaciones para esta actividad.</a:t>
            </a:r>
          </a:p>
          <a:p>
            <a:endParaRPr lang="es-CO" sz="2000"/>
          </a:p>
          <a:p>
            <a:r>
              <a:rPr lang="es-CO" sz="2000"/>
              <a:t>La actividad se puede comenzar al finalizar los temas de la clase. Luego, el estudiante debe terminarla por fuera de clase. si al terminar los temas y terminar por fuera, de acuerdo con los tiempos de la clase.</a:t>
            </a:r>
          </a:p>
          <a:p>
            <a:endParaRPr lang="es-CO" sz="2000"/>
          </a:p>
          <a:p>
            <a:pPr marL="76200" indent="0">
              <a:buNone/>
            </a:pPr>
            <a:endParaRPr lang="es-CO" sz="1900" i="1"/>
          </a:p>
          <a:p>
            <a:pPr marL="76200" indent="0">
              <a:buNone/>
            </a:pPr>
            <a:endParaRPr lang="es-CO" sz="1900" i="1"/>
          </a:p>
        </p:txBody>
      </p:sp>
      <p:sp>
        <p:nvSpPr>
          <p:cNvPr id="4" name="Marcador de número de diapositiva 3">
            <a:extLst>
              <a:ext uri="{FF2B5EF4-FFF2-40B4-BE49-F238E27FC236}">
                <a16:creationId xmlns:a16="http://schemas.microsoft.com/office/drawing/2014/main" id="{F90CD7B2-70D0-688B-9463-53417C0D6F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33</a:t>
            </a:fld>
            <a:endParaRPr lang="es-CO"/>
          </a:p>
        </p:txBody>
      </p:sp>
    </p:spTree>
    <p:extLst>
      <p:ext uri="{BB962C8B-B14F-4D97-AF65-F5344CB8AC3E}">
        <p14:creationId xmlns:p14="http://schemas.microsoft.com/office/powerpoint/2010/main" val="266364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ts val="4400"/>
              <a:buFont typeface="Calibri"/>
              <a:buNone/>
            </a:pPr>
            <a:r>
              <a:rPr lang="es-CO"/>
              <a:t>Agenda</a:t>
            </a:r>
            <a:endParaRPr/>
          </a:p>
        </p:txBody>
      </p:sp>
      <p:sp>
        <p:nvSpPr>
          <p:cNvPr id="214" name="Google Shape;214;p2"/>
          <p:cNvSpPr txBox="1">
            <a:spLocks noGrp="1"/>
          </p:cNvSpPr>
          <p:nvPr>
            <p:ph type="body" idx="1"/>
          </p:nvPr>
        </p:nvSpPr>
        <p:spPr>
          <a:prstGeom prst="rect">
            <a:avLst/>
          </a:prstGeom>
          <a:noFill/>
          <a:ln>
            <a:noFill/>
          </a:ln>
        </p:spPr>
        <p:txBody>
          <a:bodyPr spcFirstLastPara="1" wrap="square" lIns="91425" tIns="45700" rIns="91425" bIns="45700" anchor="ctr" anchorCtr="0">
            <a:normAutofit/>
          </a:bodyPr>
          <a:lstStyle/>
          <a:p>
            <a:pPr marL="457200" lvl="0" indent="-457200">
              <a:spcBef>
                <a:spcPts val="0"/>
              </a:spcBef>
              <a:buSzPts val="2400"/>
              <a:buFont typeface="Calibri"/>
              <a:buAutoNum type="arabicPeriod"/>
            </a:pPr>
            <a:r>
              <a:rPr lang="es-ES"/>
              <a:t>Resolución de problemas</a:t>
            </a:r>
          </a:p>
          <a:p>
            <a:pPr marL="457200" lvl="0" indent="-457200">
              <a:spcBef>
                <a:spcPts val="0"/>
              </a:spcBef>
              <a:buSzPts val="2400"/>
              <a:buFont typeface="Calibri"/>
              <a:buAutoNum type="arabicPeriod"/>
            </a:pPr>
            <a:r>
              <a:rPr lang="es-ES"/>
              <a:t>Ejemplo</a:t>
            </a:r>
          </a:p>
          <a:p>
            <a:pPr marL="457200" indent="-457200">
              <a:spcBef>
                <a:spcPts val="0"/>
              </a:spcBef>
              <a:buSzPts val="2400"/>
              <a:buFont typeface="Calibri"/>
              <a:buAutoNum type="arabicPeriod"/>
            </a:pPr>
            <a:r>
              <a:rPr lang="es-ES"/>
              <a:t>Ejercicios</a:t>
            </a:r>
          </a:p>
          <a:p>
            <a:pPr marL="457200" lvl="0" indent="-457200">
              <a:spcBef>
                <a:spcPts val="0"/>
              </a:spcBef>
              <a:buSzPts val="2400"/>
              <a:buFont typeface="Calibri"/>
              <a:buAutoNum type="arabicPeriod"/>
            </a:pPr>
            <a:r>
              <a:rPr lang="es-ES" b="1"/>
              <a:t>Proyecto</a:t>
            </a:r>
          </a:p>
        </p:txBody>
      </p:sp>
    </p:spTree>
    <p:extLst>
      <p:ext uri="{BB962C8B-B14F-4D97-AF65-F5344CB8AC3E}">
        <p14:creationId xmlns:p14="http://schemas.microsoft.com/office/powerpoint/2010/main" val="409529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9404189-ED5C-4452-A26D-36AFAFB6D5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35</a:t>
            </a:fld>
            <a:endParaRPr lang="es-CO"/>
          </a:p>
        </p:txBody>
      </p:sp>
      <p:sp>
        <p:nvSpPr>
          <p:cNvPr id="9" name="Marcador de texto 5">
            <a:extLst>
              <a:ext uri="{FF2B5EF4-FFF2-40B4-BE49-F238E27FC236}">
                <a16:creationId xmlns:a16="http://schemas.microsoft.com/office/drawing/2014/main" id="{29364228-0F1F-F2E7-C2FD-9E71B2DB6D3F}"/>
              </a:ext>
            </a:extLst>
          </p:cNvPr>
          <p:cNvSpPr>
            <a:spLocks noGrp="1"/>
          </p:cNvSpPr>
          <p:nvPr>
            <p:ph type="body" idx="1"/>
          </p:nvPr>
        </p:nvSpPr>
        <p:spPr>
          <a:xfrm>
            <a:off x="1860884" y="1096593"/>
            <a:ext cx="9780510" cy="5394959"/>
          </a:xfrm>
        </p:spPr>
        <p:txBody>
          <a:bodyPr>
            <a:noAutofit/>
          </a:bodyPr>
          <a:lstStyle/>
          <a:p>
            <a:r>
              <a:rPr lang="es-CO" sz="2000" dirty="0"/>
              <a:t>Conformado por 2 entregas.</a:t>
            </a:r>
          </a:p>
          <a:p>
            <a:r>
              <a:rPr lang="es-CO" sz="2000" dirty="0"/>
              <a:t>Equipos de 3 estudiantes.</a:t>
            </a:r>
          </a:p>
          <a:p>
            <a:r>
              <a:rPr lang="es-MX" sz="2000" dirty="0"/>
              <a:t>El proyecto debe presentar un problema a través del cual los estudiantes aplican los pilares del PC.  </a:t>
            </a:r>
          </a:p>
          <a:p>
            <a:r>
              <a:rPr lang="es-MX" sz="2000" dirty="0"/>
              <a:t>La solución del problema debe estar orientada a una solución informática, la cual debe incluir: variables, condicionales, ciclos, listas y archivos. </a:t>
            </a:r>
          </a:p>
          <a:p>
            <a:r>
              <a:rPr lang="es-MX" sz="2000" dirty="0"/>
              <a:t>Debe llegar a un programa que presente un menú que llame varias funciones. Algunas opciones: gestión de inventarios, gestión préstamos de una biblioteca, gestión inventarios de un dispensador de productos.</a:t>
            </a:r>
            <a:endParaRPr lang="es-CO" sz="2000" dirty="0"/>
          </a:p>
        </p:txBody>
      </p:sp>
      <p:sp>
        <p:nvSpPr>
          <p:cNvPr id="10" name="Título 4">
            <a:extLst>
              <a:ext uri="{FF2B5EF4-FFF2-40B4-BE49-F238E27FC236}">
                <a16:creationId xmlns:a16="http://schemas.microsoft.com/office/drawing/2014/main" id="{ABF117DF-ADDA-8DA4-E6B1-13ABD3293B9A}"/>
              </a:ext>
            </a:extLst>
          </p:cNvPr>
          <p:cNvSpPr>
            <a:spLocks noGrp="1"/>
          </p:cNvSpPr>
          <p:nvPr>
            <p:ph type="title"/>
          </p:nvPr>
        </p:nvSpPr>
        <p:spPr>
          <a:xfrm>
            <a:off x="2076994" y="222069"/>
            <a:ext cx="9666016" cy="1018902"/>
          </a:xfrm>
        </p:spPr>
        <p:txBody>
          <a:bodyPr/>
          <a:lstStyle/>
          <a:p>
            <a:r>
              <a:rPr lang="es-CO" dirty="0"/>
              <a:t>Proyecto</a:t>
            </a:r>
          </a:p>
        </p:txBody>
      </p:sp>
    </p:spTree>
    <p:extLst>
      <p:ext uri="{BB962C8B-B14F-4D97-AF65-F5344CB8AC3E}">
        <p14:creationId xmlns:p14="http://schemas.microsoft.com/office/powerpoint/2010/main" val="186968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2B51E570-92ED-4662-9702-05C6822EDDEC}"/>
              </a:ext>
            </a:extLst>
          </p:cNvPr>
          <p:cNvSpPr>
            <a:spLocks noGrp="1"/>
          </p:cNvSpPr>
          <p:nvPr>
            <p:ph type="title"/>
          </p:nvPr>
        </p:nvSpPr>
        <p:spPr/>
        <p:txBody>
          <a:bodyPr>
            <a:normAutofit fontScale="90000"/>
          </a:bodyPr>
          <a:lstStyle/>
          <a:p>
            <a:r>
              <a:rPr lang="es-CO"/>
              <a:t>Plantilla metodología PC para análisis y solución de problemas </a:t>
            </a:r>
          </a:p>
        </p:txBody>
      </p:sp>
      <p:sp>
        <p:nvSpPr>
          <p:cNvPr id="4" name="Marcador de número de diapositiva 3">
            <a:extLst>
              <a:ext uri="{FF2B5EF4-FFF2-40B4-BE49-F238E27FC236}">
                <a16:creationId xmlns:a16="http://schemas.microsoft.com/office/drawing/2014/main" id="{39404189-ED5C-4452-A26D-36AFAFB6D5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36</a:t>
            </a:fld>
            <a:endParaRPr lang="es-CO"/>
          </a:p>
        </p:txBody>
      </p:sp>
      <p:sp>
        <p:nvSpPr>
          <p:cNvPr id="7" name="Rectángulo 6">
            <a:extLst>
              <a:ext uri="{FF2B5EF4-FFF2-40B4-BE49-F238E27FC236}">
                <a16:creationId xmlns:a16="http://schemas.microsoft.com/office/drawing/2014/main" id="{5E9DCF53-D0E1-01EA-906E-B048CA8AD5F1}"/>
              </a:ext>
            </a:extLst>
          </p:cNvPr>
          <p:cNvSpPr/>
          <p:nvPr/>
        </p:nvSpPr>
        <p:spPr>
          <a:xfrm>
            <a:off x="2065278" y="1588417"/>
            <a:ext cx="4564122" cy="496397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s-CO"/>
          </a:p>
        </p:txBody>
      </p:sp>
      <p:sp>
        <p:nvSpPr>
          <p:cNvPr id="8" name="CuadroTexto 7">
            <a:extLst>
              <a:ext uri="{FF2B5EF4-FFF2-40B4-BE49-F238E27FC236}">
                <a16:creationId xmlns:a16="http://schemas.microsoft.com/office/drawing/2014/main" id="{18BB93FD-2F57-568F-E0F5-8ACE9A487EAC}"/>
              </a:ext>
            </a:extLst>
          </p:cNvPr>
          <p:cNvSpPr txBox="1"/>
          <p:nvPr/>
        </p:nvSpPr>
        <p:spPr>
          <a:xfrm>
            <a:off x="2171758" y="1717813"/>
            <a:ext cx="4347972" cy="1231106"/>
          </a:xfrm>
          <a:prstGeom prst="rect">
            <a:avLst/>
          </a:prstGeom>
          <a:noFill/>
        </p:spPr>
        <p:txBody>
          <a:bodyPr wrap="square" lIns="91440" tIns="45720" rIns="91440" bIns="45720" anchor="t">
            <a:spAutoFit/>
          </a:bodyPr>
          <a:lstStyle/>
          <a:p>
            <a:pPr marL="342900" indent="-342900">
              <a:buAutoNum type="arabicPeriod"/>
            </a:pPr>
            <a:r>
              <a:rPr lang="es-ES" b="1"/>
              <a:t>Análisis del Problema</a:t>
            </a:r>
            <a:endParaRPr lang="es-ES">
              <a:ea typeface="Calibri" panose="020F0502020204030204"/>
              <a:cs typeface="Calibri" panose="020F0502020204030204"/>
            </a:endParaRPr>
          </a:p>
          <a:p>
            <a:endParaRPr lang="es-ES" sz="1400" b="1">
              <a:ea typeface="Calibri"/>
              <a:cs typeface="Calibri"/>
            </a:endParaRPr>
          </a:p>
          <a:p>
            <a:endParaRPr lang="es-ES" sz="1400" b="1">
              <a:solidFill>
                <a:srgbClr val="000000"/>
              </a:solidFill>
              <a:ea typeface="Calibri"/>
              <a:cs typeface="Calibri"/>
            </a:endParaRPr>
          </a:p>
          <a:p>
            <a:endParaRPr lang="es-ES" sz="1400" b="1">
              <a:ea typeface="Calibri"/>
              <a:cs typeface="Calibri"/>
            </a:endParaRPr>
          </a:p>
          <a:p>
            <a:endParaRPr lang="es-ES" sz="1400" b="1">
              <a:ea typeface="Calibri"/>
              <a:cs typeface="Calibri"/>
            </a:endParaRPr>
          </a:p>
        </p:txBody>
      </p:sp>
      <p:sp>
        <p:nvSpPr>
          <p:cNvPr id="11" name="Rectángulo 10">
            <a:extLst>
              <a:ext uri="{FF2B5EF4-FFF2-40B4-BE49-F238E27FC236}">
                <a16:creationId xmlns:a16="http://schemas.microsoft.com/office/drawing/2014/main" id="{7581B982-2562-5A1C-A83F-E2696AAF0F3B}"/>
              </a:ext>
            </a:extLst>
          </p:cNvPr>
          <p:cNvSpPr/>
          <p:nvPr/>
        </p:nvSpPr>
        <p:spPr>
          <a:xfrm>
            <a:off x="6914568" y="1588417"/>
            <a:ext cx="4636008" cy="496397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s-CO"/>
          </a:p>
        </p:txBody>
      </p:sp>
      <p:sp>
        <p:nvSpPr>
          <p:cNvPr id="14" name="CuadroTexto 13"/>
          <p:cNvSpPr txBox="1"/>
          <p:nvPr/>
        </p:nvSpPr>
        <p:spPr>
          <a:xfrm>
            <a:off x="2078590" y="1247839"/>
            <a:ext cx="983218" cy="338554"/>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defPPr>
              <a:defRPr lang="es-ES"/>
            </a:defPPr>
            <a:lvl1pPr lvl="0" algn="ctr">
              <a:defRPr sz="1600" b="1">
                <a:solidFill>
                  <a:schemeClr val="dk1"/>
                </a:solidFill>
                <a:ea typeface="Calibri"/>
                <a:cs typeface="Calibri"/>
              </a:defRPr>
            </a:lvl1pPr>
          </a:lstStyle>
          <a:p>
            <a:r>
              <a:rPr lang="es-MX"/>
              <a:t>Entrega 1</a:t>
            </a:r>
            <a:endParaRPr lang="es-CO"/>
          </a:p>
        </p:txBody>
      </p:sp>
      <p:sp>
        <p:nvSpPr>
          <p:cNvPr id="15" name="CuadroTexto 14"/>
          <p:cNvSpPr txBox="1"/>
          <p:nvPr/>
        </p:nvSpPr>
        <p:spPr>
          <a:xfrm>
            <a:off x="6926295" y="1248329"/>
            <a:ext cx="983218" cy="338554"/>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defPPr>
              <a:defRPr lang="es-ES"/>
            </a:defPPr>
            <a:lvl1pPr lvl="0" algn="ctr">
              <a:defRPr sz="1600" b="1">
                <a:solidFill>
                  <a:schemeClr val="dk1"/>
                </a:solidFill>
                <a:ea typeface="Calibri"/>
                <a:cs typeface="Calibri"/>
              </a:defRPr>
            </a:lvl1pPr>
          </a:lstStyle>
          <a:p>
            <a:r>
              <a:rPr lang="es-MX"/>
              <a:t>Entrega 1</a:t>
            </a:r>
            <a:endParaRPr lang="es-CO"/>
          </a:p>
        </p:txBody>
      </p:sp>
      <p:sp>
        <p:nvSpPr>
          <p:cNvPr id="3" name="CuadroTexto 2">
            <a:extLst>
              <a:ext uri="{FF2B5EF4-FFF2-40B4-BE49-F238E27FC236}">
                <a16:creationId xmlns:a16="http://schemas.microsoft.com/office/drawing/2014/main" id="{F582B5D0-3E90-7028-1854-DDC015AB8F35}"/>
              </a:ext>
            </a:extLst>
          </p:cNvPr>
          <p:cNvSpPr txBox="1"/>
          <p:nvPr/>
        </p:nvSpPr>
        <p:spPr>
          <a:xfrm>
            <a:off x="2165231" y="2050211"/>
            <a:ext cx="6998898"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500" b="1">
                <a:cs typeface="Segoe UI"/>
              </a:rPr>
              <a:t>1.1 Problema </a:t>
            </a:r>
            <a:r>
              <a:rPr lang="en-US" sz="1500">
                <a:cs typeface="Segoe UI"/>
              </a:rPr>
              <a:t>​</a:t>
            </a:r>
            <a:endParaRPr lang="en-US" sz="1500">
              <a:ea typeface="Calibri"/>
              <a:cs typeface="Segoe UI"/>
            </a:endParaRPr>
          </a:p>
          <a:p>
            <a:pPr marL="285750" indent="-285750">
              <a:buClr>
                <a:srgbClr val="02C9B6"/>
              </a:buClr>
              <a:buFont typeface="Arial,Sans-Serif"/>
              <a:buChar char="•"/>
            </a:pPr>
            <a:r>
              <a:rPr lang="es-ES" sz="1500" b="1">
                <a:cs typeface="Arial"/>
              </a:rPr>
              <a:t>Indicar brevemente el problema a resolver</a:t>
            </a:r>
            <a:r>
              <a:rPr lang="en-US" sz="1500">
                <a:cs typeface="Arial"/>
              </a:rPr>
              <a:t>​</a:t>
            </a:r>
            <a:endParaRPr lang="en-US" sz="1500">
              <a:ea typeface="Calibri"/>
              <a:cs typeface="Arial"/>
            </a:endParaRPr>
          </a:p>
          <a:p>
            <a:pPr marL="285750" indent="-285750">
              <a:buClr>
                <a:srgbClr val="02C9B6"/>
              </a:buClr>
              <a:buFont typeface="Arial,Sans-Serif"/>
              <a:buChar char="•"/>
            </a:pPr>
            <a:r>
              <a:rPr lang="es-ES" sz="1500" b="1">
                <a:cs typeface="Arial"/>
              </a:rPr>
              <a:t>Indicar el objetivo buscado</a:t>
            </a:r>
            <a:r>
              <a:rPr lang="en-US" sz="1500">
                <a:cs typeface="Arial"/>
              </a:rPr>
              <a:t>​</a:t>
            </a:r>
            <a:endParaRPr lang="en-US" sz="1500">
              <a:ea typeface="Calibri"/>
              <a:cs typeface="Arial"/>
            </a:endParaRPr>
          </a:p>
          <a:p>
            <a:endParaRPr lang="es-ES" sz="2000">
              <a:ea typeface="Calibri"/>
              <a:cs typeface="Segoe UI"/>
            </a:endParaRPr>
          </a:p>
        </p:txBody>
      </p:sp>
      <p:sp>
        <p:nvSpPr>
          <p:cNvPr id="16" name="CuadroTexto 15">
            <a:extLst>
              <a:ext uri="{FF2B5EF4-FFF2-40B4-BE49-F238E27FC236}">
                <a16:creationId xmlns:a16="http://schemas.microsoft.com/office/drawing/2014/main" id="{0A3C3420-82D9-8028-DEC1-67D840FE9C29}"/>
              </a:ext>
            </a:extLst>
          </p:cNvPr>
          <p:cNvSpPr txBox="1"/>
          <p:nvPr/>
        </p:nvSpPr>
        <p:spPr>
          <a:xfrm>
            <a:off x="2180899" y="2898269"/>
            <a:ext cx="4347972" cy="784830"/>
          </a:xfrm>
          <a:prstGeom prst="rect">
            <a:avLst/>
          </a:prstGeom>
          <a:noFill/>
        </p:spPr>
        <p:txBody>
          <a:bodyPr wrap="square" lIns="91440" tIns="45720" rIns="91440" bIns="45720" anchor="t">
            <a:spAutoFit/>
          </a:bodyPr>
          <a:lstStyle/>
          <a:p>
            <a:r>
              <a:rPr lang="es-ES" sz="1500" b="1"/>
              <a:t>1.2 Abstracción</a:t>
            </a:r>
            <a:endParaRPr lang="es-ES" sz="1500" b="1">
              <a:ea typeface="Calibri"/>
              <a:cs typeface="Calibri"/>
            </a:endParaRPr>
          </a:p>
          <a:p>
            <a:pPr marL="342900" indent="-342900">
              <a:buClr>
                <a:srgbClr val="02C9B6"/>
              </a:buClr>
              <a:buFont typeface="Arial" panose="020B0604020202020204" pitchFamily="34" charset="0"/>
              <a:buChar char="•"/>
            </a:pPr>
            <a:r>
              <a:rPr lang="es-ES" sz="1500" b="1">
                <a:ea typeface="Calibri"/>
                <a:cs typeface="Calibri"/>
              </a:rPr>
              <a:t>Listar los datos relevantes para resolver el problema</a:t>
            </a:r>
          </a:p>
        </p:txBody>
      </p:sp>
      <p:graphicFrame>
        <p:nvGraphicFramePr>
          <p:cNvPr id="18" name="Tabla 17">
            <a:extLst>
              <a:ext uri="{FF2B5EF4-FFF2-40B4-BE49-F238E27FC236}">
                <a16:creationId xmlns:a16="http://schemas.microsoft.com/office/drawing/2014/main" id="{DACAAC23-089A-E789-73AD-CC9BFE94C7C5}"/>
              </a:ext>
            </a:extLst>
          </p:cNvPr>
          <p:cNvGraphicFramePr>
            <a:graphicFrameLocks noGrp="1"/>
          </p:cNvGraphicFramePr>
          <p:nvPr/>
        </p:nvGraphicFramePr>
        <p:xfrm>
          <a:off x="3680603" y="3551207"/>
          <a:ext cx="2713581" cy="1005840"/>
        </p:xfrm>
        <a:graphic>
          <a:graphicData uri="http://schemas.openxmlformats.org/drawingml/2006/table">
            <a:tbl>
              <a:tblPr firstRow="1" bandRow="1">
                <a:tableStyleId>{5940675A-B579-460E-94D1-54222C63F5DA}</a:tableStyleId>
              </a:tblPr>
              <a:tblGrid>
                <a:gridCol w="1002948">
                  <a:extLst>
                    <a:ext uri="{9D8B030D-6E8A-4147-A177-3AD203B41FA5}">
                      <a16:colId xmlns:a16="http://schemas.microsoft.com/office/drawing/2014/main" val="722552213"/>
                    </a:ext>
                  </a:extLst>
                </a:gridCol>
                <a:gridCol w="1710633">
                  <a:extLst>
                    <a:ext uri="{9D8B030D-6E8A-4147-A177-3AD203B41FA5}">
                      <a16:colId xmlns:a16="http://schemas.microsoft.com/office/drawing/2014/main" val="3688458231"/>
                    </a:ext>
                  </a:extLst>
                </a:gridCol>
              </a:tblGrid>
              <a:tr h="296481">
                <a:tc>
                  <a:txBody>
                    <a:bodyPr/>
                    <a:lstStyle/>
                    <a:p>
                      <a:pPr algn="ctr"/>
                      <a:r>
                        <a:rPr lang="es-CO" sz="1600" b="1">
                          <a:solidFill>
                            <a:schemeClr val="bg1"/>
                          </a:solidFill>
                        </a:rPr>
                        <a:t>Dato</a:t>
                      </a:r>
                    </a:p>
                  </a:txBody>
                  <a:tcPr>
                    <a:solidFill>
                      <a:srgbClr val="113649"/>
                    </a:solidFill>
                  </a:tcPr>
                </a:tc>
                <a:tc>
                  <a:txBody>
                    <a:bodyPr/>
                    <a:lstStyle/>
                    <a:p>
                      <a:pPr algn="ctr"/>
                      <a:r>
                        <a:rPr lang="es-CO" sz="1600" b="1">
                          <a:solidFill>
                            <a:schemeClr val="bg1"/>
                          </a:solidFill>
                        </a:rPr>
                        <a:t>Explicación</a:t>
                      </a:r>
                    </a:p>
                  </a:txBody>
                  <a:tcPr>
                    <a:solidFill>
                      <a:srgbClr val="113649"/>
                    </a:solidFill>
                  </a:tcPr>
                </a:tc>
                <a:extLst>
                  <a:ext uri="{0D108BD9-81ED-4DB2-BD59-A6C34878D82A}">
                    <a16:rowId xmlns:a16="http://schemas.microsoft.com/office/drawing/2014/main" val="1757604693"/>
                  </a:ext>
                </a:extLst>
              </a:tr>
              <a:tr h="296481">
                <a:tc>
                  <a:txBody>
                    <a:bodyPr/>
                    <a:lstStyle/>
                    <a:p>
                      <a:r>
                        <a:rPr lang="es-CO" sz="1600" b="1"/>
                        <a:t>Dato e1</a:t>
                      </a:r>
                    </a:p>
                  </a:txBody>
                  <a:tcPr/>
                </a:tc>
                <a:tc>
                  <a:txBody>
                    <a:bodyPr/>
                    <a:lstStyle/>
                    <a:p>
                      <a:pPr algn="l" fontAlgn="b"/>
                      <a:r>
                        <a:rPr lang="es-ES" sz="1600"/>
                        <a:t>Explicación</a:t>
                      </a:r>
                    </a:p>
                  </a:txBody>
                  <a:tcPr/>
                </a:tc>
                <a:extLst>
                  <a:ext uri="{0D108BD9-81ED-4DB2-BD59-A6C34878D82A}">
                    <a16:rowId xmlns:a16="http://schemas.microsoft.com/office/drawing/2014/main" val="1241007629"/>
                  </a:ext>
                </a:extLst>
              </a:tr>
              <a:tr h="296481">
                <a:tc>
                  <a:txBody>
                    <a:bodyPr/>
                    <a:lstStyle/>
                    <a:p>
                      <a:pPr marL="0" marR="0" lvl="0" indent="0" algn="l" rtl="0" eaLnBrk="1" fontAlgn="auto" latinLnBrk="0" hangingPunct="1">
                        <a:lnSpc>
                          <a:spcPct val="100000"/>
                        </a:lnSpc>
                        <a:spcBef>
                          <a:spcPts val="0"/>
                        </a:spcBef>
                        <a:spcAft>
                          <a:spcPts val="0"/>
                        </a:spcAft>
                        <a:buClrTx/>
                        <a:buSzTx/>
                        <a:buFontTx/>
                        <a:buNone/>
                      </a:pPr>
                      <a:r>
                        <a:rPr lang="es-CO" sz="1600" b="1"/>
                        <a:t>Dato e2</a:t>
                      </a:r>
                    </a:p>
                  </a:txBody>
                  <a:tcPr/>
                </a:tc>
                <a:tc>
                  <a:txBody>
                    <a:bodyPr/>
                    <a:lstStyle/>
                    <a:p>
                      <a:pPr algn="l" fontAlgn="b"/>
                      <a:r>
                        <a:rPr lang="es-ES" sz="1600"/>
                        <a:t>Explicación</a:t>
                      </a:r>
                    </a:p>
                  </a:txBody>
                  <a:tcPr/>
                </a:tc>
                <a:extLst>
                  <a:ext uri="{0D108BD9-81ED-4DB2-BD59-A6C34878D82A}">
                    <a16:rowId xmlns:a16="http://schemas.microsoft.com/office/drawing/2014/main" val="2478515418"/>
                  </a:ext>
                </a:extLst>
              </a:tr>
            </a:tbl>
          </a:graphicData>
        </a:graphic>
      </p:graphicFrame>
      <p:sp>
        <p:nvSpPr>
          <p:cNvPr id="20" name="CuadroTexto 19">
            <a:extLst>
              <a:ext uri="{FF2B5EF4-FFF2-40B4-BE49-F238E27FC236}">
                <a16:creationId xmlns:a16="http://schemas.microsoft.com/office/drawing/2014/main" id="{E7F53927-1414-1F28-F66F-59CA6899B254}"/>
              </a:ext>
            </a:extLst>
          </p:cNvPr>
          <p:cNvSpPr txBox="1"/>
          <p:nvPr/>
        </p:nvSpPr>
        <p:spPr>
          <a:xfrm>
            <a:off x="2060070" y="4709816"/>
            <a:ext cx="4347972" cy="584775"/>
          </a:xfrm>
          <a:prstGeom prst="rect">
            <a:avLst/>
          </a:prstGeom>
          <a:noFill/>
        </p:spPr>
        <p:txBody>
          <a:bodyPr wrap="square" lIns="91440" tIns="45720" rIns="91440" bIns="45720" anchor="t">
            <a:spAutoFit/>
          </a:bodyPr>
          <a:lstStyle/>
          <a:p>
            <a:pPr marL="342900" indent="-342900">
              <a:buClr>
                <a:srgbClr val="02C9B6"/>
              </a:buClr>
              <a:buFont typeface="Arial" panose="020B0604020202020204" pitchFamily="34" charset="0"/>
              <a:buChar char="•"/>
            </a:pPr>
            <a:r>
              <a:rPr lang="es-ES" sz="1600" b="1">
                <a:ea typeface="Calibri"/>
                <a:cs typeface="Calibri"/>
              </a:rPr>
              <a:t>Listar los datos irrelevantes que no aportan a la solución</a:t>
            </a:r>
            <a:endParaRPr lang="es-ES" sz="1600">
              <a:ea typeface="Calibri"/>
              <a:cs typeface="Calibri"/>
            </a:endParaRPr>
          </a:p>
        </p:txBody>
      </p:sp>
      <p:graphicFrame>
        <p:nvGraphicFramePr>
          <p:cNvPr id="22" name="Tabla 21">
            <a:extLst>
              <a:ext uri="{FF2B5EF4-FFF2-40B4-BE49-F238E27FC236}">
                <a16:creationId xmlns:a16="http://schemas.microsoft.com/office/drawing/2014/main" id="{34F2FD9F-24F0-5809-E47A-674A96824C8E}"/>
              </a:ext>
            </a:extLst>
          </p:cNvPr>
          <p:cNvGraphicFramePr>
            <a:graphicFrameLocks noGrp="1"/>
          </p:cNvGraphicFramePr>
          <p:nvPr/>
        </p:nvGraphicFramePr>
        <p:xfrm>
          <a:off x="3680604" y="5103962"/>
          <a:ext cx="2727994" cy="1341120"/>
        </p:xfrm>
        <a:graphic>
          <a:graphicData uri="http://schemas.openxmlformats.org/drawingml/2006/table">
            <a:tbl>
              <a:tblPr firstRow="1" bandRow="1">
                <a:tableStyleId>{5940675A-B579-460E-94D1-54222C63F5DA}</a:tableStyleId>
              </a:tblPr>
              <a:tblGrid>
                <a:gridCol w="1179324">
                  <a:extLst>
                    <a:ext uri="{9D8B030D-6E8A-4147-A177-3AD203B41FA5}">
                      <a16:colId xmlns:a16="http://schemas.microsoft.com/office/drawing/2014/main" val="722552213"/>
                    </a:ext>
                  </a:extLst>
                </a:gridCol>
                <a:gridCol w="1548670">
                  <a:extLst>
                    <a:ext uri="{9D8B030D-6E8A-4147-A177-3AD203B41FA5}">
                      <a16:colId xmlns:a16="http://schemas.microsoft.com/office/drawing/2014/main" val="3688458231"/>
                    </a:ext>
                  </a:extLst>
                </a:gridCol>
              </a:tblGrid>
              <a:tr h="330679">
                <a:tc>
                  <a:txBody>
                    <a:bodyPr/>
                    <a:lstStyle/>
                    <a:p>
                      <a:pPr algn="ctr"/>
                      <a:r>
                        <a:rPr lang="es-CO" sz="1600" b="1">
                          <a:solidFill>
                            <a:schemeClr val="bg1"/>
                          </a:solidFill>
                        </a:rPr>
                        <a:t>Dato</a:t>
                      </a:r>
                    </a:p>
                  </a:txBody>
                  <a:tcPr>
                    <a:solidFill>
                      <a:srgbClr val="113649"/>
                    </a:solidFill>
                  </a:tcPr>
                </a:tc>
                <a:tc>
                  <a:txBody>
                    <a:bodyPr/>
                    <a:lstStyle/>
                    <a:p>
                      <a:pPr algn="ctr"/>
                      <a:r>
                        <a:rPr lang="es-CO" sz="1600" b="1">
                          <a:solidFill>
                            <a:schemeClr val="bg1"/>
                          </a:solidFill>
                        </a:rPr>
                        <a:t>Explicación</a:t>
                      </a:r>
                    </a:p>
                  </a:txBody>
                  <a:tcPr>
                    <a:solidFill>
                      <a:srgbClr val="113649"/>
                    </a:solidFill>
                  </a:tcPr>
                </a:tc>
                <a:extLst>
                  <a:ext uri="{0D108BD9-81ED-4DB2-BD59-A6C34878D82A}">
                    <a16:rowId xmlns:a16="http://schemas.microsoft.com/office/drawing/2014/main" val="1757604693"/>
                  </a:ext>
                </a:extLst>
              </a:tr>
              <a:tr h="330679">
                <a:tc>
                  <a:txBody>
                    <a:bodyPr/>
                    <a:lstStyle/>
                    <a:p>
                      <a:r>
                        <a:rPr lang="es-CO" sz="1600" b="1"/>
                        <a:t>Dato 1</a:t>
                      </a:r>
                    </a:p>
                  </a:txBody>
                  <a:tcPr/>
                </a:tc>
                <a:tc>
                  <a:txBody>
                    <a:bodyPr/>
                    <a:lstStyle/>
                    <a:p>
                      <a:pPr algn="l" fontAlgn="b"/>
                      <a:r>
                        <a:rPr lang="es-ES" sz="1600"/>
                        <a:t>Explicación</a:t>
                      </a:r>
                    </a:p>
                  </a:txBody>
                  <a:tcPr/>
                </a:tc>
                <a:extLst>
                  <a:ext uri="{0D108BD9-81ED-4DB2-BD59-A6C34878D82A}">
                    <a16:rowId xmlns:a16="http://schemas.microsoft.com/office/drawing/2014/main" val="1241007629"/>
                  </a:ext>
                </a:extLst>
              </a:tr>
              <a:tr h="252768">
                <a:tc>
                  <a:txBody>
                    <a:bodyPr/>
                    <a:lstStyle/>
                    <a:p>
                      <a:pPr marL="0" marR="0" lvl="0" indent="0" algn="l" rtl="0" eaLnBrk="1" fontAlgn="auto" latinLnBrk="0" hangingPunct="1">
                        <a:lnSpc>
                          <a:spcPct val="100000"/>
                        </a:lnSpc>
                        <a:spcBef>
                          <a:spcPts val="0"/>
                        </a:spcBef>
                        <a:spcAft>
                          <a:spcPts val="0"/>
                        </a:spcAft>
                        <a:buClrTx/>
                        <a:buSzTx/>
                        <a:buFontTx/>
                        <a:buNone/>
                      </a:pPr>
                      <a:r>
                        <a:rPr lang="es-CO" sz="1600" b="1"/>
                        <a:t>Dato 2</a:t>
                      </a:r>
                    </a:p>
                  </a:txBody>
                  <a:tcPr/>
                </a:tc>
                <a:tc>
                  <a:txBody>
                    <a:bodyPr/>
                    <a:lstStyle/>
                    <a:p>
                      <a:pPr algn="l" fontAlgn="b"/>
                      <a:r>
                        <a:rPr lang="es-ES" sz="1600"/>
                        <a:t>Explicación</a:t>
                      </a:r>
                    </a:p>
                  </a:txBody>
                  <a:tcPr/>
                </a:tc>
                <a:extLst>
                  <a:ext uri="{0D108BD9-81ED-4DB2-BD59-A6C34878D82A}">
                    <a16:rowId xmlns:a16="http://schemas.microsoft.com/office/drawing/2014/main" val="2478515418"/>
                  </a:ext>
                </a:extLst>
              </a:tr>
              <a:tr h="2527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b="1" i="0" u="none" strike="noStrike" baseline="0">
                          <a:solidFill>
                            <a:schemeClr val="dk1"/>
                          </a:solidFill>
                          <a:effectLst/>
                          <a:latin typeface="+mn-lt"/>
                        </a:rPr>
                        <a:t>...</a:t>
                      </a:r>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s-ES" sz="1600"/>
                    </a:p>
                  </a:txBody>
                  <a:tcPr/>
                </a:tc>
                <a:extLst>
                  <a:ext uri="{0D108BD9-81ED-4DB2-BD59-A6C34878D82A}">
                    <a16:rowId xmlns:a16="http://schemas.microsoft.com/office/drawing/2014/main" val="2933596874"/>
                  </a:ext>
                </a:extLst>
              </a:tr>
            </a:tbl>
          </a:graphicData>
        </a:graphic>
      </p:graphicFrame>
      <p:sp>
        <p:nvSpPr>
          <p:cNvPr id="25" name="CuadroTexto 24">
            <a:extLst>
              <a:ext uri="{FF2B5EF4-FFF2-40B4-BE49-F238E27FC236}">
                <a16:creationId xmlns:a16="http://schemas.microsoft.com/office/drawing/2014/main" id="{853B288C-AAE6-9CBB-E036-C46030951DC4}"/>
              </a:ext>
            </a:extLst>
          </p:cNvPr>
          <p:cNvSpPr txBox="1"/>
          <p:nvPr/>
        </p:nvSpPr>
        <p:spPr>
          <a:xfrm>
            <a:off x="7043941" y="1816618"/>
            <a:ext cx="4380557" cy="2154436"/>
          </a:xfrm>
          <a:prstGeom prst="rect">
            <a:avLst/>
          </a:prstGeom>
          <a:noFill/>
        </p:spPr>
        <p:txBody>
          <a:bodyPr wrap="square" lIns="91440" tIns="45720" rIns="91440" bIns="45720" anchor="t">
            <a:spAutoFit/>
          </a:bodyPr>
          <a:lstStyle/>
          <a:p>
            <a:r>
              <a:rPr lang="es-ES" sz="1500" b="1"/>
              <a:t>1.3 Descomposición</a:t>
            </a:r>
            <a:endParaRPr lang="es-ES" sz="1500" b="1">
              <a:ea typeface="Calibri"/>
              <a:cs typeface="Calibri"/>
            </a:endParaRPr>
          </a:p>
          <a:p>
            <a:pPr marL="342900" indent="-342900">
              <a:buClr>
                <a:srgbClr val="02C9B6"/>
              </a:buClr>
              <a:buFont typeface="Arial" panose="020B0604020202020204" pitchFamily="34" charset="0"/>
              <a:buChar char="•"/>
            </a:pPr>
            <a:r>
              <a:rPr lang="es-ES" sz="1500" b="1">
                <a:ea typeface="Calibri"/>
                <a:cs typeface="Calibri"/>
              </a:rPr>
              <a:t>Listar las entradas, las salidas y los cálculos o procesos </a:t>
            </a:r>
          </a:p>
          <a:p>
            <a:pPr marL="342900" indent="-342900">
              <a:buClr>
                <a:srgbClr val="02C9B6"/>
              </a:buClr>
              <a:buFont typeface="Arial" panose="020B0604020202020204" pitchFamily="34" charset="0"/>
              <a:buChar char="•"/>
            </a:pPr>
            <a:endParaRPr lang="es-ES" sz="1500" b="1">
              <a:ea typeface="Calibri"/>
              <a:cs typeface="Calibri"/>
            </a:endParaRPr>
          </a:p>
          <a:p>
            <a:r>
              <a:rPr lang="es-ES" sz="1500" b="1">
                <a:ea typeface="Calibri"/>
                <a:cs typeface="Calibri"/>
              </a:rPr>
              <a:t>Nota: </a:t>
            </a:r>
            <a:r>
              <a:rPr lang="es-ES" sz="1500">
                <a:ea typeface="Calibri"/>
                <a:cs typeface="Calibri"/>
              </a:rPr>
              <a:t>Los datos relevantes deberían considerarse como entradas.</a:t>
            </a:r>
          </a:p>
          <a:p>
            <a:r>
              <a:rPr lang="es-ES" sz="1500" b="1">
                <a:ea typeface="Calibri"/>
                <a:cs typeface="Calibri"/>
              </a:rPr>
              <a:t>Nota: </a:t>
            </a:r>
            <a:r>
              <a:rPr lang="es-ES" sz="1500">
                <a:ea typeface="Calibri"/>
                <a:cs typeface="Calibri"/>
              </a:rPr>
              <a:t>Las salidas contribuyen a lograr el objetivo buscado.</a:t>
            </a:r>
          </a:p>
          <a:p>
            <a:endParaRPr lang="es-ES" sz="1500" b="1">
              <a:ea typeface="Calibri"/>
              <a:cs typeface="Calibri"/>
            </a:endParaRPr>
          </a:p>
        </p:txBody>
      </p:sp>
      <p:graphicFrame>
        <p:nvGraphicFramePr>
          <p:cNvPr id="29" name="Tabla 28">
            <a:extLst>
              <a:ext uri="{FF2B5EF4-FFF2-40B4-BE49-F238E27FC236}">
                <a16:creationId xmlns:a16="http://schemas.microsoft.com/office/drawing/2014/main" id="{107CAC01-3E93-BF3E-BFCF-C5E0F462DE16}"/>
              </a:ext>
            </a:extLst>
          </p:cNvPr>
          <p:cNvGraphicFramePr>
            <a:graphicFrameLocks noGrp="1"/>
          </p:cNvGraphicFramePr>
          <p:nvPr/>
        </p:nvGraphicFramePr>
        <p:xfrm>
          <a:off x="7116792" y="3867509"/>
          <a:ext cx="4206664" cy="1676400"/>
        </p:xfrm>
        <a:graphic>
          <a:graphicData uri="http://schemas.openxmlformats.org/drawingml/2006/table">
            <a:tbl>
              <a:tblPr firstRow="1" bandRow="1">
                <a:tableStyleId>{5940675A-B579-460E-94D1-54222C63F5DA}</a:tableStyleId>
              </a:tblPr>
              <a:tblGrid>
                <a:gridCol w="1220593">
                  <a:extLst>
                    <a:ext uri="{9D8B030D-6E8A-4147-A177-3AD203B41FA5}">
                      <a16:colId xmlns:a16="http://schemas.microsoft.com/office/drawing/2014/main" val="722552213"/>
                    </a:ext>
                  </a:extLst>
                </a:gridCol>
                <a:gridCol w="1706487">
                  <a:extLst>
                    <a:ext uri="{9D8B030D-6E8A-4147-A177-3AD203B41FA5}">
                      <a16:colId xmlns:a16="http://schemas.microsoft.com/office/drawing/2014/main" val="3688458231"/>
                    </a:ext>
                  </a:extLst>
                </a:gridCol>
                <a:gridCol w="1279584">
                  <a:extLst>
                    <a:ext uri="{9D8B030D-6E8A-4147-A177-3AD203B41FA5}">
                      <a16:colId xmlns:a16="http://schemas.microsoft.com/office/drawing/2014/main" val="697394819"/>
                    </a:ext>
                  </a:extLst>
                </a:gridCol>
              </a:tblGrid>
              <a:tr h="227136">
                <a:tc>
                  <a:txBody>
                    <a:bodyPr/>
                    <a:lstStyle/>
                    <a:p>
                      <a:pPr algn="ctr"/>
                      <a:r>
                        <a:rPr lang="es-CO" sz="1600" b="1">
                          <a:solidFill>
                            <a:schemeClr val="bg1"/>
                          </a:solidFill>
                        </a:rPr>
                        <a:t>Entrada</a:t>
                      </a:r>
                    </a:p>
                  </a:txBody>
                  <a:tcPr>
                    <a:solidFill>
                      <a:srgbClr val="113649"/>
                    </a:solidFill>
                  </a:tcPr>
                </a:tc>
                <a:tc>
                  <a:txBody>
                    <a:bodyPr/>
                    <a:lstStyle/>
                    <a:p>
                      <a:pPr algn="ctr"/>
                      <a:r>
                        <a:rPr lang="es-CO" sz="1600" b="1">
                          <a:solidFill>
                            <a:schemeClr val="bg1"/>
                          </a:solidFill>
                        </a:rPr>
                        <a:t>Cálculo o proceso</a:t>
                      </a:r>
                    </a:p>
                  </a:txBody>
                  <a:tcPr>
                    <a:solidFill>
                      <a:srgbClr val="113649"/>
                    </a:solidFill>
                  </a:tcPr>
                </a:tc>
                <a:tc>
                  <a:txBody>
                    <a:bodyPr/>
                    <a:lstStyle/>
                    <a:p>
                      <a:pPr algn="ctr"/>
                      <a:r>
                        <a:rPr lang="es-CO" sz="1600" b="1">
                          <a:solidFill>
                            <a:schemeClr val="bg1"/>
                          </a:solidFill>
                        </a:rPr>
                        <a:t>Salida</a:t>
                      </a:r>
                    </a:p>
                  </a:txBody>
                  <a:tcPr>
                    <a:solidFill>
                      <a:srgbClr val="113649"/>
                    </a:solidFill>
                  </a:tcPr>
                </a:tc>
                <a:extLst>
                  <a:ext uri="{0D108BD9-81ED-4DB2-BD59-A6C34878D82A}">
                    <a16:rowId xmlns:a16="http://schemas.microsoft.com/office/drawing/2014/main" val="1757604693"/>
                  </a:ext>
                </a:extLst>
              </a:tr>
              <a:tr h="227136">
                <a:tc>
                  <a:txBody>
                    <a:bodyPr/>
                    <a:lstStyle/>
                    <a:p>
                      <a:r>
                        <a:rPr lang="es-CO" sz="1600" b="1"/>
                        <a:t>Dato e1</a:t>
                      </a:r>
                    </a:p>
                  </a:txBody>
                  <a:tcPr/>
                </a:tc>
                <a:tc>
                  <a:txBody>
                    <a:bodyPr/>
                    <a:lstStyle/>
                    <a:p>
                      <a:pPr marL="228600" indent="-228600" algn="l" fontAlgn="b">
                        <a:buAutoNum type="arabicPeriod"/>
                      </a:pPr>
                      <a:r>
                        <a:rPr lang="es-MX" sz="1600" u="none" strike="noStrike" baseline="0">
                          <a:effectLst/>
                        </a:rPr>
                        <a:t>Cálculo 1</a:t>
                      </a:r>
                    </a:p>
                  </a:txBody>
                  <a:tcPr/>
                </a:tc>
                <a:tc>
                  <a:txBody>
                    <a:bodyPr/>
                    <a:lstStyle/>
                    <a:p>
                      <a:pPr algn="l" fontAlgn="b"/>
                      <a:r>
                        <a:rPr lang="es-CO" sz="1600" b="0" i="0" u="none" strike="noStrike">
                          <a:solidFill>
                            <a:srgbClr val="000000"/>
                          </a:solidFill>
                          <a:effectLst/>
                          <a:latin typeface="Calibri"/>
                        </a:rPr>
                        <a:t>Dato s1</a:t>
                      </a:r>
                    </a:p>
                  </a:txBody>
                  <a:tcPr/>
                </a:tc>
                <a:extLst>
                  <a:ext uri="{0D108BD9-81ED-4DB2-BD59-A6C34878D82A}">
                    <a16:rowId xmlns:a16="http://schemas.microsoft.com/office/drawing/2014/main" val="1241007629"/>
                  </a:ext>
                </a:extLst>
              </a:tr>
              <a:tr h="227136">
                <a:tc>
                  <a:txBody>
                    <a:bodyPr/>
                    <a:lstStyle/>
                    <a:p>
                      <a:pPr lvl="0">
                        <a:buNone/>
                      </a:pPr>
                      <a:r>
                        <a:rPr lang="es-CO" sz="1600" b="1"/>
                        <a:t>Dato e2</a:t>
                      </a:r>
                    </a:p>
                  </a:txBody>
                  <a:tcPr/>
                </a:tc>
                <a:tc>
                  <a:txBody>
                    <a:bodyPr/>
                    <a:lstStyle/>
                    <a:p>
                      <a:pPr marL="0" lvl="0" indent="0" algn="l">
                        <a:buNone/>
                      </a:pPr>
                      <a:r>
                        <a:rPr lang="es-MX" sz="1600" u="none" strike="noStrike" baseline="0">
                          <a:effectLst/>
                        </a:rPr>
                        <a:t>2. Cálculo 2</a:t>
                      </a:r>
                    </a:p>
                  </a:txBody>
                  <a:tcPr/>
                </a:tc>
                <a:tc>
                  <a:txBody>
                    <a:bodyPr/>
                    <a:lstStyle/>
                    <a:p>
                      <a:pPr lvl="0" algn="l">
                        <a:buNone/>
                      </a:pPr>
                      <a:r>
                        <a:rPr lang="es-CO" sz="1600" b="0" i="0" u="none" strike="noStrike">
                          <a:solidFill>
                            <a:srgbClr val="000000"/>
                          </a:solidFill>
                          <a:effectLst/>
                          <a:latin typeface="Calibri"/>
                        </a:rPr>
                        <a:t>Dato s2</a:t>
                      </a:r>
                    </a:p>
                  </a:txBody>
                  <a:tcPr/>
                </a:tc>
                <a:extLst>
                  <a:ext uri="{0D108BD9-81ED-4DB2-BD59-A6C34878D82A}">
                    <a16:rowId xmlns:a16="http://schemas.microsoft.com/office/drawing/2014/main" val="3296802850"/>
                  </a:ext>
                </a:extLst>
              </a:tr>
              <a:tr h="276515">
                <a:tc>
                  <a:txBody>
                    <a:bodyPr/>
                    <a:lstStyle/>
                    <a:p>
                      <a:pPr marL="0" marR="0" lvl="0" indent="0" algn="l" rtl="0" eaLnBrk="1" fontAlgn="auto" latinLnBrk="0" hangingPunct="1">
                        <a:lnSpc>
                          <a:spcPct val="100000"/>
                        </a:lnSpc>
                        <a:spcBef>
                          <a:spcPts val="0"/>
                        </a:spcBef>
                        <a:spcAft>
                          <a:spcPts val="0"/>
                        </a:spcAft>
                        <a:buClrTx/>
                        <a:buSzTx/>
                        <a:buFontTx/>
                        <a:buNone/>
                      </a:pPr>
                      <a:r>
                        <a:rPr lang="es-CO" sz="1600" b="1"/>
                        <a:t>Dato e3</a:t>
                      </a:r>
                    </a:p>
                  </a:txBody>
                  <a:tcPr/>
                </a:tc>
                <a:tc>
                  <a:txBody>
                    <a:bodyPr/>
                    <a:lstStyle/>
                    <a:p>
                      <a:pPr marL="0" lvl="0" indent="0" algn="l">
                        <a:buNone/>
                      </a:pPr>
                      <a:r>
                        <a:rPr lang="es-MX" sz="1600" u="none" strike="noStrike" baseline="0">
                          <a:effectLst/>
                        </a:rPr>
                        <a:t>3. Cálculo 3</a:t>
                      </a:r>
                    </a:p>
                  </a:txBody>
                  <a:tcPr/>
                </a:tc>
                <a:tc>
                  <a:txBody>
                    <a:bodyPr/>
                    <a:lstStyle/>
                    <a:p>
                      <a:pPr algn="l" fontAlgn="b"/>
                      <a:r>
                        <a:rPr lang="es-CO" sz="1600" b="0" i="0" u="none" strike="noStrike">
                          <a:solidFill>
                            <a:srgbClr val="000000"/>
                          </a:solidFill>
                          <a:effectLst/>
                          <a:latin typeface="Calibri"/>
                        </a:rPr>
                        <a:t>Dato s3</a:t>
                      </a:r>
                    </a:p>
                  </a:txBody>
                  <a:tcPr/>
                </a:tc>
                <a:extLst>
                  <a:ext uri="{0D108BD9-81ED-4DB2-BD59-A6C34878D82A}">
                    <a16:rowId xmlns:a16="http://schemas.microsoft.com/office/drawing/2014/main" val="229120431"/>
                  </a:ext>
                </a:extLst>
              </a:tr>
              <a:tr h="227136">
                <a:tc>
                  <a:txBody>
                    <a:bodyPr/>
                    <a:lstStyle/>
                    <a:p>
                      <a:pPr marL="0" lvl="0" indent="0" algn="l">
                        <a:lnSpc>
                          <a:spcPct val="100000"/>
                        </a:lnSpc>
                        <a:spcBef>
                          <a:spcPts val="0"/>
                        </a:spcBef>
                        <a:spcAft>
                          <a:spcPts val="0"/>
                        </a:spcAft>
                        <a:buNone/>
                      </a:pPr>
                      <a:r>
                        <a:rPr lang="es-CO" sz="1600" b="1"/>
                        <a:t>....</a:t>
                      </a:r>
                    </a:p>
                  </a:txBody>
                  <a:tcPr/>
                </a:tc>
                <a:tc>
                  <a:txBody>
                    <a:bodyPr/>
                    <a:lstStyle/>
                    <a:p>
                      <a:pPr marL="0" lvl="0" indent="0" algn="l">
                        <a:buNone/>
                      </a:pPr>
                      <a:r>
                        <a:rPr lang="es-MX" sz="1600" u="none" strike="noStrike" baseline="0">
                          <a:effectLst/>
                        </a:rPr>
                        <a:t>4. .....</a:t>
                      </a:r>
                    </a:p>
                  </a:txBody>
                  <a:tcPr/>
                </a:tc>
                <a:tc>
                  <a:txBody>
                    <a:bodyPr/>
                    <a:lstStyle/>
                    <a:p>
                      <a:pPr lvl="0" algn="l">
                        <a:buNone/>
                      </a:pPr>
                      <a:r>
                        <a:rPr lang="es-CO" sz="1600" b="0" i="0" u="none" strike="noStrike">
                          <a:solidFill>
                            <a:srgbClr val="000000"/>
                          </a:solidFill>
                          <a:effectLst/>
                          <a:latin typeface="Calibri"/>
                        </a:rPr>
                        <a:t>.....</a:t>
                      </a:r>
                    </a:p>
                  </a:txBody>
                  <a:tcPr/>
                </a:tc>
                <a:extLst>
                  <a:ext uri="{0D108BD9-81ED-4DB2-BD59-A6C34878D82A}">
                    <a16:rowId xmlns:a16="http://schemas.microsoft.com/office/drawing/2014/main" val="2719401044"/>
                  </a:ext>
                </a:extLst>
              </a:tr>
            </a:tbl>
          </a:graphicData>
        </a:graphic>
      </p:graphicFrame>
    </p:spTree>
    <p:extLst>
      <p:ext uri="{BB962C8B-B14F-4D97-AF65-F5344CB8AC3E}">
        <p14:creationId xmlns:p14="http://schemas.microsoft.com/office/powerpoint/2010/main" val="632565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A329A3-FC01-4339-BB00-B7DF02E4E404}"/>
              </a:ext>
            </a:extLst>
          </p:cNvPr>
          <p:cNvSpPr>
            <a:spLocks noGrp="1"/>
          </p:cNvSpPr>
          <p:nvPr>
            <p:ph type="title"/>
          </p:nvPr>
        </p:nvSpPr>
        <p:spPr/>
        <p:txBody>
          <a:bodyPr>
            <a:normAutofit fontScale="90000"/>
          </a:bodyPr>
          <a:lstStyle/>
          <a:p>
            <a:r>
              <a:rPr lang="es-CO"/>
              <a:t>Plantilla metodología PC </a:t>
            </a:r>
            <a:br>
              <a:rPr lang="es-CO"/>
            </a:br>
            <a:r>
              <a:rPr lang="es-CO"/>
              <a:t>para análisis y solución de problemas </a:t>
            </a:r>
          </a:p>
        </p:txBody>
      </p:sp>
      <p:sp>
        <p:nvSpPr>
          <p:cNvPr id="4" name="Marcador de número de diapositiva 3">
            <a:extLst>
              <a:ext uri="{FF2B5EF4-FFF2-40B4-BE49-F238E27FC236}">
                <a16:creationId xmlns:a16="http://schemas.microsoft.com/office/drawing/2014/main" id="{21B46A12-8A1E-47EB-8680-889A6A2704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37</a:t>
            </a:fld>
            <a:endParaRPr lang="es-CO"/>
          </a:p>
        </p:txBody>
      </p:sp>
      <p:sp>
        <p:nvSpPr>
          <p:cNvPr id="17" name="CuadroTexto 16">
            <a:extLst>
              <a:ext uri="{FF2B5EF4-FFF2-40B4-BE49-F238E27FC236}">
                <a16:creationId xmlns:a16="http://schemas.microsoft.com/office/drawing/2014/main" id="{18BB93FD-2F57-568F-E0F5-8ACE9A487EAC}"/>
              </a:ext>
            </a:extLst>
          </p:cNvPr>
          <p:cNvSpPr txBox="1"/>
          <p:nvPr/>
        </p:nvSpPr>
        <p:spPr>
          <a:xfrm>
            <a:off x="2071116" y="1943956"/>
            <a:ext cx="4485132" cy="1477328"/>
          </a:xfrm>
          <a:prstGeom prst="rect">
            <a:avLst/>
          </a:prstGeom>
          <a:noFill/>
        </p:spPr>
        <p:txBody>
          <a:bodyPr wrap="square" lIns="91440" tIns="45720" rIns="91440" bIns="45720" anchor="t">
            <a:spAutoFit/>
          </a:bodyPr>
          <a:lstStyle/>
          <a:p>
            <a:r>
              <a:rPr lang="es-ES" b="1"/>
              <a:t>2. Diseño de la Solución </a:t>
            </a:r>
          </a:p>
          <a:p>
            <a:endParaRPr lang="es-ES" sz="1400" b="1">
              <a:ea typeface="Calibri"/>
              <a:cs typeface="Calibri"/>
            </a:endParaRPr>
          </a:p>
          <a:p>
            <a:endParaRPr lang="es-ES" sz="1400" b="1">
              <a:ea typeface="Calibri"/>
              <a:cs typeface="Calibri"/>
            </a:endParaRPr>
          </a:p>
          <a:p>
            <a:endParaRPr lang="es-ES" sz="1400" b="1"/>
          </a:p>
          <a:p>
            <a:endParaRPr lang="es-ES" sz="1400" b="1"/>
          </a:p>
          <a:p>
            <a:endParaRPr lang="es-ES" sz="1600" b="1">
              <a:ea typeface="Calibri" panose="020F0502020204030204"/>
              <a:cs typeface="Calibri" panose="020F0502020204030204"/>
            </a:endParaRPr>
          </a:p>
        </p:txBody>
      </p:sp>
      <p:grpSp>
        <p:nvGrpSpPr>
          <p:cNvPr id="20" name="Grupo 19">
            <a:extLst>
              <a:ext uri="{FF2B5EF4-FFF2-40B4-BE49-F238E27FC236}">
                <a16:creationId xmlns:a16="http://schemas.microsoft.com/office/drawing/2014/main" id="{975AEB15-7D34-B329-8DF0-242FAB5F8DB7}"/>
              </a:ext>
            </a:extLst>
          </p:cNvPr>
          <p:cNvGrpSpPr/>
          <p:nvPr/>
        </p:nvGrpSpPr>
        <p:grpSpPr>
          <a:xfrm>
            <a:off x="3047778" y="4183265"/>
            <a:ext cx="2387206" cy="2077707"/>
            <a:chOff x="3092844" y="3930685"/>
            <a:chExt cx="2308882" cy="1693883"/>
          </a:xfrm>
        </p:grpSpPr>
        <p:sp>
          <p:nvSpPr>
            <p:cNvPr id="21" name="Diagrama de flujo: terminador 3">
              <a:extLst>
                <a:ext uri="{FF2B5EF4-FFF2-40B4-BE49-F238E27FC236}">
                  <a16:creationId xmlns:a16="http://schemas.microsoft.com/office/drawing/2014/main" id="{F3BE1E2E-2164-B957-E021-07F1FC3DAC95}"/>
                </a:ext>
              </a:extLst>
            </p:cNvPr>
            <p:cNvSpPr/>
            <p:nvPr/>
          </p:nvSpPr>
          <p:spPr>
            <a:xfrm>
              <a:off x="3278020" y="3930685"/>
              <a:ext cx="835939" cy="199771"/>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t>Inicio</a:t>
              </a:r>
            </a:p>
          </p:txBody>
        </p:sp>
        <p:cxnSp>
          <p:nvCxnSpPr>
            <p:cNvPr id="22" name="Conector recto de flecha 21">
              <a:extLst>
                <a:ext uri="{FF2B5EF4-FFF2-40B4-BE49-F238E27FC236}">
                  <a16:creationId xmlns:a16="http://schemas.microsoft.com/office/drawing/2014/main" id="{68692D5D-D187-408A-B151-D5AB533E3B6C}"/>
                </a:ext>
              </a:extLst>
            </p:cNvPr>
            <p:cNvCxnSpPr>
              <a:cxnSpLocks/>
              <a:stCxn id="21" idx="2"/>
              <a:endCxn id="29" idx="0"/>
            </p:cNvCxnSpPr>
            <p:nvPr/>
          </p:nvCxnSpPr>
          <p:spPr>
            <a:xfrm flipH="1">
              <a:off x="3692315" y="4130456"/>
              <a:ext cx="3675" cy="206292"/>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23" name="Rectángulo 22">
              <a:extLst>
                <a:ext uri="{FF2B5EF4-FFF2-40B4-BE49-F238E27FC236}">
                  <a16:creationId xmlns:a16="http://schemas.microsoft.com/office/drawing/2014/main" id="{7D54A163-C98E-F92C-DBA2-34D7600543BD}"/>
                </a:ext>
              </a:extLst>
            </p:cNvPr>
            <p:cNvSpPr/>
            <p:nvPr/>
          </p:nvSpPr>
          <p:spPr>
            <a:xfrm>
              <a:off x="3250825" y="5378347"/>
              <a:ext cx="898116" cy="2462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t> </a:t>
              </a:r>
            </a:p>
          </p:txBody>
        </p:sp>
        <p:sp>
          <p:nvSpPr>
            <p:cNvPr id="29" name="Rectángulo 28">
              <a:extLst>
                <a:ext uri="{FF2B5EF4-FFF2-40B4-BE49-F238E27FC236}">
                  <a16:creationId xmlns:a16="http://schemas.microsoft.com/office/drawing/2014/main" id="{CC95FCEB-78FF-AA56-E8C3-E5DAEE639748}"/>
                </a:ext>
              </a:extLst>
            </p:cNvPr>
            <p:cNvSpPr/>
            <p:nvPr/>
          </p:nvSpPr>
          <p:spPr>
            <a:xfrm>
              <a:off x="3243257" y="4336748"/>
              <a:ext cx="898116" cy="2462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sz="1000"/>
            </a:p>
          </p:txBody>
        </p:sp>
        <p:sp>
          <p:nvSpPr>
            <p:cNvPr id="31" name="Rombo 30">
              <a:extLst>
                <a:ext uri="{FF2B5EF4-FFF2-40B4-BE49-F238E27FC236}">
                  <a16:creationId xmlns:a16="http://schemas.microsoft.com/office/drawing/2014/main" id="{FCBF7E60-B880-D21F-CDB6-729C4EB49F65}"/>
                </a:ext>
              </a:extLst>
            </p:cNvPr>
            <p:cNvSpPr/>
            <p:nvPr/>
          </p:nvSpPr>
          <p:spPr>
            <a:xfrm>
              <a:off x="3092844" y="4789261"/>
              <a:ext cx="1198942" cy="340035"/>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000"/>
                <a:t>¿    ?</a:t>
              </a:r>
            </a:p>
          </p:txBody>
        </p:sp>
        <p:cxnSp>
          <p:nvCxnSpPr>
            <p:cNvPr id="32" name="Conector recto de flecha 31">
              <a:extLst>
                <a:ext uri="{FF2B5EF4-FFF2-40B4-BE49-F238E27FC236}">
                  <a16:creationId xmlns:a16="http://schemas.microsoft.com/office/drawing/2014/main" id="{0F4024A2-2F40-12F6-8ECD-1832AAFC62BC}"/>
                </a:ext>
              </a:extLst>
            </p:cNvPr>
            <p:cNvCxnSpPr>
              <a:cxnSpLocks/>
              <a:stCxn id="23" idx="3"/>
              <a:endCxn id="36" idx="1"/>
            </p:cNvCxnSpPr>
            <p:nvPr/>
          </p:nvCxnSpPr>
          <p:spPr>
            <a:xfrm>
              <a:off x="4148941" y="5501458"/>
              <a:ext cx="432886" cy="14702"/>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795BEA05-F4BB-5A2D-F16F-C5AAF48E4F89}"/>
                </a:ext>
              </a:extLst>
            </p:cNvPr>
            <p:cNvCxnSpPr>
              <a:cxnSpLocks/>
              <a:stCxn id="29" idx="2"/>
              <a:endCxn id="31" idx="0"/>
            </p:cNvCxnSpPr>
            <p:nvPr/>
          </p:nvCxnSpPr>
          <p:spPr>
            <a:xfrm>
              <a:off x="3692315" y="4582969"/>
              <a:ext cx="0" cy="206292"/>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12">
              <a:extLst>
                <a:ext uri="{FF2B5EF4-FFF2-40B4-BE49-F238E27FC236}">
                  <a16:creationId xmlns:a16="http://schemas.microsoft.com/office/drawing/2014/main" id="{33EFC5F9-D247-F6A3-EEED-53A97A01EFD7}"/>
                </a:ext>
              </a:extLst>
            </p:cNvPr>
            <p:cNvCxnSpPr>
              <a:cxnSpLocks/>
              <a:stCxn id="23" idx="1"/>
              <a:endCxn id="31" idx="1"/>
            </p:cNvCxnSpPr>
            <p:nvPr/>
          </p:nvCxnSpPr>
          <p:spPr>
            <a:xfrm rot="10800000">
              <a:off x="3092845" y="4959280"/>
              <a:ext cx="157981" cy="542179"/>
            </a:xfrm>
            <a:prstGeom prst="bentConnector3">
              <a:avLst>
                <a:gd name="adj1" fmla="val 244701"/>
              </a:avLst>
            </a:prstGeom>
            <a:ln w="31750">
              <a:solidFill>
                <a:srgbClr val="009BAF"/>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A2F3D802-D337-66C3-434C-90224CE2B13E}"/>
                </a:ext>
              </a:extLst>
            </p:cNvPr>
            <p:cNvCxnSpPr>
              <a:cxnSpLocks/>
              <a:stCxn id="31" idx="2"/>
              <a:endCxn id="23" idx="0"/>
            </p:cNvCxnSpPr>
            <p:nvPr/>
          </p:nvCxnSpPr>
          <p:spPr>
            <a:xfrm>
              <a:off x="3692315" y="5129296"/>
              <a:ext cx="7568" cy="249051"/>
            </a:xfrm>
            <a:prstGeom prst="straightConnector1">
              <a:avLst/>
            </a:prstGeom>
            <a:ln w="31750">
              <a:solidFill>
                <a:srgbClr val="113649"/>
              </a:solidFill>
              <a:tailEnd type="triangle"/>
            </a:ln>
          </p:spPr>
          <p:style>
            <a:lnRef idx="1">
              <a:schemeClr val="accent1"/>
            </a:lnRef>
            <a:fillRef idx="0">
              <a:schemeClr val="accent1"/>
            </a:fillRef>
            <a:effectRef idx="0">
              <a:schemeClr val="accent1"/>
            </a:effectRef>
            <a:fontRef idx="minor">
              <a:schemeClr val="tx1"/>
            </a:fontRef>
          </p:style>
        </p:cxnSp>
        <p:sp>
          <p:nvSpPr>
            <p:cNvPr id="36" name="Diagrama de flujo: terminador 38">
              <a:extLst>
                <a:ext uri="{FF2B5EF4-FFF2-40B4-BE49-F238E27FC236}">
                  <a16:creationId xmlns:a16="http://schemas.microsoft.com/office/drawing/2014/main" id="{66C0C922-F6EA-465E-FE36-C47ABFCC8463}"/>
                </a:ext>
              </a:extLst>
            </p:cNvPr>
            <p:cNvSpPr/>
            <p:nvPr/>
          </p:nvSpPr>
          <p:spPr>
            <a:xfrm>
              <a:off x="4581827" y="5407751"/>
              <a:ext cx="819899" cy="216817"/>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O" sz="1200"/>
                <a:t>Fin</a:t>
              </a:r>
            </a:p>
          </p:txBody>
        </p:sp>
        <p:cxnSp>
          <p:nvCxnSpPr>
            <p:cNvPr id="37" name="Conector recto de flecha 12">
              <a:extLst>
                <a:ext uri="{FF2B5EF4-FFF2-40B4-BE49-F238E27FC236}">
                  <a16:creationId xmlns:a16="http://schemas.microsoft.com/office/drawing/2014/main" id="{0D9A5F06-7A99-ABF3-0903-6B101ABB9825}"/>
                </a:ext>
              </a:extLst>
            </p:cNvPr>
            <p:cNvCxnSpPr>
              <a:cxnSpLocks/>
              <a:stCxn id="31" idx="3"/>
              <a:endCxn id="36" idx="0"/>
            </p:cNvCxnSpPr>
            <p:nvPr/>
          </p:nvCxnSpPr>
          <p:spPr>
            <a:xfrm>
              <a:off x="4291786" y="4959279"/>
              <a:ext cx="699991" cy="448472"/>
            </a:xfrm>
            <a:prstGeom prst="bentConnector2">
              <a:avLst/>
            </a:prstGeom>
            <a:ln w="31750">
              <a:solidFill>
                <a:srgbClr val="009BAF"/>
              </a:solidFill>
              <a:tailEnd type="triangle"/>
            </a:ln>
          </p:spPr>
          <p:style>
            <a:lnRef idx="1">
              <a:schemeClr val="accent1"/>
            </a:lnRef>
            <a:fillRef idx="0">
              <a:schemeClr val="accent1"/>
            </a:fillRef>
            <a:effectRef idx="0">
              <a:schemeClr val="accent1"/>
            </a:effectRef>
            <a:fontRef idx="minor">
              <a:schemeClr val="tx1"/>
            </a:fontRef>
          </p:style>
        </p:cxnSp>
      </p:grpSp>
      <p:sp>
        <p:nvSpPr>
          <p:cNvPr id="38" name="Rectángulo 37">
            <a:extLst>
              <a:ext uri="{FF2B5EF4-FFF2-40B4-BE49-F238E27FC236}">
                <a16:creationId xmlns:a16="http://schemas.microsoft.com/office/drawing/2014/main" id="{611F93E4-2E0E-62D6-929F-A8D9D941EA22}"/>
              </a:ext>
            </a:extLst>
          </p:cNvPr>
          <p:cNvSpPr/>
          <p:nvPr/>
        </p:nvSpPr>
        <p:spPr>
          <a:xfrm>
            <a:off x="1993392" y="1699541"/>
            <a:ext cx="4636008" cy="496397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s-CO"/>
          </a:p>
        </p:txBody>
      </p:sp>
      <p:sp>
        <p:nvSpPr>
          <p:cNvPr id="39" name="Rectángulo 38">
            <a:extLst>
              <a:ext uri="{FF2B5EF4-FFF2-40B4-BE49-F238E27FC236}">
                <a16:creationId xmlns:a16="http://schemas.microsoft.com/office/drawing/2014/main" id="{6BB3B188-4FCE-0D09-6534-8D0C67166CC3}"/>
              </a:ext>
            </a:extLst>
          </p:cNvPr>
          <p:cNvSpPr/>
          <p:nvPr/>
        </p:nvSpPr>
        <p:spPr>
          <a:xfrm>
            <a:off x="6975195" y="1699541"/>
            <a:ext cx="4636008" cy="496397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s-CO"/>
          </a:p>
        </p:txBody>
      </p:sp>
      <p:grpSp>
        <p:nvGrpSpPr>
          <p:cNvPr id="3" name="Grupo 2"/>
          <p:cNvGrpSpPr/>
          <p:nvPr/>
        </p:nvGrpSpPr>
        <p:grpSpPr>
          <a:xfrm>
            <a:off x="7323971" y="4521800"/>
            <a:ext cx="4068647" cy="2095260"/>
            <a:chOff x="7273441" y="2423639"/>
            <a:chExt cx="4068647" cy="2095260"/>
          </a:xfrm>
        </p:grpSpPr>
        <p:pic>
          <p:nvPicPr>
            <p:cNvPr id="41" name="Imagen 40"/>
            <p:cNvPicPr>
              <a:picLocks noChangeAspect="1"/>
            </p:cNvPicPr>
            <p:nvPr/>
          </p:nvPicPr>
          <p:blipFill>
            <a:blip r:embed="rId2"/>
            <a:stretch>
              <a:fillRect/>
            </a:stretch>
          </p:blipFill>
          <p:spPr>
            <a:xfrm>
              <a:off x="7273441" y="2423639"/>
              <a:ext cx="4068647" cy="2095260"/>
            </a:xfrm>
            <a:prstGeom prst="rect">
              <a:avLst/>
            </a:prstGeom>
          </p:spPr>
        </p:pic>
        <p:sp>
          <p:nvSpPr>
            <p:cNvPr id="42" name="Elipse 41"/>
            <p:cNvSpPr/>
            <p:nvPr/>
          </p:nvSpPr>
          <p:spPr>
            <a:xfrm>
              <a:off x="8556744" y="4341690"/>
              <a:ext cx="163033" cy="17720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3" name="Elipse 42"/>
            <p:cNvSpPr/>
            <p:nvPr/>
          </p:nvSpPr>
          <p:spPr>
            <a:xfrm>
              <a:off x="8556743" y="2992611"/>
              <a:ext cx="163033" cy="17720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44" name="CuadroTexto 43"/>
          <p:cNvSpPr txBox="1"/>
          <p:nvPr/>
        </p:nvSpPr>
        <p:spPr>
          <a:xfrm>
            <a:off x="1996294" y="1357641"/>
            <a:ext cx="983218" cy="338554"/>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defPPr>
              <a:defRPr lang="es-ES"/>
            </a:defPPr>
            <a:lvl1pPr lvl="0" algn="ctr">
              <a:defRPr sz="1600" b="1">
                <a:solidFill>
                  <a:schemeClr val="dk1"/>
                </a:solidFill>
                <a:ea typeface="Calibri"/>
                <a:cs typeface="Calibri"/>
              </a:defRPr>
            </a:lvl1pPr>
          </a:lstStyle>
          <a:p>
            <a:r>
              <a:rPr lang="es-MX" dirty="0"/>
              <a:t>Entrega 1</a:t>
            </a:r>
            <a:endParaRPr lang="es-CO" dirty="0"/>
          </a:p>
        </p:txBody>
      </p:sp>
      <p:sp>
        <p:nvSpPr>
          <p:cNvPr id="45" name="CuadroTexto 44"/>
          <p:cNvSpPr txBox="1"/>
          <p:nvPr/>
        </p:nvSpPr>
        <p:spPr>
          <a:xfrm>
            <a:off x="6975195" y="1357641"/>
            <a:ext cx="983218" cy="338554"/>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defPPr>
              <a:defRPr lang="es-ES"/>
            </a:defPPr>
            <a:lvl1pPr lvl="0" algn="ctr">
              <a:defRPr sz="1600" b="1">
                <a:solidFill>
                  <a:schemeClr val="dk1"/>
                </a:solidFill>
                <a:ea typeface="Calibri"/>
                <a:cs typeface="Calibri"/>
              </a:defRPr>
            </a:lvl1pPr>
          </a:lstStyle>
          <a:p>
            <a:r>
              <a:rPr lang="es-MX" dirty="0"/>
              <a:t>Entrega 1</a:t>
            </a:r>
            <a:endParaRPr lang="es-CO" dirty="0"/>
          </a:p>
        </p:txBody>
      </p:sp>
      <p:sp>
        <p:nvSpPr>
          <p:cNvPr id="5" name="CuadroTexto 4">
            <a:extLst>
              <a:ext uri="{FF2B5EF4-FFF2-40B4-BE49-F238E27FC236}">
                <a16:creationId xmlns:a16="http://schemas.microsoft.com/office/drawing/2014/main" id="{57A974A8-40FA-FE18-CCF1-F79F46AB07A5}"/>
              </a:ext>
            </a:extLst>
          </p:cNvPr>
          <p:cNvSpPr txBox="1"/>
          <p:nvPr/>
        </p:nvSpPr>
        <p:spPr>
          <a:xfrm>
            <a:off x="2184395" y="2247939"/>
            <a:ext cx="4265538" cy="1015663"/>
          </a:xfrm>
          <a:prstGeom prst="rect">
            <a:avLst/>
          </a:prstGeom>
          <a:noFill/>
        </p:spPr>
        <p:txBody>
          <a:bodyPr wrap="square" lIns="91440" tIns="45720" rIns="91440" bIns="45720" anchor="t">
            <a:spAutoFit/>
          </a:bodyPr>
          <a:lstStyle/>
          <a:p>
            <a:r>
              <a:rPr lang="es-ES" sz="1500" b="1"/>
              <a:t>2.1 Reconocimiento de patrones</a:t>
            </a:r>
            <a:endParaRPr lang="es-ES" sz="1500" b="1">
              <a:ea typeface="Calibri"/>
              <a:cs typeface="Calibri"/>
            </a:endParaRPr>
          </a:p>
          <a:p>
            <a:pPr marL="342900" indent="-342900">
              <a:buClr>
                <a:srgbClr val="02C9B6"/>
              </a:buClr>
              <a:buFont typeface="Arial" panose="020B0604020202020204" pitchFamily="34" charset="0"/>
              <a:buChar char="•"/>
            </a:pPr>
            <a:r>
              <a:rPr lang="es-ES" sz="1500" b="1">
                <a:ea typeface="Calibri"/>
                <a:cs typeface="Calibri"/>
              </a:rPr>
              <a:t>Listar las definiciones, fórmulas, </a:t>
            </a:r>
            <a:r>
              <a:rPr lang="es-MX" sz="1500" b="1">
                <a:ea typeface="Calibri"/>
                <a:cs typeface="Calibri"/>
              </a:rPr>
              <a:t>métodos o estructuras conocidas que pueden utilizarse en la solución</a:t>
            </a:r>
          </a:p>
        </p:txBody>
      </p:sp>
      <p:sp>
        <p:nvSpPr>
          <p:cNvPr id="7" name="CuadroTexto 6">
            <a:extLst>
              <a:ext uri="{FF2B5EF4-FFF2-40B4-BE49-F238E27FC236}">
                <a16:creationId xmlns:a16="http://schemas.microsoft.com/office/drawing/2014/main" id="{B2C6F510-807A-19FA-5979-53E8960441A1}"/>
              </a:ext>
            </a:extLst>
          </p:cNvPr>
          <p:cNvSpPr txBox="1"/>
          <p:nvPr/>
        </p:nvSpPr>
        <p:spPr>
          <a:xfrm>
            <a:off x="2190281" y="3277247"/>
            <a:ext cx="4420275" cy="784830"/>
          </a:xfrm>
          <a:prstGeom prst="rect">
            <a:avLst/>
          </a:prstGeom>
          <a:noFill/>
        </p:spPr>
        <p:txBody>
          <a:bodyPr wrap="square" lIns="91440" tIns="45720" rIns="91440" bIns="45720" anchor="t">
            <a:spAutoFit/>
          </a:bodyPr>
          <a:lstStyle/>
          <a:p>
            <a:r>
              <a:rPr lang="es-ES" sz="1500" b="1"/>
              <a:t>2.2 Lógica y algoritmia</a:t>
            </a:r>
            <a:endParaRPr lang="es-ES" sz="1500" b="1">
              <a:ea typeface="Calibri"/>
              <a:cs typeface="Calibri"/>
            </a:endParaRPr>
          </a:p>
          <a:p>
            <a:pPr marL="285750" indent="-285750">
              <a:buClr>
                <a:srgbClr val="02C9B6"/>
              </a:buClr>
              <a:buFont typeface="Arial" panose="020B0604020202020204" pitchFamily="34" charset="0"/>
              <a:buChar char="•"/>
            </a:pPr>
            <a:r>
              <a:rPr lang="es-ES" sz="1500" b="1">
                <a:ea typeface="Calibri"/>
                <a:cs typeface="Calibri"/>
              </a:rPr>
              <a:t>Dibujar el diagrama de flujo que represente la solución</a:t>
            </a:r>
          </a:p>
        </p:txBody>
      </p:sp>
      <p:sp>
        <p:nvSpPr>
          <p:cNvPr id="8" name="CuadroTexto 7">
            <a:extLst>
              <a:ext uri="{FF2B5EF4-FFF2-40B4-BE49-F238E27FC236}">
                <a16:creationId xmlns:a16="http://schemas.microsoft.com/office/drawing/2014/main" id="{6E7141D4-DBE8-DC91-F626-0CEA20D3856F}"/>
              </a:ext>
            </a:extLst>
          </p:cNvPr>
          <p:cNvSpPr txBox="1"/>
          <p:nvPr/>
        </p:nvSpPr>
        <p:spPr>
          <a:xfrm>
            <a:off x="7010400" y="1805796"/>
            <a:ext cx="4382218"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Clr>
                <a:srgbClr val="02C9B6"/>
              </a:buClr>
              <a:buFont typeface="Arial"/>
              <a:buChar char="•"/>
            </a:pPr>
            <a:r>
              <a:rPr lang="es-ES" sz="1500" b="1">
                <a:ea typeface="Calibri"/>
                <a:cs typeface="Calibri"/>
              </a:rPr>
              <a:t>Escribir una secuencia de pasos para resolver el problema</a:t>
            </a:r>
          </a:p>
          <a:p>
            <a:pPr marL="800100" lvl="1" indent="-342900">
              <a:buClr>
                <a:srgbClr val="02C9B6"/>
              </a:buClr>
              <a:buFont typeface="Arial"/>
              <a:buChar char="•"/>
            </a:pPr>
            <a:endParaRPr lang="es-ES" sz="1500" b="1">
              <a:ea typeface="Calibri"/>
              <a:cs typeface="Calibri"/>
            </a:endParaRPr>
          </a:p>
          <a:p>
            <a:pPr lvl="1">
              <a:buClr>
                <a:srgbClr val="02C9B6"/>
              </a:buClr>
            </a:pPr>
            <a:r>
              <a:rPr lang="es-ES" sz="1500">
                <a:ea typeface="Calibri"/>
                <a:cs typeface="Calibri"/>
              </a:rPr>
              <a:t>Inicio</a:t>
            </a:r>
          </a:p>
          <a:p>
            <a:pPr lvl="1">
              <a:buClr>
                <a:srgbClr val="02C9B6"/>
              </a:buClr>
            </a:pPr>
            <a:r>
              <a:rPr lang="es-ES" sz="1500">
                <a:ea typeface="Calibri"/>
                <a:cs typeface="Calibri"/>
              </a:rPr>
              <a:t>Paso 1: ….</a:t>
            </a:r>
          </a:p>
          <a:p>
            <a:pPr lvl="1">
              <a:buClr>
                <a:srgbClr val="02C9B6"/>
              </a:buClr>
            </a:pPr>
            <a:r>
              <a:rPr lang="es-ES" sz="1500">
                <a:ea typeface="Calibri"/>
                <a:cs typeface="Calibri"/>
              </a:rPr>
              <a:t>Paso 2: …</a:t>
            </a:r>
          </a:p>
          <a:p>
            <a:pPr lvl="1">
              <a:buClr>
                <a:srgbClr val="02C9B6"/>
              </a:buClr>
            </a:pPr>
            <a:r>
              <a:rPr lang="es-ES" sz="1500">
                <a:ea typeface="Calibri"/>
                <a:cs typeface="Calibri"/>
              </a:rPr>
              <a:t>…</a:t>
            </a:r>
          </a:p>
          <a:p>
            <a:pPr lvl="1">
              <a:buClr>
                <a:srgbClr val="02C9B6"/>
              </a:buClr>
            </a:pPr>
            <a:r>
              <a:rPr lang="es-ES" sz="1500">
                <a:ea typeface="Calibri"/>
                <a:cs typeface="Calibri"/>
              </a:rPr>
              <a:t>Fin</a:t>
            </a:r>
          </a:p>
          <a:p>
            <a:pPr marL="342900" indent="-342900">
              <a:buClr>
                <a:srgbClr val="02C9B6"/>
              </a:buClr>
              <a:buFont typeface="Arial"/>
              <a:buChar char="•"/>
            </a:pPr>
            <a:endParaRPr lang="es-ES" sz="1500">
              <a:ea typeface="Calibri"/>
              <a:cs typeface="Calibri"/>
            </a:endParaRPr>
          </a:p>
        </p:txBody>
      </p:sp>
      <p:sp>
        <p:nvSpPr>
          <p:cNvPr id="10" name="CuadroTexto 9">
            <a:extLst>
              <a:ext uri="{FF2B5EF4-FFF2-40B4-BE49-F238E27FC236}">
                <a16:creationId xmlns:a16="http://schemas.microsoft.com/office/drawing/2014/main" id="{91A59541-AE40-FC7A-C83D-011332329F5D}"/>
              </a:ext>
            </a:extLst>
          </p:cNvPr>
          <p:cNvSpPr txBox="1"/>
          <p:nvPr/>
        </p:nvSpPr>
        <p:spPr>
          <a:xfrm>
            <a:off x="7119693" y="3690512"/>
            <a:ext cx="4382218"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Clr>
                <a:srgbClr val="02C9B6"/>
              </a:buClr>
              <a:buFont typeface="Arial"/>
              <a:buChar char="•"/>
            </a:pPr>
            <a:r>
              <a:rPr lang="es-ES" sz="1500" b="1">
                <a:ea typeface="Calibri"/>
                <a:cs typeface="Calibri"/>
              </a:rPr>
              <a:t>Dibujar </a:t>
            </a:r>
            <a:r>
              <a:rPr lang="es-MX" sz="1500" b="1">
                <a:ea typeface="Calibri"/>
                <a:cs typeface="Calibri"/>
              </a:rPr>
              <a:t>cómo sería la interacción con la solución (opciones del menú, qué sucede al ingresar a cada opción).</a:t>
            </a:r>
            <a:endParaRPr lang="es-ES" sz="1500">
              <a:ea typeface="Calibri" panose="020F0502020204030204"/>
              <a:cs typeface="Calibri" panose="020F0502020204030204"/>
            </a:endParaRPr>
          </a:p>
        </p:txBody>
      </p:sp>
    </p:spTree>
    <p:extLst>
      <p:ext uri="{BB962C8B-B14F-4D97-AF65-F5344CB8AC3E}">
        <p14:creationId xmlns:p14="http://schemas.microsoft.com/office/powerpoint/2010/main" val="340947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8" grpId="0"/>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3D61C12-E1B1-4D26-B64E-26F86181960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38</a:t>
            </a:fld>
            <a:endParaRPr lang="es-CO"/>
          </a:p>
        </p:txBody>
      </p:sp>
      <p:sp>
        <p:nvSpPr>
          <p:cNvPr id="8" name="Título 1">
            <a:extLst>
              <a:ext uri="{FF2B5EF4-FFF2-40B4-BE49-F238E27FC236}">
                <a16:creationId xmlns:a16="http://schemas.microsoft.com/office/drawing/2014/main" id="{8DA329A3-FC01-4339-BB00-B7DF02E4E404}"/>
              </a:ext>
            </a:extLst>
          </p:cNvPr>
          <p:cNvSpPr>
            <a:spLocks noGrp="1"/>
          </p:cNvSpPr>
          <p:nvPr>
            <p:ph type="title"/>
          </p:nvPr>
        </p:nvSpPr>
        <p:spPr>
          <a:xfrm>
            <a:off x="2076994" y="222069"/>
            <a:ext cx="9666016" cy="1018902"/>
          </a:xfrm>
        </p:spPr>
        <p:txBody>
          <a:bodyPr>
            <a:normAutofit fontScale="90000"/>
          </a:bodyPr>
          <a:lstStyle/>
          <a:p>
            <a:r>
              <a:rPr lang="es-CO"/>
              <a:t>Plantilla metodología PC </a:t>
            </a:r>
            <a:br>
              <a:rPr lang="es-CO"/>
            </a:br>
            <a:r>
              <a:rPr lang="es-CO"/>
              <a:t>para análisis y solución de problemas </a:t>
            </a:r>
          </a:p>
        </p:txBody>
      </p:sp>
      <p:sp>
        <p:nvSpPr>
          <p:cNvPr id="10" name="CuadroTexto 9">
            <a:extLst>
              <a:ext uri="{FF2B5EF4-FFF2-40B4-BE49-F238E27FC236}">
                <a16:creationId xmlns:a16="http://schemas.microsoft.com/office/drawing/2014/main" id="{18BB93FD-2F57-568F-E0F5-8ACE9A487EAC}"/>
              </a:ext>
            </a:extLst>
          </p:cNvPr>
          <p:cNvSpPr txBox="1"/>
          <p:nvPr/>
        </p:nvSpPr>
        <p:spPr>
          <a:xfrm>
            <a:off x="2171758" y="1712429"/>
            <a:ext cx="4384548" cy="1723549"/>
          </a:xfrm>
          <a:prstGeom prst="rect">
            <a:avLst/>
          </a:prstGeom>
          <a:noFill/>
        </p:spPr>
        <p:txBody>
          <a:bodyPr wrap="square" lIns="91440" tIns="45720" rIns="91440" bIns="45720" anchor="t">
            <a:spAutoFit/>
          </a:bodyPr>
          <a:lstStyle/>
          <a:p>
            <a:r>
              <a:rPr lang="es-ES" sz="1600" b="1"/>
              <a:t>3. Validación de la Solución</a:t>
            </a:r>
            <a:endParaRPr lang="es-ES"/>
          </a:p>
          <a:p>
            <a:r>
              <a:rPr lang="es-ES" sz="1500" b="1">
                <a:ea typeface="Calibri"/>
                <a:cs typeface="Calibri"/>
              </a:rPr>
              <a:t>3.1 Prueba de escritorio</a:t>
            </a:r>
            <a:endParaRPr lang="en-US" sz="1500">
              <a:ea typeface="Calibri"/>
              <a:cs typeface="Calibri"/>
            </a:endParaRPr>
          </a:p>
          <a:p>
            <a:pPr marL="285750" indent="-285750">
              <a:buClr>
                <a:srgbClr val="02C9B6"/>
              </a:buClr>
              <a:buFont typeface="Arial,Sans-Serif"/>
              <a:buChar char="•"/>
            </a:pPr>
            <a:r>
              <a:rPr lang="es-MX" sz="1500" b="1">
                <a:ea typeface="Calibri"/>
                <a:cs typeface="Calibri"/>
              </a:rPr>
              <a:t>Evaluar el diagrama de flujo usando diferentes valores de entrada y analizar los resultados</a:t>
            </a:r>
            <a:endParaRPr lang="en-US" sz="1500">
              <a:ea typeface="Calibri"/>
              <a:cs typeface="Calibri"/>
            </a:endParaRPr>
          </a:p>
          <a:p>
            <a:endParaRPr lang="es-MX" sz="1500">
              <a:ea typeface="Calibri"/>
              <a:cs typeface="Calibri"/>
            </a:endParaRPr>
          </a:p>
          <a:p>
            <a:r>
              <a:rPr lang="es-MX" sz="1500" b="1">
                <a:ea typeface="Calibri"/>
                <a:cs typeface="Calibri"/>
              </a:rPr>
              <a:t>Nota: </a:t>
            </a:r>
            <a:r>
              <a:rPr lang="es-MX" sz="1500">
                <a:ea typeface="Calibri"/>
                <a:cs typeface="Calibri"/>
              </a:rPr>
              <a:t>Realice el ejercicio con varios valores de entrada.</a:t>
            </a:r>
            <a:endParaRPr lang="en-US" sz="1500">
              <a:ea typeface="Calibri"/>
              <a:cs typeface="Calibri"/>
            </a:endParaRPr>
          </a:p>
        </p:txBody>
      </p:sp>
      <p:sp>
        <p:nvSpPr>
          <p:cNvPr id="12" name="Rectángulo 11">
            <a:extLst>
              <a:ext uri="{FF2B5EF4-FFF2-40B4-BE49-F238E27FC236}">
                <a16:creationId xmlns:a16="http://schemas.microsoft.com/office/drawing/2014/main" id="{1B0AAC37-F29F-0726-FF3C-26F4E004A5AE}"/>
              </a:ext>
            </a:extLst>
          </p:cNvPr>
          <p:cNvSpPr/>
          <p:nvPr/>
        </p:nvSpPr>
        <p:spPr>
          <a:xfrm>
            <a:off x="6975195" y="1640542"/>
            <a:ext cx="4636008" cy="496397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s-CO"/>
          </a:p>
        </p:txBody>
      </p:sp>
      <p:sp>
        <p:nvSpPr>
          <p:cNvPr id="13" name="Rectángulo 12">
            <a:extLst>
              <a:ext uri="{FF2B5EF4-FFF2-40B4-BE49-F238E27FC236}">
                <a16:creationId xmlns:a16="http://schemas.microsoft.com/office/drawing/2014/main" id="{180CE8E8-E3F4-64EE-5378-4F960D38F796}"/>
              </a:ext>
            </a:extLst>
          </p:cNvPr>
          <p:cNvSpPr/>
          <p:nvPr/>
        </p:nvSpPr>
        <p:spPr>
          <a:xfrm>
            <a:off x="2052805" y="1640542"/>
            <a:ext cx="4636008" cy="496397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s-CO"/>
          </a:p>
        </p:txBody>
      </p:sp>
      <p:sp>
        <p:nvSpPr>
          <p:cNvPr id="14" name="CuadroTexto 13">
            <a:extLst>
              <a:ext uri="{FF2B5EF4-FFF2-40B4-BE49-F238E27FC236}">
                <a16:creationId xmlns:a16="http://schemas.microsoft.com/office/drawing/2014/main" id="{34FB83AA-3C74-0203-BE85-8BBFE7523E70}"/>
              </a:ext>
            </a:extLst>
          </p:cNvPr>
          <p:cNvSpPr txBox="1"/>
          <p:nvPr/>
        </p:nvSpPr>
        <p:spPr>
          <a:xfrm>
            <a:off x="7133346" y="1841824"/>
            <a:ext cx="4384548" cy="584775"/>
          </a:xfrm>
          <a:prstGeom prst="rect">
            <a:avLst/>
          </a:prstGeom>
          <a:noFill/>
        </p:spPr>
        <p:txBody>
          <a:bodyPr wrap="square" lIns="91440" tIns="45720" rIns="91440" bIns="45720" anchor="t">
            <a:spAutoFit/>
          </a:bodyPr>
          <a:lstStyle/>
          <a:p>
            <a:r>
              <a:rPr lang="es-ES" sz="1600" b="1"/>
              <a:t>4. Codificación de la Solución en un Lenguaje de Programación</a:t>
            </a:r>
          </a:p>
        </p:txBody>
      </p:sp>
      <p:sp>
        <p:nvSpPr>
          <p:cNvPr id="15" name="CuadroTexto 14"/>
          <p:cNvSpPr txBox="1"/>
          <p:nvPr/>
        </p:nvSpPr>
        <p:spPr>
          <a:xfrm>
            <a:off x="2052805" y="1297842"/>
            <a:ext cx="983218" cy="338554"/>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defPPr>
              <a:defRPr lang="es-ES"/>
            </a:defPPr>
            <a:lvl1pPr lvl="0" algn="ctr">
              <a:defRPr sz="1600" b="1">
                <a:solidFill>
                  <a:schemeClr val="dk1"/>
                </a:solidFill>
                <a:ea typeface="Calibri"/>
                <a:cs typeface="Calibri"/>
              </a:defRPr>
            </a:lvl1pPr>
          </a:lstStyle>
          <a:p>
            <a:r>
              <a:rPr lang="es-MX" dirty="0"/>
              <a:t>Entrega 1</a:t>
            </a:r>
            <a:endParaRPr lang="es-CO" dirty="0"/>
          </a:p>
        </p:txBody>
      </p:sp>
      <p:sp>
        <p:nvSpPr>
          <p:cNvPr id="16" name="CuadroTexto 15"/>
          <p:cNvSpPr txBox="1"/>
          <p:nvPr/>
        </p:nvSpPr>
        <p:spPr>
          <a:xfrm>
            <a:off x="6975195" y="1317824"/>
            <a:ext cx="983218" cy="338554"/>
          </a:xfrm>
          <a:prstGeom prst="rect">
            <a:avLst/>
          </a:prstGeom>
          <a:gradFill>
            <a:gsLst>
              <a:gs pos="0">
                <a:srgbClr val="FAAD15"/>
              </a:gs>
              <a:gs pos="100000">
                <a:srgbClr val="FB9815"/>
              </a:gs>
            </a:gsLst>
            <a:path path="circle">
              <a:fillToRect t="100000" r="100000"/>
            </a:path>
            <a:tileRect l="-100000" b="-100000"/>
          </a:gradFill>
          <a:ln>
            <a:noFill/>
          </a:ln>
          <a:effectLst>
            <a:outerShdw blurRad="38100" dist="25400" dir="5400000" rotWithShape="0">
              <a:srgbClr val="000000">
                <a:alpha val="63921"/>
              </a:srgbClr>
            </a:outerShdw>
          </a:effectLst>
        </p:spPr>
        <p:txBody>
          <a:bodyPr spcFirstLastPara="1" wrap="square" lIns="91425" tIns="45700" rIns="91425" bIns="45700" anchor="ctr" anchorCtr="0">
            <a:noAutofit/>
          </a:bodyPr>
          <a:lstStyle>
            <a:defPPr>
              <a:defRPr lang="es-ES"/>
            </a:defPPr>
            <a:lvl1pPr lvl="0" algn="ctr">
              <a:defRPr sz="1600" b="1">
                <a:solidFill>
                  <a:schemeClr val="dk1"/>
                </a:solidFill>
                <a:ea typeface="Calibri"/>
                <a:cs typeface="Calibri"/>
              </a:defRPr>
            </a:lvl1pPr>
          </a:lstStyle>
          <a:p>
            <a:r>
              <a:rPr lang="es-MX" dirty="0"/>
              <a:t>Entrega 2</a:t>
            </a:r>
            <a:endParaRPr lang="es-CO" dirty="0"/>
          </a:p>
        </p:txBody>
      </p:sp>
      <p:graphicFrame>
        <p:nvGraphicFramePr>
          <p:cNvPr id="5" name="Tabla 4">
            <a:extLst>
              <a:ext uri="{FF2B5EF4-FFF2-40B4-BE49-F238E27FC236}">
                <a16:creationId xmlns:a16="http://schemas.microsoft.com/office/drawing/2014/main" id="{24221FCC-C527-C07C-713A-FE58B56DC095}"/>
              </a:ext>
            </a:extLst>
          </p:cNvPr>
          <p:cNvGraphicFramePr>
            <a:graphicFrameLocks noGrp="1"/>
          </p:cNvGraphicFramePr>
          <p:nvPr>
            <p:extLst>
              <p:ext uri="{D42A27DB-BD31-4B8C-83A1-F6EECF244321}">
                <p14:modId xmlns:p14="http://schemas.microsoft.com/office/powerpoint/2010/main" val="2061139434"/>
              </p:ext>
            </p:extLst>
          </p:nvPr>
        </p:nvGraphicFramePr>
        <p:xfrm>
          <a:off x="2185358" y="3536830"/>
          <a:ext cx="4370706" cy="1463040"/>
        </p:xfrm>
        <a:graphic>
          <a:graphicData uri="http://schemas.openxmlformats.org/drawingml/2006/table">
            <a:tbl>
              <a:tblPr firstRow="1" bandRow="1">
                <a:tableStyleId>{5940675A-B579-460E-94D1-54222C63F5DA}</a:tableStyleId>
              </a:tblPr>
              <a:tblGrid>
                <a:gridCol w="718866">
                  <a:extLst>
                    <a:ext uri="{9D8B030D-6E8A-4147-A177-3AD203B41FA5}">
                      <a16:colId xmlns:a16="http://schemas.microsoft.com/office/drawing/2014/main" val="722552213"/>
                    </a:ext>
                  </a:extLst>
                </a:gridCol>
                <a:gridCol w="819508">
                  <a:extLst>
                    <a:ext uri="{9D8B030D-6E8A-4147-A177-3AD203B41FA5}">
                      <a16:colId xmlns:a16="http://schemas.microsoft.com/office/drawing/2014/main" val="3688458231"/>
                    </a:ext>
                  </a:extLst>
                </a:gridCol>
                <a:gridCol w="819508">
                  <a:extLst>
                    <a:ext uri="{9D8B030D-6E8A-4147-A177-3AD203B41FA5}">
                      <a16:colId xmlns:a16="http://schemas.microsoft.com/office/drawing/2014/main" val="2741302842"/>
                    </a:ext>
                  </a:extLst>
                </a:gridCol>
                <a:gridCol w="862641">
                  <a:extLst>
                    <a:ext uri="{9D8B030D-6E8A-4147-A177-3AD203B41FA5}">
                      <a16:colId xmlns:a16="http://schemas.microsoft.com/office/drawing/2014/main" val="697394819"/>
                    </a:ext>
                  </a:extLst>
                </a:gridCol>
                <a:gridCol w="1150183">
                  <a:extLst>
                    <a:ext uri="{9D8B030D-6E8A-4147-A177-3AD203B41FA5}">
                      <a16:colId xmlns:a16="http://schemas.microsoft.com/office/drawing/2014/main" val="3112449741"/>
                    </a:ext>
                  </a:extLst>
                </a:gridCol>
              </a:tblGrid>
              <a:tr h="160114">
                <a:tc>
                  <a:txBody>
                    <a:bodyPr/>
                    <a:lstStyle/>
                    <a:p>
                      <a:pPr algn="ctr"/>
                      <a:r>
                        <a:rPr lang="es-CO" sz="1300" b="1">
                          <a:solidFill>
                            <a:schemeClr val="bg1"/>
                          </a:solidFill>
                        </a:rPr>
                        <a:t>Opción</a:t>
                      </a:r>
                    </a:p>
                  </a:txBody>
                  <a:tcPr>
                    <a:solidFill>
                      <a:srgbClr val="113649"/>
                    </a:solidFill>
                  </a:tcPr>
                </a:tc>
                <a:tc>
                  <a:txBody>
                    <a:bodyPr/>
                    <a:lstStyle/>
                    <a:p>
                      <a:pPr algn="ctr"/>
                      <a:r>
                        <a:rPr lang="es-CO" sz="1300" b="1">
                          <a:solidFill>
                            <a:schemeClr val="bg1"/>
                          </a:solidFill>
                        </a:rPr>
                        <a:t>Entrada</a:t>
                      </a:r>
                    </a:p>
                  </a:txBody>
                  <a:tcPr>
                    <a:solidFill>
                      <a:srgbClr val="113649"/>
                    </a:solidFill>
                  </a:tcPr>
                </a:tc>
                <a:tc>
                  <a:txBody>
                    <a:bodyPr/>
                    <a:lstStyle/>
                    <a:p>
                      <a:pPr algn="ctr"/>
                      <a:r>
                        <a:rPr lang="es-CO" sz="1300" b="1">
                          <a:solidFill>
                            <a:schemeClr val="bg1"/>
                          </a:solidFill>
                        </a:rPr>
                        <a:t>Salida esperada</a:t>
                      </a:r>
                    </a:p>
                  </a:txBody>
                  <a:tcPr>
                    <a:solidFill>
                      <a:srgbClr val="113649"/>
                    </a:solidFill>
                  </a:tcPr>
                </a:tc>
                <a:tc>
                  <a:txBody>
                    <a:bodyPr/>
                    <a:lstStyle/>
                    <a:p>
                      <a:pPr algn="ctr"/>
                      <a:r>
                        <a:rPr lang="es-CO" sz="1300" b="1">
                          <a:solidFill>
                            <a:schemeClr val="bg1"/>
                          </a:solidFill>
                        </a:rPr>
                        <a:t>Salida obtenida</a:t>
                      </a:r>
                    </a:p>
                  </a:txBody>
                  <a:tcPr>
                    <a:solidFill>
                      <a:srgbClr val="113649"/>
                    </a:solidFill>
                  </a:tcPr>
                </a:tc>
                <a:tc>
                  <a:txBody>
                    <a:bodyPr/>
                    <a:lstStyle/>
                    <a:p>
                      <a:pPr algn="ctr"/>
                      <a:r>
                        <a:rPr lang="es-CO" sz="1300" b="1">
                          <a:solidFill>
                            <a:schemeClr val="bg1"/>
                          </a:solidFill>
                        </a:rPr>
                        <a:t>¿Coinciden?</a:t>
                      </a:r>
                    </a:p>
                  </a:txBody>
                  <a:tcPr>
                    <a:solidFill>
                      <a:srgbClr val="113649"/>
                    </a:solidFill>
                  </a:tcPr>
                </a:tc>
                <a:extLst>
                  <a:ext uri="{0D108BD9-81ED-4DB2-BD59-A6C34878D82A}">
                    <a16:rowId xmlns:a16="http://schemas.microsoft.com/office/drawing/2014/main" val="1757604693"/>
                  </a:ext>
                </a:extLst>
              </a:tr>
              <a:tr h="160114">
                <a:tc>
                  <a:txBody>
                    <a:bodyPr/>
                    <a:lstStyle/>
                    <a:p>
                      <a:r>
                        <a:rPr lang="es-CO" sz="1300" b="1"/>
                        <a:t>Opción 1</a:t>
                      </a:r>
                    </a:p>
                  </a:txBody>
                  <a:tcPr/>
                </a:tc>
                <a:tc>
                  <a:txBody>
                    <a:bodyPr/>
                    <a:lstStyle/>
                    <a:p>
                      <a:pPr marL="0" indent="0" algn="l" fontAlgn="b">
                        <a:buNone/>
                      </a:pPr>
                      <a:r>
                        <a:rPr lang="es-CO" sz="1300" b="0" i="0" u="none" strike="noStrike">
                          <a:solidFill>
                            <a:srgbClr val="000000"/>
                          </a:solidFill>
                          <a:effectLst/>
                          <a:latin typeface="Calibri"/>
                        </a:rPr>
                        <a:t>Entrada 1</a:t>
                      </a:r>
                    </a:p>
                  </a:txBody>
                  <a:tcPr/>
                </a:tc>
                <a:tc>
                  <a:txBody>
                    <a:bodyPr/>
                    <a:lstStyle/>
                    <a:p>
                      <a:pPr marL="0" indent="0" algn="l" fontAlgn="b">
                        <a:buNone/>
                      </a:pPr>
                      <a:r>
                        <a:rPr lang="es-ES" sz="1300"/>
                        <a:t>Salida esperada</a:t>
                      </a:r>
                    </a:p>
                  </a:txBody>
                  <a:tcPr/>
                </a:tc>
                <a:tc>
                  <a:txBody>
                    <a:bodyPr/>
                    <a:lstStyle/>
                    <a:p>
                      <a:pPr marL="0" marR="0" lvl="0" indent="0" algn="l" rtl="0" eaLnBrk="1" fontAlgn="b" latinLnBrk="0" hangingPunct="1">
                        <a:lnSpc>
                          <a:spcPct val="100000"/>
                        </a:lnSpc>
                        <a:spcBef>
                          <a:spcPts val="0"/>
                        </a:spcBef>
                        <a:spcAft>
                          <a:spcPts val="0"/>
                        </a:spcAft>
                        <a:buClrTx/>
                        <a:buSzTx/>
                        <a:buFontTx/>
                        <a:buNone/>
                      </a:pPr>
                      <a:r>
                        <a:rPr lang="es-ES" sz="1300"/>
                        <a:t>Salida obtenida</a:t>
                      </a:r>
                    </a:p>
                  </a:txBody>
                  <a:tcPr/>
                </a:tc>
                <a:tc>
                  <a:txBody>
                    <a:bodyPr/>
                    <a:lstStyle/>
                    <a:p>
                      <a:pPr algn="l" fontAlgn="b"/>
                      <a:r>
                        <a:rPr lang="es-CO" sz="1300" b="0" i="0" u="none" strike="noStrike">
                          <a:solidFill>
                            <a:srgbClr val="000000"/>
                          </a:solidFill>
                          <a:effectLst/>
                          <a:latin typeface="Calibri"/>
                        </a:rPr>
                        <a:t>Sí/No</a:t>
                      </a:r>
                    </a:p>
                  </a:txBody>
                  <a:tcPr/>
                </a:tc>
                <a:extLst>
                  <a:ext uri="{0D108BD9-81ED-4DB2-BD59-A6C34878D82A}">
                    <a16:rowId xmlns:a16="http://schemas.microsoft.com/office/drawing/2014/main" val="1241007629"/>
                  </a:ext>
                </a:extLst>
              </a:tr>
              <a:tr h="187960">
                <a:tc>
                  <a:txBody>
                    <a:bodyPr/>
                    <a:lstStyle/>
                    <a:p>
                      <a:r>
                        <a:rPr lang="es-CO" sz="1300" b="1"/>
                        <a:t>Opción 2</a:t>
                      </a:r>
                    </a:p>
                  </a:txBody>
                  <a:tcPr/>
                </a:tc>
                <a:tc>
                  <a:txBody>
                    <a:bodyPr/>
                    <a:lstStyle/>
                    <a:p>
                      <a:pPr marL="0" indent="0" algn="l" fontAlgn="b">
                        <a:buNone/>
                      </a:pPr>
                      <a:r>
                        <a:rPr lang="es-CO" sz="1300" b="0" i="0" u="none" strike="noStrike">
                          <a:solidFill>
                            <a:srgbClr val="000000"/>
                          </a:solidFill>
                          <a:effectLst/>
                          <a:latin typeface="Calibri"/>
                        </a:rPr>
                        <a:t>Entrada 2</a:t>
                      </a:r>
                    </a:p>
                  </a:txBody>
                  <a:tcPr/>
                </a:tc>
                <a:tc>
                  <a:txBody>
                    <a:bodyPr/>
                    <a:lstStyle/>
                    <a:p>
                      <a:pPr marL="0" indent="0" algn="l" fontAlgn="b">
                        <a:buNone/>
                      </a:pPr>
                      <a:r>
                        <a:rPr lang="es-ES" sz="1300"/>
                        <a:t>Salida esperada</a:t>
                      </a:r>
                    </a:p>
                  </a:txBody>
                  <a:tcPr/>
                </a:tc>
                <a:tc>
                  <a:txBody>
                    <a:bodyPr/>
                    <a:lstStyle/>
                    <a:p>
                      <a:pPr marL="0" indent="0" algn="l" fontAlgn="b">
                        <a:buNone/>
                      </a:pPr>
                      <a:r>
                        <a:rPr lang="es-ES" sz="1300"/>
                        <a:t>Salida obtenida</a:t>
                      </a:r>
                    </a:p>
                  </a:txBody>
                  <a:tcPr/>
                </a:tc>
                <a:tc>
                  <a:txBody>
                    <a:bodyPr/>
                    <a:lstStyle/>
                    <a:p>
                      <a:r>
                        <a:rPr lang="es-CO" sz="1300" dirty="0"/>
                        <a:t>Sí/No</a:t>
                      </a:r>
                    </a:p>
                  </a:txBody>
                  <a:tcPr/>
                </a:tc>
                <a:extLst>
                  <a:ext uri="{0D108BD9-81ED-4DB2-BD59-A6C34878D82A}">
                    <a16:rowId xmlns:a16="http://schemas.microsoft.com/office/drawing/2014/main" val="1481097356"/>
                  </a:ext>
                </a:extLst>
              </a:tr>
            </a:tbl>
          </a:graphicData>
        </a:graphic>
      </p:graphicFrame>
      <p:sp>
        <p:nvSpPr>
          <p:cNvPr id="6" name="CuadroTexto 5">
            <a:extLst>
              <a:ext uri="{FF2B5EF4-FFF2-40B4-BE49-F238E27FC236}">
                <a16:creationId xmlns:a16="http://schemas.microsoft.com/office/drawing/2014/main" id="{7D00081F-C854-F209-422A-5FC5EEEAD5FE}"/>
              </a:ext>
            </a:extLst>
          </p:cNvPr>
          <p:cNvSpPr txBox="1"/>
          <p:nvPr/>
        </p:nvSpPr>
        <p:spPr>
          <a:xfrm>
            <a:off x="2179608" y="5357004"/>
            <a:ext cx="438221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b="1">
                <a:cs typeface="Segoe UI"/>
              </a:rPr>
              <a:t>3.2 Implementación inicial</a:t>
            </a:r>
            <a:r>
              <a:rPr lang="en-US" sz="1400">
                <a:cs typeface="Segoe UI"/>
              </a:rPr>
              <a:t>​</a:t>
            </a:r>
            <a:endParaRPr lang="en-US" sz="1400">
              <a:ea typeface="Calibri"/>
              <a:cs typeface="Segoe UI"/>
            </a:endParaRPr>
          </a:p>
          <a:p>
            <a:pPr marL="285750" indent="-285750">
              <a:buClr>
                <a:srgbClr val="02C9B6"/>
              </a:buClr>
              <a:buFont typeface="Arial,Sans-Serif"/>
              <a:buChar char="•"/>
            </a:pPr>
            <a:r>
              <a:rPr lang="es-ES" sz="1400" b="1">
                <a:cs typeface="Arial"/>
              </a:rPr>
              <a:t>Implementar algún avance de implementación en Python </a:t>
            </a:r>
            <a:endParaRPr lang="es-ES" sz="1400" b="1">
              <a:ea typeface="Calibri"/>
              <a:cs typeface="Arial"/>
            </a:endParaRPr>
          </a:p>
        </p:txBody>
      </p:sp>
      <p:sp>
        <p:nvSpPr>
          <p:cNvPr id="7" name="CuadroTexto 6">
            <a:extLst>
              <a:ext uri="{FF2B5EF4-FFF2-40B4-BE49-F238E27FC236}">
                <a16:creationId xmlns:a16="http://schemas.microsoft.com/office/drawing/2014/main" id="{D4A52493-AD6D-58BF-454C-579ADD25CC0E}"/>
              </a:ext>
            </a:extLst>
          </p:cNvPr>
          <p:cNvSpPr txBox="1"/>
          <p:nvPr/>
        </p:nvSpPr>
        <p:spPr>
          <a:xfrm>
            <a:off x="7096665" y="2438400"/>
            <a:ext cx="442535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b="1">
                <a:cs typeface="Segoe UI"/>
              </a:rPr>
              <a:t>4.1 Implementación en Python</a:t>
            </a:r>
            <a:r>
              <a:rPr lang="en-US" sz="1400">
                <a:cs typeface="Segoe UI"/>
              </a:rPr>
              <a:t>​</a:t>
            </a:r>
            <a:endParaRPr lang="en-US" sz="1400">
              <a:ea typeface="Calibri"/>
              <a:cs typeface="Segoe UI"/>
            </a:endParaRPr>
          </a:p>
          <a:p>
            <a:pPr marL="285750" indent="-285750">
              <a:buClr>
                <a:srgbClr val="02C9B6"/>
              </a:buClr>
              <a:buFont typeface="Arial,Sans-Serif"/>
              <a:buChar char="•"/>
            </a:pPr>
            <a:r>
              <a:rPr lang="es-MX" sz="1400" b="1">
                <a:cs typeface="Arial"/>
              </a:rPr>
              <a:t>Escribir el código completo en Python basado en el diagrama de flujo</a:t>
            </a:r>
            <a:endParaRPr lang="es-MX" sz="1400" b="1">
              <a:ea typeface="Calibri"/>
              <a:cs typeface="Arial"/>
            </a:endParaRPr>
          </a:p>
        </p:txBody>
      </p:sp>
      <p:sp>
        <p:nvSpPr>
          <p:cNvPr id="17" name="CuadroTexto 16">
            <a:extLst>
              <a:ext uri="{FF2B5EF4-FFF2-40B4-BE49-F238E27FC236}">
                <a16:creationId xmlns:a16="http://schemas.microsoft.com/office/drawing/2014/main" id="{CCF78CF0-CD45-DE16-E6A2-708221FBD2AB}"/>
              </a:ext>
            </a:extLst>
          </p:cNvPr>
          <p:cNvSpPr txBox="1"/>
          <p:nvPr/>
        </p:nvSpPr>
        <p:spPr>
          <a:xfrm>
            <a:off x="7096665" y="3171646"/>
            <a:ext cx="415218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b="1">
                <a:cs typeface="Segoe UI"/>
              </a:rPr>
              <a:t>4.2 Evaluación de la Implementación</a:t>
            </a:r>
            <a:r>
              <a:rPr lang="en-US" sz="1400">
                <a:cs typeface="Segoe UI"/>
              </a:rPr>
              <a:t>​</a:t>
            </a:r>
          </a:p>
          <a:p>
            <a:pPr marL="285750" indent="-285750">
              <a:buClr>
                <a:srgbClr val="02C9B6"/>
              </a:buClr>
              <a:buFont typeface="Arial"/>
              <a:buChar char="•"/>
            </a:pPr>
            <a:r>
              <a:rPr lang="es-MX" sz="1400" b="1">
                <a:cs typeface="Calibri"/>
              </a:rPr>
              <a:t>Evaluar el código resultante</a:t>
            </a:r>
            <a:endParaRPr lang="es-ES" sz="1400">
              <a:ea typeface="Calibri"/>
              <a:cs typeface="Segoe UI"/>
            </a:endParaRPr>
          </a:p>
          <a:p>
            <a:r>
              <a:rPr lang="es-ES" sz="1400">
                <a:cs typeface="Segoe UI"/>
              </a:rPr>
              <a:t>​</a:t>
            </a:r>
            <a:endParaRPr lang="es-ES" sz="1400">
              <a:ea typeface="Calibri"/>
              <a:cs typeface="Segoe UI"/>
            </a:endParaRPr>
          </a:p>
        </p:txBody>
      </p:sp>
      <p:sp>
        <p:nvSpPr>
          <p:cNvPr id="18" name="CuadroTexto 17">
            <a:extLst>
              <a:ext uri="{FF2B5EF4-FFF2-40B4-BE49-F238E27FC236}">
                <a16:creationId xmlns:a16="http://schemas.microsoft.com/office/drawing/2014/main" id="{AA1EFDFB-1FCF-3743-E8B3-90A99FF30E61}"/>
              </a:ext>
            </a:extLst>
          </p:cNvPr>
          <p:cNvSpPr txBox="1"/>
          <p:nvPr/>
        </p:nvSpPr>
        <p:spPr>
          <a:xfrm>
            <a:off x="7111043" y="3761117"/>
            <a:ext cx="410904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400">
                <a:cs typeface="Arial"/>
              </a:rPr>
              <a:t>✅ El código sigue la lógica del diagrama de flujo.</a:t>
            </a:r>
            <a:r>
              <a:rPr lang="en-US" sz="1400">
                <a:cs typeface="Arial"/>
              </a:rPr>
              <a:t>​​</a:t>
            </a:r>
          </a:p>
          <a:p>
            <a:r>
              <a:rPr lang="es-ES" sz="1400">
                <a:cs typeface="Arial"/>
              </a:rPr>
              <a:t>✅ Se ejecuta sin errores.</a:t>
            </a:r>
            <a:r>
              <a:rPr lang="en-US" sz="1400">
                <a:cs typeface="Arial"/>
              </a:rPr>
              <a:t>​​</a:t>
            </a:r>
            <a:endParaRPr lang="en-US" sz="1400">
              <a:ea typeface="Calibri"/>
              <a:cs typeface="Arial"/>
            </a:endParaRPr>
          </a:p>
          <a:p>
            <a:r>
              <a:rPr lang="es-ES" sz="1400">
                <a:cs typeface="Arial"/>
              </a:rPr>
              <a:t>✅ Se obtienen los resultados esperados.</a:t>
            </a:r>
            <a:r>
              <a:rPr lang="en-US" sz="1400">
                <a:cs typeface="Arial"/>
              </a:rPr>
              <a:t>​​</a:t>
            </a:r>
          </a:p>
        </p:txBody>
      </p:sp>
    </p:spTree>
    <p:extLst>
      <p:ext uri="{BB962C8B-B14F-4D97-AF65-F5344CB8AC3E}">
        <p14:creationId xmlns:p14="http://schemas.microsoft.com/office/powerpoint/2010/main" val="184807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6" grpId="0"/>
      <p:bldP spid="7" grpId="0"/>
      <p:bldP spid="17" grpId="0"/>
      <p:bldP spid="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6" name="Google Shape;566;p28"/>
          <p:cNvSpPr txBox="1">
            <a:spLocks noGrp="1"/>
          </p:cNvSpPr>
          <p:nvPr>
            <p:ph type="title"/>
          </p:nvPr>
        </p:nvSpPr>
        <p:spPr>
          <a:xfrm>
            <a:off x="1477226" y="219456"/>
            <a:ext cx="9666016" cy="101890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00000"/>
              </a:lnSpc>
              <a:spcBef>
                <a:spcPts val="0"/>
              </a:spcBef>
              <a:spcAft>
                <a:spcPts val="0"/>
              </a:spcAft>
              <a:buClr>
                <a:schemeClr val="dk1"/>
              </a:buClr>
              <a:buSzPts val="5400"/>
              <a:buFont typeface="Calibri"/>
              <a:buNone/>
            </a:pPr>
            <a:r>
              <a:rPr lang="es-CO" sz="5400"/>
              <a:t>Actividades para la próxima semana</a:t>
            </a:r>
            <a:endParaRPr/>
          </a:p>
        </p:txBody>
      </p:sp>
      <p:sp>
        <p:nvSpPr>
          <p:cNvPr id="3" name="Marcador de número de diapositiva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39</a:t>
            </a:fld>
            <a:endParaRPr lang="es-CO"/>
          </a:p>
        </p:txBody>
      </p:sp>
      <p:sp>
        <p:nvSpPr>
          <p:cNvPr id="2" name="Marcador de texto 2">
            <a:extLst>
              <a:ext uri="{FF2B5EF4-FFF2-40B4-BE49-F238E27FC236}">
                <a16:creationId xmlns:a16="http://schemas.microsoft.com/office/drawing/2014/main" id="{98B1DD95-F71F-9666-A058-733CAB614B4A}"/>
              </a:ext>
            </a:extLst>
          </p:cNvPr>
          <p:cNvSpPr>
            <a:spLocks noGrp="1"/>
          </p:cNvSpPr>
          <p:nvPr>
            <p:ph type="body" idx="1"/>
          </p:nvPr>
        </p:nvSpPr>
        <p:spPr>
          <a:xfrm>
            <a:off x="1262992" y="1465653"/>
            <a:ext cx="9666016" cy="4663440"/>
          </a:xfrm>
        </p:spPr>
        <p:txBody>
          <a:bodyPr>
            <a:normAutofit/>
          </a:bodyPr>
          <a:lstStyle/>
          <a:p>
            <a:pPr marL="533400" indent="-457200" algn="just">
              <a:buFont typeface="+mj-lt"/>
              <a:buAutoNum type="arabicPeriod"/>
            </a:pPr>
            <a:endParaRPr lang="es-CO" sz="2800" dirty="0"/>
          </a:p>
          <a:p>
            <a:pPr marL="533400" indent="-457200" algn="just">
              <a:buFont typeface="+mj-lt"/>
              <a:buAutoNum type="arabicPeriod"/>
            </a:pPr>
            <a:r>
              <a:rPr lang="es-CO" sz="2800" dirty="0"/>
              <a:t>Rep</a:t>
            </a:r>
            <a:r>
              <a:rPr lang="es-CO" dirty="0"/>
              <a:t>asar las presentaciones y ejercicios vistos hasta la fecha para parcial 1 de la próxima semana.</a:t>
            </a:r>
            <a:endParaRPr lang="es-CO" sz="2800" dirty="0"/>
          </a:p>
          <a:p>
            <a:pPr marL="533400" indent="-457200" algn="just">
              <a:buFont typeface="+mj-lt"/>
              <a:buAutoNum type="arabicPeriod"/>
            </a:pPr>
            <a:endParaRPr lang="es-CO" sz="2800" dirty="0"/>
          </a:p>
          <a:p>
            <a:pPr marL="533400" indent="-457200" algn="just">
              <a:buFont typeface="+mj-lt"/>
              <a:buAutoNum type="arabicPeriod"/>
            </a:pPr>
            <a:r>
              <a:rPr lang="es-CO" dirty="0"/>
              <a:t>Realizar el Quiz Test. Acceder a Interactiva – Evaluaciones – Cuestionarios – Quiz test.</a:t>
            </a:r>
            <a:endParaRPr lang="es-CO" sz="2800" dirty="0"/>
          </a:p>
          <a:p>
            <a:endParaRPr lang="es-CO" dirty="0"/>
          </a:p>
        </p:txBody>
      </p:sp>
    </p:spTree>
    <p:extLst>
      <p:ext uri="{BB962C8B-B14F-4D97-AF65-F5344CB8AC3E}">
        <p14:creationId xmlns:p14="http://schemas.microsoft.com/office/powerpoint/2010/main" val="2490668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6" name="Google Shape;566;p28"/>
          <p:cNvSpPr txBox="1">
            <a:spLocks noGrp="1"/>
          </p:cNvSpPr>
          <p:nvPr>
            <p:ph type="title"/>
          </p:nvPr>
        </p:nvSpPr>
        <p:spPr>
          <a:xfrm>
            <a:off x="1139661" y="1195462"/>
            <a:ext cx="9666016" cy="1018902"/>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5400"/>
              <a:buFont typeface="Calibri"/>
              <a:buNone/>
            </a:pPr>
            <a:r>
              <a:rPr lang="es-CO" sz="5400"/>
              <a:t>Recapitulemos</a:t>
            </a:r>
            <a:endParaRPr/>
          </a:p>
        </p:txBody>
      </p:sp>
      <p:sp>
        <p:nvSpPr>
          <p:cNvPr id="7" name="Marcador de contenido 2">
            <a:extLst>
              <a:ext uri="{FF2B5EF4-FFF2-40B4-BE49-F238E27FC236}">
                <a16:creationId xmlns:a16="http://schemas.microsoft.com/office/drawing/2014/main" id="{532615EC-A064-4345-8A92-0D6C99FB783B}"/>
              </a:ext>
            </a:extLst>
          </p:cNvPr>
          <p:cNvSpPr txBox="1">
            <a:spLocks/>
          </p:cNvSpPr>
          <p:nvPr/>
        </p:nvSpPr>
        <p:spPr>
          <a:xfrm>
            <a:off x="1139661" y="2656819"/>
            <a:ext cx="10341147" cy="3635831"/>
          </a:xfrm>
          <a:prstGeom prst="rect">
            <a:avLst/>
          </a:prstGeom>
        </p:spPr>
        <p:txBody>
          <a:bodyPr lIns="91440" tIns="45720" rIns="91440" bIns="45720" numCol="1" anchor="t"/>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pPr marL="0" indent="0" algn="just">
              <a:spcBef>
                <a:spcPts val="960"/>
              </a:spcBef>
              <a:spcAft>
                <a:spcPts val="0"/>
              </a:spcAft>
              <a:buClr>
                <a:srgbClr val="1186C3"/>
              </a:buClr>
              <a:buSzPts val="1800"/>
              <a:buNone/>
            </a:pPr>
            <a:r>
              <a:rPr lang="es-CO" b="1">
                <a:solidFill>
                  <a:schemeClr val="dk1"/>
                </a:solidFill>
                <a:latin typeface="Calibri"/>
                <a:ea typeface="Calibri"/>
                <a:cs typeface="Calibri"/>
              </a:rPr>
              <a:t>Hasta este punto debemos saber:</a:t>
            </a:r>
          </a:p>
          <a:p>
            <a:pPr algn="just">
              <a:spcBef>
                <a:spcPts val="960"/>
              </a:spcBef>
              <a:spcAft>
                <a:spcPts val="0"/>
              </a:spcAft>
              <a:buClr>
                <a:srgbClr val="1186C3"/>
              </a:buClr>
              <a:buSzPts val="1800"/>
            </a:pPr>
            <a:r>
              <a:rPr lang="es-ES" sz="2200">
                <a:solidFill>
                  <a:schemeClr val="dk1"/>
                </a:solidFill>
                <a:latin typeface="Calibri"/>
                <a:ea typeface="Arial"/>
                <a:cs typeface="Calibri"/>
                <a:sym typeface="Calibri"/>
              </a:rPr>
              <a:t>¿Qué es un problema?</a:t>
            </a:r>
            <a:endParaRPr lang="es-ES" sz="2200">
              <a:solidFill>
                <a:schemeClr val="dk1"/>
              </a:solidFill>
              <a:latin typeface="Calibri"/>
              <a:ea typeface="Arial"/>
              <a:cs typeface="Calibri"/>
            </a:endParaRPr>
          </a:p>
          <a:p>
            <a:pPr algn="just">
              <a:spcBef>
                <a:spcPts val="960"/>
              </a:spcBef>
              <a:spcAft>
                <a:spcPts val="0"/>
              </a:spcAft>
              <a:buClr>
                <a:srgbClr val="1186C3"/>
              </a:buClr>
              <a:buSzPts val="1800"/>
            </a:pPr>
            <a:r>
              <a:rPr lang="es-ES" sz="2200">
                <a:solidFill>
                  <a:schemeClr val="dk1"/>
                </a:solidFill>
                <a:latin typeface="Calibri"/>
                <a:ea typeface="Calibri"/>
                <a:cs typeface="Calibri"/>
              </a:rPr>
              <a:t>¿Cómo se pueden clasificar los problemas?</a:t>
            </a:r>
            <a:endParaRPr lang="es-ES" sz="2200">
              <a:solidFill>
                <a:schemeClr val="dk1"/>
              </a:solidFill>
              <a:latin typeface="Calibri"/>
              <a:ea typeface="Calibri"/>
              <a:cs typeface="Calibri"/>
              <a:sym typeface="Calibri"/>
            </a:endParaRPr>
          </a:p>
          <a:p>
            <a:pPr algn="just">
              <a:spcBef>
                <a:spcPts val="960"/>
              </a:spcBef>
              <a:spcAft>
                <a:spcPts val="0"/>
              </a:spcAft>
              <a:buClr>
                <a:srgbClr val="1186C3"/>
              </a:buClr>
              <a:buSzPts val="1800"/>
            </a:pPr>
            <a:r>
              <a:rPr lang="es-ES" sz="2200">
                <a:solidFill>
                  <a:schemeClr val="dk1"/>
                </a:solidFill>
                <a:latin typeface="Calibri"/>
                <a:ea typeface="Calibri"/>
                <a:cs typeface="Calibri"/>
                <a:sym typeface="Calibri"/>
              </a:rPr>
              <a:t>¿Cuál es la metodología del pensamiento computacional para la resolución de problemas?</a:t>
            </a:r>
            <a:endParaRPr lang="es-ES" sz="2200">
              <a:solidFill>
                <a:schemeClr val="dk1"/>
              </a:solidFill>
              <a:latin typeface="Calibri"/>
              <a:ea typeface="Calibri"/>
              <a:cs typeface="Calibri"/>
            </a:endParaRPr>
          </a:p>
          <a:p>
            <a:pPr algn="just">
              <a:spcBef>
                <a:spcPts val="960"/>
              </a:spcBef>
              <a:spcAft>
                <a:spcPts val="0"/>
              </a:spcAft>
              <a:buClr>
                <a:srgbClr val="1186C3"/>
              </a:buClr>
              <a:buSzPts val="1800"/>
            </a:pPr>
            <a:r>
              <a:rPr lang="es-ES" sz="2200">
                <a:solidFill>
                  <a:schemeClr val="dk1"/>
                </a:solidFill>
                <a:latin typeface="Calibri"/>
                <a:ea typeface="Calibri"/>
                <a:cs typeface="Calibri"/>
                <a:sym typeface="Calibri"/>
              </a:rPr>
              <a:t>¿Qué pilares del PC se utilizan en cada una de las fases de su metodología?</a:t>
            </a:r>
            <a:endParaRPr lang="es-ES" sz="2200">
              <a:solidFill>
                <a:schemeClr val="dk1"/>
              </a:solidFill>
              <a:latin typeface="Calibri"/>
              <a:ea typeface="Calibri"/>
              <a:cs typeface="Calibri"/>
            </a:endParaRPr>
          </a:p>
          <a:p>
            <a:pPr algn="just">
              <a:spcBef>
                <a:spcPts val="960"/>
              </a:spcBef>
              <a:spcAft>
                <a:spcPts val="0"/>
              </a:spcAft>
              <a:buClr>
                <a:srgbClr val="1186C3"/>
              </a:buClr>
              <a:buSzPts val="1800"/>
            </a:pPr>
            <a:endParaRPr lang="es-ES" sz="1600">
              <a:solidFill>
                <a:srgbClr val="000000"/>
              </a:solidFill>
              <a:ea typeface="Arial"/>
              <a:cs typeface="Arial"/>
            </a:endParaRPr>
          </a:p>
          <a:p>
            <a:pPr algn="just">
              <a:spcBef>
                <a:spcPts val="960"/>
              </a:spcBef>
              <a:spcAft>
                <a:spcPts val="0"/>
              </a:spcAft>
              <a:buClr>
                <a:srgbClr val="1186C3"/>
              </a:buClr>
              <a:buSzPts val="1800"/>
            </a:pPr>
            <a:endParaRPr lang="es-CO" sz="1800">
              <a:solidFill>
                <a:schemeClr val="dk1"/>
              </a:solidFill>
              <a:latin typeface="Calibri"/>
              <a:ea typeface="Calibri"/>
              <a:cs typeface="Calibri"/>
            </a:endParaRPr>
          </a:p>
          <a:p>
            <a:pPr algn="just">
              <a:spcBef>
                <a:spcPts val="960"/>
              </a:spcBef>
              <a:spcAft>
                <a:spcPts val="0"/>
              </a:spcAft>
              <a:buClr>
                <a:srgbClr val="1186C3"/>
              </a:buClr>
              <a:buSzPts val="1800"/>
            </a:pPr>
            <a:endParaRPr lang="es-CO" sz="1800">
              <a:solidFill>
                <a:schemeClr val="dk1"/>
              </a:solidFill>
              <a:latin typeface="Calibri"/>
              <a:ea typeface="Calibri"/>
              <a:cs typeface="Calibri"/>
            </a:endParaRPr>
          </a:p>
          <a:p>
            <a:pPr algn="just">
              <a:spcBef>
                <a:spcPts val="960"/>
              </a:spcBef>
              <a:spcAft>
                <a:spcPts val="0"/>
              </a:spcAft>
              <a:buClr>
                <a:srgbClr val="1186C3"/>
              </a:buClr>
              <a:buSzPts val="1800"/>
            </a:pPr>
            <a:endParaRPr lang="es-CO" sz="1800">
              <a:solidFill>
                <a:schemeClr val="dk1"/>
              </a:solidFill>
              <a:latin typeface="Calibri"/>
              <a:ea typeface="Calibri"/>
              <a:cs typeface="Calibri"/>
            </a:endParaRPr>
          </a:p>
          <a:p>
            <a:pPr algn="just">
              <a:buSzPct val="100000"/>
            </a:pPr>
            <a:endParaRPr lang="es-CO"/>
          </a:p>
          <a:p>
            <a:pPr algn="just">
              <a:buSzPct val="100000"/>
            </a:pPr>
            <a:endParaRPr lang="es-CO"/>
          </a:p>
        </p:txBody>
      </p:sp>
      <p:sp>
        <p:nvSpPr>
          <p:cNvPr id="3" name="Marcador de número de diapositiva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CO" smtClean="0"/>
              <a:t>40</a:t>
            </a:fld>
            <a:endParaRPr lang="es-CO"/>
          </a:p>
        </p:txBody>
      </p:sp>
    </p:spTree>
    <p:extLst>
      <p:ext uri="{BB962C8B-B14F-4D97-AF65-F5344CB8AC3E}">
        <p14:creationId xmlns:p14="http://schemas.microsoft.com/office/powerpoint/2010/main" val="2623200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9"/>
          <p:cNvSpPr txBox="1">
            <a:spLocks noGrp="1"/>
          </p:cNvSpPr>
          <p:nvPr>
            <p:ph type="title"/>
          </p:nvPr>
        </p:nvSpPr>
        <p:spPr>
          <a:xfrm>
            <a:off x="1397374" y="274320"/>
            <a:ext cx="9666016" cy="101890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s-CO"/>
              <a:t>Referencias</a:t>
            </a:r>
            <a:endParaRPr/>
          </a:p>
        </p:txBody>
      </p:sp>
      <p:sp>
        <p:nvSpPr>
          <p:cNvPr id="573" name="Google Shape;573;p29"/>
          <p:cNvSpPr txBox="1">
            <a:spLocks noGrp="1"/>
          </p:cNvSpPr>
          <p:nvPr>
            <p:ph type="body" idx="1"/>
          </p:nvPr>
        </p:nvSpPr>
        <p:spPr>
          <a:xfrm>
            <a:off x="717755" y="2057401"/>
            <a:ext cx="11025255" cy="4016828"/>
          </a:xfrm>
          <a:prstGeom prst="rect">
            <a:avLst/>
          </a:prstGeom>
          <a:noFill/>
          <a:ln>
            <a:noFill/>
          </a:ln>
        </p:spPr>
        <p:txBody>
          <a:bodyPr spcFirstLastPara="1" wrap="square" lIns="91425" tIns="45700" rIns="91425" bIns="45700" anchor="t" anchorCtr="0">
            <a:normAutofit/>
          </a:bodyPr>
          <a:lstStyle/>
          <a:p>
            <a:pPr marL="285750" lvl="0" indent="-158750" algn="just" rtl="0">
              <a:lnSpc>
                <a:spcPct val="100000"/>
              </a:lnSpc>
              <a:spcBef>
                <a:spcPts val="0"/>
              </a:spcBef>
              <a:spcAft>
                <a:spcPts val="0"/>
              </a:spcAft>
              <a:buSzPts val="2000"/>
              <a:buNone/>
            </a:pPr>
            <a:endParaRPr sz="2000"/>
          </a:p>
          <a:p>
            <a:pPr marL="285750" lvl="0" indent="-285750" algn="just" rtl="0">
              <a:lnSpc>
                <a:spcPct val="100000"/>
              </a:lnSpc>
              <a:spcBef>
                <a:spcPts val="0"/>
              </a:spcBef>
              <a:spcAft>
                <a:spcPts val="0"/>
              </a:spcAft>
              <a:buSzPts val="2000"/>
              <a:buChar char="•"/>
            </a:pPr>
            <a:r>
              <a:rPr lang="en-US" sz="2000"/>
              <a:t>Jonassen, D. H. (2000). Toward a design theory of problem solving. Educational Technology Research and Development, 48(4), 63-85.​</a:t>
            </a:r>
          </a:p>
          <a:p>
            <a:pPr marL="285750" lvl="0" indent="-285750" algn="just" rtl="0">
              <a:lnSpc>
                <a:spcPct val="100000"/>
              </a:lnSpc>
              <a:spcBef>
                <a:spcPts val="0"/>
              </a:spcBef>
              <a:spcAft>
                <a:spcPts val="0"/>
              </a:spcAft>
              <a:buSzPts val="2000"/>
              <a:buChar char="•"/>
            </a:pPr>
            <a:endParaRPr lang="en-US" sz="2000"/>
          </a:p>
          <a:p>
            <a:pPr marL="285750" lvl="0" indent="-285750" algn="just" rtl="0">
              <a:lnSpc>
                <a:spcPct val="100000"/>
              </a:lnSpc>
              <a:spcBef>
                <a:spcPts val="0"/>
              </a:spcBef>
              <a:spcAft>
                <a:spcPts val="0"/>
              </a:spcAft>
              <a:buSzPts val="2000"/>
              <a:buChar char="•"/>
            </a:pPr>
            <a:r>
              <a:rPr lang="en-US" sz="2000" err="1"/>
              <a:t>Polya</a:t>
            </a:r>
            <a:r>
              <a:rPr lang="en-US" sz="2000"/>
              <a:t>, G. (1945). How to solve it: A new aspect of mathematical method. Princeton University Press.​</a:t>
            </a:r>
          </a:p>
          <a:p>
            <a:pPr marL="285750" lvl="0" indent="-285750" algn="just" rtl="0">
              <a:lnSpc>
                <a:spcPct val="100000"/>
              </a:lnSpc>
              <a:spcBef>
                <a:spcPts val="0"/>
              </a:spcBef>
              <a:spcAft>
                <a:spcPts val="0"/>
              </a:spcAft>
              <a:buSzPts val="2000"/>
              <a:buChar char="•"/>
            </a:pPr>
            <a:endParaRPr lang="en-US" sz="2000"/>
          </a:p>
          <a:p>
            <a:pPr marL="285750" lvl="0" indent="-285750" algn="just" rtl="0">
              <a:lnSpc>
                <a:spcPct val="100000"/>
              </a:lnSpc>
              <a:spcBef>
                <a:spcPts val="0"/>
              </a:spcBef>
              <a:spcAft>
                <a:spcPts val="0"/>
              </a:spcAft>
              <a:buSzPts val="2000"/>
              <a:buChar char="•"/>
            </a:pPr>
            <a:r>
              <a:rPr lang="en-US" sz="2000"/>
              <a:t>Simon, H. A. (1973). The structure of ill-structured problems. Artificial Intelligence, 4(3-4), 181-201.​</a:t>
            </a:r>
          </a:p>
          <a:p>
            <a:pPr marL="285750" lvl="0" indent="-285750" algn="just" rtl="0">
              <a:lnSpc>
                <a:spcPct val="100000"/>
              </a:lnSpc>
              <a:spcBef>
                <a:spcPts val="0"/>
              </a:spcBef>
              <a:spcAft>
                <a:spcPts val="0"/>
              </a:spcAft>
              <a:buSzPts val="2000"/>
              <a:buChar char="•"/>
            </a:pPr>
            <a:endParaRPr lang="en-US" sz="2000"/>
          </a:p>
          <a:p>
            <a:pPr marL="285750" lvl="0" indent="-285750" algn="just" rtl="0">
              <a:lnSpc>
                <a:spcPct val="100000"/>
              </a:lnSpc>
              <a:spcBef>
                <a:spcPts val="0"/>
              </a:spcBef>
              <a:spcAft>
                <a:spcPts val="0"/>
              </a:spcAft>
              <a:buSzPts val="2000"/>
              <a:buChar char="•"/>
            </a:pPr>
            <a:r>
              <a:rPr lang="en-US" sz="2000"/>
              <a:t>Wing, J. M. (2006). Computational thinking. Communications of the ACM, 49(3), 33-35. </a:t>
            </a:r>
            <a:endParaRPr lang="es-CO" sz="2000"/>
          </a:p>
        </p:txBody>
      </p:sp>
      <p:sp>
        <p:nvSpPr>
          <p:cNvPr id="2" name="Marcador de texto 1"/>
          <p:cNvSpPr>
            <a:spLocks noGrp="1"/>
          </p:cNvSpPr>
          <p:nvPr>
            <p:ph type="body" idx="12"/>
          </p:nvPr>
        </p:nvSpPr>
        <p:spPr>
          <a:xfrm>
            <a:off x="1262992" y="1370695"/>
            <a:ext cx="9666016" cy="556981"/>
          </a:xfrm>
        </p:spPr>
        <p:txBody>
          <a:bodyPr/>
          <a:lstStyle/>
          <a:p>
            <a:r>
              <a:rPr lang="es-CO" b="1" i="0"/>
              <a:t>Material elaborado por Paola Vallejo y Guillermo Carmona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673964"/>
      </p:ext>
    </p:extLst>
  </p:cSld>
  <p:clrMapOvr>
    <a:masterClrMapping/>
  </p:clrMapOvr>
</p:sld>
</file>

<file path=ppt/theme/theme1.xml><?xml version="1.0" encoding="utf-8"?>
<a:theme xmlns:a="http://schemas.openxmlformats.org/drawingml/2006/main" name="Modelo centrado en el estudian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ntilla-PC-NFI_Paola_v4" id="{F1849F31-EFC5-457B-B904-2A8A5E240D81}" vid="{6CD487A3-F960-4206-B4E8-B415C60725D8}"/>
    </a:ext>
  </a:ext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86CFA6F79C56643B786AEC915B2EA12" ma:contentTypeVersion="13" ma:contentTypeDescription="Crear nuevo documento." ma:contentTypeScope="" ma:versionID="0b515c460faa7c94c45bbea58de6b910">
  <xsd:schema xmlns:xsd="http://www.w3.org/2001/XMLSchema" xmlns:xs="http://www.w3.org/2001/XMLSchema" xmlns:p="http://schemas.microsoft.com/office/2006/metadata/properties" xmlns:ns3="4abd4d58-7cbe-46fe-9038-cc2fddbd6d34" xmlns:ns4="fffff475-2660-4c6d-ad64-750275f98d63" targetNamespace="http://schemas.microsoft.com/office/2006/metadata/properties" ma:root="true" ma:fieldsID="aa49502c80601db33ba1d0d19aab6c74" ns3:_="" ns4:_="">
    <xsd:import namespace="4abd4d58-7cbe-46fe-9038-cc2fddbd6d34"/>
    <xsd:import namespace="fffff475-2660-4c6d-ad64-750275f98d6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bd4d58-7cbe-46fe-9038-cc2fddbd6d34" elementFormDefault="qualified">
    <xsd:import namespace="http://schemas.microsoft.com/office/2006/documentManagement/types"/>
    <xsd:import namespace="http://schemas.microsoft.com/office/infopath/2007/PartnerControls"/>
    <xsd:element name="SharedWithUsers" ma:index="8" nillable="true" ma:displayName="Compartido con"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description="" ma:internalName="SharedWithDetails" ma:readOnly="true">
      <xsd:simpleType>
        <xsd:restriction base="dms:Note">
          <xsd:maxLength value="255"/>
        </xsd:restriction>
      </xsd:simpleType>
    </xsd:element>
    <xsd:element name="SharingHintHash" ma:index="10" nillable="true" ma:displayName="Hash de la sugerencia para compartir"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fff475-2660-4c6d-ad64-750275f98d63"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CE7F3B-EFD1-46DE-A714-B0CDDAFF9197}">
  <ds:schemaRefs>
    <ds:schemaRef ds:uri="4abd4d58-7cbe-46fe-9038-cc2fddbd6d34"/>
    <ds:schemaRef ds:uri="fffff475-2660-4c6d-ad64-750275f98d6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40A539F-0738-49AB-A994-08A4E25A8C99}">
  <ds:schemaRefs>
    <ds:schemaRef ds:uri="http://purl.org/dc/terms/"/>
    <ds:schemaRef ds:uri="fffff475-2660-4c6d-ad64-750275f98d63"/>
    <ds:schemaRef ds:uri="http://purl.org/dc/elements/1.1/"/>
    <ds:schemaRef ds:uri="http://schemas.microsoft.com/office/2006/documentManagement/types"/>
    <ds:schemaRef ds:uri="http://purl.org/dc/dcmitype/"/>
    <ds:schemaRef ds:uri="4abd4d58-7cbe-46fe-9038-cc2fddbd6d34"/>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8B0AE4EF-6EE5-418F-AD91-1E0ACA2D6119}">
  <ds:schemaRefs>
    <ds:schemaRef ds:uri="http://schemas.microsoft.com/sharepoint/v3/contenttype/forms"/>
  </ds:schemaRefs>
</ds:datastoreItem>
</file>

<file path=docMetadata/LabelInfo.xml><?xml version="1.0" encoding="utf-8"?>
<clbl:labelList xmlns:clbl="http://schemas.microsoft.com/office/2020/mipLabelMetadata">
  <clbl:label id="{99f7b55e-9cbe-467b-8143-919782918afb}" enabled="0" method="" siteId="{99f7b55e-9cbe-467b-8143-919782918afb}" removed="1"/>
</clbl:labelList>
</file>

<file path=docProps/app.xml><?xml version="1.0" encoding="utf-8"?>
<Properties xmlns="http://schemas.openxmlformats.org/officeDocument/2006/extended-properties" xmlns:vt="http://schemas.openxmlformats.org/officeDocument/2006/docPropsVTypes">
  <Template>Plantilla-PC-NFI_Paola_v4</Template>
  <TotalTime>11518</TotalTime>
  <Words>4420</Words>
  <Application>Microsoft Office PowerPoint</Application>
  <PresentationFormat>Widescreen</PresentationFormat>
  <Paragraphs>688</Paragraphs>
  <Slides>42</Slides>
  <Notes>23</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Modelo centrado en el estudiante</vt:lpstr>
      <vt:lpstr>Resolución de problemas</vt:lpstr>
      <vt:lpstr>Agenda</vt:lpstr>
      <vt:lpstr>¿Qué es un problema?</vt:lpstr>
      <vt:lpstr>Clasificación de los problemas</vt:lpstr>
      <vt:lpstr>Métodos de resolución de problemas</vt:lpstr>
      <vt:lpstr>Recordemos la metodología de trabajo con algoritmos y pilares del PC</vt:lpstr>
      <vt:lpstr>Agenda</vt:lpstr>
      <vt:lpstr>Problema Índice de Masa Corporal</vt:lpstr>
      <vt:lpstr>Solución aplicando PC</vt:lpstr>
      <vt:lpstr>Solución aplicando PC</vt:lpstr>
      <vt:lpstr>Solución aplicando PC</vt:lpstr>
      <vt:lpstr>Solución aplicando PC</vt:lpstr>
      <vt:lpstr>Solución aplicando PC</vt:lpstr>
      <vt:lpstr>Solución aplicando PC</vt:lpstr>
      <vt:lpstr>Solución aplicando PC</vt:lpstr>
      <vt:lpstr>Solución aplicando PC</vt:lpstr>
      <vt:lpstr>Solución aplicando PC</vt:lpstr>
      <vt:lpstr>Solución aplicando PC</vt:lpstr>
      <vt:lpstr>Solución aplicando PC</vt:lpstr>
      <vt:lpstr>Agenda</vt:lpstr>
      <vt:lpstr>Problema Nota mínima requerida en el examen final para aprobar la materia</vt:lpstr>
      <vt:lpstr>Problema gestión comedor universitario</vt:lpstr>
      <vt:lpstr>Solución aplicando PC</vt:lpstr>
      <vt:lpstr>Solución aplicando PC</vt:lpstr>
      <vt:lpstr>Solución aplicando PC</vt:lpstr>
      <vt:lpstr>Solución aplicando PC</vt:lpstr>
      <vt:lpstr>Solución aplicando PC</vt:lpstr>
      <vt:lpstr>Solución aplicando PC</vt:lpstr>
      <vt:lpstr>Solución aplicando PC</vt:lpstr>
      <vt:lpstr>Solución aplicando PC</vt:lpstr>
      <vt:lpstr>Solución aplicando PC</vt:lpstr>
      <vt:lpstr>Solución aplicando PC</vt:lpstr>
      <vt:lpstr>Problema sistema monitoreo de reciclaje</vt:lpstr>
      <vt:lpstr>Agenda</vt:lpstr>
      <vt:lpstr>Proyecto</vt:lpstr>
      <vt:lpstr>Plantilla metodología PC para análisis y solución de problemas </vt:lpstr>
      <vt:lpstr>Plantilla metodología PC  para análisis y solución de problemas </vt:lpstr>
      <vt:lpstr>Plantilla metodología PC  para análisis y solución de problemas </vt:lpstr>
      <vt:lpstr>Actividades para la próxima semana</vt:lpstr>
      <vt:lpstr>Recapitulemos</vt:lpstr>
      <vt:lpstr>Referencias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 Variables, Entrada y Salida</dc:title>
  <dc:creator>- Daniel Gara</dc:creator>
  <cp:lastModifiedBy>Guillermo Leon Carmona Gonzalez</cp:lastModifiedBy>
  <cp:revision>8</cp:revision>
  <dcterms:created xsi:type="dcterms:W3CDTF">2019-04-28T13:56:44Z</dcterms:created>
  <dcterms:modified xsi:type="dcterms:W3CDTF">2026-07-28T19:31:36Z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0x010100286CFA6F79C56643B786AEC915B2EA12</vt:lpwstr>
  </property>
</Properties>
</file>