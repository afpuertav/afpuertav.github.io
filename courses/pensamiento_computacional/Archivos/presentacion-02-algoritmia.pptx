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7" r:id="rId4"/>
  </p:sldMasterIdLst>
  <p:notesMasterIdLst>
    <p:notesMasterId r:id="rId42"/>
  </p:notesMasterIdLst>
  <p:handoutMasterIdLst>
    <p:handoutMasterId r:id="rId43"/>
  </p:handoutMasterIdLst>
  <p:sldIdLst>
    <p:sldId id="256" r:id="rId5"/>
    <p:sldId id="257" r:id="rId6"/>
    <p:sldId id="280" r:id="rId7"/>
    <p:sldId id="358" r:id="rId8"/>
    <p:sldId id="365" r:id="rId9"/>
    <p:sldId id="318" r:id="rId10"/>
    <p:sldId id="363" r:id="rId11"/>
    <p:sldId id="320" r:id="rId12"/>
    <p:sldId id="284" r:id="rId13"/>
    <p:sldId id="321" r:id="rId14"/>
    <p:sldId id="322" r:id="rId15"/>
    <p:sldId id="323" r:id="rId16"/>
    <p:sldId id="324" r:id="rId17"/>
    <p:sldId id="325" r:id="rId18"/>
    <p:sldId id="326" r:id="rId19"/>
    <p:sldId id="327" r:id="rId20"/>
    <p:sldId id="362" r:id="rId21"/>
    <p:sldId id="306" r:id="rId22"/>
    <p:sldId id="328" r:id="rId23"/>
    <p:sldId id="329" r:id="rId24"/>
    <p:sldId id="330" r:id="rId25"/>
    <p:sldId id="351" r:id="rId26"/>
    <p:sldId id="345" r:id="rId27"/>
    <p:sldId id="348" r:id="rId28"/>
    <p:sldId id="361" r:id="rId29"/>
    <p:sldId id="352" r:id="rId30"/>
    <p:sldId id="354" r:id="rId31"/>
    <p:sldId id="353" r:id="rId32"/>
    <p:sldId id="356" r:id="rId33"/>
    <p:sldId id="366" r:id="rId34"/>
    <p:sldId id="359" r:id="rId35"/>
    <p:sldId id="364" r:id="rId36"/>
    <p:sldId id="360" r:id="rId37"/>
    <p:sldId id="367" r:id="rId38"/>
    <p:sldId id="368" r:id="rId39"/>
    <p:sldId id="303" r:id="rId40"/>
    <p:sldId id="261" r:id="rId4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2" userDrawn="1">
          <p15:clr>
            <a:srgbClr val="A4A3A4"/>
          </p15:clr>
        </p15:guide>
        <p15:guide id="3" pos="7514" userDrawn="1">
          <p15:clr>
            <a:srgbClr val="A4A3A4"/>
          </p15:clr>
        </p15:guide>
        <p15:guide id="4" orient="horz" pos="23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udia Patricia Giraldo Ramirez" initials="CPGR" lastIdx="2" clrIdx="0">
    <p:extLst>
      <p:ext uri="{19B8F6BF-5375-455C-9EA6-DF929625EA0E}">
        <p15:presenceInfo xmlns:p15="http://schemas.microsoft.com/office/powerpoint/2012/main" userId="S::cgiral38@eafit.edu.co::a8f47b06-90c7-496f-97a9-d4a7bb8f8254" providerId="AD"/>
      </p:ext>
    </p:extLst>
  </p:cmAuthor>
  <p:cmAuthor id="2" name="Paola Andrea Vallejo Correa" initials="PAVC" lastIdx="2" clrIdx="1">
    <p:extLst>
      <p:ext uri="{19B8F6BF-5375-455C-9EA6-DF929625EA0E}">
        <p15:presenceInfo xmlns:p15="http://schemas.microsoft.com/office/powerpoint/2012/main" userId="S-1-5-21-1319918816-2133870172-1244796221-526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8E2F"/>
    <a:srgbClr val="D7D7DD"/>
    <a:srgbClr val="82B71D"/>
    <a:srgbClr val="F3A61E"/>
    <a:srgbClr val="E65D0E"/>
    <a:srgbClr val="DD0D21"/>
    <a:srgbClr val="009BAF"/>
    <a:srgbClr val="02C9B6"/>
    <a:srgbClr val="113649"/>
    <a:srgbClr val="0D3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1ED531-1D4A-4E93-F54E-68046833B608}" v="97" dt="2026-07-21T12:42:59.86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pos="302"/>
        <p:guide pos="7514"/>
        <p:guide orient="horz" pos="2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Leon Carmona Gonzalez" userId="5a5403d1-fbf5-4270-8113-6c6b324c89e8" providerId="ADAL" clId="{41E04E0F-589B-459A-84B8-C2B11B97507D}"/>
    <pc:docChg chg="undo custSel modSld modMainMaster">
      <pc:chgData name="Guillermo Leon Carmona Gonzalez" userId="5a5403d1-fbf5-4270-8113-6c6b324c89e8" providerId="ADAL" clId="{41E04E0F-589B-459A-84B8-C2B11B97507D}" dt="2026-07-17T16:59:00.841" v="338" actId="20577"/>
      <pc:docMkLst>
        <pc:docMk/>
      </pc:docMkLst>
      <pc:sldChg chg="modSp mod">
        <pc:chgData name="Guillermo Leon Carmona Gonzalez" userId="5a5403d1-fbf5-4270-8113-6c6b324c89e8" providerId="ADAL" clId="{41E04E0F-589B-459A-84B8-C2B11B97507D}" dt="2026-07-17T16:59:00.841" v="338" actId="20577"/>
        <pc:sldMkLst>
          <pc:docMk/>
          <pc:sldMk cId="1909131609" sldId="364"/>
        </pc:sldMkLst>
        <pc:spChg chg="mod">
          <ac:chgData name="Guillermo Leon Carmona Gonzalez" userId="5a5403d1-fbf5-4270-8113-6c6b324c89e8" providerId="ADAL" clId="{41E04E0F-589B-459A-84B8-C2B11B97507D}" dt="2026-07-17T16:59:00.841" v="338" actId="20577"/>
          <ac:spMkLst>
            <pc:docMk/>
            <pc:sldMk cId="1909131609" sldId="364"/>
            <ac:spMk id="5" creationId="{CAA69245-85FA-363A-2466-A9959BAA3E45}"/>
          </ac:spMkLst>
        </pc:spChg>
      </pc:sldChg>
    </pc:docChg>
  </pc:docChgLst>
  <pc:docChgLst>
    <pc:chgData name="Guillermo Leon Carmona Gonzalez" userId="S::gcarmona@eafit.edu.co::5a5403d1-fbf5-4270-8113-6c6b324c89e8" providerId="AD" clId="Web-{0C1ED531-1D4A-4E93-F54E-68046833B608}"/>
    <pc:docChg chg="modSld">
      <pc:chgData name="Guillermo Leon Carmona Gonzalez" userId="S::gcarmona@eafit.edu.co::5a5403d1-fbf5-4270-8113-6c6b324c89e8" providerId="AD" clId="Web-{0C1ED531-1D4A-4E93-F54E-68046833B608}" dt="2026-07-21T12:42:59.860" v="98" actId="20577"/>
      <pc:docMkLst>
        <pc:docMk/>
      </pc:docMkLst>
      <pc:sldChg chg="modSp">
        <pc:chgData name="Guillermo Leon Carmona Gonzalez" userId="S::gcarmona@eafit.edu.co::5a5403d1-fbf5-4270-8113-6c6b324c89e8" providerId="AD" clId="Web-{0C1ED531-1D4A-4E93-F54E-68046833B608}" dt="2026-07-21T12:29:41.581" v="15" actId="20577"/>
        <pc:sldMkLst>
          <pc:docMk/>
          <pc:sldMk cId="3845535611" sldId="321"/>
        </pc:sldMkLst>
        <pc:spChg chg="mod">
          <ac:chgData name="Guillermo Leon Carmona Gonzalez" userId="S::gcarmona@eafit.edu.co::5a5403d1-fbf5-4270-8113-6c6b324c89e8" providerId="AD" clId="Web-{0C1ED531-1D4A-4E93-F54E-68046833B608}" dt="2026-07-21T12:29:41.581" v="15" actId="20577"/>
          <ac:spMkLst>
            <pc:docMk/>
            <pc:sldMk cId="3845535611" sldId="321"/>
            <ac:spMk id="3" creationId="{33744A8F-3E37-01D1-68B5-59FD8F8488F1}"/>
          </ac:spMkLst>
        </pc:spChg>
      </pc:sldChg>
      <pc:sldChg chg="modSp">
        <pc:chgData name="Guillermo Leon Carmona Gonzalez" userId="S::gcarmona@eafit.edu.co::5a5403d1-fbf5-4270-8113-6c6b324c89e8" providerId="AD" clId="Web-{0C1ED531-1D4A-4E93-F54E-68046833B608}" dt="2026-07-21T12:42:38.234" v="93" actId="14100"/>
        <pc:sldMkLst>
          <pc:docMk/>
          <pc:sldMk cId="1940285546" sldId="353"/>
        </pc:sldMkLst>
        <pc:spChg chg="mod">
          <ac:chgData name="Guillermo Leon Carmona Gonzalez" userId="S::gcarmona@eafit.edu.co::5a5403d1-fbf5-4270-8113-6c6b324c89e8" providerId="AD" clId="Web-{0C1ED531-1D4A-4E93-F54E-68046833B608}" dt="2026-07-21T12:42:38.234" v="93" actId="14100"/>
          <ac:spMkLst>
            <pc:docMk/>
            <pc:sldMk cId="1940285546" sldId="353"/>
            <ac:spMk id="5" creationId="{B98E6590-952D-B06C-08D8-014CFF29A134}"/>
          </ac:spMkLst>
        </pc:spChg>
      </pc:sldChg>
      <pc:sldChg chg="modSp">
        <pc:chgData name="Guillermo Leon Carmona Gonzalez" userId="S::gcarmona@eafit.edu.co::5a5403d1-fbf5-4270-8113-6c6b324c89e8" providerId="AD" clId="Web-{0C1ED531-1D4A-4E93-F54E-68046833B608}" dt="2026-07-21T12:42:59.860" v="98" actId="20577"/>
        <pc:sldMkLst>
          <pc:docMk/>
          <pc:sldMk cId="3622838866" sldId="356"/>
        </pc:sldMkLst>
        <pc:spChg chg="mod">
          <ac:chgData name="Guillermo Leon Carmona Gonzalez" userId="S::gcarmona@eafit.edu.co::5a5403d1-fbf5-4270-8113-6c6b324c89e8" providerId="AD" clId="Web-{0C1ED531-1D4A-4E93-F54E-68046833B608}" dt="2026-07-21T12:42:59.860" v="98" actId="20577"/>
          <ac:spMkLst>
            <pc:docMk/>
            <pc:sldMk cId="3622838866" sldId="356"/>
            <ac:spMk id="5" creationId="{F07A8A0E-A94D-103C-12E4-40C07B54EAD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BE3F14-CE4D-4C87-9FA3-5FC86A159C65}" type="doc">
      <dgm:prSet loTypeId="urn:microsoft.com/office/officeart/2005/8/layout/hProcess11" loCatId="process" qsTypeId="urn:microsoft.com/office/officeart/2005/8/quickstyle/simple1" qsCatId="simple" csTypeId="urn:microsoft.com/office/officeart/2005/8/colors/colorful5" csCatId="colorful" phldr="1"/>
      <dgm:spPr/>
      <dgm:t>
        <a:bodyPr/>
        <a:lstStyle/>
        <a:p>
          <a:endParaRPr lang="es-CO"/>
        </a:p>
      </dgm:t>
    </dgm:pt>
    <dgm:pt modelId="{0045146A-281E-4616-8B19-3004B0F91369}">
      <dgm:prSet phldrT="[Texto]" custT="1"/>
      <dgm:spPr/>
      <dgm:t>
        <a:bodyPr/>
        <a:lstStyle/>
        <a:p>
          <a:r>
            <a:rPr lang="es-CO" sz="2400"/>
            <a:t>Diseño de la solución</a:t>
          </a:r>
        </a:p>
      </dgm:t>
    </dgm:pt>
    <dgm:pt modelId="{2E8B3736-8097-434E-9A08-A023B8A730EB}" type="parTrans" cxnId="{1E59A9E4-3DE2-412E-A1DF-A547DBD29686}">
      <dgm:prSet/>
      <dgm:spPr/>
      <dgm:t>
        <a:bodyPr/>
        <a:lstStyle/>
        <a:p>
          <a:endParaRPr lang="es-CO"/>
        </a:p>
      </dgm:t>
    </dgm:pt>
    <dgm:pt modelId="{0C94C2C2-154B-4FD8-8A3E-C0E85EF50C0C}" type="sibTrans" cxnId="{1E59A9E4-3DE2-412E-A1DF-A547DBD29686}">
      <dgm:prSet/>
      <dgm:spPr/>
      <dgm:t>
        <a:bodyPr/>
        <a:lstStyle/>
        <a:p>
          <a:endParaRPr lang="es-CO"/>
        </a:p>
      </dgm:t>
    </dgm:pt>
    <dgm:pt modelId="{2D91AE42-4119-493C-AC8A-DF5B8132F879}">
      <dgm:prSet phldrT="[Texto]" custT="1"/>
      <dgm:spPr/>
      <dgm:t>
        <a:bodyPr/>
        <a:lstStyle/>
        <a:p>
          <a:r>
            <a:rPr lang="es-CO" sz="2400"/>
            <a:t>Validación de la solución</a:t>
          </a:r>
        </a:p>
      </dgm:t>
    </dgm:pt>
    <dgm:pt modelId="{C9885B00-19BD-40A9-820A-33E259622806}" type="parTrans" cxnId="{DE119FC0-1EDD-4B5D-B6C1-3D407BCD530C}">
      <dgm:prSet/>
      <dgm:spPr/>
      <dgm:t>
        <a:bodyPr/>
        <a:lstStyle/>
        <a:p>
          <a:endParaRPr lang="es-CO"/>
        </a:p>
      </dgm:t>
    </dgm:pt>
    <dgm:pt modelId="{90FC11CF-B0AF-4A38-A73C-B36AEC34E0F7}" type="sibTrans" cxnId="{DE119FC0-1EDD-4B5D-B6C1-3D407BCD530C}">
      <dgm:prSet/>
      <dgm:spPr/>
      <dgm:t>
        <a:bodyPr/>
        <a:lstStyle/>
        <a:p>
          <a:endParaRPr lang="es-CO"/>
        </a:p>
      </dgm:t>
    </dgm:pt>
    <dgm:pt modelId="{80B6E15E-2F9F-4C7C-B27F-95F11F9E8658}">
      <dgm:prSet phldrT="[Texto]" custT="1"/>
      <dgm:spPr/>
      <dgm:t>
        <a:bodyPr/>
        <a:lstStyle/>
        <a:p>
          <a:r>
            <a:rPr lang="es-CO" sz="2400"/>
            <a:t>Codificación de la solución en un lenguaje de programación</a:t>
          </a:r>
        </a:p>
      </dgm:t>
    </dgm:pt>
    <dgm:pt modelId="{0CD631C1-086C-422C-9061-26E6DF545CD5}" type="parTrans" cxnId="{9229C7EA-9914-46FB-8DB0-6AFF3DCCA024}">
      <dgm:prSet/>
      <dgm:spPr/>
      <dgm:t>
        <a:bodyPr/>
        <a:lstStyle/>
        <a:p>
          <a:endParaRPr lang="es-CO"/>
        </a:p>
      </dgm:t>
    </dgm:pt>
    <dgm:pt modelId="{FD5F4BE0-D7B2-4D0D-A723-BFDE0BC13E57}" type="sibTrans" cxnId="{9229C7EA-9914-46FB-8DB0-6AFF3DCCA024}">
      <dgm:prSet/>
      <dgm:spPr/>
      <dgm:t>
        <a:bodyPr/>
        <a:lstStyle/>
        <a:p>
          <a:endParaRPr lang="es-CO"/>
        </a:p>
      </dgm:t>
    </dgm:pt>
    <dgm:pt modelId="{B14C470F-5780-4C66-B16A-9A0AC95416CB}">
      <dgm:prSet phldrT="[Texto]" custT="1"/>
      <dgm:spPr/>
      <dgm:t>
        <a:bodyPr/>
        <a:lstStyle/>
        <a:p>
          <a:r>
            <a:rPr lang="es-CO" sz="2400"/>
            <a:t>Análisis del problema</a:t>
          </a:r>
        </a:p>
      </dgm:t>
    </dgm:pt>
    <dgm:pt modelId="{F205A98B-9E39-4F7A-802C-2EBF7840372D}" type="sibTrans" cxnId="{9600AAE0-D941-41D4-BB0A-51C0A962328E}">
      <dgm:prSet/>
      <dgm:spPr/>
      <dgm:t>
        <a:bodyPr/>
        <a:lstStyle/>
        <a:p>
          <a:endParaRPr lang="es-CO"/>
        </a:p>
      </dgm:t>
    </dgm:pt>
    <dgm:pt modelId="{265C8A36-3685-4EC6-8321-9B9155D0C0EA}" type="parTrans" cxnId="{9600AAE0-D941-41D4-BB0A-51C0A962328E}">
      <dgm:prSet/>
      <dgm:spPr/>
      <dgm:t>
        <a:bodyPr/>
        <a:lstStyle/>
        <a:p>
          <a:endParaRPr lang="es-CO"/>
        </a:p>
      </dgm:t>
    </dgm:pt>
    <dgm:pt modelId="{5AF1BCD0-F1B2-43EB-8FC5-799468F28EE6}" type="pres">
      <dgm:prSet presAssocID="{B5BE3F14-CE4D-4C87-9FA3-5FC86A159C65}" presName="Name0" presStyleCnt="0">
        <dgm:presLayoutVars>
          <dgm:dir/>
          <dgm:resizeHandles val="exact"/>
        </dgm:presLayoutVars>
      </dgm:prSet>
      <dgm:spPr/>
    </dgm:pt>
    <dgm:pt modelId="{37C716F5-49CA-48B8-B221-1ED4DCE89422}" type="pres">
      <dgm:prSet presAssocID="{B5BE3F14-CE4D-4C87-9FA3-5FC86A159C65}" presName="arrow" presStyleLbl="bgShp" presStyleIdx="0" presStyleCnt="1" custLinFactNeighborY="692"/>
      <dgm:spPr>
        <a:solidFill>
          <a:srgbClr val="02C9B6">
            <a:alpha val="40000"/>
          </a:srgbClr>
        </a:solidFill>
      </dgm:spPr>
    </dgm:pt>
    <dgm:pt modelId="{F94F3607-6D7A-4B67-90FB-65E6842C48CA}" type="pres">
      <dgm:prSet presAssocID="{B5BE3F14-CE4D-4C87-9FA3-5FC86A159C65}" presName="points" presStyleCnt="0"/>
      <dgm:spPr/>
    </dgm:pt>
    <dgm:pt modelId="{0BD19ED8-6D59-4B0B-8917-117F821AC349}" type="pres">
      <dgm:prSet presAssocID="{B14C470F-5780-4C66-B16A-9A0AC95416CB}" presName="compositeA" presStyleCnt="0"/>
      <dgm:spPr/>
    </dgm:pt>
    <dgm:pt modelId="{9FC27B21-DBEB-4C1B-A5A8-208FB4F05C21}" type="pres">
      <dgm:prSet presAssocID="{B14C470F-5780-4C66-B16A-9A0AC95416CB}" presName="textA" presStyleLbl="revTx" presStyleIdx="0" presStyleCnt="4">
        <dgm:presLayoutVars>
          <dgm:bulletEnabled val="1"/>
        </dgm:presLayoutVars>
      </dgm:prSet>
      <dgm:spPr/>
    </dgm:pt>
    <dgm:pt modelId="{4677BCEF-9C37-4769-9E0C-37B3D647FDAA}" type="pres">
      <dgm:prSet presAssocID="{B14C470F-5780-4C66-B16A-9A0AC95416CB}" presName="circleA" presStyleLbl="node1" presStyleIdx="0" presStyleCnt="4" custScaleX="132874" custScaleY="132874"/>
      <dgm:spPr>
        <a:solidFill>
          <a:srgbClr val="0D3240"/>
        </a:solidFill>
      </dgm:spPr>
    </dgm:pt>
    <dgm:pt modelId="{1D57F02F-7256-447C-8369-F8DCB2A64AAD}" type="pres">
      <dgm:prSet presAssocID="{B14C470F-5780-4C66-B16A-9A0AC95416CB}" presName="spaceA" presStyleCnt="0"/>
      <dgm:spPr/>
    </dgm:pt>
    <dgm:pt modelId="{F5768A68-D5CD-4C49-876F-43C3555D7B13}" type="pres">
      <dgm:prSet presAssocID="{F205A98B-9E39-4F7A-802C-2EBF7840372D}" presName="space" presStyleCnt="0"/>
      <dgm:spPr/>
    </dgm:pt>
    <dgm:pt modelId="{F6140ED1-34F3-4174-906A-1AFAA98148F9}" type="pres">
      <dgm:prSet presAssocID="{0045146A-281E-4616-8B19-3004B0F91369}" presName="compositeB" presStyleCnt="0"/>
      <dgm:spPr/>
    </dgm:pt>
    <dgm:pt modelId="{585D23E5-F28B-41B7-B961-F5A48442B88D}" type="pres">
      <dgm:prSet presAssocID="{0045146A-281E-4616-8B19-3004B0F91369}" presName="textB" presStyleLbl="revTx" presStyleIdx="1" presStyleCnt="4">
        <dgm:presLayoutVars>
          <dgm:bulletEnabled val="1"/>
        </dgm:presLayoutVars>
      </dgm:prSet>
      <dgm:spPr/>
    </dgm:pt>
    <dgm:pt modelId="{AE450297-3BE0-4D91-93BC-276B4F805B6B}" type="pres">
      <dgm:prSet presAssocID="{0045146A-281E-4616-8B19-3004B0F91369}" presName="circleB" presStyleLbl="node1" presStyleIdx="1" presStyleCnt="4" custScaleX="132874" custScaleY="132874"/>
      <dgm:spPr>
        <a:solidFill>
          <a:srgbClr val="009BAF"/>
        </a:solidFill>
      </dgm:spPr>
    </dgm:pt>
    <dgm:pt modelId="{3F428A66-B241-42D3-9869-63E83FB59C86}" type="pres">
      <dgm:prSet presAssocID="{0045146A-281E-4616-8B19-3004B0F91369}" presName="spaceB" presStyleCnt="0"/>
      <dgm:spPr/>
    </dgm:pt>
    <dgm:pt modelId="{5B0AA9CF-38A8-4F47-9F30-6A0B3E7E419B}" type="pres">
      <dgm:prSet presAssocID="{0C94C2C2-154B-4FD8-8A3E-C0E85EF50C0C}" presName="space" presStyleCnt="0"/>
      <dgm:spPr/>
    </dgm:pt>
    <dgm:pt modelId="{F88BB2EE-F152-413E-AC4F-473EF02D4BC0}" type="pres">
      <dgm:prSet presAssocID="{2D91AE42-4119-493C-AC8A-DF5B8132F879}" presName="compositeA" presStyleCnt="0"/>
      <dgm:spPr/>
    </dgm:pt>
    <dgm:pt modelId="{46DD6086-669D-4052-BED2-282F6C2E86F5}" type="pres">
      <dgm:prSet presAssocID="{2D91AE42-4119-493C-AC8A-DF5B8132F879}" presName="textA" presStyleLbl="revTx" presStyleIdx="2" presStyleCnt="4">
        <dgm:presLayoutVars>
          <dgm:bulletEnabled val="1"/>
        </dgm:presLayoutVars>
      </dgm:prSet>
      <dgm:spPr/>
    </dgm:pt>
    <dgm:pt modelId="{650CC51E-B897-4F99-96D6-A3E388814366}" type="pres">
      <dgm:prSet presAssocID="{2D91AE42-4119-493C-AC8A-DF5B8132F879}" presName="circleA" presStyleLbl="node1" presStyleIdx="2" presStyleCnt="4" custScaleX="132874" custScaleY="132874"/>
      <dgm:spPr>
        <a:solidFill>
          <a:srgbClr val="FFC000"/>
        </a:solidFill>
      </dgm:spPr>
    </dgm:pt>
    <dgm:pt modelId="{DC37A2B2-E5C8-46E0-8ADE-506FB0CF3476}" type="pres">
      <dgm:prSet presAssocID="{2D91AE42-4119-493C-AC8A-DF5B8132F879}" presName="spaceA" presStyleCnt="0"/>
      <dgm:spPr/>
    </dgm:pt>
    <dgm:pt modelId="{249E108C-84C6-4551-9610-AB450397919B}" type="pres">
      <dgm:prSet presAssocID="{90FC11CF-B0AF-4A38-A73C-B36AEC34E0F7}" presName="space" presStyleCnt="0"/>
      <dgm:spPr/>
    </dgm:pt>
    <dgm:pt modelId="{0F211C25-8EEE-4EF2-9BF3-70EEA2079A18}" type="pres">
      <dgm:prSet presAssocID="{80B6E15E-2F9F-4C7C-B27F-95F11F9E8658}" presName="compositeB" presStyleCnt="0"/>
      <dgm:spPr/>
    </dgm:pt>
    <dgm:pt modelId="{8829B836-67AA-4D15-90DC-2A6A49BECCE4}" type="pres">
      <dgm:prSet presAssocID="{80B6E15E-2F9F-4C7C-B27F-95F11F9E8658}" presName="textB" presStyleLbl="revTx" presStyleIdx="3" presStyleCnt="4" custScaleX="142100">
        <dgm:presLayoutVars>
          <dgm:bulletEnabled val="1"/>
        </dgm:presLayoutVars>
      </dgm:prSet>
      <dgm:spPr/>
    </dgm:pt>
    <dgm:pt modelId="{D4B6E5DC-D144-4E15-B885-C27DC9AB9D2F}" type="pres">
      <dgm:prSet presAssocID="{80B6E15E-2F9F-4C7C-B27F-95F11F9E8658}" presName="circleB" presStyleLbl="node1" presStyleIdx="3" presStyleCnt="4" custScaleX="132874" custScaleY="132874"/>
      <dgm:spPr>
        <a:solidFill>
          <a:schemeClr val="tx2">
            <a:lumMod val="40000"/>
            <a:lumOff val="60000"/>
          </a:schemeClr>
        </a:solidFill>
      </dgm:spPr>
    </dgm:pt>
    <dgm:pt modelId="{253E4291-ADAD-4CDD-93E2-E3FB615D53B2}" type="pres">
      <dgm:prSet presAssocID="{80B6E15E-2F9F-4C7C-B27F-95F11F9E8658}" presName="spaceB" presStyleCnt="0"/>
      <dgm:spPr/>
    </dgm:pt>
  </dgm:ptLst>
  <dgm:cxnLst>
    <dgm:cxn modelId="{C5E5214A-F199-44C6-9C3B-5B9EEBD957C7}" type="presOf" srcId="{0045146A-281E-4616-8B19-3004B0F91369}" destId="{585D23E5-F28B-41B7-B961-F5A48442B88D}" srcOrd="0" destOrd="0" presId="urn:microsoft.com/office/officeart/2005/8/layout/hProcess11"/>
    <dgm:cxn modelId="{1ECE8E56-3290-4376-A19C-D44114F3DC99}" type="presOf" srcId="{80B6E15E-2F9F-4C7C-B27F-95F11F9E8658}" destId="{8829B836-67AA-4D15-90DC-2A6A49BECCE4}" srcOrd="0" destOrd="0" presId="urn:microsoft.com/office/officeart/2005/8/layout/hProcess11"/>
    <dgm:cxn modelId="{A96ACAA6-EB75-4701-B8C6-56733407C32E}" type="presOf" srcId="{2D91AE42-4119-493C-AC8A-DF5B8132F879}" destId="{46DD6086-669D-4052-BED2-282F6C2E86F5}" srcOrd="0" destOrd="0" presId="urn:microsoft.com/office/officeart/2005/8/layout/hProcess11"/>
    <dgm:cxn modelId="{DE119FC0-1EDD-4B5D-B6C1-3D407BCD530C}" srcId="{B5BE3F14-CE4D-4C87-9FA3-5FC86A159C65}" destId="{2D91AE42-4119-493C-AC8A-DF5B8132F879}" srcOrd="2" destOrd="0" parTransId="{C9885B00-19BD-40A9-820A-33E259622806}" sibTransId="{90FC11CF-B0AF-4A38-A73C-B36AEC34E0F7}"/>
    <dgm:cxn modelId="{3EF10FC4-6292-4444-8567-466C47B6538C}" type="presOf" srcId="{B14C470F-5780-4C66-B16A-9A0AC95416CB}" destId="{9FC27B21-DBEB-4C1B-A5A8-208FB4F05C21}" srcOrd="0" destOrd="0" presId="urn:microsoft.com/office/officeart/2005/8/layout/hProcess11"/>
    <dgm:cxn modelId="{9600AAE0-D941-41D4-BB0A-51C0A962328E}" srcId="{B5BE3F14-CE4D-4C87-9FA3-5FC86A159C65}" destId="{B14C470F-5780-4C66-B16A-9A0AC95416CB}" srcOrd="0" destOrd="0" parTransId="{265C8A36-3685-4EC6-8321-9B9155D0C0EA}" sibTransId="{F205A98B-9E39-4F7A-802C-2EBF7840372D}"/>
    <dgm:cxn modelId="{1E59A9E4-3DE2-412E-A1DF-A547DBD29686}" srcId="{B5BE3F14-CE4D-4C87-9FA3-5FC86A159C65}" destId="{0045146A-281E-4616-8B19-3004B0F91369}" srcOrd="1" destOrd="0" parTransId="{2E8B3736-8097-434E-9A08-A023B8A730EB}" sibTransId="{0C94C2C2-154B-4FD8-8A3E-C0E85EF50C0C}"/>
    <dgm:cxn modelId="{9229C7EA-9914-46FB-8DB0-6AFF3DCCA024}" srcId="{B5BE3F14-CE4D-4C87-9FA3-5FC86A159C65}" destId="{80B6E15E-2F9F-4C7C-B27F-95F11F9E8658}" srcOrd="3" destOrd="0" parTransId="{0CD631C1-086C-422C-9061-26E6DF545CD5}" sibTransId="{FD5F4BE0-D7B2-4D0D-A723-BFDE0BC13E57}"/>
    <dgm:cxn modelId="{879778FE-F273-4F24-965F-95C2395034D3}" type="presOf" srcId="{B5BE3F14-CE4D-4C87-9FA3-5FC86A159C65}" destId="{5AF1BCD0-F1B2-43EB-8FC5-799468F28EE6}" srcOrd="0" destOrd="0" presId="urn:microsoft.com/office/officeart/2005/8/layout/hProcess11"/>
    <dgm:cxn modelId="{A9777CA6-325C-4396-ABD2-1EB7B0B6A263}" type="presParOf" srcId="{5AF1BCD0-F1B2-43EB-8FC5-799468F28EE6}" destId="{37C716F5-49CA-48B8-B221-1ED4DCE89422}" srcOrd="0" destOrd="0" presId="urn:microsoft.com/office/officeart/2005/8/layout/hProcess11"/>
    <dgm:cxn modelId="{6D64655F-8E4F-40FA-A2DF-82EE4892C5FB}" type="presParOf" srcId="{5AF1BCD0-F1B2-43EB-8FC5-799468F28EE6}" destId="{F94F3607-6D7A-4B67-90FB-65E6842C48CA}" srcOrd="1" destOrd="0" presId="urn:microsoft.com/office/officeart/2005/8/layout/hProcess11"/>
    <dgm:cxn modelId="{A7E37BE0-190F-4C50-8E8E-86BE175E0ECB}" type="presParOf" srcId="{F94F3607-6D7A-4B67-90FB-65E6842C48CA}" destId="{0BD19ED8-6D59-4B0B-8917-117F821AC349}" srcOrd="0" destOrd="0" presId="urn:microsoft.com/office/officeart/2005/8/layout/hProcess11"/>
    <dgm:cxn modelId="{098DC8FA-057C-443F-9AE3-9EA6BAAE7F28}" type="presParOf" srcId="{0BD19ED8-6D59-4B0B-8917-117F821AC349}" destId="{9FC27B21-DBEB-4C1B-A5A8-208FB4F05C21}" srcOrd="0" destOrd="0" presId="urn:microsoft.com/office/officeart/2005/8/layout/hProcess11"/>
    <dgm:cxn modelId="{76DDF73F-D13A-4FA6-B19F-9F9D2163DF54}" type="presParOf" srcId="{0BD19ED8-6D59-4B0B-8917-117F821AC349}" destId="{4677BCEF-9C37-4769-9E0C-37B3D647FDAA}" srcOrd="1" destOrd="0" presId="urn:microsoft.com/office/officeart/2005/8/layout/hProcess11"/>
    <dgm:cxn modelId="{44E75D17-A4B8-4D54-B2CD-7D7163699580}" type="presParOf" srcId="{0BD19ED8-6D59-4B0B-8917-117F821AC349}" destId="{1D57F02F-7256-447C-8369-F8DCB2A64AAD}" srcOrd="2" destOrd="0" presId="urn:microsoft.com/office/officeart/2005/8/layout/hProcess11"/>
    <dgm:cxn modelId="{FD8DD2A8-4835-4F66-88F3-7DADA5A681A6}" type="presParOf" srcId="{F94F3607-6D7A-4B67-90FB-65E6842C48CA}" destId="{F5768A68-D5CD-4C49-876F-43C3555D7B13}" srcOrd="1" destOrd="0" presId="urn:microsoft.com/office/officeart/2005/8/layout/hProcess11"/>
    <dgm:cxn modelId="{82289B2D-DEFB-4740-99C9-1B89ECD3A973}" type="presParOf" srcId="{F94F3607-6D7A-4B67-90FB-65E6842C48CA}" destId="{F6140ED1-34F3-4174-906A-1AFAA98148F9}" srcOrd="2" destOrd="0" presId="urn:microsoft.com/office/officeart/2005/8/layout/hProcess11"/>
    <dgm:cxn modelId="{0C71FF4B-4B0C-4F6C-988A-003E5E740AFE}" type="presParOf" srcId="{F6140ED1-34F3-4174-906A-1AFAA98148F9}" destId="{585D23E5-F28B-41B7-B961-F5A48442B88D}" srcOrd="0" destOrd="0" presId="urn:microsoft.com/office/officeart/2005/8/layout/hProcess11"/>
    <dgm:cxn modelId="{3408664E-8B8A-427E-BCB3-176B35B0B1B3}" type="presParOf" srcId="{F6140ED1-34F3-4174-906A-1AFAA98148F9}" destId="{AE450297-3BE0-4D91-93BC-276B4F805B6B}" srcOrd="1" destOrd="0" presId="urn:microsoft.com/office/officeart/2005/8/layout/hProcess11"/>
    <dgm:cxn modelId="{235FE35D-0B50-49AB-9F37-D5B21A5BC4E1}" type="presParOf" srcId="{F6140ED1-34F3-4174-906A-1AFAA98148F9}" destId="{3F428A66-B241-42D3-9869-63E83FB59C86}" srcOrd="2" destOrd="0" presId="urn:microsoft.com/office/officeart/2005/8/layout/hProcess11"/>
    <dgm:cxn modelId="{DA8ED1B3-A90C-4E6A-B542-3A5235F93600}" type="presParOf" srcId="{F94F3607-6D7A-4B67-90FB-65E6842C48CA}" destId="{5B0AA9CF-38A8-4F47-9F30-6A0B3E7E419B}" srcOrd="3" destOrd="0" presId="urn:microsoft.com/office/officeart/2005/8/layout/hProcess11"/>
    <dgm:cxn modelId="{E2F2B331-BD02-4FAD-981C-C06A4BFB1FA6}" type="presParOf" srcId="{F94F3607-6D7A-4B67-90FB-65E6842C48CA}" destId="{F88BB2EE-F152-413E-AC4F-473EF02D4BC0}" srcOrd="4" destOrd="0" presId="urn:microsoft.com/office/officeart/2005/8/layout/hProcess11"/>
    <dgm:cxn modelId="{9C7F9C1C-E5A0-4ABC-BE09-D6BD53778E66}" type="presParOf" srcId="{F88BB2EE-F152-413E-AC4F-473EF02D4BC0}" destId="{46DD6086-669D-4052-BED2-282F6C2E86F5}" srcOrd="0" destOrd="0" presId="urn:microsoft.com/office/officeart/2005/8/layout/hProcess11"/>
    <dgm:cxn modelId="{B8E51D7F-E5E6-4233-8236-258E228F8AD6}" type="presParOf" srcId="{F88BB2EE-F152-413E-AC4F-473EF02D4BC0}" destId="{650CC51E-B897-4F99-96D6-A3E388814366}" srcOrd="1" destOrd="0" presId="urn:microsoft.com/office/officeart/2005/8/layout/hProcess11"/>
    <dgm:cxn modelId="{9C14621E-3B37-434C-97DE-E8D95CCF488F}" type="presParOf" srcId="{F88BB2EE-F152-413E-AC4F-473EF02D4BC0}" destId="{DC37A2B2-E5C8-46E0-8ADE-506FB0CF3476}" srcOrd="2" destOrd="0" presId="urn:microsoft.com/office/officeart/2005/8/layout/hProcess11"/>
    <dgm:cxn modelId="{EB63A571-5E5B-4C17-807B-01B9B9334F86}" type="presParOf" srcId="{F94F3607-6D7A-4B67-90FB-65E6842C48CA}" destId="{249E108C-84C6-4551-9610-AB450397919B}" srcOrd="5" destOrd="0" presId="urn:microsoft.com/office/officeart/2005/8/layout/hProcess11"/>
    <dgm:cxn modelId="{9876368E-12D4-4911-B73B-C09A42438511}" type="presParOf" srcId="{F94F3607-6D7A-4B67-90FB-65E6842C48CA}" destId="{0F211C25-8EEE-4EF2-9BF3-70EEA2079A18}" srcOrd="6" destOrd="0" presId="urn:microsoft.com/office/officeart/2005/8/layout/hProcess11"/>
    <dgm:cxn modelId="{E5D8A87D-4BD0-4F6D-A2B3-611B3521C545}" type="presParOf" srcId="{0F211C25-8EEE-4EF2-9BF3-70EEA2079A18}" destId="{8829B836-67AA-4D15-90DC-2A6A49BECCE4}" srcOrd="0" destOrd="0" presId="urn:microsoft.com/office/officeart/2005/8/layout/hProcess11"/>
    <dgm:cxn modelId="{0B978D1F-81B0-4449-A84D-E8EDAC6F11CC}" type="presParOf" srcId="{0F211C25-8EEE-4EF2-9BF3-70EEA2079A18}" destId="{D4B6E5DC-D144-4E15-B885-C27DC9AB9D2F}" srcOrd="1" destOrd="0" presId="urn:microsoft.com/office/officeart/2005/8/layout/hProcess11"/>
    <dgm:cxn modelId="{4B197FB4-EEE9-4685-B0FF-0F92C2ECE92C}" type="presParOf" srcId="{0F211C25-8EEE-4EF2-9BF3-70EEA2079A18}" destId="{253E4291-ADAD-4CDD-93E2-E3FB615D53B2}"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C716F5-49CA-48B8-B221-1ED4DCE89422}">
      <dsp:nvSpPr>
        <dsp:cNvPr id="0" name=""/>
        <dsp:cNvSpPr/>
      </dsp:nvSpPr>
      <dsp:spPr>
        <a:xfrm>
          <a:off x="0" y="1640598"/>
          <a:ext cx="9711011" cy="2167466"/>
        </a:xfrm>
        <a:prstGeom prst="notchedRightArrow">
          <a:avLst/>
        </a:prstGeom>
        <a:solidFill>
          <a:srgbClr val="02C9B6">
            <a:alpha val="40000"/>
          </a:srgbClr>
        </a:solidFill>
        <a:ln>
          <a:noFill/>
        </a:ln>
        <a:effectLst/>
      </dsp:spPr>
      <dsp:style>
        <a:lnRef idx="0">
          <a:scrgbClr r="0" g="0" b="0"/>
        </a:lnRef>
        <a:fillRef idx="1">
          <a:scrgbClr r="0" g="0" b="0"/>
        </a:fillRef>
        <a:effectRef idx="0">
          <a:scrgbClr r="0" g="0" b="0"/>
        </a:effectRef>
        <a:fontRef idx="minor"/>
      </dsp:style>
    </dsp:sp>
    <dsp:sp modelId="{9FC27B21-DBEB-4C1B-A5A8-208FB4F05C21}">
      <dsp:nvSpPr>
        <dsp:cNvPr id="0" name=""/>
        <dsp:cNvSpPr/>
      </dsp:nvSpPr>
      <dsp:spPr>
        <a:xfrm>
          <a:off x="409" y="0"/>
          <a:ext cx="1911855"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es-CO" sz="2400" kern="1200"/>
            <a:t>Análisis del problema</a:t>
          </a:r>
        </a:p>
      </dsp:txBody>
      <dsp:txXfrm>
        <a:off x="409" y="0"/>
        <a:ext cx="1911855" cy="2167466"/>
      </dsp:txXfrm>
    </dsp:sp>
    <dsp:sp modelId="{4677BCEF-9C37-4769-9E0C-37B3D647FDAA}">
      <dsp:nvSpPr>
        <dsp:cNvPr id="0" name=""/>
        <dsp:cNvSpPr/>
      </dsp:nvSpPr>
      <dsp:spPr>
        <a:xfrm>
          <a:off x="596337" y="2349333"/>
          <a:ext cx="719999" cy="719999"/>
        </a:xfrm>
        <a:prstGeom prst="ellipse">
          <a:avLst/>
        </a:prstGeom>
        <a:solidFill>
          <a:srgbClr val="0D324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5D23E5-F28B-41B7-B961-F5A48442B88D}">
      <dsp:nvSpPr>
        <dsp:cNvPr id="0" name=""/>
        <dsp:cNvSpPr/>
      </dsp:nvSpPr>
      <dsp:spPr>
        <a:xfrm>
          <a:off x="2007857" y="3251200"/>
          <a:ext cx="1911855"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es-CO" sz="2400" kern="1200"/>
            <a:t>Diseño de la solución</a:t>
          </a:r>
        </a:p>
      </dsp:txBody>
      <dsp:txXfrm>
        <a:off x="2007857" y="3251200"/>
        <a:ext cx="1911855" cy="2167466"/>
      </dsp:txXfrm>
    </dsp:sp>
    <dsp:sp modelId="{AE450297-3BE0-4D91-93BC-276B4F805B6B}">
      <dsp:nvSpPr>
        <dsp:cNvPr id="0" name=""/>
        <dsp:cNvSpPr/>
      </dsp:nvSpPr>
      <dsp:spPr>
        <a:xfrm>
          <a:off x="2603785" y="2349333"/>
          <a:ext cx="719999" cy="719999"/>
        </a:xfrm>
        <a:prstGeom prst="ellipse">
          <a:avLst/>
        </a:prstGeom>
        <a:solidFill>
          <a:srgbClr val="009BA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DD6086-669D-4052-BED2-282F6C2E86F5}">
      <dsp:nvSpPr>
        <dsp:cNvPr id="0" name=""/>
        <dsp:cNvSpPr/>
      </dsp:nvSpPr>
      <dsp:spPr>
        <a:xfrm>
          <a:off x="4015305" y="0"/>
          <a:ext cx="1911855"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es-CO" sz="2400" kern="1200"/>
            <a:t>Validación de la solución</a:t>
          </a:r>
        </a:p>
      </dsp:txBody>
      <dsp:txXfrm>
        <a:off x="4015305" y="0"/>
        <a:ext cx="1911855" cy="2167466"/>
      </dsp:txXfrm>
    </dsp:sp>
    <dsp:sp modelId="{650CC51E-B897-4F99-96D6-A3E388814366}">
      <dsp:nvSpPr>
        <dsp:cNvPr id="0" name=""/>
        <dsp:cNvSpPr/>
      </dsp:nvSpPr>
      <dsp:spPr>
        <a:xfrm>
          <a:off x="4611233" y="2349333"/>
          <a:ext cx="719999" cy="719999"/>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29B836-67AA-4D15-90DC-2A6A49BECCE4}">
      <dsp:nvSpPr>
        <dsp:cNvPr id="0" name=""/>
        <dsp:cNvSpPr/>
      </dsp:nvSpPr>
      <dsp:spPr>
        <a:xfrm>
          <a:off x="6022753" y="3251200"/>
          <a:ext cx="2716746"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es-CO" sz="2400" kern="1200"/>
            <a:t>Codificación de la solución en un lenguaje de programación</a:t>
          </a:r>
        </a:p>
      </dsp:txBody>
      <dsp:txXfrm>
        <a:off x="6022753" y="3251200"/>
        <a:ext cx="2716746" cy="2167466"/>
      </dsp:txXfrm>
    </dsp:sp>
    <dsp:sp modelId="{D4B6E5DC-D144-4E15-B885-C27DC9AB9D2F}">
      <dsp:nvSpPr>
        <dsp:cNvPr id="0" name=""/>
        <dsp:cNvSpPr/>
      </dsp:nvSpPr>
      <dsp:spPr>
        <a:xfrm>
          <a:off x="7021127" y="2349333"/>
          <a:ext cx="719999" cy="719999"/>
        </a:xfrm>
        <a:prstGeom prst="ellipse">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44BB90-6FCA-4AB8-B5F4-EFC2E4968850}" type="datetimeFigureOut">
              <a:rPr lang="es-CO" smtClean="0"/>
              <a:t>21/07/2026</a:t>
            </a:fld>
            <a:endParaRPr lang="es-CO"/>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954F48-60CD-4877-8A30-835A45F433B0}" type="slidenum">
              <a:rPr lang="es-CO" smtClean="0"/>
              <a:t>‹#›</a:t>
            </a:fld>
            <a:endParaRPr lang="es-CO"/>
          </a:p>
        </p:txBody>
      </p:sp>
    </p:spTree>
    <p:extLst>
      <p:ext uri="{BB962C8B-B14F-4D97-AF65-F5344CB8AC3E}">
        <p14:creationId xmlns:p14="http://schemas.microsoft.com/office/powerpoint/2010/main" val="14064882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00C9EE-3B04-4E7E-82F8-DA2F47AEDA5A}" type="datetimeFigureOut">
              <a:rPr lang="es-ES" smtClean="0"/>
              <a:t>21/07/2026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C96AB9-A512-4389-AC93-04F53859FF04}" type="slidenum">
              <a:rPr lang="es-ES" smtClean="0"/>
              <a:t>‹#›</a:t>
            </a:fld>
            <a:endParaRPr lang="es-ES"/>
          </a:p>
        </p:txBody>
      </p:sp>
    </p:spTree>
    <p:extLst>
      <p:ext uri="{BB962C8B-B14F-4D97-AF65-F5344CB8AC3E}">
        <p14:creationId xmlns:p14="http://schemas.microsoft.com/office/powerpoint/2010/main" val="2006054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2</a:t>
            </a:fld>
            <a:endParaRPr lang="es-ES"/>
          </a:p>
        </p:txBody>
      </p:sp>
    </p:spTree>
    <p:extLst>
      <p:ext uri="{BB962C8B-B14F-4D97-AF65-F5344CB8AC3E}">
        <p14:creationId xmlns:p14="http://schemas.microsoft.com/office/powerpoint/2010/main" val="2287428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b="0" i="0" kern="1200">
                <a:solidFill>
                  <a:schemeClr val="tx1"/>
                </a:solidFill>
                <a:effectLst/>
                <a:latin typeface="+mn-lt"/>
                <a:ea typeface="+mn-ea"/>
                <a:cs typeface="+mn-cs"/>
              </a:rPr>
              <a:t>¿Qué es un algoritmo según el video?</a:t>
            </a:r>
          </a:p>
          <a:p>
            <a:r>
              <a:rPr lang="es-MX" sz="1200" b="0" i="0" kern="1200">
                <a:solidFill>
                  <a:schemeClr val="tx1"/>
                </a:solidFill>
                <a:effectLst/>
                <a:latin typeface="+mn-lt"/>
                <a:ea typeface="+mn-ea"/>
                <a:cs typeface="+mn-cs"/>
              </a:rPr>
              <a:t>¿Cuál fue el ejemplo que más te ayudó a entender qué es un algoritmo?</a:t>
            </a:r>
          </a:p>
          <a:p>
            <a:r>
              <a:rPr lang="es-MX" sz="1200" b="0" i="0" kern="1200">
                <a:solidFill>
                  <a:schemeClr val="tx1"/>
                </a:solidFill>
                <a:effectLst/>
                <a:latin typeface="+mn-lt"/>
                <a:ea typeface="+mn-ea"/>
                <a:cs typeface="+mn-cs"/>
              </a:rPr>
              <a:t>¿Qué características debe tener un buen algoritmo?</a:t>
            </a:r>
          </a:p>
          <a:p>
            <a:r>
              <a:rPr lang="es-MX" sz="1200" b="0" i="0" kern="1200">
                <a:solidFill>
                  <a:schemeClr val="tx1"/>
                </a:solidFill>
                <a:effectLst/>
                <a:latin typeface="+mn-lt"/>
                <a:ea typeface="+mn-ea"/>
                <a:cs typeface="+mn-cs"/>
              </a:rPr>
              <a:t>¿Por qué crees que los algoritmos son importantes en la vida diaria, más allá de la programación?</a:t>
            </a:r>
          </a:p>
          <a:p>
            <a:pPr marL="0" marR="0" lvl="0" indent="0" algn="l" defTabSz="914400" rtl="0" eaLnBrk="1" fontAlgn="auto" latinLnBrk="0" hangingPunct="1">
              <a:lnSpc>
                <a:spcPct val="100000"/>
              </a:lnSpc>
              <a:spcBef>
                <a:spcPts val="0"/>
              </a:spcBef>
              <a:spcAft>
                <a:spcPts val="0"/>
              </a:spcAft>
              <a:buClrTx/>
              <a:buSzTx/>
              <a:buFontTx/>
              <a:buNone/>
              <a:tabLst/>
              <a:defRPr/>
            </a:pPr>
            <a:r>
              <a:rPr lang="es-MX" sz="1200" b="0" i="0" kern="1200">
                <a:solidFill>
                  <a:schemeClr val="tx1"/>
                </a:solidFill>
                <a:effectLst/>
                <a:latin typeface="+mn-lt"/>
                <a:ea typeface="+mn-ea"/>
                <a:cs typeface="+mn-cs"/>
              </a:rPr>
              <a:t>¿Qué pasaría si un paso de un algoritmo no está bien definido?</a:t>
            </a:r>
          </a:p>
        </p:txBody>
      </p:sp>
      <p:sp>
        <p:nvSpPr>
          <p:cNvPr id="4" name="Marcador de número de diapositiva 3"/>
          <p:cNvSpPr>
            <a:spLocks noGrp="1"/>
          </p:cNvSpPr>
          <p:nvPr>
            <p:ph type="sldNum" sz="quarter" idx="5"/>
          </p:nvPr>
        </p:nvSpPr>
        <p:spPr/>
        <p:txBody>
          <a:bodyPr/>
          <a:lstStyle/>
          <a:p>
            <a:fld id="{F3C96AB9-A512-4389-AC93-04F53859FF04}" type="slidenum">
              <a:rPr lang="es-ES" smtClean="0"/>
              <a:t>3</a:t>
            </a:fld>
            <a:endParaRPr lang="es-ES"/>
          </a:p>
        </p:txBody>
      </p:sp>
    </p:spTree>
    <p:extLst>
      <p:ext uri="{BB962C8B-B14F-4D97-AF65-F5344CB8AC3E}">
        <p14:creationId xmlns:p14="http://schemas.microsoft.com/office/powerpoint/2010/main" val="153222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4</a:t>
            </a:fld>
            <a:endParaRPr lang="es-ES"/>
          </a:p>
        </p:txBody>
      </p:sp>
    </p:spTree>
    <p:extLst>
      <p:ext uri="{BB962C8B-B14F-4D97-AF65-F5344CB8AC3E}">
        <p14:creationId xmlns:p14="http://schemas.microsoft.com/office/powerpoint/2010/main" val="1359631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B274D-C046-70F2-D014-5F3DB3D716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F5DC33-E54E-751F-873F-F353866111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25D6E4-BA89-2082-D212-2AC532816DD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D92663B-3256-BDF6-DFD4-31D10EE18AA8}"/>
              </a:ext>
            </a:extLst>
          </p:cNvPr>
          <p:cNvSpPr>
            <a:spLocks noGrp="1"/>
          </p:cNvSpPr>
          <p:nvPr>
            <p:ph type="sldNum" sz="quarter" idx="5"/>
          </p:nvPr>
        </p:nvSpPr>
        <p:spPr/>
        <p:txBody>
          <a:bodyPr/>
          <a:lstStyle/>
          <a:p>
            <a:fld id="{F3C96AB9-A512-4389-AC93-04F53859FF04}" type="slidenum">
              <a:rPr lang="es-ES" smtClean="0"/>
              <a:t>5</a:t>
            </a:fld>
            <a:endParaRPr lang="es-ES"/>
          </a:p>
        </p:txBody>
      </p:sp>
    </p:spTree>
    <p:extLst>
      <p:ext uri="{BB962C8B-B14F-4D97-AF65-F5344CB8AC3E}">
        <p14:creationId xmlns:p14="http://schemas.microsoft.com/office/powerpoint/2010/main" val="2639040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7</a:t>
            </a:fld>
            <a:endParaRPr lang="es-ES"/>
          </a:p>
        </p:txBody>
      </p:sp>
    </p:spTree>
    <p:extLst>
      <p:ext uri="{BB962C8B-B14F-4D97-AF65-F5344CB8AC3E}">
        <p14:creationId xmlns:p14="http://schemas.microsoft.com/office/powerpoint/2010/main" val="2517924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8</a:t>
            </a:fld>
            <a:endParaRPr lang="es-ES"/>
          </a:p>
        </p:txBody>
      </p:sp>
    </p:spTree>
    <p:extLst>
      <p:ext uri="{BB962C8B-B14F-4D97-AF65-F5344CB8AC3E}">
        <p14:creationId xmlns:p14="http://schemas.microsoft.com/office/powerpoint/2010/main" val="3613573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11</a:t>
            </a:fld>
            <a:endParaRPr lang="es-ES"/>
          </a:p>
        </p:txBody>
      </p:sp>
    </p:spTree>
    <p:extLst>
      <p:ext uri="{BB962C8B-B14F-4D97-AF65-F5344CB8AC3E}">
        <p14:creationId xmlns:p14="http://schemas.microsoft.com/office/powerpoint/2010/main" val="2821397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12</a:t>
            </a:fld>
            <a:endParaRPr lang="es-ES"/>
          </a:p>
        </p:txBody>
      </p:sp>
    </p:spTree>
    <p:extLst>
      <p:ext uri="{BB962C8B-B14F-4D97-AF65-F5344CB8AC3E}">
        <p14:creationId xmlns:p14="http://schemas.microsoft.com/office/powerpoint/2010/main" val="1492232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13</a:t>
            </a:fld>
            <a:endParaRPr lang="es-ES"/>
          </a:p>
        </p:txBody>
      </p:sp>
    </p:spTree>
    <p:extLst>
      <p:ext uri="{BB962C8B-B14F-4D97-AF65-F5344CB8AC3E}">
        <p14:creationId xmlns:p14="http://schemas.microsoft.com/office/powerpoint/2010/main" val="164003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15</a:t>
            </a:fld>
            <a:endParaRPr lang="es-ES"/>
          </a:p>
        </p:txBody>
      </p:sp>
    </p:spTree>
    <p:extLst>
      <p:ext uri="{BB962C8B-B14F-4D97-AF65-F5344CB8AC3E}">
        <p14:creationId xmlns:p14="http://schemas.microsoft.com/office/powerpoint/2010/main" val="3115457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18</a:t>
            </a:fld>
            <a:endParaRPr lang="es-ES"/>
          </a:p>
        </p:txBody>
      </p:sp>
    </p:spTree>
    <p:extLst>
      <p:ext uri="{BB962C8B-B14F-4D97-AF65-F5344CB8AC3E}">
        <p14:creationId xmlns:p14="http://schemas.microsoft.com/office/powerpoint/2010/main" val="3871458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F3C96AB9-A512-4389-AC93-04F53859FF04}" type="slidenum">
              <a:rPr lang="es-ES" smtClean="0"/>
              <a:t>20</a:t>
            </a:fld>
            <a:endParaRPr lang="es-ES"/>
          </a:p>
        </p:txBody>
      </p:sp>
    </p:spTree>
    <p:extLst>
      <p:ext uri="{BB962C8B-B14F-4D97-AF65-F5344CB8AC3E}">
        <p14:creationId xmlns:p14="http://schemas.microsoft.com/office/powerpoint/2010/main" val="2816662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F3C96AB9-A512-4389-AC93-04F53859FF04}" type="slidenum">
              <a:rPr lang="es-ES" smtClean="0"/>
              <a:t>21</a:t>
            </a:fld>
            <a:endParaRPr lang="es-ES"/>
          </a:p>
        </p:txBody>
      </p:sp>
    </p:spTree>
    <p:extLst>
      <p:ext uri="{BB962C8B-B14F-4D97-AF65-F5344CB8AC3E}">
        <p14:creationId xmlns:p14="http://schemas.microsoft.com/office/powerpoint/2010/main" val="4116085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F3C96AB9-A512-4389-AC93-04F53859FF04}" type="slidenum">
              <a:rPr lang="es-ES" smtClean="0"/>
              <a:t>22</a:t>
            </a:fld>
            <a:endParaRPr lang="es-ES"/>
          </a:p>
        </p:txBody>
      </p:sp>
    </p:spTree>
    <p:extLst>
      <p:ext uri="{BB962C8B-B14F-4D97-AF65-F5344CB8AC3E}">
        <p14:creationId xmlns:p14="http://schemas.microsoft.com/office/powerpoint/2010/main" val="3894409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F3C96AB9-A512-4389-AC93-04F53859FF04}" type="slidenum">
              <a:rPr lang="es-ES" smtClean="0"/>
              <a:t>23</a:t>
            </a:fld>
            <a:endParaRPr lang="es-ES"/>
          </a:p>
        </p:txBody>
      </p:sp>
    </p:spTree>
    <p:extLst>
      <p:ext uri="{BB962C8B-B14F-4D97-AF65-F5344CB8AC3E}">
        <p14:creationId xmlns:p14="http://schemas.microsoft.com/office/powerpoint/2010/main" val="371508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F3C96AB9-A512-4389-AC93-04F53859FF04}" type="slidenum">
              <a:rPr lang="es-ES" smtClean="0"/>
              <a:t>24</a:t>
            </a:fld>
            <a:endParaRPr lang="es-ES"/>
          </a:p>
        </p:txBody>
      </p:sp>
    </p:spTree>
    <p:extLst>
      <p:ext uri="{BB962C8B-B14F-4D97-AF65-F5344CB8AC3E}">
        <p14:creationId xmlns:p14="http://schemas.microsoft.com/office/powerpoint/2010/main" val="1705801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A1E93-AB8F-AF60-61A6-5694410DBA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E10004-1906-92F0-2D00-0B234089EF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A1CF802-B810-9096-0ABF-8076157190F7}"/>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523997F7-EB17-A2C6-10E7-B817AB50AA03}"/>
              </a:ext>
            </a:extLst>
          </p:cNvPr>
          <p:cNvSpPr>
            <a:spLocks noGrp="1"/>
          </p:cNvSpPr>
          <p:nvPr>
            <p:ph type="sldNum" sz="quarter" idx="5"/>
          </p:nvPr>
        </p:nvSpPr>
        <p:spPr/>
        <p:txBody>
          <a:bodyPr/>
          <a:lstStyle/>
          <a:p>
            <a:fld id="{F3C96AB9-A512-4389-AC93-04F53859FF04}" type="slidenum">
              <a:rPr lang="es-ES" smtClean="0"/>
              <a:t>25</a:t>
            </a:fld>
            <a:endParaRPr lang="es-ES"/>
          </a:p>
        </p:txBody>
      </p:sp>
    </p:spTree>
    <p:extLst>
      <p:ext uri="{BB962C8B-B14F-4D97-AF65-F5344CB8AC3E}">
        <p14:creationId xmlns:p14="http://schemas.microsoft.com/office/powerpoint/2010/main" val="2584177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F3C96AB9-A512-4389-AC93-04F53859FF04}" type="slidenum">
              <a:rPr lang="es-ES" smtClean="0"/>
              <a:t>26</a:t>
            </a:fld>
            <a:endParaRPr lang="es-ES"/>
          </a:p>
        </p:txBody>
      </p:sp>
    </p:spTree>
    <p:extLst>
      <p:ext uri="{BB962C8B-B14F-4D97-AF65-F5344CB8AC3E}">
        <p14:creationId xmlns:p14="http://schemas.microsoft.com/office/powerpoint/2010/main" val="3408286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F3C96AB9-A512-4389-AC93-04F53859FF04}" type="slidenum">
              <a:rPr lang="es-ES" smtClean="0"/>
              <a:t>27</a:t>
            </a:fld>
            <a:endParaRPr lang="es-ES"/>
          </a:p>
        </p:txBody>
      </p:sp>
    </p:spTree>
    <p:extLst>
      <p:ext uri="{BB962C8B-B14F-4D97-AF65-F5344CB8AC3E}">
        <p14:creationId xmlns:p14="http://schemas.microsoft.com/office/powerpoint/2010/main" val="33577101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F3C96AB9-A512-4389-AC93-04F53859FF04}" type="slidenum">
              <a:rPr lang="es-ES" smtClean="0"/>
              <a:t>28</a:t>
            </a:fld>
            <a:endParaRPr lang="es-ES"/>
          </a:p>
        </p:txBody>
      </p:sp>
    </p:spTree>
    <p:extLst>
      <p:ext uri="{BB962C8B-B14F-4D97-AF65-F5344CB8AC3E}">
        <p14:creationId xmlns:p14="http://schemas.microsoft.com/office/powerpoint/2010/main" val="3765647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354F1-E794-5A60-4D5C-96D30AE8A1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F7C191-648F-DFF1-6F8E-A543C32DDE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773858-37FE-85BF-3E31-3E769AF1962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5C73058-64D9-A567-12F7-A1530C787598}"/>
              </a:ext>
            </a:extLst>
          </p:cNvPr>
          <p:cNvSpPr>
            <a:spLocks noGrp="1"/>
          </p:cNvSpPr>
          <p:nvPr>
            <p:ph type="sldNum" sz="quarter" idx="10"/>
          </p:nvPr>
        </p:nvSpPr>
        <p:spPr/>
        <p:txBody>
          <a:bodyPr/>
          <a:lstStyle/>
          <a:p>
            <a:fld id="{F3C96AB9-A512-4389-AC93-04F53859FF04}" type="slidenum">
              <a:rPr lang="es-ES" smtClean="0"/>
              <a:t>29</a:t>
            </a:fld>
            <a:endParaRPr lang="es-ES"/>
          </a:p>
        </p:txBody>
      </p:sp>
    </p:spTree>
    <p:extLst>
      <p:ext uri="{BB962C8B-B14F-4D97-AF65-F5344CB8AC3E}">
        <p14:creationId xmlns:p14="http://schemas.microsoft.com/office/powerpoint/2010/main" val="2839535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308E6-84B0-E413-AE33-A7D15D6B47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DC10BD-0B54-0E61-3661-877189A061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7A46E50-DCAE-53F0-A007-7AE34127392B}"/>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8B94F9F9-84EF-8A55-2EAC-6636D76B3F5B}"/>
              </a:ext>
            </a:extLst>
          </p:cNvPr>
          <p:cNvSpPr>
            <a:spLocks noGrp="1"/>
          </p:cNvSpPr>
          <p:nvPr>
            <p:ph type="sldNum" sz="quarter" idx="10"/>
          </p:nvPr>
        </p:nvSpPr>
        <p:spPr/>
        <p:txBody>
          <a:bodyPr/>
          <a:lstStyle/>
          <a:p>
            <a:fld id="{F3C96AB9-A512-4389-AC93-04F53859FF04}" type="slidenum">
              <a:rPr lang="es-ES" smtClean="0"/>
              <a:t>30</a:t>
            </a:fld>
            <a:endParaRPr lang="es-ES"/>
          </a:p>
        </p:txBody>
      </p:sp>
    </p:spTree>
    <p:extLst>
      <p:ext uri="{BB962C8B-B14F-4D97-AF65-F5344CB8AC3E}">
        <p14:creationId xmlns:p14="http://schemas.microsoft.com/office/powerpoint/2010/main" val="45378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354F1-E794-5A60-4D5C-96D30AE8A1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F7C191-648F-DFF1-6F8E-A543C32DDE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773858-37FE-85BF-3E31-3E769AF1962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5C73058-64D9-A567-12F7-A1530C787598}"/>
              </a:ext>
            </a:extLst>
          </p:cNvPr>
          <p:cNvSpPr>
            <a:spLocks noGrp="1"/>
          </p:cNvSpPr>
          <p:nvPr>
            <p:ph type="sldNum" sz="quarter" idx="10"/>
          </p:nvPr>
        </p:nvSpPr>
        <p:spPr/>
        <p:txBody>
          <a:bodyPr/>
          <a:lstStyle/>
          <a:p>
            <a:fld id="{F3C96AB9-A512-4389-AC93-04F53859FF04}" type="slidenum">
              <a:rPr lang="es-ES" smtClean="0"/>
              <a:t>31</a:t>
            </a:fld>
            <a:endParaRPr lang="es-ES"/>
          </a:p>
        </p:txBody>
      </p:sp>
    </p:spTree>
    <p:extLst>
      <p:ext uri="{BB962C8B-B14F-4D97-AF65-F5344CB8AC3E}">
        <p14:creationId xmlns:p14="http://schemas.microsoft.com/office/powerpoint/2010/main" val="16764026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D1E63-2496-0FD1-46B3-CA01B63A526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DE25E2-5AF9-9BAF-4FFC-1BDBF45CBD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6DB57AB-B25E-C070-84F9-2F25C10E3832}"/>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B6333FC-DD71-C1C3-E3EA-317CF1E28449}"/>
              </a:ext>
            </a:extLst>
          </p:cNvPr>
          <p:cNvSpPr>
            <a:spLocks noGrp="1"/>
          </p:cNvSpPr>
          <p:nvPr>
            <p:ph type="sldNum" sz="quarter" idx="10"/>
          </p:nvPr>
        </p:nvSpPr>
        <p:spPr/>
        <p:txBody>
          <a:bodyPr/>
          <a:lstStyle/>
          <a:p>
            <a:fld id="{F3C96AB9-A512-4389-AC93-04F53859FF04}" type="slidenum">
              <a:rPr lang="es-ES" smtClean="0"/>
              <a:t>32</a:t>
            </a:fld>
            <a:endParaRPr lang="es-ES"/>
          </a:p>
        </p:txBody>
      </p:sp>
    </p:spTree>
    <p:extLst>
      <p:ext uri="{BB962C8B-B14F-4D97-AF65-F5344CB8AC3E}">
        <p14:creationId xmlns:p14="http://schemas.microsoft.com/office/powerpoint/2010/main" val="3332781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354F1-E794-5A60-4D5C-96D30AE8A1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F7C191-648F-DFF1-6F8E-A543C32DDE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773858-37FE-85BF-3E31-3E769AF1962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5C73058-64D9-A567-12F7-A1530C787598}"/>
              </a:ext>
            </a:extLst>
          </p:cNvPr>
          <p:cNvSpPr>
            <a:spLocks noGrp="1"/>
          </p:cNvSpPr>
          <p:nvPr>
            <p:ph type="sldNum" sz="quarter" idx="10"/>
          </p:nvPr>
        </p:nvSpPr>
        <p:spPr/>
        <p:txBody>
          <a:bodyPr/>
          <a:lstStyle/>
          <a:p>
            <a:fld id="{F3C96AB9-A512-4389-AC93-04F53859FF04}" type="slidenum">
              <a:rPr lang="es-ES" smtClean="0"/>
              <a:t>33</a:t>
            </a:fld>
            <a:endParaRPr lang="es-ES"/>
          </a:p>
        </p:txBody>
      </p:sp>
    </p:spTree>
    <p:extLst>
      <p:ext uri="{BB962C8B-B14F-4D97-AF65-F5344CB8AC3E}">
        <p14:creationId xmlns:p14="http://schemas.microsoft.com/office/powerpoint/2010/main" val="24890210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ABA4F-F623-A0B6-647C-11352BA082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47EC78-6E5D-08B9-E14B-F005117720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CD9523-4F27-8FB2-01F8-9D26B54B0EBD}"/>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A69BB08-1743-EB45-E6A2-AF736C8FC87D}"/>
              </a:ext>
            </a:extLst>
          </p:cNvPr>
          <p:cNvSpPr>
            <a:spLocks noGrp="1"/>
          </p:cNvSpPr>
          <p:nvPr>
            <p:ph type="sldNum" sz="quarter" idx="10"/>
          </p:nvPr>
        </p:nvSpPr>
        <p:spPr/>
        <p:txBody>
          <a:bodyPr/>
          <a:lstStyle/>
          <a:p>
            <a:fld id="{F3C96AB9-A512-4389-AC93-04F53859FF04}" type="slidenum">
              <a:rPr lang="es-ES" smtClean="0"/>
              <a:t>34</a:t>
            </a:fld>
            <a:endParaRPr lang="es-ES"/>
          </a:p>
        </p:txBody>
      </p:sp>
    </p:spTree>
    <p:extLst>
      <p:ext uri="{BB962C8B-B14F-4D97-AF65-F5344CB8AC3E}">
        <p14:creationId xmlns:p14="http://schemas.microsoft.com/office/powerpoint/2010/main" val="3179801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452E7-7339-803B-926D-6F575E2CB1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6DA512-527C-4A9A-1E74-BF6E01C2B6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9B5AF69-EA98-DCEA-59E0-342FB7004616}"/>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AD1A2268-50D3-77FD-2171-356C3C1D64E0}"/>
              </a:ext>
            </a:extLst>
          </p:cNvPr>
          <p:cNvSpPr>
            <a:spLocks noGrp="1"/>
          </p:cNvSpPr>
          <p:nvPr>
            <p:ph type="sldNum" sz="quarter" idx="10"/>
          </p:nvPr>
        </p:nvSpPr>
        <p:spPr/>
        <p:txBody>
          <a:bodyPr/>
          <a:lstStyle/>
          <a:p>
            <a:fld id="{F3C96AB9-A512-4389-AC93-04F53859FF04}" type="slidenum">
              <a:rPr lang="es-ES" smtClean="0"/>
              <a:t>35</a:t>
            </a:fld>
            <a:endParaRPr lang="es-ES"/>
          </a:p>
        </p:txBody>
      </p:sp>
    </p:spTree>
    <p:extLst>
      <p:ext uri="{BB962C8B-B14F-4D97-AF65-F5344CB8AC3E}">
        <p14:creationId xmlns:p14="http://schemas.microsoft.com/office/powerpoint/2010/main" val="911947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bg>
      <p:bgPr>
        <a:solidFill>
          <a:srgbClr val="7F7F7F">
            <a:alpha val="20000"/>
          </a:srgbClr>
        </a:solidFill>
        <a:effectLst/>
      </p:bgPr>
    </p:bg>
    <p:spTree>
      <p:nvGrpSpPr>
        <p:cNvPr id="1" name=""/>
        <p:cNvGrpSpPr/>
        <p:nvPr/>
      </p:nvGrpSpPr>
      <p:grpSpPr>
        <a:xfrm>
          <a:off x="0" y="0"/>
          <a:ext cx="0" cy="0"/>
          <a:chOff x="0" y="0"/>
          <a:chExt cx="0" cy="0"/>
        </a:xfrm>
      </p:grpSpPr>
      <p:sp>
        <p:nvSpPr>
          <p:cNvPr id="2" name="Rectángulo 1"/>
          <p:cNvSpPr/>
          <p:nvPr userDrawn="1"/>
        </p:nvSpPr>
        <p:spPr>
          <a:xfrm>
            <a:off x="-1" y="-73970"/>
            <a:ext cx="12191999" cy="6931969"/>
          </a:xfrm>
          <a:prstGeom prst="rect">
            <a:avLst/>
          </a:prstGeom>
          <a:solidFill>
            <a:srgbClr val="0F2D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0" name="Grupo 9">
            <a:extLst>
              <a:ext uri="{FF2B5EF4-FFF2-40B4-BE49-F238E27FC236}">
                <a16:creationId xmlns:a16="http://schemas.microsoft.com/office/drawing/2014/main" id="{A8DE1008-9435-4582-AE18-9973DCBA2FB5}"/>
              </a:ext>
            </a:extLst>
          </p:cNvPr>
          <p:cNvGrpSpPr/>
          <p:nvPr userDrawn="1"/>
        </p:nvGrpSpPr>
        <p:grpSpPr>
          <a:xfrm>
            <a:off x="-5192" y="-50800"/>
            <a:ext cx="12197192" cy="6858000"/>
            <a:chOff x="-5192" y="0"/>
            <a:chExt cx="12197192" cy="6858000"/>
          </a:xfrm>
        </p:grpSpPr>
        <p:pic>
          <p:nvPicPr>
            <p:cNvPr id="11" name="Gráfico 10">
              <a:extLst>
                <a:ext uri="{FF2B5EF4-FFF2-40B4-BE49-F238E27FC236}">
                  <a16:creationId xmlns:a16="http://schemas.microsoft.com/office/drawing/2014/main" id="{3345BC10-B95C-4E5B-8CB5-0D9F33E7E63C}"/>
                </a:ext>
              </a:extLst>
            </p:cNvPr>
            <p:cNvPicPr>
              <a:picLocks noChangeAspect="1"/>
            </p:cNvPicPr>
            <p:nvPr/>
          </p:nvPicPr>
          <p:blipFill>
            <a:blip>
              <a:alphaModFix amt="3000"/>
              <a:extLst>
                <a:ext uri="{96DAC541-7B7A-43D3-8B79-37D633B846F1}">
                  <asvg:svgBlip xmlns:asvg="http://schemas.microsoft.com/office/drawing/2016/SVG/main" r:embed="rId2"/>
                </a:ext>
              </a:extLst>
            </a:blip>
            <a:stretch>
              <a:fillRect/>
            </a:stretch>
          </p:blipFill>
          <p:spPr>
            <a:xfrm rot="10800000">
              <a:off x="4543109" y="0"/>
              <a:ext cx="7648891" cy="6858000"/>
            </a:xfrm>
            <a:prstGeom prst="rect">
              <a:avLst/>
            </a:prstGeom>
          </p:spPr>
        </p:pic>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a:alphaModFix amt="3000"/>
              <a:extLst>
                <a:ext uri="{96DAC541-7B7A-43D3-8B79-37D633B846F1}">
                  <asvg:svgBlip xmlns:asvg="http://schemas.microsoft.com/office/drawing/2016/SVG/main" r:embed="rId2"/>
                </a:ext>
              </a:extLst>
            </a:blip>
            <a:stretch>
              <a:fillRect/>
            </a:stretch>
          </p:blipFill>
          <p:spPr>
            <a:xfrm>
              <a:off x="-5192" y="0"/>
              <a:ext cx="7648891" cy="6858000"/>
            </a:xfrm>
            <a:prstGeom prst="rect">
              <a:avLst/>
            </a:prstGeom>
          </p:spPr>
        </p:pic>
      </p:grpSp>
      <p:sp>
        <p:nvSpPr>
          <p:cNvPr id="13" name="CuadroTexto 12">
            <a:extLst>
              <a:ext uri="{FF2B5EF4-FFF2-40B4-BE49-F238E27FC236}">
                <a16:creationId xmlns:a16="http://schemas.microsoft.com/office/drawing/2014/main" id="{6C8AC4E2-448D-4FEE-91DD-C1DA16461242}"/>
              </a:ext>
            </a:extLst>
          </p:cNvPr>
          <p:cNvSpPr txBox="1"/>
          <p:nvPr userDrawn="1"/>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
        <p:nvSpPr>
          <p:cNvPr id="14" name="CuadroTexto 13">
            <a:extLst>
              <a:ext uri="{FF2B5EF4-FFF2-40B4-BE49-F238E27FC236}">
                <a16:creationId xmlns:a16="http://schemas.microsoft.com/office/drawing/2014/main" id="{D1A6FAEB-0D11-4D7D-9754-629D1A672D97}"/>
              </a:ext>
            </a:extLst>
          </p:cNvPr>
          <p:cNvSpPr txBox="1"/>
          <p:nvPr userDrawn="1"/>
        </p:nvSpPr>
        <p:spPr>
          <a:xfrm>
            <a:off x="3048001" y="3119341"/>
            <a:ext cx="8986942" cy="830997"/>
          </a:xfrm>
          <a:prstGeom prst="rect">
            <a:avLst/>
          </a:prstGeom>
          <a:noFill/>
        </p:spPr>
        <p:txBody>
          <a:bodyPr wrap="square" rtlCol="0">
            <a:spAutoFit/>
          </a:bodyPr>
          <a:lstStyle/>
          <a:p>
            <a:pPr algn="r"/>
            <a:r>
              <a:rPr lang="es-CO" sz="4800" b="1">
                <a:solidFill>
                  <a:schemeClr val="bg1"/>
                </a:solidFill>
                <a:latin typeface="Arial" panose="020B0604020202020204" pitchFamily="34" charset="0"/>
                <a:ea typeface="Roboto" panose="02000000000000000000" pitchFamily="2" charset="0"/>
                <a:cs typeface="Arial" panose="020B0604020202020204" pitchFamily="34" charset="0"/>
              </a:rPr>
              <a:t>Pensamiento Computacional</a:t>
            </a: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20301" y="4055585"/>
            <a:ext cx="6108174" cy="91951"/>
          </a:xfrm>
          <a:prstGeom prst="rect">
            <a:avLst/>
          </a:prstGeom>
        </p:spPr>
      </p:pic>
      <p:pic>
        <p:nvPicPr>
          <p:cNvPr id="21" name="Gráfico 12">
            <a:extLst>
              <a:ext uri="{FF2B5EF4-FFF2-40B4-BE49-F238E27FC236}">
                <a16:creationId xmlns:a16="http://schemas.microsoft.com/office/drawing/2014/main" id="{D44A8620-4433-45C5-A0B4-543E32F58B9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39888" y="6066411"/>
            <a:ext cx="1188588" cy="504887"/>
          </a:xfrm>
          <a:prstGeom prst="rect">
            <a:avLst/>
          </a:prstGeom>
        </p:spPr>
      </p:pic>
      <p:sp>
        <p:nvSpPr>
          <p:cNvPr id="22" name="CuadroTexto 21">
            <a:extLst>
              <a:ext uri="{FF2B5EF4-FFF2-40B4-BE49-F238E27FC236}">
                <a16:creationId xmlns:a16="http://schemas.microsoft.com/office/drawing/2014/main" id="{D1A6FAEB-0D11-4D7D-9754-629D1A672D97}"/>
              </a:ext>
            </a:extLst>
          </p:cNvPr>
          <p:cNvSpPr txBox="1"/>
          <p:nvPr userDrawn="1"/>
        </p:nvSpPr>
        <p:spPr>
          <a:xfrm>
            <a:off x="10739888" y="4459472"/>
            <a:ext cx="1166362" cy="553998"/>
          </a:xfrm>
          <a:prstGeom prst="rect">
            <a:avLst/>
          </a:prstGeom>
          <a:noFill/>
        </p:spPr>
        <p:txBody>
          <a:bodyPr wrap="square" rtlCol="0">
            <a:spAutoFit/>
          </a:bodyPr>
          <a:lstStyle/>
          <a:p>
            <a:pPr algn="r"/>
            <a:r>
              <a:rPr lang="es-CO" sz="3000" b="1">
                <a:solidFill>
                  <a:schemeClr val="bg1"/>
                </a:solidFill>
                <a:latin typeface="Arial" panose="020B0604020202020204" pitchFamily="34" charset="0"/>
                <a:ea typeface="Roboto" panose="02000000000000000000" pitchFamily="2" charset="0"/>
                <a:cs typeface="Arial" panose="020B0604020202020204" pitchFamily="34" charset="0"/>
              </a:rPr>
              <a:t>2026</a:t>
            </a:r>
          </a:p>
        </p:txBody>
      </p:sp>
      <p:sp>
        <p:nvSpPr>
          <p:cNvPr id="23" name="Google Shape;40;p33"/>
          <p:cNvSpPr txBox="1">
            <a:spLocks noGrp="1"/>
          </p:cNvSpPr>
          <p:nvPr>
            <p:ph type="title" hasCustomPrompt="1"/>
          </p:nvPr>
        </p:nvSpPr>
        <p:spPr>
          <a:xfrm>
            <a:off x="4114800" y="1788503"/>
            <a:ext cx="7609160" cy="101890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1"/>
              </a:buClr>
              <a:buSzPts val="4400"/>
              <a:buFont typeface="Calibri"/>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Tree>
    <p:extLst>
      <p:ext uri="{BB962C8B-B14F-4D97-AF65-F5344CB8AC3E}">
        <p14:creationId xmlns:p14="http://schemas.microsoft.com/office/powerpoint/2010/main" val="751904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ortada">
    <p:bg>
      <p:bgPr>
        <a:solidFill>
          <a:srgbClr val="7F7F7F">
            <a:alpha val="20000"/>
          </a:srgb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tretch>
            <a:fillRect/>
          </a:stretch>
        </p:blipFill>
        <p:spPr>
          <a:xfrm>
            <a:off x="-1828592" y="-1689100"/>
            <a:ext cx="7648891" cy="6858000"/>
          </a:xfrm>
          <a:prstGeom prst="rect">
            <a:avLst/>
          </a:prstGeom>
        </p:spPr>
      </p:pic>
      <p:sp>
        <p:nvSpPr>
          <p:cNvPr id="13" name="CuadroTexto 12">
            <a:extLst>
              <a:ext uri="{FF2B5EF4-FFF2-40B4-BE49-F238E27FC236}">
                <a16:creationId xmlns:a16="http://schemas.microsoft.com/office/drawing/2014/main" id="{6C8AC4E2-448D-4FEE-91DD-C1DA16461242}"/>
              </a:ext>
            </a:extLst>
          </p:cNvPr>
          <p:cNvSpPr txBox="1"/>
          <p:nvPr userDrawn="1"/>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Mnecación</a:t>
            </a:r>
            <a:endParaRPr lang="es-CO" sz="900">
              <a:solidFill>
                <a:schemeClr val="bg1"/>
              </a:solidFill>
            </a:endParaRP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820301" y="4055585"/>
            <a:ext cx="6108174" cy="91951"/>
          </a:xfrm>
          <a:prstGeom prst="rect">
            <a:avLst/>
          </a:prstGeom>
        </p:spPr>
      </p:pic>
    </p:spTree>
    <p:extLst>
      <p:ext uri="{BB962C8B-B14F-4D97-AF65-F5344CB8AC3E}">
        <p14:creationId xmlns:p14="http://schemas.microsoft.com/office/powerpoint/2010/main" val="311376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0D3240"/>
        </a:solid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200DF232-9F94-437F-A5B1-F2EE8AD5FEF8}"/>
              </a:ext>
            </a:extLst>
          </p:cNvPr>
          <p:cNvSpPr>
            <a:spLocks noGrp="1"/>
          </p:cNvSpPr>
          <p:nvPr>
            <p:ph type="title" hasCustomPrompt="1"/>
          </p:nvPr>
        </p:nvSpPr>
        <p:spPr>
          <a:xfrm>
            <a:off x="1509948" y="583259"/>
            <a:ext cx="4923509" cy="724989"/>
          </a:xfrm>
        </p:spPr>
        <p:txBody>
          <a:bodyPr/>
          <a:lstStyle>
            <a:lvl1pPr algn="ctr">
              <a:defRPr sz="6000" b="1">
                <a:solidFill>
                  <a:srgbClr val="02C9B6"/>
                </a:solidFill>
              </a:defRPr>
            </a:lvl1pPr>
          </a:lstStyle>
          <a:p>
            <a:r>
              <a:rPr lang="es-ES"/>
              <a:t>AGENDA</a:t>
            </a:r>
            <a:endParaRPr lang="es-CO"/>
          </a:p>
        </p:txBody>
      </p:sp>
      <p:sp>
        <p:nvSpPr>
          <p:cNvPr id="8" name="Google Shape;37;p32">
            <a:extLst>
              <a:ext uri="{FF2B5EF4-FFF2-40B4-BE49-F238E27FC236}">
                <a16:creationId xmlns:a16="http://schemas.microsoft.com/office/drawing/2014/main" id="{7E4911F7-0A38-4B68-AAA1-C1FC3DEB2706}"/>
              </a:ext>
            </a:extLst>
          </p:cNvPr>
          <p:cNvSpPr txBox="1">
            <a:spLocks noGrp="1"/>
          </p:cNvSpPr>
          <p:nvPr>
            <p:ph type="body" idx="1"/>
          </p:nvPr>
        </p:nvSpPr>
        <p:spPr>
          <a:xfrm>
            <a:off x="1509947" y="1624765"/>
            <a:ext cx="10018713" cy="4440917"/>
          </a:xfrm>
          <a:prstGeom prst="rect">
            <a:avLst/>
          </a:prstGeom>
          <a:noFill/>
          <a:ln>
            <a:noFill/>
          </a:ln>
        </p:spPr>
        <p:txBody>
          <a:bodyPr spcFirstLastPara="1" wrap="square" lIns="91425" tIns="45700" rIns="91425" bIns="45700" anchor="t" anchorCtr="0">
            <a:normAutofit/>
          </a:bodyPr>
          <a:lstStyle>
            <a:lvl1pPr marL="521970" lvl="0" indent="-514350" algn="l">
              <a:lnSpc>
                <a:spcPct val="100000"/>
              </a:lnSpc>
              <a:spcBef>
                <a:spcPts val="480"/>
              </a:spcBef>
              <a:spcAft>
                <a:spcPts val="0"/>
              </a:spcAft>
              <a:buClr>
                <a:srgbClr val="02C9B6"/>
              </a:buClr>
              <a:buSzPts val="3480"/>
              <a:buFont typeface="+mj-lt"/>
              <a:buAutoNum type="arabicPeriod"/>
              <a:defRPr sz="3600">
                <a:solidFill>
                  <a:schemeClr val="bg1"/>
                </a:solidFill>
                <a:latin typeface="Calibri"/>
                <a:ea typeface="Calibri"/>
                <a:cs typeface="Calibri"/>
                <a:sym typeface="Calibri"/>
              </a:defRPr>
            </a:lvl1pPr>
            <a:lvl2pPr marL="914400" lvl="1" indent="-412750" algn="l">
              <a:lnSpc>
                <a:spcPct val="100000"/>
              </a:lnSpc>
              <a:spcBef>
                <a:spcPts val="600"/>
              </a:spcBef>
              <a:spcAft>
                <a:spcPts val="0"/>
              </a:spcAft>
              <a:buSzPts val="2900"/>
              <a:buChar char="•"/>
              <a:defRPr>
                <a:latin typeface="Calibri"/>
                <a:ea typeface="Calibri"/>
                <a:cs typeface="Calibri"/>
                <a:sym typeface="Calibri"/>
              </a:defRPr>
            </a:lvl2pPr>
            <a:lvl3pPr marL="1371600" lvl="2" indent="-394335" algn="l">
              <a:lnSpc>
                <a:spcPct val="100000"/>
              </a:lnSpc>
              <a:spcBef>
                <a:spcPts val="600"/>
              </a:spcBef>
              <a:spcAft>
                <a:spcPts val="0"/>
              </a:spcAft>
              <a:buSzPts val="2610"/>
              <a:buChar char="•"/>
              <a:defRPr>
                <a:latin typeface="Calibri"/>
                <a:ea typeface="Calibri"/>
                <a:cs typeface="Calibri"/>
                <a:sym typeface="Calibri"/>
              </a:defRPr>
            </a:lvl3pPr>
            <a:lvl4pPr marL="1828800" lvl="3" indent="-375919" algn="l">
              <a:lnSpc>
                <a:spcPct val="100000"/>
              </a:lnSpc>
              <a:spcBef>
                <a:spcPts val="600"/>
              </a:spcBef>
              <a:spcAft>
                <a:spcPts val="0"/>
              </a:spcAft>
              <a:buSzPts val="2320"/>
              <a:buChar char="•"/>
              <a:defRPr>
                <a:latin typeface="Calibri"/>
                <a:ea typeface="Calibri"/>
                <a:cs typeface="Calibri"/>
                <a:sym typeface="Calibri"/>
              </a:defRPr>
            </a:lvl4pPr>
            <a:lvl5pPr marL="2286000" lvl="4" indent="-357504" algn="l">
              <a:lnSpc>
                <a:spcPct val="100000"/>
              </a:lnSpc>
              <a:spcBef>
                <a:spcPts val="600"/>
              </a:spcBef>
              <a:spcAft>
                <a:spcPts val="0"/>
              </a:spcAft>
              <a:buSzPts val="203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pic>
        <p:nvPicPr>
          <p:cNvPr id="9" name="Gráfico 5">
            <a:extLst>
              <a:ext uri="{FF2B5EF4-FFF2-40B4-BE49-F238E27FC236}">
                <a16:creationId xmlns:a16="http://schemas.microsoft.com/office/drawing/2014/main" id="{77AE4992-419D-4C0D-ADAE-F817396DCB9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87190" y="899777"/>
            <a:ext cx="6108174" cy="91951"/>
          </a:xfrm>
          <a:prstGeom prst="rect">
            <a:avLst/>
          </a:prstGeom>
        </p:spPr>
      </p:pic>
      <p:pic>
        <p:nvPicPr>
          <p:cNvPr id="10" name="Gráfico 11">
            <a:extLst>
              <a:ext uri="{FF2B5EF4-FFF2-40B4-BE49-F238E27FC236}">
                <a16:creationId xmlns:a16="http://schemas.microsoft.com/office/drawing/2014/main" id="{B9CE167F-D9B1-4886-B83E-2CEA293BAA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1" name="CuadroTexto 10">
            <a:extLst>
              <a:ext uri="{FF2B5EF4-FFF2-40B4-BE49-F238E27FC236}">
                <a16:creationId xmlns:a16="http://schemas.microsoft.com/office/drawing/2014/main" id="{6C8AC4E2-448D-4FEE-91DD-C1DA16461242}"/>
              </a:ext>
            </a:extLst>
          </p:cNvPr>
          <p:cNvSpPr txBox="1"/>
          <p:nvPr userDrawn="1"/>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1500022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Portada">
    <p:bg>
      <p:bgPr>
        <a:solidFill>
          <a:srgbClr val="7F7F7F">
            <a:alpha val="20000"/>
          </a:srgb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r:embed="rId2">
            <a:alphaModFix amt="3000"/>
          </a:blip>
          <a:stretch>
            <a:fillRect/>
          </a:stretch>
        </p:blipFill>
        <p:spPr>
          <a:xfrm>
            <a:off x="-1828592" y="-1689100"/>
            <a:ext cx="7648891" cy="6858000"/>
          </a:xfrm>
          <a:prstGeom prst="rect">
            <a:avLst/>
          </a:prstGeom>
        </p:spPr>
      </p:pic>
      <p:sp>
        <p:nvSpPr>
          <p:cNvPr id="13" name="CuadroTexto 12">
            <a:extLst>
              <a:ext uri="{FF2B5EF4-FFF2-40B4-BE49-F238E27FC236}">
                <a16:creationId xmlns:a16="http://schemas.microsoft.com/office/drawing/2014/main" id="{6C8AC4E2-448D-4FEE-91DD-C1DA16461242}"/>
              </a:ext>
            </a:extLst>
          </p:cNvPr>
          <p:cNvSpPr txBox="1"/>
          <p:nvPr userDrawn="1"/>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Mnecación</a:t>
            </a:r>
            <a:endParaRPr lang="es-CO" sz="900">
              <a:solidFill>
                <a:schemeClr val="bg1"/>
              </a:solidFill>
            </a:endParaRP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20301" y="4055585"/>
            <a:ext cx="6108174" cy="91951"/>
          </a:xfrm>
          <a:prstGeom prst="rect">
            <a:avLst/>
          </a:prstGeom>
        </p:spPr>
      </p:pic>
    </p:spTree>
    <p:extLst>
      <p:ext uri="{BB962C8B-B14F-4D97-AF65-F5344CB8AC3E}">
        <p14:creationId xmlns:p14="http://schemas.microsoft.com/office/powerpoint/2010/main" val="1854573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ma 1 de 3">
    <p:bg>
      <p:bgPr>
        <a:solidFill>
          <a:schemeClr val="bg1"/>
        </a:solidFill>
        <a:effectLst/>
      </p:bgPr>
    </p:bg>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2296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Algoritmos</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31125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bg1"/>
                </a:solidFill>
                <a:latin typeface="+mn-lt"/>
                <a:ea typeface="Arial"/>
                <a:cs typeface="Arial"/>
                <a:sym typeface="Arial"/>
              </a:rPr>
              <a:t>Diagrama de flujo</a:t>
            </a:r>
            <a:endParaRPr sz="1800" b="0" i="0" u="none" strike="noStrike" cap="none">
              <a:solidFill>
                <a:schemeClr val="bg1"/>
              </a:solidFill>
              <a:latin typeface="+mn-lt"/>
              <a:ea typeface="Arial"/>
              <a:cs typeface="Arial"/>
              <a:sym typeface="Arial"/>
            </a:endParaRPr>
          </a:p>
        </p:txBody>
      </p:sp>
      <p:sp>
        <p:nvSpPr>
          <p:cNvPr id="27" name="Google Shape;47;p33"/>
          <p:cNvSpPr/>
          <p:nvPr userDrawn="1"/>
        </p:nvSpPr>
        <p:spPr>
          <a:xfrm>
            <a:off x="0" y="39209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Ejercicios</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70809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ma 2 de 3">
    <p:bg>
      <p:bgPr>
        <a:solidFill>
          <a:schemeClr val="bg1"/>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0" name="Google Shape;43;p33"/>
          <p:cNvSpPr/>
          <p:nvPr userDrawn="1"/>
        </p:nvSpPr>
        <p:spPr>
          <a:xfrm>
            <a:off x="0" y="2296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Algoritmos</a:t>
            </a:r>
            <a:endParaRPr sz="1400" b="0" i="0" u="none" strike="noStrike" cap="none">
              <a:solidFill>
                <a:srgbClr val="000000"/>
              </a:solidFill>
              <a:latin typeface="Arial"/>
              <a:ea typeface="Arial"/>
              <a:cs typeface="Arial"/>
              <a:sym typeface="Arial"/>
            </a:endParaRPr>
          </a:p>
        </p:txBody>
      </p:sp>
      <p:sp>
        <p:nvSpPr>
          <p:cNvPr id="21" name="Google Shape;44;p33"/>
          <p:cNvSpPr/>
          <p:nvPr userDrawn="1"/>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45;p33"/>
          <p:cNvSpPr/>
          <p:nvPr userDrawn="1"/>
        </p:nvSpPr>
        <p:spPr>
          <a:xfrm>
            <a:off x="0" y="311254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Python</a:t>
            </a:r>
            <a:endParaRPr sz="1400" b="0" i="0" u="none" strike="noStrike" cap="none">
              <a:solidFill>
                <a:srgbClr val="000000"/>
              </a:solidFill>
              <a:latin typeface="Arial"/>
              <a:ea typeface="Arial"/>
              <a:cs typeface="Arial"/>
              <a:sym typeface="Arial"/>
            </a:endParaRPr>
          </a:p>
        </p:txBody>
      </p:sp>
      <p:sp>
        <p:nvSpPr>
          <p:cNvPr id="23" name="Google Shape;46;p33"/>
          <p:cNvSpPr/>
          <p:nvPr userDrawn="1"/>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47;p33"/>
          <p:cNvSpPr/>
          <p:nvPr userDrawn="1"/>
        </p:nvSpPr>
        <p:spPr>
          <a:xfrm>
            <a:off x="0" y="39209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Herramientas</a:t>
            </a:r>
            <a:endParaRPr sz="1400" b="0" i="0" u="none" strike="noStrike" cap="none">
              <a:solidFill>
                <a:srgbClr val="000000"/>
              </a:solidFill>
              <a:latin typeface="Arial"/>
              <a:ea typeface="Arial"/>
              <a:cs typeface="Arial"/>
              <a:sym typeface="Arial"/>
            </a:endParaRPr>
          </a:p>
        </p:txBody>
      </p:sp>
      <p:sp>
        <p:nvSpPr>
          <p:cNvPr id="25" name="Google Shape;48;p33"/>
          <p:cNvSpPr/>
          <p:nvPr userDrawn="1"/>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pic>
        <p:nvPicPr>
          <p:cNvPr id="14"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210" y="-3322"/>
            <a:ext cx="1590466" cy="6858000"/>
          </a:xfrm>
          <a:prstGeom prst="rect">
            <a:avLst/>
          </a:prstGeom>
        </p:spPr>
      </p:pic>
    </p:spTree>
    <p:extLst>
      <p:ext uri="{BB962C8B-B14F-4D97-AF65-F5344CB8AC3E}">
        <p14:creationId xmlns:p14="http://schemas.microsoft.com/office/powerpoint/2010/main" val="458098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ma 3 de 3">
    <p:bg>
      <p:bgPr>
        <a:solidFill>
          <a:schemeClr val="bg1"/>
        </a:solidFill>
        <a:effectLst/>
      </p:bgPr>
    </p:bg>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0" name="Google Shape;43;p33"/>
          <p:cNvSpPr/>
          <p:nvPr userDrawn="1"/>
        </p:nvSpPr>
        <p:spPr>
          <a:xfrm>
            <a:off x="0" y="2296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Algoritmos</a:t>
            </a:r>
            <a:endParaRPr sz="1400" b="0" i="0" u="none" strike="noStrike" cap="none">
              <a:solidFill>
                <a:srgbClr val="000000"/>
              </a:solidFill>
              <a:latin typeface="Arial"/>
              <a:ea typeface="Arial"/>
              <a:cs typeface="Arial"/>
              <a:sym typeface="Arial"/>
            </a:endParaRPr>
          </a:p>
        </p:txBody>
      </p:sp>
      <p:sp>
        <p:nvSpPr>
          <p:cNvPr id="21" name="Google Shape;44;p33"/>
          <p:cNvSpPr/>
          <p:nvPr userDrawn="1"/>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45;p33"/>
          <p:cNvSpPr/>
          <p:nvPr userDrawn="1"/>
        </p:nvSpPr>
        <p:spPr>
          <a:xfrm>
            <a:off x="0" y="31125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bg1"/>
                </a:solidFill>
                <a:latin typeface="+mn-lt"/>
                <a:ea typeface="Arial"/>
                <a:cs typeface="Arial"/>
                <a:sym typeface="Arial"/>
              </a:rPr>
              <a:t>Python</a:t>
            </a:r>
            <a:endParaRPr sz="1800" b="0" i="0" u="none" strike="noStrike" cap="none">
              <a:solidFill>
                <a:schemeClr val="bg1"/>
              </a:solidFill>
              <a:latin typeface="+mn-lt"/>
              <a:ea typeface="Arial"/>
              <a:cs typeface="Arial"/>
              <a:sym typeface="Arial"/>
            </a:endParaRPr>
          </a:p>
        </p:txBody>
      </p:sp>
      <p:sp>
        <p:nvSpPr>
          <p:cNvPr id="23" name="Google Shape;46;p33"/>
          <p:cNvSpPr/>
          <p:nvPr userDrawn="1"/>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47;p33"/>
          <p:cNvSpPr/>
          <p:nvPr userDrawn="1"/>
        </p:nvSpPr>
        <p:spPr>
          <a:xfrm>
            <a:off x="0" y="3920985"/>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Herramientas</a:t>
            </a:r>
            <a:endParaRPr sz="1400" b="0" i="0" u="none" strike="noStrike" cap="none">
              <a:solidFill>
                <a:srgbClr val="000000"/>
              </a:solidFill>
              <a:latin typeface="Arial"/>
              <a:ea typeface="Arial"/>
              <a:cs typeface="Arial"/>
              <a:sym typeface="Arial"/>
            </a:endParaRPr>
          </a:p>
        </p:txBody>
      </p:sp>
      <p:sp>
        <p:nvSpPr>
          <p:cNvPr id="25" name="Google Shape;48;p33"/>
          <p:cNvSpPr/>
          <p:nvPr userDrawn="1"/>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pic>
        <p:nvPicPr>
          <p:cNvPr id="13"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0" y="266"/>
            <a:ext cx="1590466" cy="6858000"/>
          </a:xfrm>
          <a:prstGeom prst="rect">
            <a:avLst/>
          </a:prstGeom>
        </p:spPr>
      </p:pic>
    </p:spTree>
    <p:extLst>
      <p:ext uri="{BB962C8B-B14F-4D97-AF65-F5344CB8AC3E}">
        <p14:creationId xmlns:p14="http://schemas.microsoft.com/office/powerpoint/2010/main" val="3180263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ma 1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21437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bg1"/>
                </a:solidFill>
                <a:latin typeface="+mn-lt"/>
                <a:ea typeface="Arial"/>
                <a:cs typeface="Arial"/>
                <a:sym typeface="Arial"/>
              </a:rPr>
              <a:t>Algoritmos</a:t>
            </a:r>
            <a:endParaRPr sz="1800" b="0" i="0" u="none" strike="noStrike" cap="none">
              <a:solidFill>
                <a:schemeClr val="bg1"/>
              </a:solidFill>
              <a:latin typeface="+mn-lt"/>
              <a:ea typeface="Arial"/>
              <a:cs typeface="Arial"/>
              <a:sym typeface="Arial"/>
            </a:endParaRPr>
          </a:p>
        </p:txBody>
      </p:sp>
      <p:sp>
        <p:nvSpPr>
          <p:cNvPr id="16" name="Google Shape;45;p33"/>
          <p:cNvSpPr/>
          <p:nvPr userDrawn="1"/>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Diagrama de flujo</a:t>
            </a:r>
            <a:endParaRPr sz="1400" b="0" i="0" u="none" strike="noStrike" cap="none">
              <a:solidFill>
                <a:srgbClr val="000000"/>
              </a:solidFill>
              <a:latin typeface="Arial"/>
              <a:ea typeface="Arial"/>
              <a:cs typeface="Arial"/>
              <a:sym typeface="Arial"/>
            </a:endParaRPr>
          </a:p>
        </p:txBody>
      </p:sp>
      <p:sp>
        <p:nvSpPr>
          <p:cNvPr id="12" name="Google Shape;48;p33"/>
          <p:cNvSpPr/>
          <p:nvPr userDrawn="1"/>
        </p:nvSpPr>
        <p:spPr>
          <a:xfrm>
            <a:off x="-19052" y="441199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userDrawn="1"/>
        </p:nvSpPr>
        <p:spPr>
          <a:xfrm>
            <a:off x="-19052" y="376212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bg1"/>
                </a:solidFill>
                <a:latin typeface="+mn-lt"/>
                <a:ea typeface="Arial"/>
                <a:cs typeface="Arial"/>
                <a:sym typeface="Arial"/>
              </a:rPr>
              <a:t>Ejercicios</a:t>
            </a:r>
            <a:endParaRPr sz="1800" b="0" i="0" u="none" strike="noStrike" cap="none">
              <a:solidFill>
                <a:schemeClr val="bg1"/>
              </a:solidFill>
              <a:latin typeface="+mn-lt"/>
              <a:ea typeface="Arial"/>
              <a:cs typeface="Arial"/>
              <a:sym typeface="Arial"/>
            </a:endParaRPr>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2670" y="-1155"/>
            <a:ext cx="1590466" cy="6858000"/>
          </a:xfrm>
          <a:prstGeom prst="rect">
            <a:avLst/>
          </a:prstGeom>
        </p:spPr>
      </p:pic>
    </p:spTree>
    <p:extLst>
      <p:ext uri="{BB962C8B-B14F-4D97-AF65-F5344CB8AC3E}">
        <p14:creationId xmlns:p14="http://schemas.microsoft.com/office/powerpoint/2010/main" val="153111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ma 2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Algoritmos</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2960140"/>
            <a:ext cx="1567543" cy="649879"/>
          </a:xfrm>
          <a:prstGeom prst="rect">
            <a:avLst/>
          </a:prstGeom>
          <a:solidFill>
            <a:srgbClr val="1136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bg1"/>
                </a:solidFill>
                <a:latin typeface="+mn-lt"/>
                <a:ea typeface="Arial"/>
                <a:cs typeface="Arial"/>
                <a:sym typeface="Arial"/>
              </a:rPr>
              <a:t>Diagrama de flujo</a:t>
            </a:r>
            <a:endParaRPr sz="1800" b="0" i="0" u="none" strike="noStrike" cap="none">
              <a:solidFill>
                <a:schemeClr val="bg1"/>
              </a:solidFill>
              <a:latin typeface="+mn-lt"/>
              <a:ea typeface="Arial"/>
              <a:cs typeface="Arial"/>
              <a:sym typeface="Arial"/>
            </a:endParaRPr>
          </a:p>
        </p:txBody>
      </p:sp>
      <p:sp>
        <p:nvSpPr>
          <p:cNvPr id="27" name="Google Shape;47;p33"/>
          <p:cNvSpPr/>
          <p:nvPr userDrawn="1"/>
        </p:nvSpPr>
        <p:spPr>
          <a:xfrm>
            <a:off x="0" y="37685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Ejercicios</a:t>
            </a:r>
            <a:endParaRPr sz="1400" b="0" i="0" u="none" strike="noStrike" cap="none">
              <a:solidFill>
                <a:srgbClr val="000000"/>
              </a:solidFill>
              <a:latin typeface="Arial"/>
              <a:ea typeface="Arial"/>
              <a:cs typeface="Arial"/>
              <a:sym typeface="Arial"/>
            </a:endParaRPr>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6718" y="10053"/>
            <a:ext cx="1590466" cy="6858000"/>
          </a:xfrm>
          <a:prstGeom prst="rect">
            <a:avLst/>
          </a:prstGeom>
        </p:spPr>
      </p:pic>
    </p:spTree>
    <p:extLst>
      <p:ext uri="{BB962C8B-B14F-4D97-AF65-F5344CB8AC3E}">
        <p14:creationId xmlns:p14="http://schemas.microsoft.com/office/powerpoint/2010/main" val="4283923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ma 3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Algoritmos</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Diagrama</a:t>
            </a:r>
            <a:r>
              <a:rPr lang="es-CO" sz="1800" b="0" i="0" u="none" strike="noStrike" cap="none" baseline="0">
                <a:solidFill>
                  <a:schemeClr val="lt1"/>
                </a:solidFill>
                <a:latin typeface="Calibri"/>
                <a:ea typeface="Calibri"/>
                <a:cs typeface="Calibri"/>
                <a:sym typeface="Calibri"/>
              </a:rPr>
              <a:t> de flujo</a:t>
            </a:r>
            <a:endParaRPr sz="1400" b="0" i="0" u="none" strike="noStrike" cap="none">
              <a:solidFill>
                <a:srgbClr val="000000"/>
              </a:solidFill>
              <a:latin typeface="Arial"/>
              <a:ea typeface="Arial"/>
              <a:cs typeface="Arial"/>
              <a:sym typeface="Arial"/>
            </a:endParaRPr>
          </a:p>
        </p:txBody>
      </p:sp>
      <p:sp>
        <p:nvSpPr>
          <p:cNvPr id="27" name="Google Shape;47;p33"/>
          <p:cNvSpPr/>
          <p:nvPr userDrawn="1"/>
        </p:nvSpPr>
        <p:spPr>
          <a:xfrm>
            <a:off x="0" y="3768585"/>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Ejercicios</a:t>
            </a:r>
            <a:endParaRPr sz="1400" b="0" i="0" u="none" strike="noStrike" cap="none">
              <a:solidFill>
                <a:srgbClr val="000000"/>
              </a:solidFill>
              <a:latin typeface="Arial"/>
              <a:ea typeface="Arial"/>
              <a:cs typeface="Arial"/>
              <a:sym typeface="Arial"/>
            </a:endParaRPr>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6718" y="6207"/>
            <a:ext cx="1590466" cy="6858000"/>
          </a:xfrm>
          <a:prstGeom prst="rect">
            <a:avLst/>
          </a:prstGeom>
        </p:spPr>
      </p:pic>
    </p:spTree>
    <p:extLst>
      <p:ext uri="{BB962C8B-B14F-4D97-AF65-F5344CB8AC3E}">
        <p14:creationId xmlns:p14="http://schemas.microsoft.com/office/powerpoint/2010/main" val="1295809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ma 4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Algoritmos</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Diagrama</a:t>
            </a:r>
            <a:r>
              <a:rPr lang="es-CO" sz="1800" b="0" i="0" u="none" strike="noStrike" cap="none" baseline="0">
                <a:solidFill>
                  <a:schemeClr val="lt1"/>
                </a:solidFill>
                <a:latin typeface="Calibri"/>
                <a:ea typeface="Calibri"/>
                <a:cs typeface="Calibri"/>
                <a:sym typeface="Calibri"/>
              </a:rPr>
              <a:t> de flujo</a:t>
            </a:r>
            <a:endParaRPr sz="1400" b="0" i="0" u="none" strike="noStrike" cap="none">
              <a:solidFill>
                <a:srgbClr val="000000"/>
              </a:solidFill>
              <a:latin typeface="Arial"/>
              <a:ea typeface="Arial"/>
              <a:cs typeface="Arial"/>
              <a:sym typeface="Arial"/>
            </a:endParaRPr>
          </a:p>
        </p:txBody>
      </p:sp>
      <p:sp>
        <p:nvSpPr>
          <p:cNvPr id="27" name="Google Shape;47;p33"/>
          <p:cNvSpPr/>
          <p:nvPr userDrawn="1"/>
        </p:nvSpPr>
        <p:spPr>
          <a:xfrm>
            <a:off x="0" y="37685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Python</a:t>
            </a:r>
            <a:endParaRPr sz="1400" b="0" i="0" u="none" strike="noStrike" cap="none">
              <a:solidFill>
                <a:srgbClr val="000000"/>
              </a:solidFill>
              <a:latin typeface="Arial"/>
              <a:ea typeface="Arial"/>
              <a:cs typeface="Arial"/>
              <a:sym typeface="Arial"/>
            </a:endParaRPr>
          </a:p>
        </p:txBody>
      </p:sp>
      <p:sp>
        <p:nvSpPr>
          <p:cNvPr id="12" name="Google Shape;48;p33"/>
          <p:cNvSpPr/>
          <p:nvPr userDrawn="1"/>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userDrawn="1"/>
        </p:nvSpPr>
        <p:spPr>
          <a:xfrm>
            <a:off x="0" y="457821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Herramientas</a:t>
            </a:r>
            <a:endParaRPr sz="1400" b="0" i="0" u="none" strike="noStrike" cap="none">
              <a:solidFill>
                <a:srgbClr val="000000"/>
              </a:solidFill>
              <a:latin typeface="Arial"/>
              <a:ea typeface="Arial"/>
              <a:cs typeface="Arial"/>
              <a:sym typeface="Arial"/>
            </a:endParaRPr>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210" y="5304"/>
            <a:ext cx="1590466" cy="6858000"/>
          </a:xfrm>
          <a:prstGeom prst="rect">
            <a:avLst/>
          </a:prstGeom>
        </p:spPr>
      </p:pic>
    </p:spTree>
    <p:extLst>
      <p:ext uri="{BB962C8B-B14F-4D97-AF65-F5344CB8AC3E}">
        <p14:creationId xmlns:p14="http://schemas.microsoft.com/office/powerpoint/2010/main" val="1073946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ma 1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1860674"/>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1</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2</a:t>
            </a:r>
            <a:endParaRPr sz="1400" b="0" i="0" u="none" strike="noStrike" cap="none">
              <a:solidFill>
                <a:srgbClr val="000000"/>
              </a:solidFill>
              <a:latin typeface="Arial"/>
              <a:ea typeface="Arial"/>
              <a:cs typeface="Arial"/>
              <a:sym typeface="Arial"/>
            </a:endParaRPr>
          </a:p>
        </p:txBody>
      </p:sp>
      <p:sp>
        <p:nvSpPr>
          <p:cNvPr id="27" name="Google Shape;47;p33"/>
          <p:cNvSpPr/>
          <p:nvPr userDrawn="1"/>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3</a:t>
            </a:r>
            <a:endParaRPr sz="1400" b="0" i="0" u="none" strike="noStrike" cap="none">
              <a:solidFill>
                <a:srgbClr val="000000"/>
              </a:solidFill>
              <a:latin typeface="Arial"/>
              <a:ea typeface="Arial"/>
              <a:cs typeface="Arial"/>
              <a:sym typeface="Arial"/>
            </a:endParaRPr>
          </a:p>
        </p:txBody>
      </p:sp>
      <p:sp>
        <p:nvSpPr>
          <p:cNvPr id="12" name="Google Shape;48;p33"/>
          <p:cNvSpPr/>
          <p:nvPr userDrawn="1"/>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userDrawn="1"/>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4</a:t>
            </a:r>
            <a:endParaRPr sz="1400" b="0" i="0" u="none" strike="noStrike" cap="none">
              <a:solidFill>
                <a:srgbClr val="000000"/>
              </a:solidFill>
              <a:latin typeface="Arial"/>
              <a:ea typeface="Arial"/>
              <a:cs typeface="Arial"/>
              <a:sym typeface="Arial"/>
            </a:endParaRPr>
          </a:p>
        </p:txBody>
      </p:sp>
      <p:sp>
        <p:nvSpPr>
          <p:cNvPr id="14" name="Google Shape;48;p33"/>
          <p:cNvSpPr/>
          <p:nvPr userDrawn="1"/>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userDrawn="1"/>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5</a:t>
            </a:r>
            <a:endParaRPr sz="1400" b="0" i="0" u="none" strike="noStrike" cap="none">
              <a:solidFill>
                <a:srgbClr val="000000"/>
              </a:solidFill>
              <a:latin typeface="Arial"/>
              <a:ea typeface="Arial"/>
              <a:cs typeface="Arial"/>
              <a:sym typeface="Arial"/>
            </a:endParaRPr>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210" y="5304"/>
            <a:ext cx="1590466" cy="6858000"/>
          </a:xfrm>
          <a:prstGeom prst="rect">
            <a:avLst/>
          </a:prstGeom>
        </p:spPr>
      </p:pic>
    </p:spTree>
    <p:extLst>
      <p:ext uri="{BB962C8B-B14F-4D97-AF65-F5344CB8AC3E}">
        <p14:creationId xmlns:p14="http://schemas.microsoft.com/office/powerpoint/2010/main" val="3092867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ma 2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1</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2677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2</a:t>
            </a:r>
            <a:endParaRPr sz="1400" b="0" i="0" u="none" strike="noStrike" cap="none">
              <a:solidFill>
                <a:srgbClr val="000000"/>
              </a:solidFill>
              <a:latin typeface="Arial"/>
              <a:ea typeface="Arial"/>
              <a:cs typeface="Arial"/>
              <a:sym typeface="Arial"/>
            </a:endParaRPr>
          </a:p>
        </p:txBody>
      </p:sp>
      <p:sp>
        <p:nvSpPr>
          <p:cNvPr id="27" name="Google Shape;47;p33"/>
          <p:cNvSpPr/>
          <p:nvPr userDrawn="1"/>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3</a:t>
            </a:r>
            <a:endParaRPr sz="1400" b="0" i="0" u="none" strike="noStrike" cap="none">
              <a:solidFill>
                <a:srgbClr val="000000"/>
              </a:solidFill>
              <a:latin typeface="Arial"/>
              <a:ea typeface="Arial"/>
              <a:cs typeface="Arial"/>
              <a:sym typeface="Arial"/>
            </a:endParaRPr>
          </a:p>
        </p:txBody>
      </p:sp>
      <p:sp>
        <p:nvSpPr>
          <p:cNvPr id="12" name="Google Shape;48;p33"/>
          <p:cNvSpPr/>
          <p:nvPr userDrawn="1"/>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userDrawn="1"/>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4</a:t>
            </a:r>
            <a:endParaRPr sz="1400" b="0" i="0" u="none" strike="noStrike" cap="none">
              <a:solidFill>
                <a:srgbClr val="000000"/>
              </a:solidFill>
              <a:latin typeface="Arial"/>
              <a:ea typeface="Arial"/>
              <a:cs typeface="Arial"/>
              <a:sym typeface="Arial"/>
            </a:endParaRPr>
          </a:p>
        </p:txBody>
      </p:sp>
      <p:sp>
        <p:nvSpPr>
          <p:cNvPr id="14" name="Google Shape;48;p33"/>
          <p:cNvSpPr/>
          <p:nvPr userDrawn="1"/>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userDrawn="1"/>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5</a:t>
            </a:r>
            <a:endParaRPr sz="1400" b="0" i="0" u="none" strike="noStrike" cap="none">
              <a:solidFill>
                <a:srgbClr val="000000"/>
              </a:solidFill>
              <a:latin typeface="Arial"/>
              <a:ea typeface="Arial"/>
              <a:cs typeface="Arial"/>
              <a:sym typeface="Arial"/>
            </a:endParaRPr>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210" y="5304"/>
            <a:ext cx="1590466" cy="6858000"/>
          </a:xfrm>
          <a:prstGeom prst="rect">
            <a:avLst/>
          </a:prstGeom>
        </p:spPr>
      </p:pic>
    </p:spTree>
    <p:extLst>
      <p:ext uri="{BB962C8B-B14F-4D97-AF65-F5344CB8AC3E}">
        <p14:creationId xmlns:p14="http://schemas.microsoft.com/office/powerpoint/2010/main" val="2468202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ma 3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1</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2</a:t>
            </a:r>
            <a:endParaRPr sz="1400" b="0" i="0" u="none" strike="noStrike" cap="none">
              <a:solidFill>
                <a:srgbClr val="000000"/>
              </a:solidFill>
              <a:latin typeface="Arial"/>
              <a:ea typeface="Arial"/>
              <a:cs typeface="Arial"/>
              <a:sym typeface="Arial"/>
            </a:endParaRPr>
          </a:p>
        </p:txBody>
      </p:sp>
      <p:sp>
        <p:nvSpPr>
          <p:cNvPr id="27" name="Google Shape;47;p33"/>
          <p:cNvSpPr/>
          <p:nvPr userDrawn="1"/>
        </p:nvSpPr>
        <p:spPr>
          <a:xfrm>
            <a:off x="0" y="3485552"/>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3</a:t>
            </a:r>
            <a:endParaRPr sz="1400" b="0" i="0" u="none" strike="noStrike" cap="none">
              <a:solidFill>
                <a:srgbClr val="000000"/>
              </a:solidFill>
              <a:latin typeface="Arial"/>
              <a:ea typeface="Arial"/>
              <a:cs typeface="Arial"/>
              <a:sym typeface="Arial"/>
            </a:endParaRPr>
          </a:p>
        </p:txBody>
      </p:sp>
      <p:sp>
        <p:nvSpPr>
          <p:cNvPr id="12" name="Google Shape;48;p33"/>
          <p:cNvSpPr/>
          <p:nvPr userDrawn="1"/>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userDrawn="1"/>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4</a:t>
            </a:r>
            <a:endParaRPr sz="1400" b="0" i="0" u="none" strike="noStrike" cap="none">
              <a:solidFill>
                <a:srgbClr val="000000"/>
              </a:solidFill>
              <a:latin typeface="Arial"/>
              <a:ea typeface="Arial"/>
              <a:cs typeface="Arial"/>
              <a:sym typeface="Arial"/>
            </a:endParaRPr>
          </a:p>
        </p:txBody>
      </p:sp>
      <p:sp>
        <p:nvSpPr>
          <p:cNvPr id="14" name="Google Shape;48;p33"/>
          <p:cNvSpPr/>
          <p:nvPr userDrawn="1"/>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userDrawn="1"/>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5</a:t>
            </a:r>
            <a:endParaRPr sz="1400" b="0" i="0" u="none" strike="noStrike" cap="none">
              <a:solidFill>
                <a:srgbClr val="000000"/>
              </a:solidFill>
              <a:latin typeface="Arial"/>
              <a:ea typeface="Arial"/>
              <a:cs typeface="Arial"/>
              <a:sym typeface="Arial"/>
            </a:endParaRPr>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210" y="5304"/>
            <a:ext cx="1590466" cy="6858000"/>
          </a:xfrm>
          <a:prstGeom prst="rect">
            <a:avLst/>
          </a:prstGeom>
        </p:spPr>
      </p:pic>
    </p:spTree>
    <p:extLst>
      <p:ext uri="{BB962C8B-B14F-4D97-AF65-F5344CB8AC3E}">
        <p14:creationId xmlns:p14="http://schemas.microsoft.com/office/powerpoint/2010/main" val="1254292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ma 4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1</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2</a:t>
            </a:r>
            <a:endParaRPr sz="1400" b="0" i="0" u="none" strike="noStrike" cap="none">
              <a:solidFill>
                <a:srgbClr val="000000"/>
              </a:solidFill>
              <a:latin typeface="Arial"/>
              <a:ea typeface="Arial"/>
              <a:cs typeface="Arial"/>
              <a:sym typeface="Arial"/>
            </a:endParaRPr>
          </a:p>
        </p:txBody>
      </p:sp>
      <p:sp>
        <p:nvSpPr>
          <p:cNvPr id="27" name="Google Shape;47;p33"/>
          <p:cNvSpPr/>
          <p:nvPr userDrawn="1"/>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3</a:t>
            </a:r>
            <a:endParaRPr sz="1400" b="0" i="0" u="none" strike="noStrike" cap="none">
              <a:solidFill>
                <a:srgbClr val="000000"/>
              </a:solidFill>
              <a:latin typeface="Arial"/>
              <a:ea typeface="Arial"/>
              <a:cs typeface="Arial"/>
              <a:sym typeface="Arial"/>
            </a:endParaRPr>
          </a:p>
        </p:txBody>
      </p:sp>
      <p:sp>
        <p:nvSpPr>
          <p:cNvPr id="12" name="Google Shape;48;p33"/>
          <p:cNvSpPr/>
          <p:nvPr userDrawn="1"/>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userDrawn="1"/>
        </p:nvSpPr>
        <p:spPr>
          <a:xfrm>
            <a:off x="0" y="429517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4</a:t>
            </a:r>
            <a:endParaRPr sz="1400" b="0" i="0" u="none" strike="noStrike" cap="none">
              <a:solidFill>
                <a:srgbClr val="000000"/>
              </a:solidFill>
              <a:latin typeface="Arial"/>
              <a:ea typeface="Arial"/>
              <a:cs typeface="Arial"/>
              <a:sym typeface="Arial"/>
            </a:endParaRPr>
          </a:p>
        </p:txBody>
      </p:sp>
      <p:sp>
        <p:nvSpPr>
          <p:cNvPr id="14" name="Google Shape;48;p33"/>
          <p:cNvSpPr/>
          <p:nvPr userDrawn="1"/>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userDrawn="1"/>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5</a:t>
            </a:r>
            <a:endParaRPr sz="1400" b="0" i="0" u="none" strike="noStrike" cap="none">
              <a:solidFill>
                <a:srgbClr val="000000"/>
              </a:solidFill>
              <a:latin typeface="Arial"/>
              <a:ea typeface="Arial"/>
              <a:cs typeface="Arial"/>
              <a:sym typeface="Arial"/>
            </a:endParaRPr>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userDrawn="1"/>
        </p:nvPicPr>
        <p:blipFill rotWithShape="1">
          <a:blip r:embed="rId2">
            <a:alphaModFix amt="3000"/>
          </a:blip>
          <a:srcRect r="84162"/>
          <a:stretch/>
        </p:blipFill>
        <p:spPr>
          <a:xfrm>
            <a:off x="210" y="5304"/>
            <a:ext cx="1590466" cy="6858000"/>
          </a:xfrm>
          <a:prstGeom prst="rect">
            <a:avLst/>
          </a:prstGeom>
        </p:spPr>
      </p:pic>
    </p:spTree>
    <p:extLst>
      <p:ext uri="{BB962C8B-B14F-4D97-AF65-F5344CB8AC3E}">
        <p14:creationId xmlns:p14="http://schemas.microsoft.com/office/powerpoint/2010/main" val="14371535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ma 5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15" name="Google Shape;43;p33"/>
          <p:cNvSpPr/>
          <p:nvPr userDrawn="1"/>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1</a:t>
            </a:r>
            <a:endParaRPr sz="1400" b="0" i="0" u="none" strike="noStrike" cap="none">
              <a:solidFill>
                <a:srgbClr val="000000"/>
              </a:solidFill>
              <a:latin typeface="Arial"/>
              <a:ea typeface="Arial"/>
              <a:cs typeface="Arial"/>
              <a:sym typeface="Arial"/>
            </a:endParaRPr>
          </a:p>
        </p:txBody>
      </p:sp>
      <p:sp>
        <p:nvSpPr>
          <p:cNvPr id="16" name="Google Shape;45;p33"/>
          <p:cNvSpPr/>
          <p:nvPr userDrawn="1"/>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2</a:t>
            </a:r>
            <a:endParaRPr sz="1400" b="0" i="0" u="none" strike="noStrike" cap="none">
              <a:solidFill>
                <a:srgbClr val="000000"/>
              </a:solidFill>
              <a:latin typeface="Arial"/>
              <a:ea typeface="Arial"/>
              <a:cs typeface="Arial"/>
              <a:sym typeface="Arial"/>
            </a:endParaRPr>
          </a:p>
        </p:txBody>
      </p:sp>
      <p:sp>
        <p:nvSpPr>
          <p:cNvPr id="27" name="Google Shape;47;p33"/>
          <p:cNvSpPr/>
          <p:nvPr userDrawn="1"/>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3</a:t>
            </a:r>
            <a:endParaRPr sz="1400" b="0" i="0" u="none" strike="noStrike" cap="none">
              <a:solidFill>
                <a:srgbClr val="000000"/>
              </a:solidFill>
              <a:latin typeface="Arial"/>
              <a:ea typeface="Arial"/>
              <a:cs typeface="Arial"/>
              <a:sym typeface="Arial"/>
            </a:endParaRPr>
          </a:p>
        </p:txBody>
      </p:sp>
      <p:sp>
        <p:nvSpPr>
          <p:cNvPr id="12" name="Google Shape;48;p33"/>
          <p:cNvSpPr/>
          <p:nvPr userDrawn="1"/>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userDrawn="1"/>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4</a:t>
            </a:r>
            <a:endParaRPr sz="1400" b="0" i="0" u="none" strike="noStrike" cap="none">
              <a:solidFill>
                <a:srgbClr val="000000"/>
              </a:solidFill>
              <a:latin typeface="Arial"/>
              <a:ea typeface="Arial"/>
              <a:cs typeface="Arial"/>
              <a:sym typeface="Arial"/>
            </a:endParaRPr>
          </a:p>
        </p:txBody>
      </p:sp>
      <p:sp>
        <p:nvSpPr>
          <p:cNvPr id="14" name="Google Shape;48;p33"/>
          <p:cNvSpPr/>
          <p:nvPr userDrawn="1"/>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userDrawn="1"/>
        </p:nvSpPr>
        <p:spPr>
          <a:xfrm>
            <a:off x="10882" y="5089833"/>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Tema 5</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497489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jercicioFinal">
    <p:bg>
      <p:bgPr>
        <a:solidFill>
          <a:schemeClr val="bg1"/>
        </a:solidFill>
        <a:effectLst/>
      </p:bgPr>
    </p:bg>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EJERCICIO FINAL</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Tree>
    <p:extLst>
      <p:ext uri="{BB962C8B-B14F-4D97-AF65-F5344CB8AC3E}">
        <p14:creationId xmlns:p14="http://schemas.microsoft.com/office/powerpoint/2010/main" val="34765169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ota">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21" name="Google Shape;44;p33"/>
          <p:cNvSpPr/>
          <p:nvPr userDrawn="1"/>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
        <p:nvSpPr>
          <p:cNvPr id="8" name="Rectángulo 7">
            <a:extLst>
              <a:ext uri="{FF2B5EF4-FFF2-40B4-BE49-F238E27FC236}">
                <a16:creationId xmlns:a16="http://schemas.microsoft.com/office/drawing/2014/main" id="{79D2699A-DE0A-4825-8DB2-9F0E8B5DBA36}"/>
              </a:ext>
            </a:extLst>
          </p:cNvPr>
          <p:cNvSpPr/>
          <p:nvPr userDrawn="1"/>
        </p:nvSpPr>
        <p:spPr>
          <a:xfrm>
            <a:off x="2298607" y="2619419"/>
            <a:ext cx="5005387" cy="2286000"/>
          </a:xfrm>
          <a:prstGeom prst="rect">
            <a:avLst/>
          </a:prstGeom>
          <a:solidFill>
            <a:srgbClr val="02C9B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BFE8117D-8F35-423F-A08F-B39513EE78F8}"/>
              </a:ext>
            </a:extLst>
          </p:cNvPr>
          <p:cNvSpPr txBox="1"/>
          <p:nvPr userDrawn="1"/>
        </p:nvSpPr>
        <p:spPr>
          <a:xfrm>
            <a:off x="2587928" y="2941845"/>
            <a:ext cx="4426744" cy="1631216"/>
          </a:xfrm>
          <a:prstGeom prst="rect">
            <a:avLst/>
          </a:prstGeom>
          <a:noFill/>
        </p:spPr>
        <p:txBody>
          <a:bodyPr wrap="square">
            <a:spAutoFit/>
          </a:bodyPr>
          <a:lstStyle/>
          <a:p>
            <a:pPr marL="85725">
              <a:buClr>
                <a:schemeClr val="bg1"/>
              </a:buClr>
              <a:defRPr/>
            </a:pPr>
            <a:r>
              <a:rPr lang="es-ES" sz="2000" err="1">
                <a:solidFill>
                  <a:srgbClr val="7F7F7F"/>
                </a:solidFill>
              </a:rPr>
              <a:t>Lorem</a:t>
            </a:r>
            <a:r>
              <a:rPr lang="es-ES" sz="2000">
                <a:solidFill>
                  <a:srgbClr val="7F7F7F"/>
                </a:solidFill>
              </a:rPr>
              <a:t> </a:t>
            </a:r>
            <a:r>
              <a:rPr lang="es-ES" sz="2000" err="1">
                <a:solidFill>
                  <a:srgbClr val="7F7F7F"/>
                </a:solidFill>
              </a:rPr>
              <a:t>ipsum</a:t>
            </a:r>
            <a:r>
              <a:rPr lang="es-ES" sz="2000">
                <a:solidFill>
                  <a:srgbClr val="7F7F7F"/>
                </a:solidFill>
              </a:rPr>
              <a:t> dolor </a:t>
            </a:r>
            <a:r>
              <a:rPr lang="es-ES" sz="2000" err="1">
                <a:solidFill>
                  <a:srgbClr val="7F7F7F"/>
                </a:solidFill>
              </a:rPr>
              <a:t>sit</a:t>
            </a:r>
            <a:r>
              <a:rPr lang="es-ES" sz="2000">
                <a:solidFill>
                  <a:srgbClr val="7F7F7F"/>
                </a:solidFill>
              </a:rPr>
              <a:t> </a:t>
            </a:r>
            <a:r>
              <a:rPr lang="es-ES" sz="2000" err="1">
                <a:solidFill>
                  <a:srgbClr val="7F7F7F"/>
                </a:solidFill>
              </a:rPr>
              <a:t>amet</a:t>
            </a:r>
            <a:r>
              <a:rPr lang="es-ES" sz="2000">
                <a:solidFill>
                  <a:srgbClr val="7F7F7F"/>
                </a:solidFill>
              </a:rPr>
              <a:t>, </a:t>
            </a:r>
            <a:r>
              <a:rPr lang="es-ES" sz="2000" err="1">
                <a:solidFill>
                  <a:srgbClr val="7F7F7F"/>
                </a:solidFill>
              </a:rPr>
              <a:t>consectetur</a:t>
            </a:r>
            <a:r>
              <a:rPr lang="es-ES" sz="2000">
                <a:solidFill>
                  <a:srgbClr val="7F7F7F"/>
                </a:solidFill>
              </a:rPr>
              <a:t> </a:t>
            </a:r>
            <a:r>
              <a:rPr lang="es-ES" sz="2000" err="1">
                <a:solidFill>
                  <a:srgbClr val="7F7F7F"/>
                </a:solidFill>
              </a:rPr>
              <a:t>adipiscing</a:t>
            </a:r>
            <a:r>
              <a:rPr lang="es-ES" sz="2000">
                <a:solidFill>
                  <a:srgbClr val="7F7F7F"/>
                </a:solidFill>
              </a:rPr>
              <a:t> </a:t>
            </a:r>
            <a:r>
              <a:rPr lang="es-ES" sz="2000" err="1">
                <a:solidFill>
                  <a:srgbClr val="7F7F7F"/>
                </a:solidFill>
              </a:rPr>
              <a:t>elit</a:t>
            </a:r>
            <a:r>
              <a:rPr lang="es-ES" sz="2000">
                <a:solidFill>
                  <a:srgbClr val="7F7F7F"/>
                </a:solidFill>
              </a:rPr>
              <a:t>. </a:t>
            </a:r>
            <a:r>
              <a:rPr lang="es-ES" sz="2000" err="1">
                <a:solidFill>
                  <a:srgbClr val="7F7F7F"/>
                </a:solidFill>
              </a:rPr>
              <a:t>Integer</a:t>
            </a:r>
            <a:r>
              <a:rPr lang="es-ES" sz="2000">
                <a:solidFill>
                  <a:srgbClr val="7F7F7F"/>
                </a:solidFill>
              </a:rPr>
              <a:t> et </a:t>
            </a:r>
            <a:r>
              <a:rPr lang="es-ES" sz="2000" err="1">
                <a:solidFill>
                  <a:srgbClr val="7F7F7F"/>
                </a:solidFill>
              </a:rPr>
              <a:t>faucibus</a:t>
            </a:r>
            <a:r>
              <a:rPr lang="es-ES" sz="2000">
                <a:solidFill>
                  <a:srgbClr val="7F7F7F"/>
                </a:solidFill>
              </a:rPr>
              <a:t> odio. Quisque et ante </a:t>
            </a:r>
            <a:r>
              <a:rPr lang="es-ES" sz="2000" err="1">
                <a:solidFill>
                  <a:srgbClr val="7F7F7F"/>
                </a:solidFill>
              </a:rPr>
              <a:t>eu</a:t>
            </a:r>
            <a:r>
              <a:rPr lang="es-ES" sz="2000">
                <a:solidFill>
                  <a:srgbClr val="7F7F7F"/>
                </a:solidFill>
              </a:rPr>
              <a:t> </a:t>
            </a:r>
            <a:r>
              <a:rPr lang="es-ES" sz="2000" err="1">
                <a:solidFill>
                  <a:srgbClr val="7F7F7F"/>
                </a:solidFill>
              </a:rPr>
              <a:t>ipsum</a:t>
            </a:r>
            <a:r>
              <a:rPr lang="es-ES" sz="2000">
                <a:solidFill>
                  <a:srgbClr val="7F7F7F"/>
                </a:solidFill>
              </a:rPr>
              <a:t> </a:t>
            </a:r>
            <a:r>
              <a:rPr lang="es-ES" sz="2000" err="1">
                <a:solidFill>
                  <a:srgbClr val="7F7F7F"/>
                </a:solidFill>
              </a:rPr>
              <a:t>dictum</a:t>
            </a:r>
            <a:r>
              <a:rPr lang="es-ES" sz="2000">
                <a:solidFill>
                  <a:srgbClr val="7F7F7F"/>
                </a:solidFill>
              </a:rPr>
              <a:t> </a:t>
            </a:r>
            <a:r>
              <a:rPr lang="es-ES" sz="2000" err="1">
                <a:solidFill>
                  <a:srgbClr val="7F7F7F"/>
                </a:solidFill>
              </a:rPr>
              <a:t>pretium</a:t>
            </a:r>
            <a:r>
              <a:rPr lang="es-ES" sz="2000">
                <a:solidFill>
                  <a:srgbClr val="7F7F7F"/>
                </a:solidFill>
              </a:rPr>
              <a:t> id </a:t>
            </a:r>
            <a:r>
              <a:rPr lang="es-ES" sz="2000" err="1">
                <a:solidFill>
                  <a:srgbClr val="7F7F7F"/>
                </a:solidFill>
              </a:rPr>
              <a:t>finibus</a:t>
            </a:r>
            <a:r>
              <a:rPr lang="es-ES" sz="2000">
                <a:solidFill>
                  <a:srgbClr val="7F7F7F"/>
                </a:solidFill>
              </a:rPr>
              <a:t> odio. </a:t>
            </a:r>
            <a:r>
              <a:rPr lang="es-ES" sz="2000" err="1">
                <a:solidFill>
                  <a:srgbClr val="7F7F7F"/>
                </a:solidFill>
              </a:rPr>
              <a:t>Donec</a:t>
            </a:r>
            <a:r>
              <a:rPr lang="es-ES" sz="2000">
                <a:solidFill>
                  <a:srgbClr val="7F7F7F"/>
                </a:solidFill>
              </a:rPr>
              <a:t> vitae </a:t>
            </a:r>
            <a:r>
              <a:rPr lang="es-ES" sz="2000" err="1">
                <a:solidFill>
                  <a:srgbClr val="7F7F7F"/>
                </a:solidFill>
              </a:rPr>
              <a:t>nibh</a:t>
            </a:r>
            <a:r>
              <a:rPr lang="es-ES" sz="2000">
                <a:solidFill>
                  <a:srgbClr val="7F7F7F"/>
                </a:solidFill>
              </a:rPr>
              <a:t> </a:t>
            </a:r>
            <a:r>
              <a:rPr lang="es-ES" sz="2000" err="1">
                <a:solidFill>
                  <a:srgbClr val="7F7F7F"/>
                </a:solidFill>
              </a:rPr>
              <a:t>semper</a:t>
            </a:r>
            <a:r>
              <a:rPr lang="es-ES" sz="2000">
                <a:solidFill>
                  <a:srgbClr val="7F7F7F"/>
                </a:solidFill>
              </a:rPr>
              <a:t> </a:t>
            </a:r>
            <a:r>
              <a:rPr lang="es-ES" sz="2000" err="1">
                <a:solidFill>
                  <a:srgbClr val="7F7F7F"/>
                </a:solidFill>
              </a:rPr>
              <a:t>est</a:t>
            </a:r>
            <a:r>
              <a:rPr lang="es-ES" sz="2000">
                <a:solidFill>
                  <a:srgbClr val="7F7F7F"/>
                </a:solidFill>
              </a:rPr>
              <a:t> </a:t>
            </a:r>
            <a:r>
              <a:rPr lang="es-ES" sz="2000" err="1">
                <a:solidFill>
                  <a:srgbClr val="7F7F7F"/>
                </a:solidFill>
              </a:rPr>
              <a:t>luctus</a:t>
            </a:r>
            <a:r>
              <a:rPr lang="es-ES" sz="2000">
                <a:solidFill>
                  <a:srgbClr val="7F7F7F"/>
                </a:solidFill>
              </a:rPr>
              <a:t> </a:t>
            </a:r>
            <a:r>
              <a:rPr lang="es-ES" sz="2000" err="1">
                <a:solidFill>
                  <a:srgbClr val="7F7F7F"/>
                </a:solidFill>
              </a:rPr>
              <a:t>vulputate</a:t>
            </a:r>
            <a:r>
              <a:rPr lang="es-ES" sz="2000">
                <a:solidFill>
                  <a:srgbClr val="7F7F7F"/>
                </a:solidFill>
              </a:rPr>
              <a:t>. </a:t>
            </a:r>
          </a:p>
        </p:txBody>
      </p:sp>
    </p:spTree>
    <p:extLst>
      <p:ext uri="{BB962C8B-B14F-4D97-AF65-F5344CB8AC3E}">
        <p14:creationId xmlns:p14="http://schemas.microsoft.com/office/powerpoint/2010/main" val="8757631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parador">
    <p:bg>
      <p:bgPr>
        <a:solidFill>
          <a:srgbClr val="0D3240"/>
        </a:solidFill>
        <a:effectLst/>
      </p:bgPr>
    </p:bg>
    <p:spTree>
      <p:nvGrpSpPr>
        <p:cNvPr id="1" name=""/>
        <p:cNvGrpSpPr/>
        <p:nvPr/>
      </p:nvGrpSpPr>
      <p:grpSpPr>
        <a:xfrm>
          <a:off x="0" y="0"/>
          <a:ext cx="0" cy="0"/>
          <a:chOff x="0" y="0"/>
          <a:chExt cx="0" cy="0"/>
        </a:xfrm>
      </p:grpSpPr>
      <p:pic>
        <p:nvPicPr>
          <p:cNvPr id="9" name="Gráfico 6">
            <a:extLst>
              <a:ext uri="{FF2B5EF4-FFF2-40B4-BE49-F238E27FC236}">
                <a16:creationId xmlns:a16="http://schemas.microsoft.com/office/drawing/2014/main" id="{EED147EE-E3C8-45A1-A7EA-4A18FF84CC8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83826" y="5091090"/>
            <a:ext cx="6108174" cy="91951"/>
          </a:xfrm>
          <a:prstGeom prst="rect">
            <a:avLst/>
          </a:prstGeom>
        </p:spPr>
      </p:pic>
      <p:pic>
        <p:nvPicPr>
          <p:cNvPr id="11" name="Gráfico 11">
            <a:extLst>
              <a:ext uri="{FF2B5EF4-FFF2-40B4-BE49-F238E27FC236}">
                <a16:creationId xmlns:a16="http://schemas.microsoft.com/office/drawing/2014/main" id="{B9CE167F-D9B1-4886-B83E-2CEA293BAA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3" name="Google Shape;41;p33"/>
          <p:cNvSpPr txBox="1">
            <a:spLocks noGrp="1"/>
          </p:cNvSpPr>
          <p:nvPr>
            <p:ph type="body" idx="1" hasCustomPrompt="1"/>
          </p:nvPr>
        </p:nvSpPr>
        <p:spPr>
          <a:xfrm>
            <a:off x="2819400" y="2722909"/>
            <a:ext cx="8934496" cy="1484811"/>
          </a:xfrm>
          <a:prstGeom prst="rect">
            <a:avLst/>
          </a:prstGeom>
          <a:noFill/>
          <a:ln>
            <a:noFill/>
          </a:ln>
        </p:spPr>
        <p:txBody>
          <a:bodyPr spcFirstLastPara="1" wrap="square" lIns="91425" tIns="45700" rIns="91425" bIns="45700" anchor="t" anchorCtr="0">
            <a:noAutofit/>
          </a:bodyPr>
          <a:lstStyle>
            <a:lvl1pPr marL="76200" lvl="0" indent="0" algn="l">
              <a:lnSpc>
                <a:spcPct val="100000"/>
              </a:lnSpc>
              <a:spcBef>
                <a:spcPts val="480"/>
              </a:spcBef>
              <a:spcAft>
                <a:spcPts val="0"/>
              </a:spcAft>
              <a:buSzPts val="2400"/>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SEPARADOR</a:t>
            </a:r>
            <a:endParaRPr/>
          </a:p>
        </p:txBody>
      </p:sp>
      <p:sp>
        <p:nvSpPr>
          <p:cNvPr id="5" name="CuadroTexto 4">
            <a:extLst>
              <a:ext uri="{FF2B5EF4-FFF2-40B4-BE49-F238E27FC236}">
                <a16:creationId xmlns:a16="http://schemas.microsoft.com/office/drawing/2014/main" id="{6C8AC4E2-448D-4FEE-91DD-C1DA16461242}"/>
              </a:ext>
            </a:extLst>
          </p:cNvPr>
          <p:cNvSpPr txBox="1"/>
          <p:nvPr userDrawn="1"/>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33578084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parador">
    <p:bg>
      <p:bgPr>
        <a:solidFill>
          <a:srgbClr val="0D3240"/>
        </a:solidFill>
        <a:effectLst/>
      </p:bgPr>
    </p:bg>
    <p:spTree>
      <p:nvGrpSpPr>
        <p:cNvPr id="1" name=""/>
        <p:cNvGrpSpPr/>
        <p:nvPr/>
      </p:nvGrpSpPr>
      <p:grpSpPr>
        <a:xfrm>
          <a:off x="0" y="0"/>
          <a:ext cx="0" cy="0"/>
          <a:chOff x="0" y="0"/>
          <a:chExt cx="0" cy="0"/>
        </a:xfrm>
      </p:grpSpPr>
      <p:pic>
        <p:nvPicPr>
          <p:cNvPr id="9" name="Gráfico 6">
            <a:extLst>
              <a:ext uri="{FF2B5EF4-FFF2-40B4-BE49-F238E27FC236}">
                <a16:creationId xmlns:a16="http://schemas.microsoft.com/office/drawing/2014/main" id="{EED147EE-E3C8-45A1-A7EA-4A18FF84CC8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83826" y="5091090"/>
            <a:ext cx="6108174" cy="91951"/>
          </a:xfrm>
          <a:prstGeom prst="rect">
            <a:avLst/>
          </a:prstGeom>
        </p:spPr>
      </p:pic>
      <p:pic>
        <p:nvPicPr>
          <p:cNvPr id="11" name="Gráfico 11">
            <a:extLst>
              <a:ext uri="{FF2B5EF4-FFF2-40B4-BE49-F238E27FC236}">
                <a16:creationId xmlns:a16="http://schemas.microsoft.com/office/drawing/2014/main" id="{B9CE167F-D9B1-4886-B83E-2CEA293BAA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3" name="Google Shape;41;p33"/>
          <p:cNvSpPr txBox="1">
            <a:spLocks noGrp="1"/>
          </p:cNvSpPr>
          <p:nvPr>
            <p:ph type="body" idx="1" hasCustomPrompt="1"/>
          </p:nvPr>
        </p:nvSpPr>
        <p:spPr>
          <a:xfrm>
            <a:off x="2819400" y="2722909"/>
            <a:ext cx="8934496" cy="1484811"/>
          </a:xfrm>
          <a:prstGeom prst="rect">
            <a:avLst/>
          </a:prstGeom>
          <a:noFill/>
          <a:ln>
            <a:noFill/>
          </a:ln>
        </p:spPr>
        <p:txBody>
          <a:bodyPr spcFirstLastPara="1" wrap="square" lIns="91425" tIns="45700" rIns="91425" bIns="45700" anchor="t" anchorCtr="0">
            <a:noAutofit/>
          </a:bodyPr>
          <a:lstStyle>
            <a:lvl1pPr marL="76200" lvl="0" indent="0" algn="l">
              <a:lnSpc>
                <a:spcPct val="100000"/>
              </a:lnSpc>
              <a:spcBef>
                <a:spcPts val="480"/>
              </a:spcBef>
              <a:spcAft>
                <a:spcPts val="0"/>
              </a:spcAft>
              <a:buSzPts val="2400"/>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SEPARADOR</a:t>
            </a:r>
            <a:endParaRPr/>
          </a:p>
        </p:txBody>
      </p:sp>
      <p:sp>
        <p:nvSpPr>
          <p:cNvPr id="5" name="CuadroTexto 4">
            <a:extLst>
              <a:ext uri="{FF2B5EF4-FFF2-40B4-BE49-F238E27FC236}">
                <a16:creationId xmlns:a16="http://schemas.microsoft.com/office/drawing/2014/main" id="{6C8AC4E2-448D-4FEE-91DD-C1DA16461242}"/>
              </a:ext>
            </a:extLst>
          </p:cNvPr>
          <p:cNvSpPr txBox="1"/>
          <p:nvPr userDrawn="1"/>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20886090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capitulemos">
    <p:bg>
      <p:bgPr>
        <a:solidFill>
          <a:schemeClr val="bg1"/>
        </a:solidFill>
        <a:effectLst/>
      </p:bgPr>
    </p:bg>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RECAPITULEMOS</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userDrawn="1"/>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fld id="{00000000-1234-1234-1234-123412341234}" type="slidenum">
              <a:rPr lang="es-CO" smtClean="0"/>
              <a:pPr/>
              <a:t>‹#›</a:t>
            </a:fld>
            <a:endParaRPr lang="es-CO"/>
          </a:p>
        </p:txBody>
      </p:sp>
    </p:spTree>
    <p:extLst>
      <p:ext uri="{BB962C8B-B14F-4D97-AF65-F5344CB8AC3E}">
        <p14:creationId xmlns:p14="http://schemas.microsoft.com/office/powerpoint/2010/main" val="6484821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ferencias">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s-CO"/>
          </a:p>
        </p:txBody>
      </p:sp>
      <p:sp>
        <p:nvSpPr>
          <p:cNvPr id="5" name="Footer Placeholder 4"/>
          <p:cNvSpPr>
            <a:spLocks noGrp="1"/>
          </p:cNvSpPr>
          <p:nvPr>
            <p:ph type="ftr" sz="quarter" idx="11"/>
          </p:nvPr>
        </p:nvSpPr>
        <p:spPr/>
        <p:txBody>
          <a:bodyPr/>
          <a:lstStyle/>
          <a:p>
            <a:endParaRPr lang="es-CO"/>
          </a:p>
        </p:txBody>
      </p:sp>
      <p:sp>
        <p:nvSpPr>
          <p:cNvPr id="10"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REFERENCIAS</a:t>
            </a:r>
            <a:endParaRPr/>
          </a:p>
        </p:txBody>
      </p:sp>
      <p:sp>
        <p:nvSpPr>
          <p:cNvPr id="11" name="Google Shape;41;p33"/>
          <p:cNvSpPr txBox="1">
            <a:spLocks noGrp="1"/>
          </p:cNvSpPr>
          <p:nvPr>
            <p:ph type="body" idx="1"/>
          </p:nvPr>
        </p:nvSpPr>
        <p:spPr>
          <a:xfrm>
            <a:off x="2076994" y="2057401"/>
            <a:ext cx="9666016" cy="401682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12" name="Google Shape;41;p33"/>
          <p:cNvSpPr txBox="1">
            <a:spLocks noGrp="1"/>
          </p:cNvSpPr>
          <p:nvPr>
            <p:ph type="body" idx="12" hasCustomPrompt="1"/>
          </p:nvPr>
        </p:nvSpPr>
        <p:spPr>
          <a:xfrm>
            <a:off x="2076994" y="1370695"/>
            <a:ext cx="9666016" cy="556981"/>
          </a:xfrm>
          <a:prstGeom prst="rect">
            <a:avLst/>
          </a:prstGeom>
          <a:noFill/>
          <a:ln>
            <a:noFill/>
          </a:ln>
        </p:spPr>
        <p:txBody>
          <a:bodyPr spcFirstLastPara="1" wrap="square" lIns="91425" tIns="45700" rIns="91425" bIns="45700" anchor="t" anchorCtr="0">
            <a:normAutofit/>
          </a:bodyPr>
          <a:lstStyle>
            <a:lvl1pPr marL="76200" lvl="0" indent="0" algn="ctr">
              <a:lnSpc>
                <a:spcPct val="100000"/>
              </a:lnSpc>
              <a:spcBef>
                <a:spcPts val="480"/>
              </a:spcBef>
              <a:spcAft>
                <a:spcPts val="0"/>
              </a:spcAft>
              <a:buClr>
                <a:srgbClr val="009BAF"/>
              </a:buClr>
              <a:buSzPts val="2400"/>
              <a:buNone/>
              <a:defRPr sz="2500" b="1" i="1" baseline="0">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Material elaborado por: Daniel Correa – Paola Vallejo</a:t>
            </a:r>
            <a:endParaRPr/>
          </a:p>
        </p:txBody>
      </p:sp>
    </p:spTree>
    <p:extLst>
      <p:ext uri="{BB962C8B-B14F-4D97-AF65-F5344CB8AC3E}">
        <p14:creationId xmlns:p14="http://schemas.microsoft.com/office/powerpoint/2010/main" val="27638935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cias">
    <p:spTree>
      <p:nvGrpSpPr>
        <p:cNvPr id="1" name=""/>
        <p:cNvGrpSpPr/>
        <p:nvPr/>
      </p:nvGrpSpPr>
      <p:grpSpPr>
        <a:xfrm>
          <a:off x="0" y="0"/>
          <a:ext cx="0" cy="0"/>
          <a:chOff x="0" y="0"/>
          <a:chExt cx="0" cy="0"/>
        </a:xfrm>
      </p:grpSpPr>
      <p:sp>
        <p:nvSpPr>
          <p:cNvPr id="21" name="Google Shape;44;p33"/>
          <p:cNvSpPr/>
          <p:nvPr userDrawn="1"/>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userDrawn="1"/>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userDrawn="1"/>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 name="Imagen 6" descr="Imagen que contiene coral, calle, animal, agua&#10;&#10;Descripción generada automáticamente">
            <a:extLst>
              <a:ext uri="{FF2B5EF4-FFF2-40B4-BE49-F238E27FC236}">
                <a16:creationId xmlns:a16="http://schemas.microsoft.com/office/drawing/2014/main" id="{A5F3A245-A1F9-4A5B-8A86-780845E966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CuadroTexto 9">
            <a:extLst>
              <a:ext uri="{FF2B5EF4-FFF2-40B4-BE49-F238E27FC236}">
                <a16:creationId xmlns:a16="http://schemas.microsoft.com/office/drawing/2014/main" id="{1372829B-FCDA-43E4-9B63-B4AC88469ACE}"/>
              </a:ext>
            </a:extLst>
          </p:cNvPr>
          <p:cNvSpPr txBox="1"/>
          <p:nvPr userDrawn="1"/>
        </p:nvSpPr>
        <p:spPr>
          <a:xfrm>
            <a:off x="442914" y="4306260"/>
            <a:ext cx="5829300" cy="1569660"/>
          </a:xfrm>
          <a:prstGeom prst="rect">
            <a:avLst/>
          </a:prstGeom>
          <a:noFill/>
        </p:spPr>
        <p:txBody>
          <a:bodyPr wrap="square" rtlCol="0">
            <a:spAutoFit/>
          </a:bodyPr>
          <a:lstStyle/>
          <a:p>
            <a:r>
              <a:rPr lang="es-CO" sz="9600" b="1">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rPr>
              <a:t>GRACIAS</a:t>
            </a:r>
          </a:p>
        </p:txBody>
      </p:sp>
      <p:sp>
        <p:nvSpPr>
          <p:cNvPr id="11" name="CuadroTexto 10">
            <a:extLst>
              <a:ext uri="{FF2B5EF4-FFF2-40B4-BE49-F238E27FC236}">
                <a16:creationId xmlns:a16="http://schemas.microsoft.com/office/drawing/2014/main" id="{FBE21F91-9CD8-45F8-8EE6-36309EE3AF62}"/>
              </a:ext>
            </a:extLst>
          </p:cNvPr>
          <p:cNvSpPr txBox="1"/>
          <p:nvPr userDrawn="1"/>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
        <p:nvSpPr>
          <p:cNvPr id="12" name="Rectángulo 11">
            <a:extLst>
              <a:ext uri="{FF2B5EF4-FFF2-40B4-BE49-F238E27FC236}">
                <a16:creationId xmlns:a16="http://schemas.microsoft.com/office/drawing/2014/main" id="{0936407D-25E2-4917-A6B9-D0CDF493D1CA}"/>
              </a:ext>
            </a:extLst>
          </p:cNvPr>
          <p:cNvSpPr/>
          <p:nvPr userDrawn="1"/>
        </p:nvSpPr>
        <p:spPr>
          <a:xfrm>
            <a:off x="442914" y="4433865"/>
            <a:ext cx="5829300" cy="1314450"/>
          </a:xfrm>
          <a:prstGeom prst="rect">
            <a:avLst/>
          </a:prstGeom>
          <a:noFill/>
          <a:ln w="22225">
            <a:solidFill>
              <a:srgbClr val="02C9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 name="Gráfico 6">
            <a:extLst>
              <a:ext uri="{FF2B5EF4-FFF2-40B4-BE49-F238E27FC236}">
                <a16:creationId xmlns:a16="http://schemas.microsoft.com/office/drawing/2014/main" id="{EED147EE-E3C8-45A1-A7EA-4A18FF84CC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83826" y="5091090"/>
            <a:ext cx="6108174" cy="91951"/>
          </a:xfrm>
          <a:prstGeom prst="rect">
            <a:avLst/>
          </a:prstGeom>
        </p:spPr>
      </p:pic>
    </p:spTree>
    <p:extLst>
      <p:ext uri="{BB962C8B-B14F-4D97-AF65-F5344CB8AC3E}">
        <p14:creationId xmlns:p14="http://schemas.microsoft.com/office/powerpoint/2010/main" val="21450034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Diapositiva de título">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654A6576-47F1-4326-ABAC-AEAC38241B4A}" type="slidenum">
              <a:rPr lang="es-CO" smtClean="0"/>
              <a:t>‹#›</a:t>
            </a:fld>
            <a:endParaRPr lang="es-CO"/>
          </a:p>
        </p:txBody>
      </p:sp>
    </p:spTree>
    <p:extLst>
      <p:ext uri="{BB962C8B-B14F-4D97-AF65-F5344CB8AC3E}">
        <p14:creationId xmlns:p14="http://schemas.microsoft.com/office/powerpoint/2010/main" val="742781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6">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solidFill>
                <a:prstClr val="black">
                  <a:tint val="75000"/>
                </a:prstClr>
              </a:solidFill>
            </a:endParaRPr>
          </a:p>
        </p:txBody>
      </p:sp>
      <p:sp>
        <p:nvSpPr>
          <p:cNvPr id="5" name="Marcador de pie de página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solidFill>
                <a:prstClr val="black">
                  <a:tint val="75000"/>
                </a:prstClr>
              </a:solidFill>
            </a:endParaRPr>
          </a:p>
        </p:txBody>
      </p:sp>
      <p:sp>
        <p:nvSpPr>
          <p:cNvPr id="6" name="Marcador de número de diapositiva 5"/>
          <p:cNvSpPr>
            <a:spLocks noGrp="1"/>
          </p:cNvSpPr>
          <p:nvPr>
            <p:ph type="sldNum" sz="quarter" idx="4"/>
          </p:nvPr>
        </p:nvSpPr>
        <p:spPr>
          <a:xfrm>
            <a:off x="11598729" y="6492875"/>
            <a:ext cx="593271" cy="365125"/>
          </a:xfrm>
          <a:prstGeom prst="rect">
            <a:avLst/>
          </a:prstGeom>
        </p:spPr>
        <p:txBody>
          <a:bodyPr vert="horz" lIns="91440" tIns="45720" rIns="91440" bIns="45720" rtlCol="0" anchor="ctr"/>
          <a:lstStyle>
            <a:lvl1pPr algn="r">
              <a:defRPr sz="1200" b="1">
                <a:solidFill>
                  <a:schemeClr val="tx1"/>
                </a:solidFill>
              </a:defRPr>
            </a:lvl1pPr>
          </a:lstStyle>
          <a:p>
            <a:fld id="{5B33981C-EEB6-4C1F-9258-CBED1706BC02}" type="slidenum">
              <a:rPr lang="es-CO" smtClean="0"/>
              <a:pPr/>
              <a:t>‹#›</a:t>
            </a:fld>
            <a:endParaRPr lang="es-CO"/>
          </a:p>
        </p:txBody>
      </p:sp>
    </p:spTree>
    <p:extLst>
      <p:ext uri="{BB962C8B-B14F-4D97-AF65-F5344CB8AC3E}">
        <p14:creationId xmlns:p14="http://schemas.microsoft.com/office/powerpoint/2010/main" val="3792091551"/>
      </p:ext>
    </p:extLst>
  </p:cSld>
  <p:clrMap bg1="lt1" tx1="dk1" bg2="lt2" tx2="dk2" accent1="accent1" accent2="accent2" accent3="accent3" accent4="accent4" accent5="accent5" accent6="accent6" hlink="hlink" folHlink="folHlink"/>
  <p:sldLayoutIdLst>
    <p:sldLayoutId id="2147484030" r:id="rId1"/>
    <p:sldLayoutId id="2147484031" r:id="rId2"/>
    <p:sldLayoutId id="2147484032" r:id="rId3"/>
    <p:sldLayoutId id="2147484029" r:id="rId4"/>
    <p:sldLayoutId id="2147484009" r:id="rId5"/>
    <p:sldLayoutId id="2147484011" r:id="rId6"/>
    <p:sldLayoutId id="2147484012"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13" r:id="rId17"/>
    <p:sldLayoutId id="2147484016" r:id="rId18"/>
    <p:sldLayoutId id="2147484033" r:id="rId19"/>
    <p:sldLayoutId id="2147484015" r:id="rId20"/>
    <p:sldLayoutId id="2147484019" r:id="rId21"/>
    <p:sldLayoutId id="2147484018" r:id="rId22"/>
    <p:sldLayoutId id="2147484034" r:id="rId23"/>
    <p:sldLayoutId id="2147484010" r:id="rId2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U3CGMyjzlvM?si=UcPkoVcEuB-kCh8k"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10.xml"/><Relationship Id="rId5" Type="http://schemas.openxmlformats.org/officeDocument/2006/relationships/image" Target="../media/image37.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06;p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6000"/>
              <a:buFont typeface="Calibri"/>
              <a:buNone/>
            </a:pPr>
            <a:r>
              <a:rPr lang="es-CO" sz="6600"/>
              <a:t>Algoritmia y diagrama de flujo </a:t>
            </a:r>
            <a:endParaRPr sz="6600"/>
          </a:p>
        </p:txBody>
      </p:sp>
    </p:spTree>
    <p:extLst>
      <p:ext uri="{BB962C8B-B14F-4D97-AF65-F5344CB8AC3E}">
        <p14:creationId xmlns:p14="http://schemas.microsoft.com/office/powerpoint/2010/main" val="1933888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normAutofit fontScale="90000"/>
          </a:bodyPr>
          <a:lstStyle/>
          <a:p>
            <a:r>
              <a:rPr lang="es-CO"/>
              <a:t>Agenda</a:t>
            </a:r>
          </a:p>
        </p:txBody>
      </p:sp>
      <p:sp>
        <p:nvSpPr>
          <p:cNvPr id="4" name="Marcador de texto 3"/>
          <p:cNvSpPr>
            <a:spLocks noGrp="1"/>
          </p:cNvSpPr>
          <p:nvPr>
            <p:ph type="body" idx="1"/>
          </p:nvPr>
        </p:nvSpPr>
        <p:spPr/>
        <p:txBody>
          <a:bodyPr anchor="ctr"/>
          <a:lstStyle/>
          <a:p>
            <a:r>
              <a:rPr lang="es-CO" b="1"/>
              <a:t>Algoritmos</a:t>
            </a:r>
          </a:p>
          <a:p>
            <a:r>
              <a:rPr lang="es-CO"/>
              <a:t>Diagrama de flujo</a:t>
            </a:r>
          </a:p>
          <a:p>
            <a:r>
              <a:rPr lang="es-CO"/>
              <a:t>Ejercicios</a:t>
            </a:r>
          </a:p>
        </p:txBody>
      </p:sp>
      <p:sp>
        <p:nvSpPr>
          <p:cNvPr id="2" name="Marcador de número de diapositiva 1"/>
          <p:cNvSpPr>
            <a:spLocks noGrp="1"/>
          </p:cNvSpPr>
          <p:nvPr>
            <p:ph type="sldNum" sz="quarter" idx="4294967295"/>
          </p:nvPr>
        </p:nvSpPr>
        <p:spPr>
          <a:xfrm>
            <a:off x="11598275" y="6492875"/>
            <a:ext cx="593725" cy="365125"/>
          </a:xfrm>
        </p:spPr>
        <p:txBody>
          <a:bodyPr/>
          <a:lstStyle/>
          <a:p>
            <a:fld id="{654A6576-47F1-4326-ABAC-AEAC38241B4A}" type="slidenum">
              <a:rPr lang="es-CO" smtClean="0"/>
              <a:pPr/>
              <a:t>2</a:t>
            </a:fld>
            <a:endParaRPr lang="es-CO"/>
          </a:p>
        </p:txBody>
      </p:sp>
    </p:spTree>
    <p:extLst>
      <p:ext uri="{BB962C8B-B14F-4D97-AF65-F5344CB8AC3E}">
        <p14:creationId xmlns:p14="http://schemas.microsoft.com/office/powerpoint/2010/main" val="238776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a:t>Algoritmo</a:t>
            </a:r>
          </a:p>
        </p:txBody>
      </p:sp>
      <p:sp>
        <p:nvSpPr>
          <p:cNvPr id="7" name="Marcador de texto 2">
            <a:extLst>
              <a:ext uri="{FF2B5EF4-FFF2-40B4-BE49-F238E27FC236}">
                <a16:creationId xmlns:a16="http://schemas.microsoft.com/office/drawing/2014/main" id="{A07CE7CE-B775-46A9-838F-F0284746EFF3}"/>
              </a:ext>
            </a:extLst>
          </p:cNvPr>
          <p:cNvSpPr>
            <a:spLocks noGrp="1"/>
          </p:cNvSpPr>
          <p:nvPr>
            <p:ph type="body" idx="1"/>
          </p:nvPr>
        </p:nvSpPr>
        <p:spPr>
          <a:xfrm>
            <a:off x="2076994" y="1135781"/>
            <a:ext cx="9666016" cy="4938448"/>
          </a:xfrm>
        </p:spPr>
        <p:txBody>
          <a:bodyPr anchor="ctr">
            <a:normAutofit/>
          </a:bodyPr>
          <a:lstStyle/>
          <a:p>
            <a:pPr marL="76200" indent="0" algn="just">
              <a:buNone/>
            </a:pPr>
            <a:r>
              <a:rPr lang="es-CO" sz="2400" b="1"/>
              <a:t>Ver video: ¿Qué es un algoritmo?</a:t>
            </a:r>
          </a:p>
          <a:p>
            <a:pPr marL="76200" indent="0" algn="just">
              <a:buNone/>
            </a:pPr>
            <a:r>
              <a:rPr lang="es-CO" sz="2400"/>
              <a:t> </a:t>
            </a:r>
            <a:r>
              <a:rPr lang="es-CO" sz="2400">
                <a:hlinkClick r:id="rId3"/>
              </a:rPr>
              <a:t>https://youtu.be/U3CGMyjzlvM?si=UcPkoVcEuB-kCh8k</a:t>
            </a:r>
            <a:endParaRPr lang="es-CO" sz="2400"/>
          </a:p>
          <a:p>
            <a:pPr marL="76200" indent="0" algn="just">
              <a:buNone/>
            </a:pPr>
            <a:endParaRPr lang="es-CO" sz="2400"/>
          </a:p>
          <a:p>
            <a:pPr marL="76200" indent="0" algn="just">
              <a:buNone/>
            </a:pPr>
            <a:endParaRPr lang="es-CO" sz="2400"/>
          </a:p>
          <a:p>
            <a:pPr marL="76200" indent="0" algn="just">
              <a:buNone/>
            </a:pPr>
            <a:endParaRPr lang="es-CO" sz="2400"/>
          </a:p>
          <a:p>
            <a:pPr marL="76200" indent="0" algn="just">
              <a:buNone/>
            </a:pPr>
            <a:endParaRPr lang="es-CO" sz="2400"/>
          </a:p>
          <a:p>
            <a:pPr marL="76200" indent="0" algn="just">
              <a:buNone/>
            </a:pPr>
            <a:endParaRPr lang="es-CO" sz="2400"/>
          </a:p>
          <a:p>
            <a:pPr marL="76200" indent="0" algn="just">
              <a:buNone/>
            </a:pPr>
            <a:endParaRPr lang="es-CO" sz="2400"/>
          </a:p>
          <a:p>
            <a:pPr marL="76200" indent="0" algn="just">
              <a:buNone/>
            </a:pPr>
            <a:endParaRPr lang="es-CO" sz="2400"/>
          </a:p>
          <a:p>
            <a:pPr marL="76200" indent="0" algn="just">
              <a:buNone/>
            </a:pPr>
            <a:endParaRPr lang="es-CO" sz="2400"/>
          </a:p>
          <a:p>
            <a:pPr marL="76200" indent="0" algn="just">
              <a:buNone/>
            </a:pPr>
            <a:r>
              <a:rPr lang="es-CO" sz="2400"/>
              <a:t>Dar algunas reflexiones sobre el video.</a:t>
            </a:r>
          </a:p>
        </p:txBody>
      </p:sp>
      <p:sp>
        <p:nvSpPr>
          <p:cNvPr id="4" name="Marcador de número de diapositiva 3"/>
          <p:cNvSpPr>
            <a:spLocks noGrp="1"/>
          </p:cNvSpPr>
          <p:nvPr>
            <p:ph type="sldNum" idx="12"/>
          </p:nvPr>
        </p:nvSpPr>
        <p:spPr/>
        <p:txBody>
          <a:bodyPr/>
          <a:lstStyle/>
          <a:p>
            <a:fld id="{00000000-1234-1234-1234-123412341234}" type="slidenum">
              <a:rPr lang="es-CO" smtClean="0"/>
              <a:pPr/>
              <a:t>3</a:t>
            </a:fld>
            <a:endParaRPr lang="es-CO"/>
          </a:p>
        </p:txBody>
      </p:sp>
      <p:pic>
        <p:nvPicPr>
          <p:cNvPr id="5" name="Imagen 4">
            <a:extLst>
              <a:ext uri="{FF2B5EF4-FFF2-40B4-BE49-F238E27FC236}">
                <a16:creationId xmlns:a16="http://schemas.microsoft.com/office/drawing/2014/main" id="{5E54A682-8D01-D21C-BD7D-05E53832BB03}"/>
              </a:ext>
            </a:extLst>
          </p:cNvPr>
          <p:cNvPicPr>
            <a:picLocks noChangeAspect="1"/>
          </p:cNvPicPr>
          <p:nvPr/>
        </p:nvPicPr>
        <p:blipFill>
          <a:blip r:embed="rId4"/>
          <a:stretch>
            <a:fillRect/>
          </a:stretch>
        </p:blipFill>
        <p:spPr>
          <a:xfrm>
            <a:off x="4450423" y="2371998"/>
            <a:ext cx="4919158" cy="2772837"/>
          </a:xfrm>
          <a:prstGeom prst="rect">
            <a:avLst/>
          </a:prstGeom>
        </p:spPr>
      </p:pic>
    </p:spTree>
    <p:extLst>
      <p:ext uri="{BB962C8B-B14F-4D97-AF65-F5344CB8AC3E}">
        <p14:creationId xmlns:p14="http://schemas.microsoft.com/office/powerpoint/2010/main" val="2999300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a:t>Algoritmo</a:t>
            </a:r>
          </a:p>
        </p:txBody>
      </p:sp>
      <p:sp>
        <p:nvSpPr>
          <p:cNvPr id="7" name="Marcador de texto 2">
            <a:extLst>
              <a:ext uri="{FF2B5EF4-FFF2-40B4-BE49-F238E27FC236}">
                <a16:creationId xmlns:a16="http://schemas.microsoft.com/office/drawing/2014/main" id="{A07CE7CE-B775-46A9-838F-F0284746EFF3}"/>
              </a:ext>
            </a:extLst>
          </p:cNvPr>
          <p:cNvSpPr>
            <a:spLocks noGrp="1"/>
          </p:cNvSpPr>
          <p:nvPr>
            <p:ph type="body" idx="1"/>
          </p:nvPr>
        </p:nvSpPr>
        <p:spPr>
          <a:xfrm>
            <a:off x="2076994" y="1410789"/>
            <a:ext cx="9489364" cy="4663440"/>
          </a:xfrm>
        </p:spPr>
        <p:txBody>
          <a:bodyPr anchor="ctr">
            <a:normAutofit lnSpcReduction="10000"/>
          </a:bodyPr>
          <a:lstStyle/>
          <a:p>
            <a:pPr algn="just"/>
            <a:r>
              <a:rPr lang="es-CO" sz="2400"/>
              <a:t>Un algoritmo es una lista finita de instrucciones </a:t>
            </a:r>
            <a:r>
              <a:rPr lang="es-CO" sz="2400" b="1"/>
              <a:t>claras</a:t>
            </a:r>
            <a:r>
              <a:rPr lang="es-CO" sz="2400"/>
              <a:t>, </a:t>
            </a:r>
            <a:r>
              <a:rPr lang="es-CO" sz="2400" b="1"/>
              <a:t>ordenadas</a:t>
            </a:r>
            <a:r>
              <a:rPr lang="es-CO" sz="2400"/>
              <a:t> y </a:t>
            </a:r>
            <a:r>
              <a:rPr lang="es-CO" sz="2400" b="1"/>
              <a:t>precisas</a:t>
            </a:r>
            <a:r>
              <a:rPr lang="es-CO" sz="2400"/>
              <a:t> que describen un procedimiento para resolver un problema o realizar un cálculo.</a:t>
            </a:r>
          </a:p>
          <a:p>
            <a:pPr algn="just"/>
            <a:endParaRPr lang="es-CO" sz="2400"/>
          </a:p>
          <a:p>
            <a:pPr algn="just"/>
            <a:r>
              <a:rPr lang="es-CO" sz="2400"/>
              <a:t>En el contexto de la computación </a:t>
            </a:r>
            <a:r>
              <a:rPr lang="es-CO" sz="2400" b="1"/>
              <a:t>se espera que las instrucciones puedan ser implementadas en un computador</a:t>
            </a:r>
            <a:r>
              <a:rPr lang="es-CO" sz="2400"/>
              <a:t>, usando un lenguaje de programación.</a:t>
            </a:r>
          </a:p>
          <a:p>
            <a:pPr algn="just"/>
            <a:endParaRPr lang="es-CO" sz="2400"/>
          </a:p>
          <a:p>
            <a:pPr algn="just"/>
            <a:r>
              <a:rPr lang="es-CO" sz="2400"/>
              <a:t>Entre las formas para representar un algoritmo, se encuentran: lenguaje natural, </a:t>
            </a:r>
            <a:r>
              <a:rPr lang="es-CO" sz="2400" b="1"/>
              <a:t>diagrama de flujo</a:t>
            </a:r>
            <a:r>
              <a:rPr lang="es-CO" sz="2400"/>
              <a:t> (representación gráfica), </a:t>
            </a:r>
            <a:r>
              <a:rPr lang="es-CO" sz="2400" b="1"/>
              <a:t>seudocódigo </a:t>
            </a:r>
            <a:r>
              <a:rPr lang="es-CO" sz="2400"/>
              <a:t>(representación textual, versión simplificada de algunos lenguajes de programación) y </a:t>
            </a:r>
            <a:r>
              <a:rPr lang="es-CO" sz="2400" b="1"/>
              <a:t>código en un lenguaje de programación</a:t>
            </a:r>
            <a:r>
              <a:rPr lang="es-CO" sz="2400"/>
              <a:t>.</a:t>
            </a:r>
          </a:p>
        </p:txBody>
      </p:sp>
      <p:sp>
        <p:nvSpPr>
          <p:cNvPr id="4" name="Marcador de número de diapositiva 3"/>
          <p:cNvSpPr>
            <a:spLocks noGrp="1"/>
          </p:cNvSpPr>
          <p:nvPr>
            <p:ph type="sldNum" idx="12"/>
          </p:nvPr>
        </p:nvSpPr>
        <p:spPr/>
        <p:txBody>
          <a:bodyPr/>
          <a:lstStyle/>
          <a:p>
            <a:fld id="{00000000-1234-1234-1234-123412341234}" type="slidenum">
              <a:rPr lang="es-CO" smtClean="0"/>
              <a:pPr/>
              <a:t>4</a:t>
            </a:fld>
            <a:endParaRPr lang="es-CO"/>
          </a:p>
        </p:txBody>
      </p:sp>
    </p:spTree>
    <p:extLst>
      <p:ext uri="{BB962C8B-B14F-4D97-AF65-F5344CB8AC3E}">
        <p14:creationId xmlns:p14="http://schemas.microsoft.com/office/powerpoint/2010/main" val="396527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8D3A7-1B55-22AE-F83F-0695C20D14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CA12E8-DA59-8F7E-5537-04F6A4D79038}"/>
              </a:ext>
            </a:extLst>
          </p:cNvPr>
          <p:cNvSpPr>
            <a:spLocks noGrp="1"/>
          </p:cNvSpPr>
          <p:nvPr>
            <p:ph type="title"/>
          </p:nvPr>
        </p:nvSpPr>
        <p:spPr>
          <a:xfrm>
            <a:off x="2076994" y="222069"/>
            <a:ext cx="5229110" cy="1018902"/>
          </a:xfrm>
        </p:spPr>
        <p:txBody>
          <a:bodyPr/>
          <a:lstStyle/>
          <a:p>
            <a:r>
              <a:rPr lang="es-CO"/>
              <a:t>Ejercicio</a:t>
            </a:r>
          </a:p>
        </p:txBody>
      </p:sp>
      <p:sp>
        <p:nvSpPr>
          <p:cNvPr id="7" name="Marcador de texto 2">
            <a:extLst>
              <a:ext uri="{FF2B5EF4-FFF2-40B4-BE49-F238E27FC236}">
                <a16:creationId xmlns:a16="http://schemas.microsoft.com/office/drawing/2014/main" id="{4AA2E8B8-1D8C-6B5A-6A5E-CC6692EBB45D}"/>
              </a:ext>
            </a:extLst>
          </p:cNvPr>
          <p:cNvSpPr>
            <a:spLocks noGrp="1"/>
          </p:cNvSpPr>
          <p:nvPr>
            <p:ph type="body" idx="1"/>
          </p:nvPr>
        </p:nvSpPr>
        <p:spPr>
          <a:xfrm>
            <a:off x="1947461" y="1097280"/>
            <a:ext cx="5128037" cy="5358383"/>
          </a:xfrm>
        </p:spPr>
        <p:txBody>
          <a:bodyPr anchor="ctr">
            <a:normAutofit lnSpcReduction="10000"/>
          </a:bodyPr>
          <a:lstStyle/>
          <a:p>
            <a:pPr algn="just"/>
            <a:r>
              <a:rPr lang="es-CO" sz="2200" dirty="0"/>
              <a:t>Busca un algoritmo que esté representado de forma gráfica o textual.</a:t>
            </a:r>
          </a:p>
          <a:p>
            <a:pPr algn="just"/>
            <a:r>
              <a:rPr lang="es-CO" sz="2200" dirty="0"/>
              <a:t>El algoritmo debe estar relacionado con el pregrado que estás estudiando. </a:t>
            </a:r>
            <a:r>
              <a:rPr lang="es-MX" sz="2200" dirty="0"/>
              <a:t>Si no encuentras uno específico de tu pregrado, puedes elegir un algoritmo de uso general.</a:t>
            </a:r>
          </a:p>
          <a:p>
            <a:pPr marL="76200" indent="0" algn="just">
              <a:buNone/>
            </a:pPr>
            <a:endParaRPr lang="es-MX" sz="2200" dirty="0"/>
          </a:p>
          <a:p>
            <a:pPr algn="just"/>
            <a:r>
              <a:rPr lang="es-MX" sz="2200" dirty="0"/>
              <a:t>Ejemplo: Priorización de pacientes en hospital.</a:t>
            </a:r>
          </a:p>
          <a:p>
            <a:pPr algn="just"/>
            <a:endParaRPr lang="es-MX" sz="2200" dirty="0"/>
          </a:p>
          <a:p>
            <a:pPr marL="76200" indent="0" algn="just">
              <a:buNone/>
            </a:pPr>
            <a:r>
              <a:rPr lang="es-MX" sz="1600" b="1" dirty="0"/>
              <a:t>Recomendaciones: </a:t>
            </a:r>
            <a:r>
              <a:rPr lang="es-MX" sz="1600" dirty="0"/>
              <a:t>buscar en Google, o en </a:t>
            </a:r>
            <a:r>
              <a:rPr lang="es-MX" sz="1600" dirty="0" err="1"/>
              <a:t>ChatGpt</a:t>
            </a:r>
            <a:r>
              <a:rPr lang="es-MX" sz="1600" dirty="0"/>
              <a:t>, con palabras clave como: </a:t>
            </a:r>
            <a:r>
              <a:rPr lang="es-MX" sz="1600" b="1" dirty="0"/>
              <a:t>pasos para realizar </a:t>
            </a:r>
            <a:r>
              <a:rPr lang="es-MX" sz="1600" dirty="0"/>
              <a:t>[plan de marketing], </a:t>
            </a:r>
            <a:r>
              <a:rPr lang="es-MX" sz="1600" b="1" dirty="0"/>
              <a:t>como realizar</a:t>
            </a:r>
            <a:r>
              <a:rPr lang="es-MX" sz="1600" dirty="0"/>
              <a:t> [proceso de matricula]. Puede filtrar la búsqueda por imágenes.</a:t>
            </a:r>
            <a:endParaRPr lang="es-MX" dirty="0"/>
          </a:p>
        </p:txBody>
      </p:sp>
      <p:sp>
        <p:nvSpPr>
          <p:cNvPr id="4" name="Marcador de número de diapositiva 3">
            <a:extLst>
              <a:ext uri="{FF2B5EF4-FFF2-40B4-BE49-F238E27FC236}">
                <a16:creationId xmlns:a16="http://schemas.microsoft.com/office/drawing/2014/main" id="{EA454813-E230-B8CE-004D-C4C93C942732}"/>
              </a:ext>
            </a:extLst>
          </p:cNvPr>
          <p:cNvSpPr>
            <a:spLocks noGrp="1"/>
          </p:cNvSpPr>
          <p:nvPr>
            <p:ph type="sldNum" idx="12"/>
          </p:nvPr>
        </p:nvSpPr>
        <p:spPr/>
        <p:txBody>
          <a:bodyPr/>
          <a:lstStyle/>
          <a:p>
            <a:fld id="{00000000-1234-1234-1234-123412341234}" type="slidenum">
              <a:rPr lang="es-CO" smtClean="0"/>
              <a:pPr/>
              <a:t>5</a:t>
            </a:fld>
            <a:endParaRPr lang="es-CO"/>
          </a:p>
        </p:txBody>
      </p:sp>
      <p:pic>
        <p:nvPicPr>
          <p:cNvPr id="1026" name="Picture 2">
            <a:extLst>
              <a:ext uri="{FF2B5EF4-FFF2-40B4-BE49-F238E27FC236}">
                <a16:creationId xmlns:a16="http://schemas.microsoft.com/office/drawing/2014/main" id="{09BE8ACB-E9F2-0F25-9451-F2863BCA0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6554" y="193136"/>
            <a:ext cx="4167672" cy="6471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68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99FB92-02F0-019C-2E0D-E929480193F2}"/>
              </a:ext>
            </a:extLst>
          </p:cNvPr>
          <p:cNvSpPr>
            <a:spLocks noGrp="1"/>
          </p:cNvSpPr>
          <p:nvPr>
            <p:ph type="title"/>
          </p:nvPr>
        </p:nvSpPr>
        <p:spPr/>
        <p:txBody>
          <a:bodyPr/>
          <a:lstStyle/>
          <a:p>
            <a:r>
              <a:rPr lang="es-CO"/>
              <a:t>Ejemplo de algoritmo</a:t>
            </a:r>
          </a:p>
        </p:txBody>
      </p:sp>
      <p:sp>
        <p:nvSpPr>
          <p:cNvPr id="3" name="Marcador de texto 2">
            <a:extLst>
              <a:ext uri="{FF2B5EF4-FFF2-40B4-BE49-F238E27FC236}">
                <a16:creationId xmlns:a16="http://schemas.microsoft.com/office/drawing/2014/main" id="{A0249255-FBB1-6D6C-7775-4C7572057C9F}"/>
              </a:ext>
            </a:extLst>
          </p:cNvPr>
          <p:cNvSpPr>
            <a:spLocks noGrp="1"/>
          </p:cNvSpPr>
          <p:nvPr>
            <p:ph type="body" idx="1"/>
          </p:nvPr>
        </p:nvSpPr>
        <p:spPr>
          <a:xfrm>
            <a:off x="2076994" y="1410788"/>
            <a:ext cx="5258988" cy="4855257"/>
          </a:xfrm>
        </p:spPr>
        <p:txBody>
          <a:bodyPr>
            <a:normAutofit fontScale="92500" lnSpcReduction="10000"/>
          </a:bodyPr>
          <a:lstStyle/>
          <a:p>
            <a:pPr marL="0" indent="0" algn="just">
              <a:buNone/>
            </a:pPr>
            <a:r>
              <a:rPr lang="es-CO" b="1"/>
              <a:t>Problema planteado: </a:t>
            </a:r>
          </a:p>
          <a:p>
            <a:pPr marL="0" indent="0" algn="just">
              <a:buNone/>
            </a:pPr>
            <a:r>
              <a:rPr lang="es-CO"/>
              <a:t>Una oficina cuenta con dos áreas principales: administración y ventas. El Gerente de la oficina desea saber el promedio de edad de sus empleados para determinar si necesita implementar políticas relacionadas con generaciones específicas. Los datos de los trabajadores están registrados en una lista con sus nombres, edades y cargos.</a:t>
            </a:r>
          </a:p>
          <a:p>
            <a:pPr marL="0" indent="0" algn="just">
              <a:buNone/>
            </a:pPr>
            <a:endParaRPr lang="es-CO"/>
          </a:p>
          <a:p>
            <a:pPr marL="76200" indent="0">
              <a:buNone/>
            </a:pPr>
            <a:endParaRPr lang="es-CO"/>
          </a:p>
        </p:txBody>
      </p:sp>
      <p:sp>
        <p:nvSpPr>
          <p:cNvPr id="4" name="Marcador de número de diapositiva 3">
            <a:extLst>
              <a:ext uri="{FF2B5EF4-FFF2-40B4-BE49-F238E27FC236}">
                <a16:creationId xmlns:a16="http://schemas.microsoft.com/office/drawing/2014/main" id="{7C3707D1-0B38-4693-122E-9427A478E93C}"/>
              </a:ext>
            </a:extLst>
          </p:cNvPr>
          <p:cNvSpPr>
            <a:spLocks noGrp="1"/>
          </p:cNvSpPr>
          <p:nvPr>
            <p:ph type="sldNum" idx="12"/>
          </p:nvPr>
        </p:nvSpPr>
        <p:spPr/>
        <p:txBody>
          <a:bodyPr/>
          <a:lstStyle/>
          <a:p>
            <a:fld id="{00000000-1234-1234-1234-123412341234}" type="slidenum">
              <a:rPr lang="es-CO" smtClean="0"/>
              <a:pPr/>
              <a:t>6</a:t>
            </a:fld>
            <a:endParaRPr lang="es-CO"/>
          </a:p>
        </p:txBody>
      </p:sp>
      <p:pic>
        <p:nvPicPr>
          <p:cNvPr id="5" name="Picture 2" descr="Image result for people cartoon png">
            <a:extLst>
              <a:ext uri="{FF2B5EF4-FFF2-40B4-BE49-F238E27FC236}">
                <a16:creationId xmlns:a16="http://schemas.microsoft.com/office/drawing/2014/main" id="{A13CCE3B-3086-1B38-C86D-1C32244485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8383" y="2505780"/>
            <a:ext cx="4114627" cy="2071029"/>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57636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6A0B7-FCF0-E619-56C0-980EB5811E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C80DAB-333F-80A8-96FA-1106C4AB6F0A}"/>
              </a:ext>
            </a:extLst>
          </p:cNvPr>
          <p:cNvSpPr>
            <a:spLocks noGrp="1"/>
          </p:cNvSpPr>
          <p:nvPr>
            <p:ph type="title"/>
          </p:nvPr>
        </p:nvSpPr>
        <p:spPr/>
        <p:txBody>
          <a:bodyPr/>
          <a:lstStyle/>
          <a:p>
            <a:r>
              <a:rPr lang="es-CO"/>
              <a:t>Ejemplo de algoritmo</a:t>
            </a:r>
          </a:p>
        </p:txBody>
      </p:sp>
      <p:sp>
        <p:nvSpPr>
          <p:cNvPr id="3" name="Marcador de texto 2">
            <a:extLst>
              <a:ext uri="{FF2B5EF4-FFF2-40B4-BE49-F238E27FC236}">
                <a16:creationId xmlns:a16="http://schemas.microsoft.com/office/drawing/2014/main" id="{2A25F201-1D2C-4316-D9D7-AF5571F2BC53}"/>
              </a:ext>
            </a:extLst>
          </p:cNvPr>
          <p:cNvSpPr>
            <a:spLocks noGrp="1"/>
          </p:cNvSpPr>
          <p:nvPr>
            <p:ph type="body" idx="1"/>
          </p:nvPr>
        </p:nvSpPr>
        <p:spPr>
          <a:xfrm>
            <a:off x="2076994" y="1305689"/>
            <a:ext cx="5258988" cy="4663440"/>
          </a:xfrm>
        </p:spPr>
        <p:txBody>
          <a:bodyPr>
            <a:normAutofit fontScale="77500" lnSpcReduction="20000"/>
          </a:bodyPr>
          <a:lstStyle/>
          <a:p>
            <a:pPr marL="0" indent="0" algn="just">
              <a:buNone/>
            </a:pPr>
            <a:r>
              <a:rPr lang="es-CO" b="1"/>
              <a:t>Objetivo: </a:t>
            </a:r>
            <a:r>
              <a:rPr lang="es-CO"/>
              <a:t>Calcular el promedio de edad de los empleados de una oficina.</a:t>
            </a:r>
          </a:p>
          <a:p>
            <a:pPr marL="0" indent="0" algn="just">
              <a:buNone/>
            </a:pPr>
            <a:endParaRPr lang="es-CO"/>
          </a:p>
          <a:p>
            <a:pPr marL="0" indent="0" algn="just">
              <a:buNone/>
            </a:pPr>
            <a:r>
              <a:rPr lang="es-CO" b="1"/>
              <a:t>Secuencia de pasos:</a:t>
            </a:r>
          </a:p>
          <a:p>
            <a:pPr algn="just"/>
            <a:r>
              <a:rPr lang="es-CO" b="1"/>
              <a:t>Paso 1: </a:t>
            </a:r>
            <a:r>
              <a:rPr lang="es-CO"/>
              <a:t>Recoger la edad del empleado 1</a:t>
            </a:r>
          </a:p>
          <a:p>
            <a:pPr algn="just"/>
            <a:r>
              <a:rPr lang="es-CO" b="1"/>
              <a:t>Paso 2: </a:t>
            </a:r>
            <a:r>
              <a:rPr lang="es-CO"/>
              <a:t>Recoger la edad del empleado 2</a:t>
            </a:r>
          </a:p>
          <a:p>
            <a:pPr algn="just"/>
            <a:r>
              <a:rPr lang="es-CO" b="1"/>
              <a:t>Paso 3: </a:t>
            </a:r>
            <a:r>
              <a:rPr lang="es-CO"/>
              <a:t>Recoger la edad del empleado 3</a:t>
            </a:r>
          </a:p>
          <a:p>
            <a:pPr algn="just"/>
            <a:r>
              <a:rPr lang="es-CO" b="1"/>
              <a:t>Paso 4: </a:t>
            </a:r>
            <a:r>
              <a:rPr lang="es-CO"/>
              <a:t>Recoger la edad del empleado 4</a:t>
            </a:r>
          </a:p>
          <a:p>
            <a:pPr algn="just"/>
            <a:r>
              <a:rPr lang="es-CO" b="1"/>
              <a:t>Paso 5: </a:t>
            </a:r>
            <a:r>
              <a:rPr lang="es-CO"/>
              <a:t>Recoger la edad del empleado 5</a:t>
            </a:r>
          </a:p>
          <a:p>
            <a:pPr algn="just"/>
            <a:r>
              <a:rPr lang="es-CO" b="1"/>
              <a:t>Paso 6: </a:t>
            </a:r>
            <a:r>
              <a:rPr lang="es-CO"/>
              <a:t>Recoger la edad del empleado 6</a:t>
            </a:r>
          </a:p>
          <a:p>
            <a:pPr algn="just"/>
            <a:r>
              <a:rPr lang="es-CO" b="1"/>
              <a:t>Paso 7: </a:t>
            </a:r>
            <a:r>
              <a:rPr lang="es-CO"/>
              <a:t>Sumar la edad de los empleados 1, 2, 3, 4, 5 y 6.</a:t>
            </a:r>
          </a:p>
          <a:p>
            <a:pPr algn="just"/>
            <a:r>
              <a:rPr lang="es-CO" b="1"/>
              <a:t>Paso 8: </a:t>
            </a:r>
            <a:r>
              <a:rPr lang="es-CO"/>
              <a:t>Dividir el total de la suma anterior entre 6.</a:t>
            </a:r>
          </a:p>
          <a:p>
            <a:pPr marL="76200" indent="0">
              <a:buNone/>
            </a:pPr>
            <a:endParaRPr lang="es-CO"/>
          </a:p>
        </p:txBody>
      </p:sp>
      <p:sp>
        <p:nvSpPr>
          <p:cNvPr id="4" name="Marcador de número de diapositiva 3">
            <a:extLst>
              <a:ext uri="{FF2B5EF4-FFF2-40B4-BE49-F238E27FC236}">
                <a16:creationId xmlns:a16="http://schemas.microsoft.com/office/drawing/2014/main" id="{388CA5E8-B9E7-4E6A-C456-8051AAEC609E}"/>
              </a:ext>
            </a:extLst>
          </p:cNvPr>
          <p:cNvSpPr>
            <a:spLocks noGrp="1"/>
          </p:cNvSpPr>
          <p:nvPr>
            <p:ph type="sldNum" idx="12"/>
          </p:nvPr>
        </p:nvSpPr>
        <p:spPr/>
        <p:txBody>
          <a:bodyPr/>
          <a:lstStyle/>
          <a:p>
            <a:fld id="{00000000-1234-1234-1234-123412341234}" type="slidenum">
              <a:rPr lang="es-CO" smtClean="0"/>
              <a:pPr/>
              <a:t>7</a:t>
            </a:fld>
            <a:endParaRPr lang="es-CO"/>
          </a:p>
        </p:txBody>
      </p:sp>
      <p:pic>
        <p:nvPicPr>
          <p:cNvPr id="5" name="Picture 2" descr="Image result for people cartoon png">
            <a:extLst>
              <a:ext uri="{FF2B5EF4-FFF2-40B4-BE49-F238E27FC236}">
                <a16:creationId xmlns:a16="http://schemas.microsoft.com/office/drawing/2014/main" id="{F9E0B162-A97C-6B51-6396-8D2AB68C14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48085" y="1343179"/>
            <a:ext cx="4114627" cy="2071029"/>
          </a:xfrm>
          <a:prstGeom prst="rect">
            <a:avLst/>
          </a:prstGeom>
        </p:spPr>
        <p:style>
          <a:lnRef idx="2">
            <a:schemeClr val="dk1"/>
          </a:lnRef>
          <a:fillRef idx="1">
            <a:schemeClr val="lt1"/>
          </a:fillRef>
          <a:effectRef idx="0">
            <a:schemeClr val="dk1"/>
          </a:effectRef>
          <a:fontRef idx="minor">
            <a:schemeClr val="dk1"/>
          </a:fontRef>
        </p:style>
      </p:pic>
      <p:sp>
        <p:nvSpPr>
          <p:cNvPr id="6" name="Elipse 5">
            <a:extLst>
              <a:ext uri="{FF2B5EF4-FFF2-40B4-BE49-F238E27FC236}">
                <a16:creationId xmlns:a16="http://schemas.microsoft.com/office/drawing/2014/main" id="{5F74DE51-29B1-7CC6-19CE-C30EB8DBDCD4}"/>
              </a:ext>
            </a:extLst>
          </p:cNvPr>
          <p:cNvSpPr/>
          <p:nvPr/>
        </p:nvSpPr>
        <p:spPr>
          <a:xfrm>
            <a:off x="7813262" y="3645333"/>
            <a:ext cx="586950" cy="577982"/>
          </a:xfrm>
          <a:prstGeom prst="ellipse">
            <a:avLst/>
          </a:prstGeom>
          <a:solidFill>
            <a:srgbClr val="02C9B6">
              <a:alpha val="30000"/>
            </a:srgbClr>
          </a:solidFill>
          <a:ln>
            <a:solidFill>
              <a:srgbClr val="1136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b="1">
                <a:solidFill>
                  <a:schemeClr val="tx1"/>
                </a:solidFill>
              </a:rPr>
              <a:t>12</a:t>
            </a:r>
          </a:p>
        </p:txBody>
      </p:sp>
      <p:sp>
        <p:nvSpPr>
          <p:cNvPr id="7" name="Elipse 6">
            <a:extLst>
              <a:ext uri="{FF2B5EF4-FFF2-40B4-BE49-F238E27FC236}">
                <a16:creationId xmlns:a16="http://schemas.microsoft.com/office/drawing/2014/main" id="{76440CD0-B17C-6D6D-65A2-9E16B3E59E26}"/>
              </a:ext>
            </a:extLst>
          </p:cNvPr>
          <p:cNvSpPr/>
          <p:nvPr/>
        </p:nvSpPr>
        <p:spPr>
          <a:xfrm>
            <a:off x="8462608" y="3634942"/>
            <a:ext cx="569205" cy="577982"/>
          </a:xfrm>
          <a:prstGeom prst="ellipse">
            <a:avLst/>
          </a:prstGeom>
          <a:solidFill>
            <a:srgbClr val="02C9B6">
              <a:alpha val="30000"/>
            </a:srgbClr>
          </a:solidFill>
          <a:ln>
            <a:solidFill>
              <a:srgbClr val="1136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b="1">
                <a:solidFill>
                  <a:schemeClr val="tx1"/>
                </a:solidFill>
              </a:rPr>
              <a:t>18</a:t>
            </a:r>
          </a:p>
        </p:txBody>
      </p:sp>
      <p:sp>
        <p:nvSpPr>
          <p:cNvPr id="8" name="Elipse 7">
            <a:extLst>
              <a:ext uri="{FF2B5EF4-FFF2-40B4-BE49-F238E27FC236}">
                <a16:creationId xmlns:a16="http://schemas.microsoft.com/office/drawing/2014/main" id="{475A4236-568E-073C-3879-1060BA2935E8}"/>
              </a:ext>
            </a:extLst>
          </p:cNvPr>
          <p:cNvSpPr/>
          <p:nvPr/>
        </p:nvSpPr>
        <p:spPr>
          <a:xfrm>
            <a:off x="9087293" y="3629835"/>
            <a:ext cx="604434" cy="577982"/>
          </a:xfrm>
          <a:prstGeom prst="ellipse">
            <a:avLst/>
          </a:prstGeom>
          <a:solidFill>
            <a:srgbClr val="02C9B6">
              <a:alpha val="30000"/>
            </a:srgbClr>
          </a:solidFill>
          <a:ln>
            <a:solidFill>
              <a:srgbClr val="1136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b="1">
                <a:solidFill>
                  <a:schemeClr val="tx1"/>
                </a:solidFill>
              </a:rPr>
              <a:t>23</a:t>
            </a:r>
          </a:p>
        </p:txBody>
      </p:sp>
      <p:sp>
        <p:nvSpPr>
          <p:cNvPr id="9" name="Elipse 8">
            <a:extLst>
              <a:ext uri="{FF2B5EF4-FFF2-40B4-BE49-F238E27FC236}">
                <a16:creationId xmlns:a16="http://schemas.microsoft.com/office/drawing/2014/main" id="{07136F87-3E2E-ACBF-6A6C-1337C2697E81}"/>
              </a:ext>
            </a:extLst>
          </p:cNvPr>
          <p:cNvSpPr/>
          <p:nvPr/>
        </p:nvSpPr>
        <p:spPr>
          <a:xfrm>
            <a:off x="9750067" y="3619208"/>
            <a:ext cx="604434" cy="577982"/>
          </a:xfrm>
          <a:prstGeom prst="ellipse">
            <a:avLst/>
          </a:prstGeom>
          <a:solidFill>
            <a:srgbClr val="02C9B6">
              <a:alpha val="30000"/>
            </a:srgbClr>
          </a:solidFill>
          <a:ln>
            <a:solidFill>
              <a:srgbClr val="1136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b="1">
                <a:solidFill>
                  <a:schemeClr val="tx1"/>
                </a:solidFill>
              </a:rPr>
              <a:t>40</a:t>
            </a:r>
          </a:p>
        </p:txBody>
      </p:sp>
      <p:sp>
        <p:nvSpPr>
          <p:cNvPr id="10" name="Elipse 9">
            <a:extLst>
              <a:ext uri="{FF2B5EF4-FFF2-40B4-BE49-F238E27FC236}">
                <a16:creationId xmlns:a16="http://schemas.microsoft.com/office/drawing/2014/main" id="{D6D18728-2EE8-1D1F-FB3D-8CD119E457BB}"/>
              </a:ext>
            </a:extLst>
          </p:cNvPr>
          <p:cNvSpPr/>
          <p:nvPr/>
        </p:nvSpPr>
        <p:spPr>
          <a:xfrm>
            <a:off x="10389199" y="3619208"/>
            <a:ext cx="604434" cy="577982"/>
          </a:xfrm>
          <a:prstGeom prst="ellipse">
            <a:avLst/>
          </a:prstGeom>
          <a:solidFill>
            <a:srgbClr val="02C9B6">
              <a:alpha val="30000"/>
            </a:srgbClr>
          </a:solidFill>
          <a:ln>
            <a:solidFill>
              <a:srgbClr val="1136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b="1">
                <a:solidFill>
                  <a:schemeClr val="tx1"/>
                </a:solidFill>
              </a:rPr>
              <a:t>20</a:t>
            </a:r>
          </a:p>
        </p:txBody>
      </p:sp>
      <p:sp>
        <p:nvSpPr>
          <p:cNvPr id="11" name="Elipse 10">
            <a:extLst>
              <a:ext uri="{FF2B5EF4-FFF2-40B4-BE49-F238E27FC236}">
                <a16:creationId xmlns:a16="http://schemas.microsoft.com/office/drawing/2014/main" id="{998F7FCA-8A05-D070-89FA-FFB752FFD8EF}"/>
              </a:ext>
            </a:extLst>
          </p:cNvPr>
          <p:cNvSpPr/>
          <p:nvPr/>
        </p:nvSpPr>
        <p:spPr>
          <a:xfrm>
            <a:off x="11024275" y="3624492"/>
            <a:ext cx="604434" cy="577982"/>
          </a:xfrm>
          <a:prstGeom prst="ellipse">
            <a:avLst/>
          </a:prstGeom>
          <a:solidFill>
            <a:srgbClr val="02C9B6">
              <a:alpha val="30000"/>
            </a:srgbClr>
          </a:solidFill>
          <a:ln>
            <a:solidFill>
              <a:srgbClr val="1136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b="1">
                <a:solidFill>
                  <a:schemeClr val="tx1"/>
                </a:solidFill>
              </a:rPr>
              <a:t>23</a:t>
            </a:r>
          </a:p>
        </p:txBody>
      </p:sp>
      <p:sp>
        <p:nvSpPr>
          <p:cNvPr id="12" name="Elipse 11">
            <a:extLst>
              <a:ext uri="{FF2B5EF4-FFF2-40B4-BE49-F238E27FC236}">
                <a16:creationId xmlns:a16="http://schemas.microsoft.com/office/drawing/2014/main" id="{DAA38A18-722B-808E-921A-9BBC6655E1ED}"/>
              </a:ext>
            </a:extLst>
          </p:cNvPr>
          <p:cNvSpPr/>
          <p:nvPr/>
        </p:nvSpPr>
        <p:spPr>
          <a:xfrm>
            <a:off x="7667788" y="4479306"/>
            <a:ext cx="4075222" cy="577982"/>
          </a:xfrm>
          <a:prstGeom prst="ellipse">
            <a:avLst/>
          </a:prstGeom>
          <a:solidFill>
            <a:srgbClr val="02C9B6">
              <a:alpha val="30000"/>
            </a:srgbClr>
          </a:solidFill>
          <a:ln>
            <a:solidFill>
              <a:srgbClr val="1136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b="1">
                <a:solidFill>
                  <a:schemeClr val="tx1"/>
                </a:solidFill>
              </a:rPr>
              <a:t>12 + 18 + 23 + 40 + 20 + 23 = 136</a:t>
            </a:r>
          </a:p>
        </p:txBody>
      </p:sp>
      <p:sp>
        <p:nvSpPr>
          <p:cNvPr id="13" name="Elipse 12">
            <a:extLst>
              <a:ext uri="{FF2B5EF4-FFF2-40B4-BE49-F238E27FC236}">
                <a16:creationId xmlns:a16="http://schemas.microsoft.com/office/drawing/2014/main" id="{DEC1C14C-C9B5-D614-9A0C-E950B6AA1F19}"/>
              </a:ext>
            </a:extLst>
          </p:cNvPr>
          <p:cNvSpPr/>
          <p:nvPr/>
        </p:nvSpPr>
        <p:spPr>
          <a:xfrm>
            <a:off x="7667788" y="5309209"/>
            <a:ext cx="4075222" cy="577982"/>
          </a:xfrm>
          <a:prstGeom prst="ellipse">
            <a:avLst/>
          </a:prstGeom>
          <a:solidFill>
            <a:srgbClr val="02C9B6">
              <a:alpha val="30000"/>
            </a:srgbClr>
          </a:solidFill>
          <a:ln>
            <a:solidFill>
              <a:srgbClr val="1136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600" b="1">
                <a:solidFill>
                  <a:schemeClr val="tx1"/>
                </a:solidFill>
              </a:rPr>
              <a:t>136 / 6 = 22.66</a:t>
            </a:r>
          </a:p>
        </p:txBody>
      </p:sp>
      <p:sp>
        <p:nvSpPr>
          <p:cNvPr id="14" name="Google Shape;462;p21">
            <a:extLst>
              <a:ext uri="{FF2B5EF4-FFF2-40B4-BE49-F238E27FC236}">
                <a16:creationId xmlns:a16="http://schemas.microsoft.com/office/drawing/2014/main" id="{70CF4900-0A43-8158-6CF5-F5445B00FB76}"/>
              </a:ext>
            </a:extLst>
          </p:cNvPr>
          <p:cNvSpPr/>
          <p:nvPr/>
        </p:nvSpPr>
        <p:spPr>
          <a:xfrm>
            <a:off x="2076994" y="5988705"/>
            <a:ext cx="9685718" cy="605186"/>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sz="2400" b="1">
                <a:solidFill>
                  <a:schemeClr val="bg1"/>
                </a:solidFill>
                <a:latin typeface="Calibri"/>
                <a:cs typeface="Calibri"/>
                <a:sym typeface="Calibri"/>
              </a:rPr>
              <a:t>¿Cómo identificamos cuál es la secuencia de pasos?</a:t>
            </a:r>
            <a:endParaRPr sz="2400" b="1">
              <a:solidFill>
                <a:schemeClr val="bg1"/>
              </a:solidFill>
              <a:latin typeface="Calibri"/>
              <a:cs typeface="Calibri"/>
              <a:sym typeface="Arial"/>
            </a:endParaRPr>
          </a:p>
        </p:txBody>
      </p:sp>
    </p:spTree>
    <p:extLst>
      <p:ext uri="{BB962C8B-B14F-4D97-AF65-F5344CB8AC3E}">
        <p14:creationId xmlns:p14="http://schemas.microsoft.com/office/powerpoint/2010/main" val="348143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a:t>Metodología de trabajo con algoritmos</a:t>
            </a:r>
          </a:p>
        </p:txBody>
      </p:sp>
      <p:sp>
        <p:nvSpPr>
          <p:cNvPr id="4" name="Marcador de número de diapositiva 3"/>
          <p:cNvSpPr>
            <a:spLocks noGrp="1"/>
          </p:cNvSpPr>
          <p:nvPr>
            <p:ph type="sldNum" idx="12"/>
          </p:nvPr>
        </p:nvSpPr>
        <p:spPr/>
        <p:txBody>
          <a:bodyPr/>
          <a:lstStyle/>
          <a:p>
            <a:fld id="{00000000-1234-1234-1234-123412341234}" type="slidenum">
              <a:rPr lang="es-CO" smtClean="0"/>
              <a:pPr/>
              <a:t>8</a:t>
            </a:fld>
            <a:endParaRPr lang="es-CO"/>
          </a:p>
        </p:txBody>
      </p:sp>
      <p:graphicFrame>
        <p:nvGraphicFramePr>
          <p:cNvPr id="6" name="Diagrama 5">
            <a:extLst>
              <a:ext uri="{FF2B5EF4-FFF2-40B4-BE49-F238E27FC236}">
                <a16:creationId xmlns:a16="http://schemas.microsoft.com/office/drawing/2014/main" id="{96E7957F-A33F-4E30-91FA-E1202564BF78}"/>
              </a:ext>
            </a:extLst>
          </p:cNvPr>
          <p:cNvGraphicFramePr/>
          <p:nvPr>
            <p:extLst>
              <p:ext uri="{D42A27DB-BD31-4B8C-83A1-F6EECF244321}">
                <p14:modId xmlns:p14="http://schemas.microsoft.com/office/powerpoint/2010/main" val="2232745691"/>
              </p:ext>
            </p:extLst>
          </p:nvPr>
        </p:nvGraphicFramePr>
        <p:xfrm>
          <a:off x="2187863" y="631367"/>
          <a:ext cx="9711011"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uadroTexto 2">
            <a:extLst>
              <a:ext uri="{FF2B5EF4-FFF2-40B4-BE49-F238E27FC236}">
                <a16:creationId xmlns:a16="http://schemas.microsoft.com/office/drawing/2014/main" id="{1D251AB7-1245-43F7-B786-3F845ACFBFE2}"/>
              </a:ext>
            </a:extLst>
          </p:cNvPr>
          <p:cNvSpPr txBox="1"/>
          <p:nvPr/>
        </p:nvSpPr>
        <p:spPr>
          <a:xfrm>
            <a:off x="2956215" y="3081034"/>
            <a:ext cx="367408" cy="523220"/>
          </a:xfrm>
          <a:prstGeom prst="rect">
            <a:avLst/>
          </a:prstGeom>
          <a:noFill/>
        </p:spPr>
        <p:txBody>
          <a:bodyPr wrap="none" rtlCol="0">
            <a:spAutoFit/>
          </a:bodyPr>
          <a:lstStyle/>
          <a:p>
            <a:r>
              <a:rPr lang="es-CO" sz="2800" b="1">
                <a:solidFill>
                  <a:schemeClr val="bg1"/>
                </a:solidFill>
              </a:rPr>
              <a:t>1</a:t>
            </a:r>
            <a:endParaRPr lang="es-CO" b="1">
              <a:solidFill>
                <a:schemeClr val="bg1"/>
              </a:solidFill>
            </a:endParaRPr>
          </a:p>
        </p:txBody>
      </p:sp>
      <p:sp>
        <p:nvSpPr>
          <p:cNvPr id="7" name="CuadroTexto 6">
            <a:extLst>
              <a:ext uri="{FF2B5EF4-FFF2-40B4-BE49-F238E27FC236}">
                <a16:creationId xmlns:a16="http://schemas.microsoft.com/office/drawing/2014/main" id="{18E22820-8A58-49FC-8815-0A512AEECDA9}"/>
              </a:ext>
            </a:extLst>
          </p:cNvPr>
          <p:cNvSpPr txBox="1"/>
          <p:nvPr/>
        </p:nvSpPr>
        <p:spPr>
          <a:xfrm>
            <a:off x="4975515" y="3081034"/>
            <a:ext cx="367408" cy="523220"/>
          </a:xfrm>
          <a:prstGeom prst="rect">
            <a:avLst/>
          </a:prstGeom>
          <a:noFill/>
        </p:spPr>
        <p:txBody>
          <a:bodyPr wrap="none" rtlCol="0">
            <a:spAutoFit/>
          </a:bodyPr>
          <a:lstStyle/>
          <a:p>
            <a:r>
              <a:rPr lang="es-CO" sz="2800" b="1">
                <a:solidFill>
                  <a:schemeClr val="bg1"/>
                </a:solidFill>
              </a:rPr>
              <a:t>2</a:t>
            </a:r>
            <a:endParaRPr lang="es-CO" b="1">
              <a:solidFill>
                <a:schemeClr val="bg1"/>
              </a:solidFill>
            </a:endParaRPr>
          </a:p>
        </p:txBody>
      </p:sp>
      <p:sp>
        <p:nvSpPr>
          <p:cNvPr id="8" name="CuadroTexto 7">
            <a:extLst>
              <a:ext uri="{FF2B5EF4-FFF2-40B4-BE49-F238E27FC236}">
                <a16:creationId xmlns:a16="http://schemas.microsoft.com/office/drawing/2014/main" id="{80EAE773-326F-4AA7-8BD4-57C67BE41A3D}"/>
              </a:ext>
            </a:extLst>
          </p:cNvPr>
          <p:cNvSpPr txBox="1"/>
          <p:nvPr/>
        </p:nvSpPr>
        <p:spPr>
          <a:xfrm>
            <a:off x="6994815" y="3081034"/>
            <a:ext cx="367408" cy="523220"/>
          </a:xfrm>
          <a:prstGeom prst="rect">
            <a:avLst/>
          </a:prstGeom>
          <a:noFill/>
        </p:spPr>
        <p:txBody>
          <a:bodyPr wrap="none" rtlCol="0">
            <a:spAutoFit/>
          </a:bodyPr>
          <a:lstStyle/>
          <a:p>
            <a:r>
              <a:rPr lang="es-CO" sz="2800" b="1"/>
              <a:t>3</a:t>
            </a:r>
            <a:endParaRPr lang="es-CO" b="1"/>
          </a:p>
        </p:txBody>
      </p:sp>
      <p:sp>
        <p:nvSpPr>
          <p:cNvPr id="9" name="CuadroTexto 8">
            <a:extLst>
              <a:ext uri="{FF2B5EF4-FFF2-40B4-BE49-F238E27FC236}">
                <a16:creationId xmlns:a16="http://schemas.microsoft.com/office/drawing/2014/main" id="{781E77F9-D8BE-4A57-A00B-F805E598675E}"/>
              </a:ext>
            </a:extLst>
          </p:cNvPr>
          <p:cNvSpPr txBox="1"/>
          <p:nvPr/>
        </p:nvSpPr>
        <p:spPr>
          <a:xfrm>
            <a:off x="9389694" y="3081034"/>
            <a:ext cx="367408" cy="523220"/>
          </a:xfrm>
          <a:prstGeom prst="rect">
            <a:avLst/>
          </a:prstGeom>
          <a:noFill/>
        </p:spPr>
        <p:txBody>
          <a:bodyPr wrap="none" rtlCol="0">
            <a:spAutoFit/>
          </a:bodyPr>
          <a:lstStyle/>
          <a:p>
            <a:r>
              <a:rPr lang="es-CO" sz="2800" b="1"/>
              <a:t>4</a:t>
            </a:r>
            <a:endParaRPr lang="es-CO" b="1"/>
          </a:p>
        </p:txBody>
      </p:sp>
      <p:sp>
        <p:nvSpPr>
          <p:cNvPr id="36" name="Google Shape;462;p21">
            <a:extLst>
              <a:ext uri="{FF2B5EF4-FFF2-40B4-BE49-F238E27FC236}">
                <a16:creationId xmlns:a16="http://schemas.microsoft.com/office/drawing/2014/main" id="{DD61A93D-12FA-39F9-C2DE-55BC6EE7CD9B}"/>
              </a:ext>
            </a:extLst>
          </p:cNvPr>
          <p:cNvSpPr/>
          <p:nvPr/>
        </p:nvSpPr>
        <p:spPr>
          <a:xfrm>
            <a:off x="2076994" y="5925645"/>
            <a:ext cx="9685718" cy="605186"/>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sz="2400" b="1">
                <a:solidFill>
                  <a:schemeClr val="bg1"/>
                </a:solidFill>
                <a:latin typeface="Calibri"/>
                <a:cs typeface="Calibri"/>
                <a:sym typeface="Calibri"/>
              </a:rPr>
              <a:t>Veamos la metodología a través del ejemplo</a:t>
            </a:r>
            <a:endParaRPr sz="2400" b="1">
              <a:solidFill>
                <a:schemeClr val="bg1"/>
              </a:solidFill>
              <a:latin typeface="Calibri"/>
              <a:cs typeface="Calibri"/>
              <a:sym typeface="Arial"/>
            </a:endParaRPr>
          </a:p>
        </p:txBody>
      </p:sp>
    </p:spTree>
    <p:extLst>
      <p:ext uri="{BB962C8B-B14F-4D97-AF65-F5344CB8AC3E}">
        <p14:creationId xmlns:p14="http://schemas.microsoft.com/office/powerpoint/2010/main" val="328661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3"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a:t>1. Análisis del problema</a:t>
            </a:r>
          </a:p>
        </p:txBody>
      </p:sp>
      <p:sp>
        <p:nvSpPr>
          <p:cNvPr id="3" name="Marcador de texto 2"/>
          <p:cNvSpPr>
            <a:spLocks noGrp="1"/>
          </p:cNvSpPr>
          <p:nvPr>
            <p:ph type="body" idx="1"/>
          </p:nvPr>
        </p:nvSpPr>
        <p:spPr>
          <a:xfrm>
            <a:off x="2076994" y="1410789"/>
            <a:ext cx="9666016" cy="3849318"/>
          </a:xfrm>
        </p:spPr>
        <p:txBody>
          <a:bodyPr anchor="t">
            <a:normAutofit/>
          </a:bodyPr>
          <a:lstStyle/>
          <a:p>
            <a:pPr marL="76200" indent="0">
              <a:buNone/>
            </a:pPr>
            <a:r>
              <a:rPr lang="es-CO" sz="2400"/>
              <a:t>El análisis del problema consiste en responder las siguientes preguntas:</a:t>
            </a:r>
          </a:p>
          <a:p>
            <a:pPr algn="ctr"/>
            <a:endParaRPr lang="es-CO" sz="2400"/>
          </a:p>
          <a:p>
            <a:r>
              <a:rPr lang="es-CO" sz="2400"/>
              <a:t>¿Cuál es el objetivo buscado?</a:t>
            </a:r>
          </a:p>
          <a:p>
            <a:r>
              <a:rPr lang="es-CO" sz="2400"/>
              <a:t>¿Cuáles son los datos de entrada?</a:t>
            </a:r>
          </a:p>
          <a:p>
            <a:r>
              <a:rPr lang="es-CO" sz="2400"/>
              <a:t>¿Qué cálculos o procesos deben llevarse a cabo?</a:t>
            </a:r>
          </a:p>
          <a:p>
            <a:r>
              <a:rPr lang="es-CO" sz="2400"/>
              <a:t>¿Cuáles son los datos de salida?</a:t>
            </a:r>
          </a:p>
        </p:txBody>
      </p:sp>
      <p:sp>
        <p:nvSpPr>
          <p:cNvPr id="4" name="Marcador de número de diapositiva 3"/>
          <p:cNvSpPr>
            <a:spLocks noGrp="1"/>
          </p:cNvSpPr>
          <p:nvPr>
            <p:ph type="sldNum" idx="12"/>
          </p:nvPr>
        </p:nvSpPr>
        <p:spPr/>
        <p:txBody>
          <a:bodyPr/>
          <a:lstStyle/>
          <a:p>
            <a:fld id="{00000000-1234-1234-1234-123412341234}" type="slidenum">
              <a:rPr lang="es-CO" smtClean="0"/>
              <a:pPr/>
              <a:t>9</a:t>
            </a:fld>
            <a:endParaRPr lang="es-CO"/>
          </a:p>
        </p:txBody>
      </p:sp>
      <p:sp>
        <p:nvSpPr>
          <p:cNvPr id="5" name="Google Shape;321;p12">
            <a:extLst>
              <a:ext uri="{FF2B5EF4-FFF2-40B4-BE49-F238E27FC236}">
                <a16:creationId xmlns:a16="http://schemas.microsoft.com/office/drawing/2014/main" id="{DBC2306E-FB9B-EE35-0808-7AD2EC27D593}"/>
              </a:ext>
            </a:extLst>
          </p:cNvPr>
          <p:cNvSpPr/>
          <p:nvPr/>
        </p:nvSpPr>
        <p:spPr>
          <a:xfrm>
            <a:off x="2656608" y="4791377"/>
            <a:ext cx="3823855" cy="937459"/>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¿Qué pilares del PC podríamos aplicar en esta etapa?</a:t>
            </a:r>
            <a:endParaRPr b="1">
              <a:solidFill>
                <a:schemeClr val="dk1"/>
              </a:solidFill>
              <a:latin typeface="Calibri"/>
              <a:cs typeface="Calibri"/>
              <a:sym typeface="Arial"/>
            </a:endParaRPr>
          </a:p>
        </p:txBody>
      </p:sp>
      <p:sp>
        <p:nvSpPr>
          <p:cNvPr id="6" name="Google Shape;462;p21">
            <a:extLst>
              <a:ext uri="{FF2B5EF4-FFF2-40B4-BE49-F238E27FC236}">
                <a16:creationId xmlns:a16="http://schemas.microsoft.com/office/drawing/2014/main" id="{ED452E4B-8087-40B7-4D2C-7DFEC61E3610}"/>
              </a:ext>
            </a:extLst>
          </p:cNvPr>
          <p:cNvSpPr/>
          <p:nvPr/>
        </p:nvSpPr>
        <p:spPr>
          <a:xfrm>
            <a:off x="8494310" y="4322647"/>
            <a:ext cx="2002584" cy="937459"/>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bg1"/>
                </a:solidFill>
                <a:latin typeface="Calibri"/>
                <a:cs typeface="Calibri"/>
                <a:sym typeface="Calibri"/>
              </a:rPr>
              <a:t>Descomposición de problemas</a:t>
            </a:r>
            <a:endParaRPr b="1">
              <a:solidFill>
                <a:schemeClr val="bg1"/>
              </a:solidFill>
              <a:latin typeface="Calibri"/>
              <a:cs typeface="Calibri"/>
              <a:sym typeface="Arial"/>
            </a:endParaRPr>
          </a:p>
        </p:txBody>
      </p:sp>
      <p:grpSp>
        <p:nvGrpSpPr>
          <p:cNvPr id="7" name="Grupo 6">
            <a:extLst>
              <a:ext uri="{FF2B5EF4-FFF2-40B4-BE49-F238E27FC236}">
                <a16:creationId xmlns:a16="http://schemas.microsoft.com/office/drawing/2014/main" id="{0096A189-7BC5-A5A8-39DF-7B4AF68705A7}"/>
              </a:ext>
            </a:extLst>
          </p:cNvPr>
          <p:cNvGrpSpPr/>
          <p:nvPr/>
        </p:nvGrpSpPr>
        <p:grpSpPr>
          <a:xfrm>
            <a:off x="7621546" y="4403023"/>
            <a:ext cx="678775" cy="776706"/>
            <a:chOff x="1395663" y="-2227877"/>
            <a:chExt cx="935406" cy="1110846"/>
          </a:xfrm>
        </p:grpSpPr>
        <p:sp>
          <p:nvSpPr>
            <p:cNvPr id="8" name="Elipse 7">
              <a:extLst>
                <a:ext uri="{FF2B5EF4-FFF2-40B4-BE49-F238E27FC236}">
                  <a16:creationId xmlns:a16="http://schemas.microsoft.com/office/drawing/2014/main" id="{4F29EE25-1959-9A50-E3E6-388B5AF22AA0}"/>
                </a:ext>
              </a:extLst>
            </p:cNvPr>
            <p:cNvSpPr/>
            <p:nvPr/>
          </p:nvSpPr>
          <p:spPr>
            <a:xfrm>
              <a:off x="1395663" y="-1828800"/>
              <a:ext cx="324000" cy="324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a:solidFill>
                    <a:srgbClr val="D85C90"/>
                  </a:solidFill>
                </a:rPr>
                <a:t>?</a:t>
              </a:r>
            </a:p>
          </p:txBody>
        </p:sp>
        <p:sp>
          <p:nvSpPr>
            <p:cNvPr id="9" name="Elipse 8">
              <a:extLst>
                <a:ext uri="{FF2B5EF4-FFF2-40B4-BE49-F238E27FC236}">
                  <a16:creationId xmlns:a16="http://schemas.microsoft.com/office/drawing/2014/main" id="{4100027C-6FA6-2333-8E8F-96EAD065361A}"/>
                </a:ext>
              </a:extLst>
            </p:cNvPr>
            <p:cNvSpPr/>
            <p:nvPr/>
          </p:nvSpPr>
          <p:spPr>
            <a:xfrm>
              <a:off x="1742399" y="-2080800"/>
              <a:ext cx="252000" cy="252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0" name="Elipse 9">
              <a:extLst>
                <a:ext uri="{FF2B5EF4-FFF2-40B4-BE49-F238E27FC236}">
                  <a16:creationId xmlns:a16="http://schemas.microsoft.com/office/drawing/2014/main" id="{485FAC56-DC96-9C49-B1D6-321B2178D7A6}"/>
                </a:ext>
              </a:extLst>
            </p:cNvPr>
            <p:cNvSpPr/>
            <p:nvPr/>
          </p:nvSpPr>
          <p:spPr>
            <a:xfrm>
              <a:off x="1742399" y="-1504800"/>
              <a:ext cx="252000" cy="252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cxnSp>
          <p:nvCxnSpPr>
            <p:cNvPr id="11" name="Conector recto 10">
              <a:extLst>
                <a:ext uri="{FF2B5EF4-FFF2-40B4-BE49-F238E27FC236}">
                  <a16:creationId xmlns:a16="http://schemas.microsoft.com/office/drawing/2014/main" id="{6466B324-931B-EC5E-A6B5-9FE9EE071FDF}"/>
                </a:ext>
              </a:extLst>
            </p:cNvPr>
            <p:cNvCxnSpPr>
              <a:stCxn id="8" idx="7"/>
              <a:endCxn id="9" idx="3"/>
            </p:cNvCxnSpPr>
            <p:nvPr/>
          </p:nvCxnSpPr>
          <p:spPr>
            <a:xfrm flipV="1">
              <a:off x="1672214" y="-1865705"/>
              <a:ext cx="107090" cy="84354"/>
            </a:xfrm>
            <a:prstGeom prst="line">
              <a:avLst/>
            </a:prstGeom>
            <a:ln>
              <a:solidFill>
                <a:srgbClr val="D85C9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E1E0CC0F-2679-34ED-AF83-BA5F235DBBBE}"/>
                </a:ext>
              </a:extLst>
            </p:cNvPr>
            <p:cNvCxnSpPr>
              <a:stCxn id="8" idx="5"/>
              <a:endCxn id="10" idx="1"/>
            </p:cNvCxnSpPr>
            <p:nvPr/>
          </p:nvCxnSpPr>
          <p:spPr>
            <a:xfrm>
              <a:off x="1672214" y="-1552249"/>
              <a:ext cx="107090" cy="84354"/>
            </a:xfrm>
            <a:prstGeom prst="line">
              <a:avLst/>
            </a:prstGeom>
            <a:ln>
              <a:solidFill>
                <a:srgbClr val="D85C90"/>
              </a:solidFill>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D48415CB-5E28-C13D-5024-024721C32F22}"/>
                </a:ext>
              </a:extLst>
            </p:cNvPr>
            <p:cNvSpPr/>
            <p:nvPr/>
          </p:nvSpPr>
          <p:spPr>
            <a:xfrm>
              <a:off x="2149722" y="-2227877"/>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4" name="Elipse 13">
              <a:extLst>
                <a:ext uri="{FF2B5EF4-FFF2-40B4-BE49-F238E27FC236}">
                  <a16:creationId xmlns:a16="http://schemas.microsoft.com/office/drawing/2014/main" id="{95764684-483A-F2B3-AE40-0A3B09539AF1}"/>
                </a:ext>
              </a:extLst>
            </p:cNvPr>
            <p:cNvSpPr/>
            <p:nvPr/>
          </p:nvSpPr>
          <p:spPr>
            <a:xfrm>
              <a:off x="2149722" y="-1881029"/>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5" name="Elipse 14">
              <a:extLst>
                <a:ext uri="{FF2B5EF4-FFF2-40B4-BE49-F238E27FC236}">
                  <a16:creationId xmlns:a16="http://schemas.microsoft.com/office/drawing/2014/main" id="{C3DD5AAF-DECC-B8FE-CBD5-FDB8AC614169}"/>
                </a:ext>
              </a:extLst>
            </p:cNvPr>
            <p:cNvSpPr/>
            <p:nvPr/>
          </p:nvSpPr>
          <p:spPr>
            <a:xfrm>
              <a:off x="2149722" y="-1581022"/>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6" name="Elipse 15">
              <a:extLst>
                <a:ext uri="{FF2B5EF4-FFF2-40B4-BE49-F238E27FC236}">
                  <a16:creationId xmlns:a16="http://schemas.microsoft.com/office/drawing/2014/main" id="{69C6D59D-5A53-45D1-A71D-EF2DCA8C8481}"/>
                </a:ext>
              </a:extLst>
            </p:cNvPr>
            <p:cNvSpPr/>
            <p:nvPr/>
          </p:nvSpPr>
          <p:spPr>
            <a:xfrm>
              <a:off x="2151069" y="-1297031"/>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cxnSp>
          <p:nvCxnSpPr>
            <p:cNvPr id="17" name="Conector recto 16">
              <a:extLst>
                <a:ext uri="{FF2B5EF4-FFF2-40B4-BE49-F238E27FC236}">
                  <a16:creationId xmlns:a16="http://schemas.microsoft.com/office/drawing/2014/main" id="{7C202BAD-73F4-32E1-5F45-F1E63ACB8629}"/>
                </a:ext>
              </a:extLst>
            </p:cNvPr>
            <p:cNvCxnSpPr>
              <a:cxnSpLocks/>
              <a:stCxn id="9" idx="7"/>
              <a:endCxn id="13" idx="2"/>
            </p:cNvCxnSpPr>
            <p:nvPr/>
          </p:nvCxnSpPr>
          <p:spPr>
            <a:xfrm flipV="1">
              <a:off x="1957494" y="-2137877"/>
              <a:ext cx="192228" cy="93982"/>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8486C8D4-685B-A775-FFF4-6F73A8CB1A46}"/>
                </a:ext>
              </a:extLst>
            </p:cNvPr>
            <p:cNvCxnSpPr>
              <a:cxnSpLocks/>
              <a:stCxn id="14" idx="1"/>
              <a:endCxn id="9" idx="6"/>
            </p:cNvCxnSpPr>
            <p:nvPr/>
          </p:nvCxnSpPr>
          <p:spPr>
            <a:xfrm flipH="1" flipV="1">
              <a:off x="1994399" y="-1954800"/>
              <a:ext cx="181683" cy="100131"/>
            </a:xfrm>
            <a:prstGeom prst="line">
              <a:avLst/>
            </a:prstGeom>
            <a:ln>
              <a:solidFill>
                <a:srgbClr val="D85C9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680B5ADE-2336-5D2A-FB7F-9B6737532BDF}"/>
                </a:ext>
              </a:extLst>
            </p:cNvPr>
            <p:cNvCxnSpPr>
              <a:cxnSpLocks/>
              <a:stCxn id="10" idx="6"/>
              <a:endCxn id="15" idx="2"/>
            </p:cNvCxnSpPr>
            <p:nvPr/>
          </p:nvCxnSpPr>
          <p:spPr>
            <a:xfrm flipV="1">
              <a:off x="1994399" y="-1491022"/>
              <a:ext cx="155323" cy="112222"/>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290D7BE5-FD97-F650-8866-6DE55DA3C696}"/>
                </a:ext>
              </a:extLst>
            </p:cNvPr>
            <p:cNvCxnSpPr>
              <a:cxnSpLocks/>
              <a:stCxn id="10" idx="5"/>
              <a:endCxn id="16" idx="2"/>
            </p:cNvCxnSpPr>
            <p:nvPr/>
          </p:nvCxnSpPr>
          <p:spPr>
            <a:xfrm>
              <a:off x="1957494" y="-1289705"/>
              <a:ext cx="193575" cy="82674"/>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21" name="Grupo 20">
            <a:extLst>
              <a:ext uri="{FF2B5EF4-FFF2-40B4-BE49-F238E27FC236}">
                <a16:creationId xmlns:a16="http://schemas.microsoft.com/office/drawing/2014/main" id="{C4655697-0FA4-782A-FFAC-15D9FB33B9F8}"/>
              </a:ext>
            </a:extLst>
          </p:cNvPr>
          <p:cNvGrpSpPr/>
          <p:nvPr/>
        </p:nvGrpSpPr>
        <p:grpSpPr>
          <a:xfrm>
            <a:off x="7947533" y="5447211"/>
            <a:ext cx="302897" cy="732306"/>
            <a:chOff x="2576457" y="3497729"/>
            <a:chExt cx="288000" cy="750334"/>
          </a:xfrm>
        </p:grpSpPr>
        <p:sp>
          <p:nvSpPr>
            <p:cNvPr id="22" name="Cubo 21">
              <a:extLst>
                <a:ext uri="{FF2B5EF4-FFF2-40B4-BE49-F238E27FC236}">
                  <a16:creationId xmlns:a16="http://schemas.microsoft.com/office/drawing/2014/main" id="{C2A343AF-BBB9-D19E-3991-A6B4CAAEB2CB}"/>
                </a:ext>
              </a:extLst>
            </p:cNvPr>
            <p:cNvSpPr/>
            <p:nvPr/>
          </p:nvSpPr>
          <p:spPr>
            <a:xfrm>
              <a:off x="2576457" y="3497729"/>
              <a:ext cx="288000" cy="288000"/>
            </a:xfrm>
            <a:prstGeom prst="cub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Rectángulo 22">
              <a:extLst>
                <a:ext uri="{FF2B5EF4-FFF2-40B4-BE49-F238E27FC236}">
                  <a16:creationId xmlns:a16="http://schemas.microsoft.com/office/drawing/2014/main" id="{6240A8C7-90E3-E72C-F466-CF1D5AB11445}"/>
                </a:ext>
              </a:extLst>
            </p:cNvPr>
            <p:cNvSpPr/>
            <p:nvPr/>
          </p:nvSpPr>
          <p:spPr>
            <a:xfrm>
              <a:off x="2576457" y="4032063"/>
              <a:ext cx="216000" cy="216000"/>
            </a:xfrm>
            <a:prstGeom prst="rect">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4" name="Conector recto 23">
              <a:extLst>
                <a:ext uri="{FF2B5EF4-FFF2-40B4-BE49-F238E27FC236}">
                  <a16:creationId xmlns:a16="http://schemas.microsoft.com/office/drawing/2014/main" id="{A3D10DD5-1B85-CAC3-A5BC-CA66D6BE4471}"/>
                </a:ext>
              </a:extLst>
            </p:cNvPr>
            <p:cNvCxnSpPr>
              <a:stCxn id="22" idx="3"/>
              <a:endCxn id="23" idx="0"/>
            </p:cNvCxnSpPr>
            <p:nvPr/>
          </p:nvCxnSpPr>
          <p:spPr>
            <a:xfrm>
              <a:off x="2684457" y="3785729"/>
              <a:ext cx="0" cy="246334"/>
            </a:xfrm>
            <a:prstGeom prst="line">
              <a:avLst/>
            </a:prstGeom>
            <a:ln w="63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25" name="Google Shape;462;p21">
            <a:extLst>
              <a:ext uri="{FF2B5EF4-FFF2-40B4-BE49-F238E27FC236}">
                <a16:creationId xmlns:a16="http://schemas.microsoft.com/office/drawing/2014/main" id="{4C30903A-6C4B-47BE-58BE-0AA6145A4CE4}"/>
              </a:ext>
            </a:extLst>
          </p:cNvPr>
          <p:cNvSpPr/>
          <p:nvPr/>
        </p:nvSpPr>
        <p:spPr>
          <a:xfrm>
            <a:off x="8494311" y="5325565"/>
            <a:ext cx="2002584" cy="937459"/>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bg1"/>
                </a:solidFill>
                <a:latin typeface="Calibri"/>
                <a:cs typeface="Calibri"/>
                <a:sym typeface="Calibri"/>
              </a:rPr>
              <a:t>Generalización y abstracción</a:t>
            </a:r>
            <a:endParaRPr b="1">
              <a:solidFill>
                <a:schemeClr val="bg1"/>
              </a:solidFill>
              <a:latin typeface="Calibri"/>
              <a:cs typeface="Calibri"/>
              <a:sym typeface="Arial"/>
            </a:endParaRPr>
          </a:p>
        </p:txBody>
      </p:sp>
    </p:spTree>
    <p:extLst>
      <p:ext uri="{BB962C8B-B14F-4D97-AF65-F5344CB8AC3E}">
        <p14:creationId xmlns:p14="http://schemas.microsoft.com/office/powerpoint/2010/main" val="398812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A2955B-A298-6263-A13D-7E6BCC9F486A}"/>
              </a:ext>
            </a:extLst>
          </p:cNvPr>
          <p:cNvSpPr>
            <a:spLocks noGrp="1"/>
          </p:cNvSpPr>
          <p:nvPr>
            <p:ph type="title"/>
          </p:nvPr>
        </p:nvSpPr>
        <p:spPr/>
        <p:txBody>
          <a:bodyPr/>
          <a:lstStyle/>
          <a:p>
            <a:r>
              <a:rPr lang="es-CO"/>
              <a:t>1. Análisis del problema – Aplicación</a:t>
            </a:r>
          </a:p>
        </p:txBody>
      </p:sp>
      <p:sp>
        <p:nvSpPr>
          <p:cNvPr id="3" name="Marcador de texto 2">
            <a:extLst>
              <a:ext uri="{FF2B5EF4-FFF2-40B4-BE49-F238E27FC236}">
                <a16:creationId xmlns:a16="http://schemas.microsoft.com/office/drawing/2014/main" id="{33744A8F-3E37-01D1-68B5-59FD8F8488F1}"/>
              </a:ext>
            </a:extLst>
          </p:cNvPr>
          <p:cNvSpPr>
            <a:spLocks noGrp="1"/>
          </p:cNvSpPr>
          <p:nvPr>
            <p:ph type="body" idx="1"/>
          </p:nvPr>
        </p:nvSpPr>
        <p:spPr>
          <a:xfrm>
            <a:off x="2076994" y="1240971"/>
            <a:ext cx="6810332" cy="5208319"/>
          </a:xfrm>
        </p:spPr>
        <p:txBody>
          <a:bodyPr anchor="ctr">
            <a:normAutofit fontScale="77500" lnSpcReduction="20000"/>
          </a:bodyPr>
          <a:lstStyle/>
          <a:p>
            <a:pPr marL="76200" indent="0" algn="just">
              <a:buNone/>
            </a:pPr>
            <a:r>
              <a:rPr lang="es-CO" sz="2400"/>
              <a:t>Basados en el ejemplo de “calcular el promedio de edad de los empleados de una oficina”, veamos cómo realizar el análisis del problema:</a:t>
            </a:r>
          </a:p>
          <a:p>
            <a:pPr algn="just"/>
            <a:endParaRPr lang="es-CO" sz="1200"/>
          </a:p>
          <a:p>
            <a:pPr marL="76200" indent="0" algn="just">
              <a:buNone/>
            </a:pPr>
            <a:r>
              <a:rPr lang="es-CO" sz="2400" b="1"/>
              <a:t>Objetivo: </a:t>
            </a:r>
          </a:p>
          <a:p>
            <a:pPr marL="76200" indent="0" algn="just">
              <a:buNone/>
            </a:pPr>
            <a:r>
              <a:rPr lang="es-CO" sz="2400"/>
              <a:t>Calcular el promedio de edad de los trabajadores de una oficina.</a:t>
            </a:r>
          </a:p>
          <a:p>
            <a:pPr marL="76200" indent="0" algn="just">
              <a:buNone/>
            </a:pPr>
            <a:endParaRPr lang="es-CO" sz="1200"/>
          </a:p>
          <a:p>
            <a:pPr marL="76200" indent="0" algn="just">
              <a:buNone/>
            </a:pPr>
            <a:r>
              <a:rPr lang="es-CO" sz="2400" b="1"/>
              <a:t>Datos de entrada: </a:t>
            </a:r>
          </a:p>
          <a:p>
            <a:pPr marL="76200" indent="0" algn="just">
              <a:buNone/>
            </a:pPr>
            <a:r>
              <a:rPr lang="es-CO" sz="2400"/>
              <a:t>edad del empleado 1, edad del empleado 2, edad del empleado 3, edad del empleado 4, edad del empleado 5 y edad del empleado 6.</a:t>
            </a:r>
          </a:p>
          <a:p>
            <a:pPr marL="76200" indent="0" algn="just">
              <a:buNone/>
            </a:pPr>
            <a:endParaRPr lang="es-CO" sz="1200"/>
          </a:p>
          <a:p>
            <a:pPr marL="76200" indent="0" algn="just">
              <a:buNone/>
            </a:pPr>
            <a:r>
              <a:rPr lang="es-CO" sz="2400" b="1"/>
              <a:t>Procesos / cálculos: </a:t>
            </a:r>
          </a:p>
          <a:p>
            <a:pPr marL="76200" indent="0" algn="just">
              <a:buNone/>
            </a:pPr>
            <a:r>
              <a:rPr lang="es-CO" sz="2400" dirty="0"/>
              <a:t>Leer edad </a:t>
            </a:r>
            <a:r>
              <a:rPr lang="es-CO" sz="2500"/>
              <a:t>de los empleados</a:t>
            </a:r>
            <a:r>
              <a:rPr lang="es-CO" sz="2500" dirty="0"/>
              <a:t> 1, 2, 3, 4, 5 y 6. </a:t>
            </a:r>
          </a:p>
          <a:p>
            <a:pPr marL="76200" indent="0" algn="just">
              <a:buNone/>
            </a:pPr>
            <a:r>
              <a:rPr lang="es-CO" sz="2400" dirty="0"/>
              <a:t>Sumar las edades </a:t>
            </a:r>
            <a:r>
              <a:rPr lang="es-CO" sz="2400"/>
              <a:t>de los empleados</a:t>
            </a:r>
            <a:r>
              <a:rPr lang="es-CO" sz="2400" dirty="0"/>
              <a:t> 1, 2, 3, 4, 5 y 6. </a:t>
            </a:r>
          </a:p>
          <a:p>
            <a:pPr marL="76200" indent="0" algn="just">
              <a:buNone/>
            </a:pPr>
            <a:r>
              <a:rPr lang="es-CO" sz="2400"/>
              <a:t>Dividir el total entre 6.</a:t>
            </a:r>
          </a:p>
          <a:p>
            <a:pPr marL="76200" indent="0" algn="just">
              <a:buNone/>
            </a:pPr>
            <a:endParaRPr lang="es-CO" sz="1200" b="1"/>
          </a:p>
          <a:p>
            <a:pPr marL="76200" indent="0" algn="just">
              <a:buNone/>
            </a:pPr>
            <a:r>
              <a:rPr lang="es-CO" sz="2400" b="1"/>
              <a:t>Datos de salida: </a:t>
            </a:r>
          </a:p>
          <a:p>
            <a:pPr marL="76200" indent="0" algn="just">
              <a:buNone/>
            </a:pPr>
            <a:r>
              <a:rPr lang="es-CO" sz="2400"/>
              <a:t>Promedio de edad de los 6 empleados.</a:t>
            </a:r>
          </a:p>
        </p:txBody>
      </p:sp>
      <p:sp>
        <p:nvSpPr>
          <p:cNvPr id="4" name="Marcador de número de diapositiva 3">
            <a:extLst>
              <a:ext uri="{FF2B5EF4-FFF2-40B4-BE49-F238E27FC236}">
                <a16:creationId xmlns:a16="http://schemas.microsoft.com/office/drawing/2014/main" id="{07701E26-37D3-9445-9A34-376DCB585AD4}"/>
              </a:ext>
            </a:extLst>
          </p:cNvPr>
          <p:cNvSpPr>
            <a:spLocks noGrp="1"/>
          </p:cNvSpPr>
          <p:nvPr>
            <p:ph type="sldNum" idx="12"/>
          </p:nvPr>
        </p:nvSpPr>
        <p:spPr/>
        <p:txBody>
          <a:bodyPr/>
          <a:lstStyle/>
          <a:p>
            <a:fld id="{00000000-1234-1234-1234-123412341234}" type="slidenum">
              <a:rPr lang="es-CO" smtClean="0"/>
              <a:pPr/>
              <a:t>10</a:t>
            </a:fld>
            <a:endParaRPr lang="es-CO"/>
          </a:p>
        </p:txBody>
      </p:sp>
      <p:sp>
        <p:nvSpPr>
          <p:cNvPr id="5" name="Google Shape;321;p12">
            <a:extLst>
              <a:ext uri="{FF2B5EF4-FFF2-40B4-BE49-F238E27FC236}">
                <a16:creationId xmlns:a16="http://schemas.microsoft.com/office/drawing/2014/main" id="{794FC66E-CDEB-71A4-9306-43CD3E3B624E}"/>
              </a:ext>
            </a:extLst>
          </p:cNvPr>
          <p:cNvSpPr/>
          <p:nvPr/>
        </p:nvSpPr>
        <p:spPr>
          <a:xfrm>
            <a:off x="9877195" y="1413643"/>
            <a:ext cx="1865816" cy="3226356"/>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Descomponemos el problema en problemas más pequeños, por ejemplo, recolectamos la edad de cada empleado antes de intentar calcular el promedio</a:t>
            </a:r>
            <a:endParaRPr b="1">
              <a:solidFill>
                <a:schemeClr val="dk1"/>
              </a:solidFill>
              <a:latin typeface="Calibri"/>
              <a:cs typeface="Calibri"/>
              <a:sym typeface="Arial"/>
            </a:endParaRPr>
          </a:p>
        </p:txBody>
      </p:sp>
      <p:grpSp>
        <p:nvGrpSpPr>
          <p:cNvPr id="6" name="Grupo 5">
            <a:extLst>
              <a:ext uri="{FF2B5EF4-FFF2-40B4-BE49-F238E27FC236}">
                <a16:creationId xmlns:a16="http://schemas.microsoft.com/office/drawing/2014/main" id="{2DF74D24-5146-B5F7-375B-2F450EDF0D56}"/>
              </a:ext>
            </a:extLst>
          </p:cNvPr>
          <p:cNvGrpSpPr/>
          <p:nvPr/>
        </p:nvGrpSpPr>
        <p:grpSpPr>
          <a:xfrm>
            <a:off x="9059663" y="1493117"/>
            <a:ext cx="678775" cy="776706"/>
            <a:chOff x="1395663" y="-2227877"/>
            <a:chExt cx="935406" cy="1110846"/>
          </a:xfrm>
        </p:grpSpPr>
        <p:sp>
          <p:nvSpPr>
            <p:cNvPr id="7" name="Elipse 6">
              <a:extLst>
                <a:ext uri="{FF2B5EF4-FFF2-40B4-BE49-F238E27FC236}">
                  <a16:creationId xmlns:a16="http://schemas.microsoft.com/office/drawing/2014/main" id="{551634E3-9C66-EE55-6F01-B8C37F0DCBB4}"/>
                </a:ext>
              </a:extLst>
            </p:cNvPr>
            <p:cNvSpPr/>
            <p:nvPr/>
          </p:nvSpPr>
          <p:spPr>
            <a:xfrm>
              <a:off x="1395663" y="-1828800"/>
              <a:ext cx="324000" cy="324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a:solidFill>
                    <a:srgbClr val="D85C90"/>
                  </a:solidFill>
                </a:rPr>
                <a:t>?</a:t>
              </a:r>
            </a:p>
          </p:txBody>
        </p:sp>
        <p:sp>
          <p:nvSpPr>
            <p:cNvPr id="8" name="Elipse 7">
              <a:extLst>
                <a:ext uri="{FF2B5EF4-FFF2-40B4-BE49-F238E27FC236}">
                  <a16:creationId xmlns:a16="http://schemas.microsoft.com/office/drawing/2014/main" id="{D0AD90FA-52F7-1528-DFE8-8AD2459DAE97}"/>
                </a:ext>
              </a:extLst>
            </p:cNvPr>
            <p:cNvSpPr/>
            <p:nvPr/>
          </p:nvSpPr>
          <p:spPr>
            <a:xfrm>
              <a:off x="1742399" y="-2080800"/>
              <a:ext cx="252000" cy="252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9" name="Elipse 8">
              <a:extLst>
                <a:ext uri="{FF2B5EF4-FFF2-40B4-BE49-F238E27FC236}">
                  <a16:creationId xmlns:a16="http://schemas.microsoft.com/office/drawing/2014/main" id="{4588F387-ABDB-394F-64C2-691B1DABC134}"/>
                </a:ext>
              </a:extLst>
            </p:cNvPr>
            <p:cNvSpPr/>
            <p:nvPr/>
          </p:nvSpPr>
          <p:spPr>
            <a:xfrm>
              <a:off x="1742399" y="-1504800"/>
              <a:ext cx="252000" cy="252000"/>
            </a:xfrm>
            <a:prstGeom prst="ellipse">
              <a:avLst/>
            </a:prstGeom>
            <a:no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cxnSp>
          <p:nvCxnSpPr>
            <p:cNvPr id="10" name="Conector recto 9">
              <a:extLst>
                <a:ext uri="{FF2B5EF4-FFF2-40B4-BE49-F238E27FC236}">
                  <a16:creationId xmlns:a16="http://schemas.microsoft.com/office/drawing/2014/main" id="{84E7E267-A858-F3F0-D30B-7FB4A26105B3}"/>
                </a:ext>
              </a:extLst>
            </p:cNvPr>
            <p:cNvCxnSpPr>
              <a:stCxn id="7" idx="7"/>
              <a:endCxn id="8" idx="3"/>
            </p:cNvCxnSpPr>
            <p:nvPr/>
          </p:nvCxnSpPr>
          <p:spPr>
            <a:xfrm flipV="1">
              <a:off x="1672214" y="-1865705"/>
              <a:ext cx="107090" cy="84354"/>
            </a:xfrm>
            <a:prstGeom prst="line">
              <a:avLst/>
            </a:prstGeom>
            <a:ln>
              <a:solidFill>
                <a:srgbClr val="D85C9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FDA4F048-2EC0-A5A2-557F-8C7347299DBC}"/>
                </a:ext>
              </a:extLst>
            </p:cNvPr>
            <p:cNvCxnSpPr>
              <a:stCxn id="7" idx="5"/>
              <a:endCxn id="9" idx="1"/>
            </p:cNvCxnSpPr>
            <p:nvPr/>
          </p:nvCxnSpPr>
          <p:spPr>
            <a:xfrm>
              <a:off x="1672214" y="-1552249"/>
              <a:ext cx="107090" cy="84354"/>
            </a:xfrm>
            <a:prstGeom prst="line">
              <a:avLst/>
            </a:prstGeom>
            <a:ln>
              <a:solidFill>
                <a:srgbClr val="D85C90"/>
              </a:solidFill>
            </a:ln>
          </p:spPr>
          <p:style>
            <a:lnRef idx="1">
              <a:schemeClr val="accent1"/>
            </a:lnRef>
            <a:fillRef idx="0">
              <a:schemeClr val="accent1"/>
            </a:fillRef>
            <a:effectRef idx="0">
              <a:schemeClr val="accent1"/>
            </a:effectRef>
            <a:fontRef idx="minor">
              <a:schemeClr val="tx1"/>
            </a:fontRef>
          </p:style>
        </p:cxnSp>
        <p:sp>
          <p:nvSpPr>
            <p:cNvPr id="12" name="Elipse 11">
              <a:extLst>
                <a:ext uri="{FF2B5EF4-FFF2-40B4-BE49-F238E27FC236}">
                  <a16:creationId xmlns:a16="http://schemas.microsoft.com/office/drawing/2014/main" id="{2D473A1D-F67E-0C45-3C80-68A80395CA76}"/>
                </a:ext>
              </a:extLst>
            </p:cNvPr>
            <p:cNvSpPr/>
            <p:nvPr/>
          </p:nvSpPr>
          <p:spPr>
            <a:xfrm>
              <a:off x="2149722" y="-2227877"/>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3" name="Elipse 12">
              <a:extLst>
                <a:ext uri="{FF2B5EF4-FFF2-40B4-BE49-F238E27FC236}">
                  <a16:creationId xmlns:a16="http://schemas.microsoft.com/office/drawing/2014/main" id="{0B27AC1E-76E2-4BC6-04BB-A6275C76433B}"/>
                </a:ext>
              </a:extLst>
            </p:cNvPr>
            <p:cNvSpPr/>
            <p:nvPr/>
          </p:nvSpPr>
          <p:spPr>
            <a:xfrm>
              <a:off x="2149722" y="-1881029"/>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4" name="Elipse 13">
              <a:extLst>
                <a:ext uri="{FF2B5EF4-FFF2-40B4-BE49-F238E27FC236}">
                  <a16:creationId xmlns:a16="http://schemas.microsoft.com/office/drawing/2014/main" id="{9AD9A10C-3497-D7C6-CA51-4BBE1D229781}"/>
                </a:ext>
              </a:extLst>
            </p:cNvPr>
            <p:cNvSpPr/>
            <p:nvPr/>
          </p:nvSpPr>
          <p:spPr>
            <a:xfrm>
              <a:off x="2149722" y="-1581022"/>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sp>
          <p:nvSpPr>
            <p:cNvPr id="15" name="Elipse 14">
              <a:extLst>
                <a:ext uri="{FF2B5EF4-FFF2-40B4-BE49-F238E27FC236}">
                  <a16:creationId xmlns:a16="http://schemas.microsoft.com/office/drawing/2014/main" id="{E5F1FE4C-1ECC-941D-E609-250E4A05DD9C}"/>
                </a:ext>
              </a:extLst>
            </p:cNvPr>
            <p:cNvSpPr/>
            <p:nvPr/>
          </p:nvSpPr>
          <p:spPr>
            <a:xfrm>
              <a:off x="2151069" y="-1297031"/>
              <a:ext cx="180000" cy="180000"/>
            </a:xfrm>
            <a:prstGeom prst="ellipse">
              <a:avLst/>
            </a:prstGeom>
            <a:solidFill>
              <a:srgbClr val="D85C90"/>
            </a:solidFill>
            <a:ln w="19050">
              <a:solidFill>
                <a:srgbClr val="D85C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ysClr val="windowText" lastClr="000000"/>
                </a:solidFill>
              </a:endParaRPr>
            </a:p>
          </p:txBody>
        </p:sp>
        <p:cxnSp>
          <p:nvCxnSpPr>
            <p:cNvPr id="16" name="Conector recto 15">
              <a:extLst>
                <a:ext uri="{FF2B5EF4-FFF2-40B4-BE49-F238E27FC236}">
                  <a16:creationId xmlns:a16="http://schemas.microsoft.com/office/drawing/2014/main" id="{59B7B4AD-F74E-A2FC-6BFD-0601411BEA09}"/>
                </a:ext>
              </a:extLst>
            </p:cNvPr>
            <p:cNvCxnSpPr>
              <a:cxnSpLocks/>
              <a:stCxn id="8" idx="7"/>
              <a:endCxn id="12" idx="2"/>
            </p:cNvCxnSpPr>
            <p:nvPr/>
          </p:nvCxnSpPr>
          <p:spPr>
            <a:xfrm flipV="1">
              <a:off x="1957494" y="-2137877"/>
              <a:ext cx="192228" cy="93982"/>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9DEDDE32-4FC6-EEF5-753F-522D6AFFDE36}"/>
                </a:ext>
              </a:extLst>
            </p:cNvPr>
            <p:cNvCxnSpPr>
              <a:cxnSpLocks/>
              <a:stCxn id="13" idx="1"/>
              <a:endCxn id="8" idx="6"/>
            </p:cNvCxnSpPr>
            <p:nvPr/>
          </p:nvCxnSpPr>
          <p:spPr>
            <a:xfrm flipH="1" flipV="1">
              <a:off x="1994399" y="-1954800"/>
              <a:ext cx="181683" cy="100131"/>
            </a:xfrm>
            <a:prstGeom prst="line">
              <a:avLst/>
            </a:prstGeom>
            <a:ln>
              <a:solidFill>
                <a:srgbClr val="D85C9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475B6D43-DE78-7D3D-F3B4-A12A9BCE856B}"/>
                </a:ext>
              </a:extLst>
            </p:cNvPr>
            <p:cNvCxnSpPr>
              <a:cxnSpLocks/>
              <a:stCxn id="9" idx="6"/>
              <a:endCxn id="14" idx="2"/>
            </p:cNvCxnSpPr>
            <p:nvPr/>
          </p:nvCxnSpPr>
          <p:spPr>
            <a:xfrm flipV="1">
              <a:off x="1994399" y="-1491022"/>
              <a:ext cx="155323" cy="112222"/>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B708DBE4-272C-1611-F6D0-61B06FF14B1B}"/>
                </a:ext>
              </a:extLst>
            </p:cNvPr>
            <p:cNvCxnSpPr>
              <a:cxnSpLocks/>
              <a:stCxn id="9" idx="5"/>
              <a:endCxn id="15" idx="2"/>
            </p:cNvCxnSpPr>
            <p:nvPr/>
          </p:nvCxnSpPr>
          <p:spPr>
            <a:xfrm>
              <a:off x="1957494" y="-1289705"/>
              <a:ext cx="193575" cy="82674"/>
            </a:xfrm>
            <a:prstGeom prst="line">
              <a:avLst/>
            </a:prstGeom>
            <a:ln>
              <a:solidFill>
                <a:srgbClr val="D85C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20" name="Google Shape;321;p12">
            <a:extLst>
              <a:ext uri="{FF2B5EF4-FFF2-40B4-BE49-F238E27FC236}">
                <a16:creationId xmlns:a16="http://schemas.microsoft.com/office/drawing/2014/main" id="{B03A623A-DC29-D98E-8F97-C513E9455B32}"/>
              </a:ext>
            </a:extLst>
          </p:cNvPr>
          <p:cNvSpPr/>
          <p:nvPr/>
        </p:nvSpPr>
        <p:spPr>
          <a:xfrm>
            <a:off x="9829597" y="5107481"/>
            <a:ext cx="1884630" cy="1324850"/>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Omitimos detalles como el nombre y el cargo de los empleados</a:t>
            </a:r>
            <a:endParaRPr b="1">
              <a:solidFill>
                <a:schemeClr val="dk1"/>
              </a:solidFill>
              <a:latin typeface="Calibri"/>
              <a:cs typeface="Calibri"/>
              <a:sym typeface="Arial"/>
            </a:endParaRPr>
          </a:p>
        </p:txBody>
      </p:sp>
      <p:grpSp>
        <p:nvGrpSpPr>
          <p:cNvPr id="21" name="Grupo 20">
            <a:extLst>
              <a:ext uri="{FF2B5EF4-FFF2-40B4-BE49-F238E27FC236}">
                <a16:creationId xmlns:a16="http://schemas.microsoft.com/office/drawing/2014/main" id="{B9C7D661-2EE2-1964-314B-BA0D6E8AD10B}"/>
              </a:ext>
            </a:extLst>
          </p:cNvPr>
          <p:cNvGrpSpPr/>
          <p:nvPr/>
        </p:nvGrpSpPr>
        <p:grpSpPr>
          <a:xfrm>
            <a:off x="9311271" y="5201788"/>
            <a:ext cx="302897" cy="732306"/>
            <a:chOff x="2576457" y="3497729"/>
            <a:chExt cx="288000" cy="750334"/>
          </a:xfrm>
        </p:grpSpPr>
        <p:sp>
          <p:nvSpPr>
            <p:cNvPr id="22" name="Cubo 21">
              <a:extLst>
                <a:ext uri="{FF2B5EF4-FFF2-40B4-BE49-F238E27FC236}">
                  <a16:creationId xmlns:a16="http://schemas.microsoft.com/office/drawing/2014/main" id="{9D8ACF63-1D28-CCB3-91D3-5FCB81B99972}"/>
                </a:ext>
              </a:extLst>
            </p:cNvPr>
            <p:cNvSpPr/>
            <p:nvPr/>
          </p:nvSpPr>
          <p:spPr>
            <a:xfrm>
              <a:off x="2576457" y="3497729"/>
              <a:ext cx="288000" cy="288000"/>
            </a:xfrm>
            <a:prstGeom prst="cub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Rectángulo 22">
              <a:extLst>
                <a:ext uri="{FF2B5EF4-FFF2-40B4-BE49-F238E27FC236}">
                  <a16:creationId xmlns:a16="http://schemas.microsoft.com/office/drawing/2014/main" id="{27859590-E499-90D4-E1B6-52BCD36602C9}"/>
                </a:ext>
              </a:extLst>
            </p:cNvPr>
            <p:cNvSpPr/>
            <p:nvPr/>
          </p:nvSpPr>
          <p:spPr>
            <a:xfrm>
              <a:off x="2576457" y="4032063"/>
              <a:ext cx="216000" cy="216000"/>
            </a:xfrm>
            <a:prstGeom prst="rect">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4" name="Conector recto 23">
              <a:extLst>
                <a:ext uri="{FF2B5EF4-FFF2-40B4-BE49-F238E27FC236}">
                  <a16:creationId xmlns:a16="http://schemas.microsoft.com/office/drawing/2014/main" id="{359583F0-2B78-60B9-9883-C048330D710B}"/>
                </a:ext>
              </a:extLst>
            </p:cNvPr>
            <p:cNvCxnSpPr>
              <a:stCxn id="22" idx="3"/>
              <a:endCxn id="23" idx="0"/>
            </p:cNvCxnSpPr>
            <p:nvPr/>
          </p:nvCxnSpPr>
          <p:spPr>
            <a:xfrm>
              <a:off x="2684457" y="3785729"/>
              <a:ext cx="0" cy="246334"/>
            </a:xfrm>
            <a:prstGeom prst="line">
              <a:avLst/>
            </a:prstGeom>
            <a:ln w="63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4553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27AC7C-8BCB-3C26-72C8-95C74770ADF7}"/>
              </a:ext>
            </a:extLst>
          </p:cNvPr>
          <p:cNvSpPr>
            <a:spLocks noGrp="1"/>
          </p:cNvSpPr>
          <p:nvPr>
            <p:ph type="title"/>
          </p:nvPr>
        </p:nvSpPr>
        <p:spPr/>
        <p:txBody>
          <a:bodyPr/>
          <a:lstStyle/>
          <a:p>
            <a:r>
              <a:rPr lang="es-CO"/>
              <a:t>2. Diseño de la solución</a:t>
            </a:r>
          </a:p>
        </p:txBody>
      </p:sp>
      <p:sp>
        <p:nvSpPr>
          <p:cNvPr id="3" name="Marcador de texto 2">
            <a:extLst>
              <a:ext uri="{FF2B5EF4-FFF2-40B4-BE49-F238E27FC236}">
                <a16:creationId xmlns:a16="http://schemas.microsoft.com/office/drawing/2014/main" id="{1BFC47B2-3FCE-1CB9-89C8-FD658903DE52}"/>
              </a:ext>
            </a:extLst>
          </p:cNvPr>
          <p:cNvSpPr>
            <a:spLocks noGrp="1"/>
          </p:cNvSpPr>
          <p:nvPr>
            <p:ph type="body" idx="1"/>
          </p:nvPr>
        </p:nvSpPr>
        <p:spPr>
          <a:xfrm>
            <a:off x="2076994" y="1410789"/>
            <a:ext cx="9666016" cy="1768829"/>
          </a:xfrm>
        </p:spPr>
        <p:txBody>
          <a:bodyPr>
            <a:normAutofit/>
          </a:bodyPr>
          <a:lstStyle/>
          <a:p>
            <a:pPr marL="76200" indent="0" algn="just">
              <a:buNone/>
            </a:pPr>
            <a:r>
              <a:rPr lang="es-CO" sz="2200"/>
              <a:t>El diseño de la solución consiste en realizar un diseño del algoritmo para resolver el problema analizado previamente. Para este diseño podemos usar estrategias como escribir los pasos, </a:t>
            </a:r>
            <a:r>
              <a:rPr lang="es-CO" sz="2200" b="1"/>
              <a:t>diagramas de flujo</a:t>
            </a:r>
            <a:r>
              <a:rPr lang="es-CO" sz="2200"/>
              <a:t>, o seudocódigo.</a:t>
            </a:r>
          </a:p>
        </p:txBody>
      </p:sp>
      <p:sp>
        <p:nvSpPr>
          <p:cNvPr id="4" name="Marcador de número de diapositiva 3">
            <a:extLst>
              <a:ext uri="{FF2B5EF4-FFF2-40B4-BE49-F238E27FC236}">
                <a16:creationId xmlns:a16="http://schemas.microsoft.com/office/drawing/2014/main" id="{3ECCB9CA-B301-EB75-9C08-DC7A2692B887}"/>
              </a:ext>
            </a:extLst>
          </p:cNvPr>
          <p:cNvSpPr>
            <a:spLocks noGrp="1"/>
          </p:cNvSpPr>
          <p:nvPr>
            <p:ph type="sldNum" idx="12"/>
          </p:nvPr>
        </p:nvSpPr>
        <p:spPr/>
        <p:txBody>
          <a:bodyPr/>
          <a:lstStyle/>
          <a:p>
            <a:fld id="{00000000-1234-1234-1234-123412341234}" type="slidenum">
              <a:rPr lang="es-CO" smtClean="0"/>
              <a:pPr/>
              <a:t>11</a:t>
            </a:fld>
            <a:endParaRPr lang="es-CO"/>
          </a:p>
        </p:txBody>
      </p:sp>
      <p:pic>
        <p:nvPicPr>
          <p:cNvPr id="1026" name="Picture 2">
            <a:extLst>
              <a:ext uri="{FF2B5EF4-FFF2-40B4-BE49-F238E27FC236}">
                <a16:creationId xmlns:a16="http://schemas.microsoft.com/office/drawing/2014/main" id="{DBEF1101-F3A8-22BA-6CAD-31C1980DD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7778" y="2900217"/>
            <a:ext cx="3605232" cy="3173324"/>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321;p12">
            <a:extLst>
              <a:ext uri="{FF2B5EF4-FFF2-40B4-BE49-F238E27FC236}">
                <a16:creationId xmlns:a16="http://schemas.microsoft.com/office/drawing/2014/main" id="{5B895452-B9D3-1CB7-75D9-B1437F0A9630}"/>
              </a:ext>
            </a:extLst>
          </p:cNvPr>
          <p:cNvSpPr/>
          <p:nvPr/>
        </p:nvSpPr>
        <p:spPr>
          <a:xfrm>
            <a:off x="2633826" y="3357868"/>
            <a:ext cx="5279247" cy="826278"/>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¿Qué pilares del PC podríamos aplicar en esta etapa?</a:t>
            </a:r>
            <a:endParaRPr b="1">
              <a:solidFill>
                <a:schemeClr val="dk1"/>
              </a:solidFill>
              <a:latin typeface="Calibri"/>
              <a:cs typeface="Calibri"/>
              <a:sym typeface="Arial"/>
            </a:endParaRPr>
          </a:p>
        </p:txBody>
      </p:sp>
      <p:sp>
        <p:nvSpPr>
          <p:cNvPr id="7" name="Google Shape;462;p21">
            <a:extLst>
              <a:ext uri="{FF2B5EF4-FFF2-40B4-BE49-F238E27FC236}">
                <a16:creationId xmlns:a16="http://schemas.microsoft.com/office/drawing/2014/main" id="{C6555C30-4947-A0E2-8446-DCC628E0848B}"/>
              </a:ext>
            </a:extLst>
          </p:cNvPr>
          <p:cNvSpPr/>
          <p:nvPr/>
        </p:nvSpPr>
        <p:spPr>
          <a:xfrm>
            <a:off x="3310470" y="4756758"/>
            <a:ext cx="1783385" cy="937459"/>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bg1"/>
                </a:solidFill>
                <a:latin typeface="Calibri"/>
                <a:cs typeface="Calibri"/>
                <a:sym typeface="Calibri"/>
              </a:rPr>
              <a:t>Reconocimiento de patrones</a:t>
            </a:r>
            <a:endParaRPr b="1">
              <a:solidFill>
                <a:schemeClr val="bg1"/>
              </a:solidFill>
              <a:latin typeface="Calibri"/>
              <a:cs typeface="Calibri"/>
              <a:sym typeface="Arial"/>
            </a:endParaRPr>
          </a:p>
        </p:txBody>
      </p:sp>
      <p:grpSp>
        <p:nvGrpSpPr>
          <p:cNvPr id="5" name="Grupo 4">
            <a:extLst>
              <a:ext uri="{FF2B5EF4-FFF2-40B4-BE49-F238E27FC236}">
                <a16:creationId xmlns:a16="http://schemas.microsoft.com/office/drawing/2014/main" id="{3C5DE252-F349-1402-6979-E944BE8684E3}"/>
              </a:ext>
            </a:extLst>
          </p:cNvPr>
          <p:cNvGrpSpPr/>
          <p:nvPr/>
        </p:nvGrpSpPr>
        <p:grpSpPr>
          <a:xfrm>
            <a:off x="2545164" y="4925563"/>
            <a:ext cx="655132" cy="599847"/>
            <a:chOff x="1905451" y="4547865"/>
            <a:chExt cx="788771" cy="701498"/>
          </a:xfrm>
        </p:grpSpPr>
        <p:sp>
          <p:nvSpPr>
            <p:cNvPr id="8" name="Rectángulo 7">
              <a:extLst>
                <a:ext uri="{FF2B5EF4-FFF2-40B4-BE49-F238E27FC236}">
                  <a16:creationId xmlns:a16="http://schemas.microsoft.com/office/drawing/2014/main" id="{6DD81AA4-DE28-6632-BBB4-96586CD4D890}"/>
                </a:ext>
              </a:extLst>
            </p:cNvPr>
            <p:cNvSpPr/>
            <p:nvPr/>
          </p:nvSpPr>
          <p:spPr>
            <a:xfrm>
              <a:off x="1905451" y="4547865"/>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Elipse 8">
              <a:extLst>
                <a:ext uri="{FF2B5EF4-FFF2-40B4-BE49-F238E27FC236}">
                  <a16:creationId xmlns:a16="http://schemas.microsoft.com/office/drawing/2014/main" id="{9B5DEE1E-9F62-4862-EDD1-9AEDE4746CB4}"/>
                </a:ext>
              </a:extLst>
            </p:cNvPr>
            <p:cNvSpPr/>
            <p:nvPr/>
          </p:nvSpPr>
          <p:spPr>
            <a:xfrm>
              <a:off x="1944794" y="4586670"/>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Elipse 9">
              <a:extLst>
                <a:ext uri="{FF2B5EF4-FFF2-40B4-BE49-F238E27FC236}">
                  <a16:creationId xmlns:a16="http://schemas.microsoft.com/office/drawing/2014/main" id="{CC8DE8F4-6063-639A-1FBE-F4D82B521602}"/>
                </a:ext>
              </a:extLst>
            </p:cNvPr>
            <p:cNvSpPr/>
            <p:nvPr/>
          </p:nvSpPr>
          <p:spPr>
            <a:xfrm>
              <a:off x="2101168" y="4586670"/>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Elipse 10">
              <a:extLst>
                <a:ext uri="{FF2B5EF4-FFF2-40B4-BE49-F238E27FC236}">
                  <a16:creationId xmlns:a16="http://schemas.microsoft.com/office/drawing/2014/main" id="{FBA3BE81-1D68-F55C-65FF-55A7362C81EA}"/>
                </a:ext>
              </a:extLst>
            </p:cNvPr>
            <p:cNvSpPr/>
            <p:nvPr/>
          </p:nvSpPr>
          <p:spPr>
            <a:xfrm>
              <a:off x="1944794" y="4731615"/>
              <a:ext cx="98457" cy="10870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Elipse 11">
              <a:extLst>
                <a:ext uri="{FF2B5EF4-FFF2-40B4-BE49-F238E27FC236}">
                  <a16:creationId xmlns:a16="http://schemas.microsoft.com/office/drawing/2014/main" id="{5F7ADE7C-BE4E-EA68-6B51-D8D8AFF42F34}"/>
                </a:ext>
              </a:extLst>
            </p:cNvPr>
            <p:cNvSpPr/>
            <p:nvPr/>
          </p:nvSpPr>
          <p:spPr>
            <a:xfrm>
              <a:off x="2101168" y="4731615"/>
              <a:ext cx="98457" cy="10870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Rectángulo 12">
              <a:extLst>
                <a:ext uri="{FF2B5EF4-FFF2-40B4-BE49-F238E27FC236}">
                  <a16:creationId xmlns:a16="http://schemas.microsoft.com/office/drawing/2014/main" id="{0975A025-1268-9CC4-5DEA-D14A847AD76C}"/>
                </a:ext>
              </a:extLst>
            </p:cNvPr>
            <p:cNvSpPr/>
            <p:nvPr/>
          </p:nvSpPr>
          <p:spPr>
            <a:xfrm>
              <a:off x="1913528" y="4920668"/>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Elipse 13">
              <a:extLst>
                <a:ext uri="{FF2B5EF4-FFF2-40B4-BE49-F238E27FC236}">
                  <a16:creationId xmlns:a16="http://schemas.microsoft.com/office/drawing/2014/main" id="{B4EFD06F-DF8E-4FBD-A52B-15670A202D4D}"/>
                </a:ext>
              </a:extLst>
            </p:cNvPr>
            <p:cNvSpPr/>
            <p:nvPr/>
          </p:nvSpPr>
          <p:spPr>
            <a:xfrm>
              <a:off x="1952871"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Elipse 14">
              <a:extLst>
                <a:ext uri="{FF2B5EF4-FFF2-40B4-BE49-F238E27FC236}">
                  <a16:creationId xmlns:a16="http://schemas.microsoft.com/office/drawing/2014/main" id="{61B448AE-8521-FFD6-3DE7-593D746B9635}"/>
                </a:ext>
              </a:extLst>
            </p:cNvPr>
            <p:cNvSpPr/>
            <p:nvPr/>
          </p:nvSpPr>
          <p:spPr>
            <a:xfrm>
              <a:off x="2109245"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Elipse 15">
              <a:extLst>
                <a:ext uri="{FF2B5EF4-FFF2-40B4-BE49-F238E27FC236}">
                  <a16:creationId xmlns:a16="http://schemas.microsoft.com/office/drawing/2014/main" id="{A58DA1F3-AE0B-5838-FC8E-5C481CC32155}"/>
                </a:ext>
              </a:extLst>
            </p:cNvPr>
            <p:cNvSpPr/>
            <p:nvPr/>
          </p:nvSpPr>
          <p:spPr>
            <a:xfrm>
              <a:off x="1952871" y="5104418"/>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Elipse 16">
              <a:extLst>
                <a:ext uri="{FF2B5EF4-FFF2-40B4-BE49-F238E27FC236}">
                  <a16:creationId xmlns:a16="http://schemas.microsoft.com/office/drawing/2014/main" id="{E4790F31-29D7-6E89-3BB7-8FA1548A871B}"/>
                </a:ext>
              </a:extLst>
            </p:cNvPr>
            <p:cNvSpPr/>
            <p:nvPr/>
          </p:nvSpPr>
          <p:spPr>
            <a:xfrm>
              <a:off x="2109245" y="5104418"/>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A1D60D9C-4EBA-416F-94EE-7B98EF0E176C}"/>
                </a:ext>
              </a:extLst>
            </p:cNvPr>
            <p:cNvSpPr/>
            <p:nvPr/>
          </p:nvSpPr>
          <p:spPr>
            <a:xfrm>
              <a:off x="2360681" y="4547865"/>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Elipse 18">
              <a:extLst>
                <a:ext uri="{FF2B5EF4-FFF2-40B4-BE49-F238E27FC236}">
                  <a16:creationId xmlns:a16="http://schemas.microsoft.com/office/drawing/2014/main" id="{32C1A751-91CA-208F-B1CB-18148832B19A}"/>
                </a:ext>
              </a:extLst>
            </p:cNvPr>
            <p:cNvSpPr/>
            <p:nvPr/>
          </p:nvSpPr>
          <p:spPr>
            <a:xfrm>
              <a:off x="2400024" y="4586670"/>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Elipse 19">
              <a:extLst>
                <a:ext uri="{FF2B5EF4-FFF2-40B4-BE49-F238E27FC236}">
                  <a16:creationId xmlns:a16="http://schemas.microsoft.com/office/drawing/2014/main" id="{291450BE-9943-3FDA-BCB1-A99B5D7E5EB5}"/>
                </a:ext>
              </a:extLst>
            </p:cNvPr>
            <p:cNvSpPr/>
            <p:nvPr/>
          </p:nvSpPr>
          <p:spPr>
            <a:xfrm>
              <a:off x="2556398" y="4586670"/>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Elipse 20">
              <a:extLst>
                <a:ext uri="{FF2B5EF4-FFF2-40B4-BE49-F238E27FC236}">
                  <a16:creationId xmlns:a16="http://schemas.microsoft.com/office/drawing/2014/main" id="{F1ED3C20-2DB8-A0F8-3581-7BCEF2E1F427}"/>
                </a:ext>
              </a:extLst>
            </p:cNvPr>
            <p:cNvSpPr/>
            <p:nvPr/>
          </p:nvSpPr>
          <p:spPr>
            <a:xfrm>
              <a:off x="2400024" y="4731615"/>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Elipse 21">
              <a:extLst>
                <a:ext uri="{FF2B5EF4-FFF2-40B4-BE49-F238E27FC236}">
                  <a16:creationId xmlns:a16="http://schemas.microsoft.com/office/drawing/2014/main" id="{755FEB96-A458-5812-848C-51584ADDD071}"/>
                </a:ext>
              </a:extLst>
            </p:cNvPr>
            <p:cNvSpPr/>
            <p:nvPr/>
          </p:nvSpPr>
          <p:spPr>
            <a:xfrm>
              <a:off x="2556398" y="4731615"/>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Rectángulo 22">
              <a:extLst>
                <a:ext uri="{FF2B5EF4-FFF2-40B4-BE49-F238E27FC236}">
                  <a16:creationId xmlns:a16="http://schemas.microsoft.com/office/drawing/2014/main" id="{C826AF0F-03D5-CA63-0FB3-0D352BC99684}"/>
                </a:ext>
              </a:extLst>
            </p:cNvPr>
            <p:cNvSpPr/>
            <p:nvPr/>
          </p:nvSpPr>
          <p:spPr>
            <a:xfrm>
              <a:off x="2366030" y="4920668"/>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Elipse 23">
              <a:extLst>
                <a:ext uri="{FF2B5EF4-FFF2-40B4-BE49-F238E27FC236}">
                  <a16:creationId xmlns:a16="http://schemas.microsoft.com/office/drawing/2014/main" id="{02D4864C-207A-ADF9-628D-11F2E8327E76}"/>
                </a:ext>
              </a:extLst>
            </p:cNvPr>
            <p:cNvSpPr/>
            <p:nvPr/>
          </p:nvSpPr>
          <p:spPr>
            <a:xfrm>
              <a:off x="2405373"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Elipse 24">
              <a:extLst>
                <a:ext uri="{FF2B5EF4-FFF2-40B4-BE49-F238E27FC236}">
                  <a16:creationId xmlns:a16="http://schemas.microsoft.com/office/drawing/2014/main" id="{CD211E67-F4DE-F085-E238-965BF4DF5DA3}"/>
                </a:ext>
              </a:extLst>
            </p:cNvPr>
            <p:cNvSpPr/>
            <p:nvPr/>
          </p:nvSpPr>
          <p:spPr>
            <a:xfrm>
              <a:off x="2561747"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Elipse 25">
              <a:extLst>
                <a:ext uri="{FF2B5EF4-FFF2-40B4-BE49-F238E27FC236}">
                  <a16:creationId xmlns:a16="http://schemas.microsoft.com/office/drawing/2014/main" id="{359BB640-6C92-B71D-7A17-00A3B89661F1}"/>
                </a:ext>
              </a:extLst>
            </p:cNvPr>
            <p:cNvSpPr/>
            <p:nvPr/>
          </p:nvSpPr>
          <p:spPr>
            <a:xfrm>
              <a:off x="2405373" y="5104418"/>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Elipse 26">
              <a:extLst>
                <a:ext uri="{FF2B5EF4-FFF2-40B4-BE49-F238E27FC236}">
                  <a16:creationId xmlns:a16="http://schemas.microsoft.com/office/drawing/2014/main" id="{C5769CAB-35F4-1038-2B20-8450583BB491}"/>
                </a:ext>
              </a:extLst>
            </p:cNvPr>
            <p:cNvSpPr/>
            <p:nvPr/>
          </p:nvSpPr>
          <p:spPr>
            <a:xfrm>
              <a:off x="2561747" y="5104418"/>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8" name="Conector recto 27">
              <a:extLst>
                <a:ext uri="{FF2B5EF4-FFF2-40B4-BE49-F238E27FC236}">
                  <a16:creationId xmlns:a16="http://schemas.microsoft.com/office/drawing/2014/main" id="{5E84DAEC-CCC5-764A-9785-F39D9F00D6E6}"/>
                </a:ext>
              </a:extLst>
            </p:cNvPr>
            <p:cNvCxnSpPr>
              <a:cxnSpLocks/>
              <a:stCxn id="13" idx="3"/>
              <a:endCxn id="23" idx="1"/>
            </p:cNvCxnSpPr>
            <p:nvPr/>
          </p:nvCxnSpPr>
          <p:spPr>
            <a:xfrm>
              <a:off x="2241720" y="5085016"/>
              <a:ext cx="124310" cy="0"/>
            </a:xfrm>
            <a:prstGeom prst="line">
              <a:avLst/>
            </a:prstGeom>
            <a:ln w="63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CB7F1D6A-DCEC-D43C-5EAA-5F8660BFD97F}"/>
                </a:ext>
              </a:extLst>
            </p:cNvPr>
            <p:cNvCxnSpPr>
              <a:cxnSpLocks/>
            </p:cNvCxnSpPr>
            <p:nvPr/>
          </p:nvCxnSpPr>
          <p:spPr>
            <a:xfrm>
              <a:off x="2236404" y="4732496"/>
              <a:ext cx="124310" cy="0"/>
            </a:xfrm>
            <a:prstGeom prst="line">
              <a:avLst/>
            </a:prstGeom>
            <a:ln w="63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0" name="Grupo 29">
            <a:extLst>
              <a:ext uri="{FF2B5EF4-FFF2-40B4-BE49-F238E27FC236}">
                <a16:creationId xmlns:a16="http://schemas.microsoft.com/office/drawing/2014/main" id="{F26FA1B2-C386-D147-ADD8-2A6A279E1544}"/>
              </a:ext>
            </a:extLst>
          </p:cNvPr>
          <p:cNvGrpSpPr/>
          <p:nvPr/>
        </p:nvGrpSpPr>
        <p:grpSpPr>
          <a:xfrm>
            <a:off x="5740209" y="4756758"/>
            <a:ext cx="343362" cy="973460"/>
            <a:chOff x="1562986" y="5624623"/>
            <a:chExt cx="260497" cy="810205"/>
          </a:xfrm>
        </p:grpSpPr>
        <p:sp>
          <p:nvSpPr>
            <p:cNvPr id="31" name="Elipse 30">
              <a:extLst>
                <a:ext uri="{FF2B5EF4-FFF2-40B4-BE49-F238E27FC236}">
                  <a16:creationId xmlns:a16="http://schemas.microsoft.com/office/drawing/2014/main" id="{DAB76AF7-9F8A-3374-B08A-3F1DB4D00DA4}"/>
                </a:ext>
              </a:extLst>
            </p:cNvPr>
            <p:cNvSpPr/>
            <p:nvPr/>
          </p:nvSpPr>
          <p:spPr>
            <a:xfrm>
              <a:off x="1637414" y="5624623"/>
              <a:ext cx="111642" cy="111642"/>
            </a:xfrm>
            <a:prstGeom prst="ellipse">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Elipse 31">
              <a:extLst>
                <a:ext uri="{FF2B5EF4-FFF2-40B4-BE49-F238E27FC236}">
                  <a16:creationId xmlns:a16="http://schemas.microsoft.com/office/drawing/2014/main" id="{DFF30816-F3FD-3161-28E4-5220C9519BDC}"/>
                </a:ext>
              </a:extLst>
            </p:cNvPr>
            <p:cNvSpPr/>
            <p:nvPr/>
          </p:nvSpPr>
          <p:spPr>
            <a:xfrm>
              <a:off x="1640072" y="6323186"/>
              <a:ext cx="111642" cy="111642"/>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Rectángulo: esquinas redondeadas 32">
              <a:extLst>
                <a:ext uri="{FF2B5EF4-FFF2-40B4-BE49-F238E27FC236}">
                  <a16:creationId xmlns:a16="http://schemas.microsoft.com/office/drawing/2014/main" id="{6EBCC056-7A22-6970-BF8E-0955E890A6A4}"/>
                </a:ext>
              </a:extLst>
            </p:cNvPr>
            <p:cNvSpPr/>
            <p:nvPr/>
          </p:nvSpPr>
          <p:spPr>
            <a:xfrm>
              <a:off x="1562986" y="5853222"/>
              <a:ext cx="260497" cy="111642"/>
            </a:xfrm>
            <a:prstGeom prst="roundRect">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4" name="Conector recto de flecha 33">
              <a:extLst>
                <a:ext uri="{FF2B5EF4-FFF2-40B4-BE49-F238E27FC236}">
                  <a16:creationId xmlns:a16="http://schemas.microsoft.com/office/drawing/2014/main" id="{CF261583-E370-9D1F-5C4B-537857E62B6C}"/>
                </a:ext>
              </a:extLst>
            </p:cNvPr>
            <p:cNvCxnSpPr>
              <a:stCxn id="31" idx="4"/>
              <a:endCxn id="33" idx="0"/>
            </p:cNvCxnSpPr>
            <p:nvPr/>
          </p:nvCxnSpPr>
          <p:spPr>
            <a:xfrm>
              <a:off x="1693235" y="5736265"/>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Rombo 34">
              <a:extLst>
                <a:ext uri="{FF2B5EF4-FFF2-40B4-BE49-F238E27FC236}">
                  <a16:creationId xmlns:a16="http://schemas.microsoft.com/office/drawing/2014/main" id="{DC507691-E96E-DE57-63CD-6FE4F359410D}"/>
                </a:ext>
              </a:extLst>
            </p:cNvPr>
            <p:cNvSpPr/>
            <p:nvPr/>
          </p:nvSpPr>
          <p:spPr>
            <a:xfrm>
              <a:off x="1626782" y="6076510"/>
              <a:ext cx="122274" cy="123336"/>
            </a:xfrm>
            <a:prstGeom prst="diamond">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36" name="Conector recto de flecha 35">
              <a:extLst>
                <a:ext uri="{FF2B5EF4-FFF2-40B4-BE49-F238E27FC236}">
                  <a16:creationId xmlns:a16="http://schemas.microsoft.com/office/drawing/2014/main" id="{4FD5862B-22B9-5E0D-BFB7-CB3A83D3397C}"/>
                </a:ext>
              </a:extLst>
            </p:cNvPr>
            <p:cNvCxnSpPr/>
            <p:nvPr/>
          </p:nvCxnSpPr>
          <p:spPr>
            <a:xfrm>
              <a:off x="1688805" y="5964864"/>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AC686228-AF85-2AAC-B8BD-BB93393A1F30}"/>
                </a:ext>
              </a:extLst>
            </p:cNvPr>
            <p:cNvCxnSpPr/>
            <p:nvPr/>
          </p:nvCxnSpPr>
          <p:spPr>
            <a:xfrm>
              <a:off x="1687919" y="6199846"/>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8" name="Conector: angular 37">
              <a:extLst>
                <a:ext uri="{FF2B5EF4-FFF2-40B4-BE49-F238E27FC236}">
                  <a16:creationId xmlns:a16="http://schemas.microsoft.com/office/drawing/2014/main" id="{CB98EB2B-BA34-4269-2492-0392EFFEA99C}"/>
                </a:ext>
              </a:extLst>
            </p:cNvPr>
            <p:cNvCxnSpPr>
              <a:stCxn id="35" idx="3"/>
              <a:endCxn id="33" idx="3"/>
            </p:cNvCxnSpPr>
            <p:nvPr/>
          </p:nvCxnSpPr>
          <p:spPr>
            <a:xfrm flipV="1">
              <a:off x="1749056" y="5909043"/>
              <a:ext cx="74427" cy="229135"/>
            </a:xfrm>
            <a:prstGeom prst="bentConnector3">
              <a:avLst>
                <a:gd name="adj1" fmla="val 250002"/>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39" name="Google Shape;462;p21">
            <a:extLst>
              <a:ext uri="{FF2B5EF4-FFF2-40B4-BE49-F238E27FC236}">
                <a16:creationId xmlns:a16="http://schemas.microsoft.com/office/drawing/2014/main" id="{EFA82E06-EE56-4EC0-A1C4-FAB894E22BCF}"/>
              </a:ext>
            </a:extLst>
          </p:cNvPr>
          <p:cNvSpPr/>
          <p:nvPr/>
        </p:nvSpPr>
        <p:spPr>
          <a:xfrm>
            <a:off x="6327876" y="4756758"/>
            <a:ext cx="1783385" cy="937459"/>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bg1"/>
                </a:solidFill>
                <a:latin typeface="Calibri"/>
                <a:cs typeface="Calibri"/>
                <a:sym typeface="Calibri"/>
              </a:rPr>
              <a:t>Lógica y algoritmia</a:t>
            </a:r>
            <a:endParaRPr b="1">
              <a:solidFill>
                <a:schemeClr val="bg1"/>
              </a:solidFill>
              <a:latin typeface="Calibri"/>
              <a:cs typeface="Calibri"/>
              <a:sym typeface="Arial"/>
            </a:endParaRPr>
          </a:p>
        </p:txBody>
      </p:sp>
    </p:spTree>
    <p:extLst>
      <p:ext uri="{BB962C8B-B14F-4D97-AF65-F5344CB8AC3E}">
        <p14:creationId xmlns:p14="http://schemas.microsoft.com/office/powerpoint/2010/main" val="161616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27AC7C-8BCB-3C26-72C8-95C74770ADF7}"/>
              </a:ext>
            </a:extLst>
          </p:cNvPr>
          <p:cNvSpPr>
            <a:spLocks noGrp="1"/>
          </p:cNvSpPr>
          <p:nvPr>
            <p:ph type="title"/>
          </p:nvPr>
        </p:nvSpPr>
        <p:spPr/>
        <p:txBody>
          <a:bodyPr/>
          <a:lstStyle/>
          <a:p>
            <a:r>
              <a:rPr lang="es-CO"/>
              <a:t>2. Diseño de la solución – Aplicación</a:t>
            </a:r>
          </a:p>
        </p:txBody>
      </p:sp>
      <p:sp>
        <p:nvSpPr>
          <p:cNvPr id="4" name="Marcador de número de diapositiva 3">
            <a:extLst>
              <a:ext uri="{FF2B5EF4-FFF2-40B4-BE49-F238E27FC236}">
                <a16:creationId xmlns:a16="http://schemas.microsoft.com/office/drawing/2014/main" id="{3ECCB9CA-B301-EB75-9C08-DC7A2692B887}"/>
              </a:ext>
            </a:extLst>
          </p:cNvPr>
          <p:cNvSpPr>
            <a:spLocks noGrp="1"/>
          </p:cNvSpPr>
          <p:nvPr>
            <p:ph type="sldNum" idx="12"/>
          </p:nvPr>
        </p:nvSpPr>
        <p:spPr/>
        <p:txBody>
          <a:bodyPr/>
          <a:lstStyle/>
          <a:p>
            <a:fld id="{00000000-1234-1234-1234-123412341234}" type="slidenum">
              <a:rPr lang="es-CO" smtClean="0"/>
              <a:pPr/>
              <a:t>12</a:t>
            </a:fld>
            <a:endParaRPr lang="es-CO"/>
          </a:p>
        </p:txBody>
      </p:sp>
      <p:pic>
        <p:nvPicPr>
          <p:cNvPr id="8" name="Imagen 7" descr="Escala de tiempo&#10;&#10;Descripción generada automáticamente">
            <a:extLst>
              <a:ext uri="{FF2B5EF4-FFF2-40B4-BE49-F238E27FC236}">
                <a16:creationId xmlns:a16="http://schemas.microsoft.com/office/drawing/2014/main" id="{B5843500-268E-3551-73EA-71E2F02D3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916" y="2215564"/>
            <a:ext cx="4857750" cy="2305050"/>
          </a:xfrm>
          <a:prstGeom prst="rect">
            <a:avLst/>
          </a:prstGeom>
        </p:spPr>
      </p:pic>
      <p:sp>
        <p:nvSpPr>
          <p:cNvPr id="9" name="Google Shape;321;p12">
            <a:extLst>
              <a:ext uri="{FF2B5EF4-FFF2-40B4-BE49-F238E27FC236}">
                <a16:creationId xmlns:a16="http://schemas.microsoft.com/office/drawing/2014/main" id="{9568BB23-51C7-5AD9-3EE9-C8F0FBC906EA}"/>
              </a:ext>
            </a:extLst>
          </p:cNvPr>
          <p:cNvSpPr/>
          <p:nvPr/>
        </p:nvSpPr>
        <p:spPr>
          <a:xfrm>
            <a:off x="2441863" y="1257629"/>
            <a:ext cx="3823855" cy="693276"/>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Ejemplo de diseño con diagrama de flujo</a:t>
            </a:r>
            <a:endParaRPr b="1">
              <a:solidFill>
                <a:schemeClr val="dk1"/>
              </a:solidFill>
              <a:latin typeface="Calibri"/>
              <a:cs typeface="Calibri"/>
              <a:sym typeface="Arial"/>
            </a:endParaRPr>
          </a:p>
        </p:txBody>
      </p:sp>
      <p:sp>
        <p:nvSpPr>
          <p:cNvPr id="10" name="Google Shape;321;p12">
            <a:extLst>
              <a:ext uri="{FF2B5EF4-FFF2-40B4-BE49-F238E27FC236}">
                <a16:creationId xmlns:a16="http://schemas.microsoft.com/office/drawing/2014/main" id="{985C6DD1-50DE-09F3-8289-26EB74830303}"/>
              </a:ext>
            </a:extLst>
          </p:cNvPr>
          <p:cNvSpPr/>
          <p:nvPr/>
        </p:nvSpPr>
        <p:spPr>
          <a:xfrm>
            <a:off x="7680926" y="1257629"/>
            <a:ext cx="3591792" cy="693276"/>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Ejemplo de diseño con seudocódigo</a:t>
            </a:r>
            <a:endParaRPr b="1">
              <a:solidFill>
                <a:schemeClr val="dk1"/>
              </a:solidFill>
              <a:latin typeface="Calibri"/>
              <a:cs typeface="Calibri"/>
              <a:sym typeface="Arial"/>
            </a:endParaRPr>
          </a:p>
        </p:txBody>
      </p:sp>
      <p:pic>
        <p:nvPicPr>
          <p:cNvPr id="14" name="Imagen 13">
            <a:extLst>
              <a:ext uri="{FF2B5EF4-FFF2-40B4-BE49-F238E27FC236}">
                <a16:creationId xmlns:a16="http://schemas.microsoft.com/office/drawing/2014/main" id="{9EA525AA-AA37-EE8A-2EB5-B64E5416490B}"/>
              </a:ext>
            </a:extLst>
          </p:cNvPr>
          <p:cNvPicPr>
            <a:picLocks noChangeAspect="1"/>
          </p:cNvPicPr>
          <p:nvPr/>
        </p:nvPicPr>
        <p:blipFill>
          <a:blip r:embed="rId4"/>
          <a:stretch>
            <a:fillRect/>
          </a:stretch>
        </p:blipFill>
        <p:spPr>
          <a:xfrm>
            <a:off x="7092004" y="2079088"/>
            <a:ext cx="4769636" cy="2578002"/>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3" name="Google Shape;321;p12">
                <a:extLst>
                  <a:ext uri="{FF2B5EF4-FFF2-40B4-BE49-F238E27FC236}">
                    <a16:creationId xmlns:a16="http://schemas.microsoft.com/office/drawing/2014/main" id="{9AD821F7-D8F1-6048-DCB7-56DB81137E20}"/>
                  </a:ext>
                </a:extLst>
              </p:cNvPr>
              <p:cNvSpPr/>
              <p:nvPr/>
            </p:nvSpPr>
            <p:spPr>
              <a:xfrm>
                <a:off x="2691686" y="5231219"/>
                <a:ext cx="3651473" cy="1306332"/>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Usamos la fórmula para calcular el promedio, que  todos conocemos </a:t>
                </a:r>
              </a:p>
              <a:p>
                <a:pPr algn="ctr"/>
                <a14:m>
                  <m:oMathPara xmlns:m="http://schemas.openxmlformats.org/officeDocument/2006/math">
                    <m:oMathParaPr>
                      <m:jc m:val="centerGroup"/>
                    </m:oMathParaPr>
                    <m:oMath xmlns:m="http://schemas.openxmlformats.org/officeDocument/2006/math">
                      <m:acc>
                        <m:accPr>
                          <m:chr m:val="̅"/>
                          <m:ctrlPr>
                            <a:rPr lang="es-CO" b="1" i="1" smtClean="0">
                              <a:solidFill>
                                <a:schemeClr val="dk1"/>
                              </a:solidFill>
                              <a:latin typeface="Cambria Math" panose="02040503050406030204" pitchFamily="18" charset="0"/>
                              <a:sym typeface="Arial"/>
                            </a:rPr>
                          </m:ctrlPr>
                        </m:accPr>
                        <m:e>
                          <m:r>
                            <a:rPr lang="es-CO" b="1" i="1" smtClean="0">
                              <a:solidFill>
                                <a:schemeClr val="dk1"/>
                              </a:solidFill>
                              <a:latin typeface="Cambria Math" panose="02040503050406030204" pitchFamily="18" charset="0"/>
                              <a:sym typeface="Arial"/>
                            </a:rPr>
                            <m:t>𝑋</m:t>
                          </m:r>
                        </m:e>
                      </m:acc>
                      <m:r>
                        <a:rPr lang="es-CO" b="1" i="1" smtClean="0">
                          <a:solidFill>
                            <a:schemeClr val="dk1"/>
                          </a:solidFill>
                          <a:latin typeface="Cambria Math" panose="02040503050406030204" pitchFamily="18" charset="0"/>
                          <a:sym typeface="Arial"/>
                        </a:rPr>
                        <m:t>=</m:t>
                      </m:r>
                      <m:f>
                        <m:fPr>
                          <m:ctrlPr>
                            <a:rPr lang="es-CO" b="1" i="1" smtClean="0">
                              <a:solidFill>
                                <a:schemeClr val="dk1"/>
                              </a:solidFill>
                              <a:latin typeface="Cambria Math" panose="02040503050406030204" pitchFamily="18" charset="0"/>
                              <a:sym typeface="Arial"/>
                            </a:rPr>
                          </m:ctrlPr>
                        </m:fPr>
                        <m:num>
                          <m:sSub>
                            <m:sSubPr>
                              <m:ctrlPr>
                                <a:rPr lang="es-CO" b="1" i="1" smtClean="0">
                                  <a:solidFill>
                                    <a:schemeClr val="dk1"/>
                                  </a:solidFill>
                                  <a:latin typeface="Cambria Math" panose="02040503050406030204" pitchFamily="18" charset="0"/>
                                  <a:sym typeface="Arial"/>
                                </a:rPr>
                              </m:ctrlPr>
                            </m:sSubPr>
                            <m:e>
                              <m:r>
                                <a:rPr lang="es-CO" b="1" i="1" smtClean="0">
                                  <a:solidFill>
                                    <a:schemeClr val="dk1"/>
                                  </a:solidFill>
                                  <a:latin typeface="Cambria Math" panose="02040503050406030204" pitchFamily="18" charset="0"/>
                                  <a:sym typeface="Arial"/>
                                </a:rPr>
                                <m:t>𝒙</m:t>
                              </m:r>
                            </m:e>
                            <m:sub>
                              <m:r>
                                <a:rPr lang="es-CO" b="1" i="1" smtClean="0">
                                  <a:solidFill>
                                    <a:schemeClr val="dk1"/>
                                  </a:solidFill>
                                  <a:latin typeface="Cambria Math" panose="02040503050406030204" pitchFamily="18" charset="0"/>
                                  <a:sym typeface="Arial"/>
                                </a:rPr>
                                <m:t>1</m:t>
                              </m:r>
                            </m:sub>
                          </m:sSub>
                          <m:r>
                            <a:rPr lang="es-CO" b="1" i="1" smtClean="0">
                              <a:solidFill>
                                <a:schemeClr val="dk1"/>
                              </a:solidFill>
                              <a:latin typeface="Cambria Math" panose="02040503050406030204" pitchFamily="18" charset="0"/>
                              <a:sym typeface="Arial"/>
                            </a:rPr>
                            <m:t>+</m:t>
                          </m:r>
                          <m:sSub>
                            <m:sSubPr>
                              <m:ctrlPr>
                                <a:rPr lang="es-CO" b="1" i="1">
                                  <a:solidFill>
                                    <a:schemeClr val="dk1"/>
                                  </a:solidFill>
                                  <a:latin typeface="Cambria Math" panose="02040503050406030204" pitchFamily="18" charset="0"/>
                                  <a:sym typeface="Arial"/>
                                </a:rPr>
                              </m:ctrlPr>
                            </m:sSubPr>
                            <m:e>
                              <m:r>
                                <a:rPr lang="es-CO" b="1" i="1">
                                  <a:solidFill>
                                    <a:schemeClr val="dk1"/>
                                  </a:solidFill>
                                  <a:latin typeface="Cambria Math" panose="02040503050406030204" pitchFamily="18" charset="0"/>
                                  <a:sym typeface="Arial"/>
                                </a:rPr>
                                <m:t>𝒙</m:t>
                              </m:r>
                            </m:e>
                            <m:sub>
                              <m:r>
                                <a:rPr lang="es-CO" b="1" i="1" smtClean="0">
                                  <a:solidFill>
                                    <a:schemeClr val="dk1"/>
                                  </a:solidFill>
                                  <a:latin typeface="Cambria Math" panose="02040503050406030204" pitchFamily="18" charset="0"/>
                                  <a:sym typeface="Arial"/>
                                </a:rPr>
                                <m:t>𝟐</m:t>
                              </m:r>
                            </m:sub>
                          </m:sSub>
                          <m:r>
                            <a:rPr lang="es-CO" b="1" i="1" smtClean="0">
                              <a:solidFill>
                                <a:schemeClr val="dk1"/>
                              </a:solidFill>
                              <a:latin typeface="Cambria Math" panose="02040503050406030204" pitchFamily="18" charset="0"/>
                              <a:sym typeface="Arial"/>
                            </a:rPr>
                            <m:t>+</m:t>
                          </m:r>
                          <m:sSub>
                            <m:sSubPr>
                              <m:ctrlPr>
                                <a:rPr lang="es-CO" b="1" i="1">
                                  <a:solidFill>
                                    <a:schemeClr val="dk1"/>
                                  </a:solidFill>
                                  <a:latin typeface="Cambria Math" panose="02040503050406030204" pitchFamily="18" charset="0"/>
                                  <a:sym typeface="Arial"/>
                                </a:rPr>
                              </m:ctrlPr>
                            </m:sSubPr>
                            <m:e>
                              <m:r>
                                <a:rPr lang="es-CO" b="1" i="1">
                                  <a:solidFill>
                                    <a:schemeClr val="dk1"/>
                                  </a:solidFill>
                                  <a:latin typeface="Cambria Math" panose="02040503050406030204" pitchFamily="18" charset="0"/>
                                  <a:sym typeface="Arial"/>
                                </a:rPr>
                                <m:t>𝒙</m:t>
                              </m:r>
                            </m:e>
                            <m:sub>
                              <m:r>
                                <a:rPr lang="es-CO" b="1" i="1" smtClean="0">
                                  <a:solidFill>
                                    <a:schemeClr val="dk1"/>
                                  </a:solidFill>
                                  <a:latin typeface="Cambria Math" panose="02040503050406030204" pitchFamily="18" charset="0"/>
                                  <a:sym typeface="Arial"/>
                                </a:rPr>
                                <m:t>𝟑</m:t>
                              </m:r>
                            </m:sub>
                          </m:sSub>
                          <m:r>
                            <a:rPr lang="es-CO" b="1" i="1" smtClean="0">
                              <a:solidFill>
                                <a:schemeClr val="dk1"/>
                              </a:solidFill>
                              <a:latin typeface="Cambria Math" panose="02040503050406030204" pitchFamily="18" charset="0"/>
                              <a:sym typeface="Arial"/>
                            </a:rPr>
                            <m:t>+</m:t>
                          </m:r>
                          <m:sSub>
                            <m:sSubPr>
                              <m:ctrlPr>
                                <a:rPr lang="es-CO" b="1" i="1">
                                  <a:solidFill>
                                    <a:schemeClr val="dk1"/>
                                  </a:solidFill>
                                  <a:latin typeface="Cambria Math" panose="02040503050406030204" pitchFamily="18" charset="0"/>
                                  <a:sym typeface="Arial"/>
                                </a:rPr>
                              </m:ctrlPr>
                            </m:sSubPr>
                            <m:e>
                              <m:r>
                                <a:rPr lang="es-CO" b="1" i="1">
                                  <a:solidFill>
                                    <a:schemeClr val="dk1"/>
                                  </a:solidFill>
                                  <a:latin typeface="Cambria Math" panose="02040503050406030204" pitchFamily="18" charset="0"/>
                                  <a:sym typeface="Arial"/>
                                </a:rPr>
                                <m:t>𝒙</m:t>
                              </m:r>
                            </m:e>
                            <m:sub>
                              <m:r>
                                <a:rPr lang="es-CO" b="1" i="1" smtClean="0">
                                  <a:solidFill>
                                    <a:schemeClr val="dk1"/>
                                  </a:solidFill>
                                  <a:latin typeface="Cambria Math" panose="02040503050406030204" pitchFamily="18" charset="0"/>
                                  <a:sym typeface="Arial"/>
                                </a:rPr>
                                <m:t>𝟒</m:t>
                              </m:r>
                            </m:sub>
                          </m:sSub>
                          <m:r>
                            <a:rPr lang="es-CO" b="1" i="1" smtClean="0">
                              <a:solidFill>
                                <a:schemeClr val="dk1"/>
                              </a:solidFill>
                              <a:latin typeface="Cambria Math" panose="02040503050406030204" pitchFamily="18" charset="0"/>
                              <a:sym typeface="Arial"/>
                            </a:rPr>
                            <m:t>+</m:t>
                          </m:r>
                          <m:sSub>
                            <m:sSubPr>
                              <m:ctrlPr>
                                <a:rPr lang="es-CO" b="1" i="1">
                                  <a:solidFill>
                                    <a:schemeClr val="dk1"/>
                                  </a:solidFill>
                                  <a:latin typeface="Cambria Math" panose="02040503050406030204" pitchFamily="18" charset="0"/>
                                  <a:sym typeface="Arial"/>
                                </a:rPr>
                              </m:ctrlPr>
                            </m:sSubPr>
                            <m:e>
                              <m:r>
                                <a:rPr lang="es-CO" b="1" i="1">
                                  <a:solidFill>
                                    <a:schemeClr val="dk1"/>
                                  </a:solidFill>
                                  <a:latin typeface="Cambria Math" panose="02040503050406030204" pitchFamily="18" charset="0"/>
                                  <a:sym typeface="Arial"/>
                                </a:rPr>
                                <m:t>𝒙</m:t>
                              </m:r>
                            </m:e>
                            <m:sub>
                              <m:r>
                                <a:rPr lang="es-CO" b="1" i="1" smtClean="0">
                                  <a:solidFill>
                                    <a:schemeClr val="dk1"/>
                                  </a:solidFill>
                                  <a:latin typeface="Cambria Math" panose="02040503050406030204" pitchFamily="18" charset="0"/>
                                  <a:sym typeface="Arial"/>
                                </a:rPr>
                                <m:t>𝟓</m:t>
                              </m:r>
                            </m:sub>
                          </m:sSub>
                          <m:r>
                            <a:rPr lang="es-CO" b="1" i="1" smtClean="0">
                              <a:solidFill>
                                <a:schemeClr val="dk1"/>
                              </a:solidFill>
                              <a:latin typeface="Cambria Math" panose="02040503050406030204" pitchFamily="18" charset="0"/>
                              <a:sym typeface="Arial"/>
                            </a:rPr>
                            <m:t>+</m:t>
                          </m:r>
                          <m:sSub>
                            <m:sSubPr>
                              <m:ctrlPr>
                                <a:rPr lang="es-CO" b="1" i="1">
                                  <a:solidFill>
                                    <a:schemeClr val="dk1"/>
                                  </a:solidFill>
                                  <a:latin typeface="Cambria Math" panose="02040503050406030204" pitchFamily="18" charset="0"/>
                                  <a:sym typeface="Arial"/>
                                </a:rPr>
                              </m:ctrlPr>
                            </m:sSubPr>
                            <m:e>
                              <m:r>
                                <a:rPr lang="es-CO" b="1" i="1">
                                  <a:solidFill>
                                    <a:schemeClr val="dk1"/>
                                  </a:solidFill>
                                  <a:latin typeface="Cambria Math" panose="02040503050406030204" pitchFamily="18" charset="0"/>
                                  <a:sym typeface="Arial"/>
                                </a:rPr>
                                <m:t>𝒙</m:t>
                              </m:r>
                            </m:e>
                            <m:sub>
                              <m:r>
                                <a:rPr lang="es-CO" b="1" i="1" smtClean="0">
                                  <a:solidFill>
                                    <a:schemeClr val="dk1"/>
                                  </a:solidFill>
                                  <a:latin typeface="Cambria Math" panose="02040503050406030204" pitchFamily="18" charset="0"/>
                                  <a:sym typeface="Arial"/>
                                </a:rPr>
                                <m:t>𝟔</m:t>
                              </m:r>
                            </m:sub>
                          </m:sSub>
                        </m:num>
                        <m:den>
                          <m:r>
                            <a:rPr lang="es-CO" b="1" i="1" smtClean="0">
                              <a:solidFill>
                                <a:schemeClr val="dk1"/>
                              </a:solidFill>
                              <a:latin typeface="Cambria Math" panose="02040503050406030204" pitchFamily="18" charset="0"/>
                              <a:sym typeface="Arial"/>
                            </a:rPr>
                            <m:t>𝑵</m:t>
                          </m:r>
                        </m:den>
                      </m:f>
                    </m:oMath>
                  </m:oMathPara>
                </a14:m>
                <a:endParaRPr b="1">
                  <a:solidFill>
                    <a:schemeClr val="dk1"/>
                  </a:solidFill>
                  <a:latin typeface="Calibri"/>
                  <a:cs typeface="Calibri"/>
                  <a:sym typeface="Arial"/>
                </a:endParaRPr>
              </a:p>
            </p:txBody>
          </p:sp>
        </mc:Choice>
        <mc:Fallback xmlns="">
          <p:sp>
            <p:nvSpPr>
              <p:cNvPr id="3" name="Google Shape;321;p12">
                <a:extLst>
                  <a:ext uri="{FF2B5EF4-FFF2-40B4-BE49-F238E27FC236}">
                    <a16:creationId xmlns:a16="http://schemas.microsoft.com/office/drawing/2014/main" id="{9AD821F7-D8F1-6048-DCB7-56DB81137E20}"/>
                  </a:ext>
                </a:extLst>
              </p:cNvPr>
              <p:cNvSpPr>
                <a:spLocks noRot="1" noChangeAspect="1" noMove="1" noResize="1" noEditPoints="1" noAdjustHandles="1" noChangeArrowheads="1" noChangeShapeType="1" noTextEdit="1"/>
              </p:cNvSpPr>
              <p:nvPr/>
            </p:nvSpPr>
            <p:spPr>
              <a:xfrm>
                <a:off x="2691686" y="5231219"/>
                <a:ext cx="3651473" cy="1306332"/>
              </a:xfrm>
              <a:prstGeom prst="rect">
                <a:avLst/>
              </a:prstGeom>
              <a:blipFill>
                <a:blip r:embed="rId5"/>
                <a:stretch>
                  <a:fillRect/>
                </a:stretch>
              </a:blipFill>
              <a:ln>
                <a:noFill/>
              </a:ln>
              <a:effectLst>
                <a:outerShdw blurRad="38100" dist="25400" dir="5400000" rotWithShape="0">
                  <a:srgbClr val="000000">
                    <a:alpha val="63921"/>
                  </a:srgbClr>
                </a:outerShdw>
              </a:effectLst>
            </p:spPr>
            <p:txBody>
              <a:bodyPr/>
              <a:lstStyle/>
              <a:p>
                <a:r>
                  <a:rPr lang="en-US">
                    <a:noFill/>
                  </a:rPr>
                  <a:t> </a:t>
                </a:r>
              </a:p>
            </p:txBody>
          </p:sp>
        </mc:Fallback>
      </mc:AlternateContent>
      <p:grpSp>
        <p:nvGrpSpPr>
          <p:cNvPr id="25" name="Grupo 24">
            <a:extLst>
              <a:ext uri="{FF2B5EF4-FFF2-40B4-BE49-F238E27FC236}">
                <a16:creationId xmlns:a16="http://schemas.microsoft.com/office/drawing/2014/main" id="{17C0111F-3658-62A0-596B-598E78929CBD}"/>
              </a:ext>
            </a:extLst>
          </p:cNvPr>
          <p:cNvGrpSpPr/>
          <p:nvPr/>
        </p:nvGrpSpPr>
        <p:grpSpPr>
          <a:xfrm>
            <a:off x="1864875" y="5601887"/>
            <a:ext cx="655132" cy="599847"/>
            <a:chOff x="1905451" y="4547865"/>
            <a:chExt cx="788771" cy="701498"/>
          </a:xfrm>
        </p:grpSpPr>
        <p:sp>
          <p:nvSpPr>
            <p:cNvPr id="26" name="Rectángulo 25">
              <a:extLst>
                <a:ext uri="{FF2B5EF4-FFF2-40B4-BE49-F238E27FC236}">
                  <a16:creationId xmlns:a16="http://schemas.microsoft.com/office/drawing/2014/main" id="{EF89501A-C88C-CD6D-5057-E9EF84453271}"/>
                </a:ext>
              </a:extLst>
            </p:cNvPr>
            <p:cNvSpPr/>
            <p:nvPr/>
          </p:nvSpPr>
          <p:spPr>
            <a:xfrm>
              <a:off x="1905451" y="4547865"/>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Elipse 26">
              <a:extLst>
                <a:ext uri="{FF2B5EF4-FFF2-40B4-BE49-F238E27FC236}">
                  <a16:creationId xmlns:a16="http://schemas.microsoft.com/office/drawing/2014/main" id="{CFBFC400-39B1-AC55-6223-97D19EE33FC6}"/>
                </a:ext>
              </a:extLst>
            </p:cNvPr>
            <p:cNvSpPr/>
            <p:nvPr/>
          </p:nvSpPr>
          <p:spPr>
            <a:xfrm>
              <a:off x="1944794" y="4586670"/>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Elipse 27">
              <a:extLst>
                <a:ext uri="{FF2B5EF4-FFF2-40B4-BE49-F238E27FC236}">
                  <a16:creationId xmlns:a16="http://schemas.microsoft.com/office/drawing/2014/main" id="{22F4E4B9-99A1-7B3A-9DBA-4D01FDE79649}"/>
                </a:ext>
              </a:extLst>
            </p:cNvPr>
            <p:cNvSpPr/>
            <p:nvPr/>
          </p:nvSpPr>
          <p:spPr>
            <a:xfrm>
              <a:off x="2101168" y="4586670"/>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 name="Elipse 28">
              <a:extLst>
                <a:ext uri="{FF2B5EF4-FFF2-40B4-BE49-F238E27FC236}">
                  <a16:creationId xmlns:a16="http://schemas.microsoft.com/office/drawing/2014/main" id="{E896B095-42BE-565D-8177-C8BC28A3B8E4}"/>
                </a:ext>
              </a:extLst>
            </p:cNvPr>
            <p:cNvSpPr/>
            <p:nvPr/>
          </p:nvSpPr>
          <p:spPr>
            <a:xfrm>
              <a:off x="1944794" y="4731615"/>
              <a:ext cx="98457" cy="10870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0" name="Elipse 29">
              <a:extLst>
                <a:ext uri="{FF2B5EF4-FFF2-40B4-BE49-F238E27FC236}">
                  <a16:creationId xmlns:a16="http://schemas.microsoft.com/office/drawing/2014/main" id="{33430F5A-6115-47FE-C384-4682F1066B1E}"/>
                </a:ext>
              </a:extLst>
            </p:cNvPr>
            <p:cNvSpPr/>
            <p:nvPr/>
          </p:nvSpPr>
          <p:spPr>
            <a:xfrm>
              <a:off x="2101168" y="4731615"/>
              <a:ext cx="98457" cy="10870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1" name="Rectángulo 30">
              <a:extLst>
                <a:ext uri="{FF2B5EF4-FFF2-40B4-BE49-F238E27FC236}">
                  <a16:creationId xmlns:a16="http://schemas.microsoft.com/office/drawing/2014/main" id="{89E98FC9-3410-F02D-0489-94945EB9FA9E}"/>
                </a:ext>
              </a:extLst>
            </p:cNvPr>
            <p:cNvSpPr/>
            <p:nvPr/>
          </p:nvSpPr>
          <p:spPr>
            <a:xfrm>
              <a:off x="1913528" y="4920668"/>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Elipse 31">
              <a:extLst>
                <a:ext uri="{FF2B5EF4-FFF2-40B4-BE49-F238E27FC236}">
                  <a16:creationId xmlns:a16="http://schemas.microsoft.com/office/drawing/2014/main" id="{46BF1F70-59B3-F9DD-D0A7-73B42DBEA74E}"/>
                </a:ext>
              </a:extLst>
            </p:cNvPr>
            <p:cNvSpPr/>
            <p:nvPr/>
          </p:nvSpPr>
          <p:spPr>
            <a:xfrm>
              <a:off x="1952871"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Elipse 32">
              <a:extLst>
                <a:ext uri="{FF2B5EF4-FFF2-40B4-BE49-F238E27FC236}">
                  <a16:creationId xmlns:a16="http://schemas.microsoft.com/office/drawing/2014/main" id="{EB5A1F01-C8E5-3FF9-4A1B-002F22D4BD15}"/>
                </a:ext>
              </a:extLst>
            </p:cNvPr>
            <p:cNvSpPr/>
            <p:nvPr/>
          </p:nvSpPr>
          <p:spPr>
            <a:xfrm>
              <a:off x="2109245"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4" name="Elipse 33">
              <a:extLst>
                <a:ext uri="{FF2B5EF4-FFF2-40B4-BE49-F238E27FC236}">
                  <a16:creationId xmlns:a16="http://schemas.microsoft.com/office/drawing/2014/main" id="{ACC2ECFA-F3E4-706B-8C1A-5DD3D10A3FC4}"/>
                </a:ext>
              </a:extLst>
            </p:cNvPr>
            <p:cNvSpPr/>
            <p:nvPr/>
          </p:nvSpPr>
          <p:spPr>
            <a:xfrm>
              <a:off x="1952871" y="5104418"/>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5" name="Elipse 34">
              <a:extLst>
                <a:ext uri="{FF2B5EF4-FFF2-40B4-BE49-F238E27FC236}">
                  <a16:creationId xmlns:a16="http://schemas.microsoft.com/office/drawing/2014/main" id="{3E57B4D3-5042-1F2D-13FD-10B205BB0414}"/>
                </a:ext>
              </a:extLst>
            </p:cNvPr>
            <p:cNvSpPr/>
            <p:nvPr/>
          </p:nvSpPr>
          <p:spPr>
            <a:xfrm>
              <a:off x="2109245" y="5104418"/>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Rectángulo 35">
              <a:extLst>
                <a:ext uri="{FF2B5EF4-FFF2-40B4-BE49-F238E27FC236}">
                  <a16:creationId xmlns:a16="http://schemas.microsoft.com/office/drawing/2014/main" id="{E9AD5042-8AE2-6013-D96A-2CAAA60BCE48}"/>
                </a:ext>
              </a:extLst>
            </p:cNvPr>
            <p:cNvSpPr/>
            <p:nvPr/>
          </p:nvSpPr>
          <p:spPr>
            <a:xfrm>
              <a:off x="2360681" y="4547865"/>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Elipse 36">
              <a:extLst>
                <a:ext uri="{FF2B5EF4-FFF2-40B4-BE49-F238E27FC236}">
                  <a16:creationId xmlns:a16="http://schemas.microsoft.com/office/drawing/2014/main" id="{0EB34282-E5B7-5F96-C1E8-E3B829BD5C69}"/>
                </a:ext>
              </a:extLst>
            </p:cNvPr>
            <p:cNvSpPr/>
            <p:nvPr/>
          </p:nvSpPr>
          <p:spPr>
            <a:xfrm>
              <a:off x="2400024" y="4586670"/>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Elipse 37">
              <a:extLst>
                <a:ext uri="{FF2B5EF4-FFF2-40B4-BE49-F238E27FC236}">
                  <a16:creationId xmlns:a16="http://schemas.microsoft.com/office/drawing/2014/main" id="{D2D97708-B490-AFBE-D470-B47C663B6211}"/>
                </a:ext>
              </a:extLst>
            </p:cNvPr>
            <p:cNvSpPr/>
            <p:nvPr/>
          </p:nvSpPr>
          <p:spPr>
            <a:xfrm>
              <a:off x="2556398" y="4586670"/>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Elipse 38">
              <a:extLst>
                <a:ext uri="{FF2B5EF4-FFF2-40B4-BE49-F238E27FC236}">
                  <a16:creationId xmlns:a16="http://schemas.microsoft.com/office/drawing/2014/main" id="{55C00646-7291-260D-B699-9DAE1F1141EF}"/>
                </a:ext>
              </a:extLst>
            </p:cNvPr>
            <p:cNvSpPr/>
            <p:nvPr/>
          </p:nvSpPr>
          <p:spPr>
            <a:xfrm>
              <a:off x="2400024" y="4731615"/>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Elipse 39">
              <a:extLst>
                <a:ext uri="{FF2B5EF4-FFF2-40B4-BE49-F238E27FC236}">
                  <a16:creationId xmlns:a16="http://schemas.microsoft.com/office/drawing/2014/main" id="{5DB42521-86DD-9C8A-6BD7-48C1EB2AA832}"/>
                </a:ext>
              </a:extLst>
            </p:cNvPr>
            <p:cNvSpPr/>
            <p:nvPr/>
          </p:nvSpPr>
          <p:spPr>
            <a:xfrm>
              <a:off x="2556398" y="4731615"/>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1" name="Rectángulo 40">
              <a:extLst>
                <a:ext uri="{FF2B5EF4-FFF2-40B4-BE49-F238E27FC236}">
                  <a16:creationId xmlns:a16="http://schemas.microsoft.com/office/drawing/2014/main" id="{C7FB4299-7011-643C-A657-C04694DAC7DD}"/>
                </a:ext>
              </a:extLst>
            </p:cNvPr>
            <p:cNvSpPr/>
            <p:nvPr/>
          </p:nvSpPr>
          <p:spPr>
            <a:xfrm>
              <a:off x="2366030" y="4920668"/>
              <a:ext cx="328192" cy="32869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Elipse 41">
              <a:extLst>
                <a:ext uri="{FF2B5EF4-FFF2-40B4-BE49-F238E27FC236}">
                  <a16:creationId xmlns:a16="http://schemas.microsoft.com/office/drawing/2014/main" id="{551D880E-F6FB-D88E-27CB-B589C9FCACF5}"/>
                </a:ext>
              </a:extLst>
            </p:cNvPr>
            <p:cNvSpPr/>
            <p:nvPr/>
          </p:nvSpPr>
          <p:spPr>
            <a:xfrm>
              <a:off x="2405373"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Elipse 42">
              <a:extLst>
                <a:ext uri="{FF2B5EF4-FFF2-40B4-BE49-F238E27FC236}">
                  <a16:creationId xmlns:a16="http://schemas.microsoft.com/office/drawing/2014/main" id="{7AE9B30B-4BFA-C5B0-5D28-4EC880536DED}"/>
                </a:ext>
              </a:extLst>
            </p:cNvPr>
            <p:cNvSpPr/>
            <p:nvPr/>
          </p:nvSpPr>
          <p:spPr>
            <a:xfrm>
              <a:off x="2561747" y="4959473"/>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4" name="Elipse 43">
              <a:extLst>
                <a:ext uri="{FF2B5EF4-FFF2-40B4-BE49-F238E27FC236}">
                  <a16:creationId xmlns:a16="http://schemas.microsoft.com/office/drawing/2014/main" id="{C45C38DF-0F74-8C5F-CC4A-F916FA6404D4}"/>
                </a:ext>
              </a:extLst>
            </p:cNvPr>
            <p:cNvSpPr/>
            <p:nvPr/>
          </p:nvSpPr>
          <p:spPr>
            <a:xfrm>
              <a:off x="2405373" y="5104418"/>
              <a:ext cx="98457" cy="108709"/>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5" name="Elipse 44">
              <a:extLst>
                <a:ext uri="{FF2B5EF4-FFF2-40B4-BE49-F238E27FC236}">
                  <a16:creationId xmlns:a16="http://schemas.microsoft.com/office/drawing/2014/main" id="{8C18CD60-F788-9041-D4C3-086B3E9F90DC}"/>
                </a:ext>
              </a:extLst>
            </p:cNvPr>
            <p:cNvSpPr/>
            <p:nvPr/>
          </p:nvSpPr>
          <p:spPr>
            <a:xfrm>
              <a:off x="2561747" y="5104418"/>
              <a:ext cx="98457" cy="108709"/>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46" name="Conector recto 45">
              <a:extLst>
                <a:ext uri="{FF2B5EF4-FFF2-40B4-BE49-F238E27FC236}">
                  <a16:creationId xmlns:a16="http://schemas.microsoft.com/office/drawing/2014/main" id="{1963FEED-32E6-6C49-2AB4-D8A586DAFC6C}"/>
                </a:ext>
              </a:extLst>
            </p:cNvPr>
            <p:cNvCxnSpPr>
              <a:cxnSpLocks/>
              <a:stCxn id="31" idx="3"/>
              <a:endCxn id="41" idx="1"/>
            </p:cNvCxnSpPr>
            <p:nvPr/>
          </p:nvCxnSpPr>
          <p:spPr>
            <a:xfrm>
              <a:off x="2241720" y="5085016"/>
              <a:ext cx="124310" cy="0"/>
            </a:xfrm>
            <a:prstGeom prst="line">
              <a:avLst/>
            </a:prstGeom>
            <a:ln w="63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FEB8A98C-6E00-562B-E4C0-BA9BE79ABD3A}"/>
                </a:ext>
              </a:extLst>
            </p:cNvPr>
            <p:cNvCxnSpPr>
              <a:cxnSpLocks/>
            </p:cNvCxnSpPr>
            <p:nvPr/>
          </p:nvCxnSpPr>
          <p:spPr>
            <a:xfrm>
              <a:off x="2236404" y="4732496"/>
              <a:ext cx="124310" cy="0"/>
            </a:xfrm>
            <a:prstGeom prst="line">
              <a:avLst/>
            </a:prstGeom>
            <a:ln w="63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48" name="Grupo 47">
            <a:extLst>
              <a:ext uri="{FF2B5EF4-FFF2-40B4-BE49-F238E27FC236}">
                <a16:creationId xmlns:a16="http://schemas.microsoft.com/office/drawing/2014/main" id="{629FCFB9-4BAE-6CF2-A132-3640308105CB}"/>
              </a:ext>
            </a:extLst>
          </p:cNvPr>
          <p:cNvGrpSpPr/>
          <p:nvPr/>
        </p:nvGrpSpPr>
        <p:grpSpPr>
          <a:xfrm>
            <a:off x="7034827" y="5397655"/>
            <a:ext cx="343362" cy="973460"/>
            <a:chOff x="1562986" y="5624623"/>
            <a:chExt cx="260497" cy="810205"/>
          </a:xfrm>
        </p:grpSpPr>
        <p:sp>
          <p:nvSpPr>
            <p:cNvPr id="49" name="Elipse 48">
              <a:extLst>
                <a:ext uri="{FF2B5EF4-FFF2-40B4-BE49-F238E27FC236}">
                  <a16:creationId xmlns:a16="http://schemas.microsoft.com/office/drawing/2014/main" id="{FCB4AC68-7E47-63F7-AE5D-170BB3A85BBC}"/>
                </a:ext>
              </a:extLst>
            </p:cNvPr>
            <p:cNvSpPr/>
            <p:nvPr/>
          </p:nvSpPr>
          <p:spPr>
            <a:xfrm>
              <a:off x="1637414" y="5624623"/>
              <a:ext cx="111642" cy="111642"/>
            </a:xfrm>
            <a:prstGeom prst="ellipse">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0" name="Elipse 49">
              <a:extLst>
                <a:ext uri="{FF2B5EF4-FFF2-40B4-BE49-F238E27FC236}">
                  <a16:creationId xmlns:a16="http://schemas.microsoft.com/office/drawing/2014/main" id="{DE173BD8-BB11-5B44-D554-EF728C5ADB3E}"/>
                </a:ext>
              </a:extLst>
            </p:cNvPr>
            <p:cNvSpPr/>
            <p:nvPr/>
          </p:nvSpPr>
          <p:spPr>
            <a:xfrm>
              <a:off x="1640072" y="6323186"/>
              <a:ext cx="111642" cy="111642"/>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1" name="Rectángulo: esquinas redondeadas 50">
              <a:extLst>
                <a:ext uri="{FF2B5EF4-FFF2-40B4-BE49-F238E27FC236}">
                  <a16:creationId xmlns:a16="http://schemas.microsoft.com/office/drawing/2014/main" id="{59D9CF04-B3E2-EFCA-6D0C-874F72990F7D}"/>
                </a:ext>
              </a:extLst>
            </p:cNvPr>
            <p:cNvSpPr/>
            <p:nvPr/>
          </p:nvSpPr>
          <p:spPr>
            <a:xfrm>
              <a:off x="1562986" y="5853222"/>
              <a:ext cx="260497" cy="111642"/>
            </a:xfrm>
            <a:prstGeom prst="roundRect">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2" name="Conector recto de flecha 51">
              <a:extLst>
                <a:ext uri="{FF2B5EF4-FFF2-40B4-BE49-F238E27FC236}">
                  <a16:creationId xmlns:a16="http://schemas.microsoft.com/office/drawing/2014/main" id="{9011E9F4-7760-3CC5-B08F-FFC6B316596D}"/>
                </a:ext>
              </a:extLst>
            </p:cNvPr>
            <p:cNvCxnSpPr>
              <a:stCxn id="49" idx="4"/>
              <a:endCxn id="51" idx="0"/>
            </p:cNvCxnSpPr>
            <p:nvPr/>
          </p:nvCxnSpPr>
          <p:spPr>
            <a:xfrm>
              <a:off x="1693235" y="5736265"/>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53" name="Rombo 52">
              <a:extLst>
                <a:ext uri="{FF2B5EF4-FFF2-40B4-BE49-F238E27FC236}">
                  <a16:creationId xmlns:a16="http://schemas.microsoft.com/office/drawing/2014/main" id="{A0ED8492-CC6D-FD15-0B4B-31C73951F524}"/>
                </a:ext>
              </a:extLst>
            </p:cNvPr>
            <p:cNvSpPr/>
            <p:nvPr/>
          </p:nvSpPr>
          <p:spPr>
            <a:xfrm>
              <a:off x="1626782" y="6076510"/>
              <a:ext cx="122274" cy="123336"/>
            </a:xfrm>
            <a:prstGeom prst="diamond">
              <a:avLst/>
            </a:prstGeom>
            <a:solidFill>
              <a:schemeClr val="bg1"/>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4" name="Conector recto de flecha 53">
              <a:extLst>
                <a:ext uri="{FF2B5EF4-FFF2-40B4-BE49-F238E27FC236}">
                  <a16:creationId xmlns:a16="http://schemas.microsoft.com/office/drawing/2014/main" id="{3236F6A6-F625-F1E1-719E-F4CE16B1E643}"/>
                </a:ext>
              </a:extLst>
            </p:cNvPr>
            <p:cNvCxnSpPr/>
            <p:nvPr/>
          </p:nvCxnSpPr>
          <p:spPr>
            <a:xfrm>
              <a:off x="1688805" y="5964864"/>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5" name="Conector recto de flecha 54">
              <a:extLst>
                <a:ext uri="{FF2B5EF4-FFF2-40B4-BE49-F238E27FC236}">
                  <a16:creationId xmlns:a16="http://schemas.microsoft.com/office/drawing/2014/main" id="{F3F02282-95EB-4C31-56AE-497E2969E7F7}"/>
                </a:ext>
              </a:extLst>
            </p:cNvPr>
            <p:cNvCxnSpPr/>
            <p:nvPr/>
          </p:nvCxnSpPr>
          <p:spPr>
            <a:xfrm>
              <a:off x="1687919" y="6199846"/>
              <a:ext cx="0" cy="11695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6" name="Conector: angular 55">
              <a:extLst>
                <a:ext uri="{FF2B5EF4-FFF2-40B4-BE49-F238E27FC236}">
                  <a16:creationId xmlns:a16="http://schemas.microsoft.com/office/drawing/2014/main" id="{A74A9244-156C-38DE-0DCE-867702FA7CB5}"/>
                </a:ext>
              </a:extLst>
            </p:cNvPr>
            <p:cNvCxnSpPr>
              <a:stCxn id="53" idx="3"/>
              <a:endCxn id="51" idx="3"/>
            </p:cNvCxnSpPr>
            <p:nvPr/>
          </p:nvCxnSpPr>
          <p:spPr>
            <a:xfrm flipV="1">
              <a:off x="1749056" y="5909043"/>
              <a:ext cx="74427" cy="229135"/>
            </a:xfrm>
            <a:prstGeom prst="bentConnector3">
              <a:avLst>
                <a:gd name="adj1" fmla="val 250002"/>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57" name="Google Shape;321;p12">
            <a:extLst>
              <a:ext uri="{FF2B5EF4-FFF2-40B4-BE49-F238E27FC236}">
                <a16:creationId xmlns:a16="http://schemas.microsoft.com/office/drawing/2014/main" id="{A938F769-8EA3-1FE7-54E0-ABCD67C36396}"/>
              </a:ext>
            </a:extLst>
          </p:cNvPr>
          <p:cNvSpPr/>
          <p:nvPr/>
        </p:nvSpPr>
        <p:spPr>
          <a:xfrm>
            <a:off x="7680703" y="5217164"/>
            <a:ext cx="3950465" cy="1320262"/>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Especificamos la secuencia de pasos que nos ayudará a resolver el problema. El resultado debe ser el mismo si la representación es gráfica o textual</a:t>
            </a:r>
            <a:endParaRPr b="1">
              <a:solidFill>
                <a:schemeClr val="dk1"/>
              </a:solidFill>
              <a:latin typeface="Calibri"/>
              <a:cs typeface="Calibri"/>
              <a:sym typeface="Arial"/>
            </a:endParaRPr>
          </a:p>
        </p:txBody>
      </p:sp>
      <p:sp>
        <p:nvSpPr>
          <p:cNvPr id="58" name="Rectángulo 57">
            <a:extLst>
              <a:ext uri="{FF2B5EF4-FFF2-40B4-BE49-F238E27FC236}">
                <a16:creationId xmlns:a16="http://schemas.microsoft.com/office/drawing/2014/main" id="{265146CB-F79F-0807-8C6F-0619339CA664}"/>
              </a:ext>
            </a:extLst>
          </p:cNvPr>
          <p:cNvSpPr/>
          <p:nvPr/>
        </p:nvSpPr>
        <p:spPr>
          <a:xfrm>
            <a:off x="1924916" y="2309439"/>
            <a:ext cx="782848" cy="4018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9" name="Rectángulo 58">
            <a:extLst>
              <a:ext uri="{FF2B5EF4-FFF2-40B4-BE49-F238E27FC236}">
                <a16:creationId xmlns:a16="http://schemas.microsoft.com/office/drawing/2014/main" id="{8ED48E41-A568-1910-49C7-B771D5837B92}"/>
              </a:ext>
            </a:extLst>
          </p:cNvPr>
          <p:cNvSpPr/>
          <p:nvPr/>
        </p:nvSpPr>
        <p:spPr>
          <a:xfrm>
            <a:off x="7112581" y="2128254"/>
            <a:ext cx="693507" cy="20091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0" name="Rectángulo 59">
            <a:extLst>
              <a:ext uri="{FF2B5EF4-FFF2-40B4-BE49-F238E27FC236}">
                <a16:creationId xmlns:a16="http://schemas.microsoft.com/office/drawing/2014/main" id="{79BB0C94-54D4-BAFE-C661-D8CD6EFD6097}"/>
              </a:ext>
            </a:extLst>
          </p:cNvPr>
          <p:cNvSpPr/>
          <p:nvPr/>
        </p:nvSpPr>
        <p:spPr>
          <a:xfrm>
            <a:off x="2988227" y="2247480"/>
            <a:ext cx="659749" cy="54226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1" name="Rectángulo 60">
            <a:extLst>
              <a:ext uri="{FF2B5EF4-FFF2-40B4-BE49-F238E27FC236}">
                <a16:creationId xmlns:a16="http://schemas.microsoft.com/office/drawing/2014/main" id="{EC57EC80-7EBD-CB1B-0E84-403163BF7306}"/>
              </a:ext>
            </a:extLst>
          </p:cNvPr>
          <p:cNvSpPr/>
          <p:nvPr/>
        </p:nvSpPr>
        <p:spPr>
          <a:xfrm>
            <a:off x="7360387" y="2372513"/>
            <a:ext cx="1215722" cy="20091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2" name="Rectángulo 61">
            <a:extLst>
              <a:ext uri="{FF2B5EF4-FFF2-40B4-BE49-F238E27FC236}">
                <a16:creationId xmlns:a16="http://schemas.microsoft.com/office/drawing/2014/main" id="{88875BE4-CE44-05FB-C930-21556A5B5123}"/>
              </a:ext>
            </a:extLst>
          </p:cNvPr>
          <p:cNvSpPr/>
          <p:nvPr/>
        </p:nvSpPr>
        <p:spPr>
          <a:xfrm>
            <a:off x="3947471" y="2242119"/>
            <a:ext cx="659749" cy="54226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3" name="Rectángulo 62">
            <a:extLst>
              <a:ext uri="{FF2B5EF4-FFF2-40B4-BE49-F238E27FC236}">
                <a16:creationId xmlns:a16="http://schemas.microsoft.com/office/drawing/2014/main" id="{A4790E84-EDE4-824D-AB4B-12855160F02D}"/>
              </a:ext>
            </a:extLst>
          </p:cNvPr>
          <p:cNvSpPr/>
          <p:nvPr/>
        </p:nvSpPr>
        <p:spPr>
          <a:xfrm>
            <a:off x="7360387" y="2570377"/>
            <a:ext cx="1215722" cy="234910"/>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4" name="Rectángulo 63">
            <a:extLst>
              <a:ext uri="{FF2B5EF4-FFF2-40B4-BE49-F238E27FC236}">
                <a16:creationId xmlns:a16="http://schemas.microsoft.com/office/drawing/2014/main" id="{67A894C7-40CC-992C-5D22-3352B90CC908}"/>
              </a:ext>
            </a:extLst>
          </p:cNvPr>
          <p:cNvSpPr/>
          <p:nvPr/>
        </p:nvSpPr>
        <p:spPr>
          <a:xfrm>
            <a:off x="7360387" y="2805287"/>
            <a:ext cx="1215722" cy="20091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5" name="Rectángulo 64">
            <a:extLst>
              <a:ext uri="{FF2B5EF4-FFF2-40B4-BE49-F238E27FC236}">
                <a16:creationId xmlns:a16="http://schemas.microsoft.com/office/drawing/2014/main" id="{7CF76ABA-39CC-792D-568C-0F513DF72F43}"/>
              </a:ext>
            </a:extLst>
          </p:cNvPr>
          <p:cNvSpPr/>
          <p:nvPr/>
        </p:nvSpPr>
        <p:spPr>
          <a:xfrm>
            <a:off x="4892270" y="2244680"/>
            <a:ext cx="659749" cy="54226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6" name="Rectángulo 65">
            <a:extLst>
              <a:ext uri="{FF2B5EF4-FFF2-40B4-BE49-F238E27FC236}">
                <a16:creationId xmlns:a16="http://schemas.microsoft.com/office/drawing/2014/main" id="{134E667D-A24B-AE49-334B-2C370CEE18B6}"/>
              </a:ext>
            </a:extLst>
          </p:cNvPr>
          <p:cNvSpPr/>
          <p:nvPr/>
        </p:nvSpPr>
        <p:spPr>
          <a:xfrm>
            <a:off x="5837069" y="2244680"/>
            <a:ext cx="659749" cy="54226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8" name="Rectángulo 67">
            <a:extLst>
              <a:ext uri="{FF2B5EF4-FFF2-40B4-BE49-F238E27FC236}">
                <a16:creationId xmlns:a16="http://schemas.microsoft.com/office/drawing/2014/main" id="{F5C1DE66-824C-4537-FBCD-9478856FC9B1}"/>
              </a:ext>
            </a:extLst>
          </p:cNvPr>
          <p:cNvSpPr/>
          <p:nvPr/>
        </p:nvSpPr>
        <p:spPr>
          <a:xfrm>
            <a:off x="7360387" y="3017079"/>
            <a:ext cx="1215722" cy="220640"/>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9" name="Rectángulo 68">
            <a:extLst>
              <a:ext uri="{FF2B5EF4-FFF2-40B4-BE49-F238E27FC236}">
                <a16:creationId xmlns:a16="http://schemas.microsoft.com/office/drawing/2014/main" id="{A5449D22-2FC9-1DCE-5383-7F02B31EE003}"/>
              </a:ext>
            </a:extLst>
          </p:cNvPr>
          <p:cNvSpPr/>
          <p:nvPr/>
        </p:nvSpPr>
        <p:spPr>
          <a:xfrm>
            <a:off x="2609394" y="3145327"/>
            <a:ext cx="659749" cy="54226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0" name="Rectángulo 69">
            <a:extLst>
              <a:ext uri="{FF2B5EF4-FFF2-40B4-BE49-F238E27FC236}">
                <a16:creationId xmlns:a16="http://schemas.microsoft.com/office/drawing/2014/main" id="{490FDCDB-4358-26FE-2603-1A546459D492}"/>
              </a:ext>
            </a:extLst>
          </p:cNvPr>
          <p:cNvSpPr/>
          <p:nvPr/>
        </p:nvSpPr>
        <p:spPr>
          <a:xfrm>
            <a:off x="3557998" y="3145327"/>
            <a:ext cx="659749" cy="54226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1" name="Rectángulo 70">
            <a:extLst>
              <a:ext uri="{FF2B5EF4-FFF2-40B4-BE49-F238E27FC236}">
                <a16:creationId xmlns:a16="http://schemas.microsoft.com/office/drawing/2014/main" id="{3A1F1CA7-C2E6-3BCE-0B2D-D41CA9A63F5A}"/>
              </a:ext>
            </a:extLst>
          </p:cNvPr>
          <p:cNvSpPr/>
          <p:nvPr/>
        </p:nvSpPr>
        <p:spPr>
          <a:xfrm>
            <a:off x="7360385" y="3251368"/>
            <a:ext cx="1217996" cy="201680"/>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2" name="Rectángulo 71">
            <a:extLst>
              <a:ext uri="{FF2B5EF4-FFF2-40B4-BE49-F238E27FC236}">
                <a16:creationId xmlns:a16="http://schemas.microsoft.com/office/drawing/2014/main" id="{4D028840-6592-9B89-BAF0-34016D18E802}"/>
              </a:ext>
            </a:extLst>
          </p:cNvPr>
          <p:cNvSpPr/>
          <p:nvPr/>
        </p:nvSpPr>
        <p:spPr>
          <a:xfrm>
            <a:off x="7360387" y="3467607"/>
            <a:ext cx="1215722" cy="20091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3" name="Rectángulo 72">
            <a:extLst>
              <a:ext uri="{FF2B5EF4-FFF2-40B4-BE49-F238E27FC236}">
                <a16:creationId xmlns:a16="http://schemas.microsoft.com/office/drawing/2014/main" id="{D8ED3298-BE18-A134-A999-DACA2715BD7B}"/>
              </a:ext>
            </a:extLst>
          </p:cNvPr>
          <p:cNvSpPr/>
          <p:nvPr/>
        </p:nvSpPr>
        <p:spPr>
          <a:xfrm>
            <a:off x="4527085" y="3151042"/>
            <a:ext cx="1682646" cy="542267"/>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4" name="Rectángulo 73">
            <a:extLst>
              <a:ext uri="{FF2B5EF4-FFF2-40B4-BE49-F238E27FC236}">
                <a16:creationId xmlns:a16="http://schemas.microsoft.com/office/drawing/2014/main" id="{830C0E14-BA05-A6A8-0D20-F4F3D38CFE1A}"/>
              </a:ext>
            </a:extLst>
          </p:cNvPr>
          <p:cNvSpPr/>
          <p:nvPr/>
        </p:nvSpPr>
        <p:spPr>
          <a:xfrm>
            <a:off x="7360385" y="3706433"/>
            <a:ext cx="4451751" cy="220640"/>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5" name="Rectángulo 74">
            <a:extLst>
              <a:ext uri="{FF2B5EF4-FFF2-40B4-BE49-F238E27FC236}">
                <a16:creationId xmlns:a16="http://schemas.microsoft.com/office/drawing/2014/main" id="{7CF0362E-AEA5-7E90-4931-8AECE0B3D031}"/>
              </a:ext>
            </a:extLst>
          </p:cNvPr>
          <p:cNvSpPr/>
          <p:nvPr/>
        </p:nvSpPr>
        <p:spPr>
          <a:xfrm>
            <a:off x="2629866" y="3945397"/>
            <a:ext cx="1382576" cy="571415"/>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6" name="Rectángulo 75">
            <a:extLst>
              <a:ext uri="{FF2B5EF4-FFF2-40B4-BE49-F238E27FC236}">
                <a16:creationId xmlns:a16="http://schemas.microsoft.com/office/drawing/2014/main" id="{8482B4AD-7060-60F1-AFCF-DB62238EBA42}"/>
              </a:ext>
            </a:extLst>
          </p:cNvPr>
          <p:cNvSpPr/>
          <p:nvPr/>
        </p:nvSpPr>
        <p:spPr>
          <a:xfrm>
            <a:off x="7360385" y="3921762"/>
            <a:ext cx="2643424" cy="208459"/>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7" name="Rectángulo 76">
            <a:extLst>
              <a:ext uri="{FF2B5EF4-FFF2-40B4-BE49-F238E27FC236}">
                <a16:creationId xmlns:a16="http://schemas.microsoft.com/office/drawing/2014/main" id="{7A7144B1-48A9-9DDA-6F2E-504AC91042DD}"/>
              </a:ext>
            </a:extLst>
          </p:cNvPr>
          <p:cNvSpPr/>
          <p:nvPr/>
        </p:nvSpPr>
        <p:spPr>
          <a:xfrm>
            <a:off x="4319671" y="3945396"/>
            <a:ext cx="1232348" cy="571415"/>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8" name="Rectángulo 77">
            <a:extLst>
              <a:ext uri="{FF2B5EF4-FFF2-40B4-BE49-F238E27FC236}">
                <a16:creationId xmlns:a16="http://schemas.microsoft.com/office/drawing/2014/main" id="{3B013A58-735C-A25E-22B0-899B0BAC4E5B}"/>
              </a:ext>
            </a:extLst>
          </p:cNvPr>
          <p:cNvSpPr/>
          <p:nvPr/>
        </p:nvSpPr>
        <p:spPr>
          <a:xfrm>
            <a:off x="7367208" y="4158153"/>
            <a:ext cx="2131633" cy="187398"/>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9" name="Rectángulo 78">
            <a:extLst>
              <a:ext uri="{FF2B5EF4-FFF2-40B4-BE49-F238E27FC236}">
                <a16:creationId xmlns:a16="http://schemas.microsoft.com/office/drawing/2014/main" id="{33C482C8-E131-5E7E-E2B1-2E17B2A59163}"/>
              </a:ext>
            </a:extLst>
          </p:cNvPr>
          <p:cNvSpPr/>
          <p:nvPr/>
        </p:nvSpPr>
        <p:spPr>
          <a:xfrm>
            <a:off x="5837069" y="4030187"/>
            <a:ext cx="782848" cy="4018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1" name="Rectángulo 80">
            <a:extLst>
              <a:ext uri="{FF2B5EF4-FFF2-40B4-BE49-F238E27FC236}">
                <a16:creationId xmlns:a16="http://schemas.microsoft.com/office/drawing/2014/main" id="{E3190DC8-76E1-9C2E-30D9-C20B33D19F7A}"/>
              </a:ext>
            </a:extLst>
          </p:cNvPr>
          <p:cNvSpPr/>
          <p:nvPr/>
        </p:nvSpPr>
        <p:spPr>
          <a:xfrm>
            <a:off x="7110325" y="4377318"/>
            <a:ext cx="693507" cy="20091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822907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27AC7C-8BCB-3C26-72C8-95C74770ADF7}"/>
              </a:ext>
            </a:extLst>
          </p:cNvPr>
          <p:cNvSpPr>
            <a:spLocks noGrp="1"/>
          </p:cNvSpPr>
          <p:nvPr>
            <p:ph type="title"/>
          </p:nvPr>
        </p:nvSpPr>
        <p:spPr/>
        <p:txBody>
          <a:bodyPr/>
          <a:lstStyle/>
          <a:p>
            <a:r>
              <a:rPr lang="es-CO"/>
              <a:t>3. Validación de la solución</a:t>
            </a:r>
          </a:p>
        </p:txBody>
      </p:sp>
      <p:sp>
        <p:nvSpPr>
          <p:cNvPr id="3" name="Marcador de texto 2">
            <a:extLst>
              <a:ext uri="{FF2B5EF4-FFF2-40B4-BE49-F238E27FC236}">
                <a16:creationId xmlns:a16="http://schemas.microsoft.com/office/drawing/2014/main" id="{1BFC47B2-3FCE-1CB9-89C8-FD658903DE52}"/>
              </a:ext>
            </a:extLst>
          </p:cNvPr>
          <p:cNvSpPr>
            <a:spLocks noGrp="1"/>
          </p:cNvSpPr>
          <p:nvPr>
            <p:ph type="body" idx="1"/>
          </p:nvPr>
        </p:nvSpPr>
        <p:spPr>
          <a:xfrm>
            <a:off x="2076994" y="1327660"/>
            <a:ext cx="9666016" cy="4709457"/>
          </a:xfrm>
        </p:spPr>
        <p:txBody>
          <a:bodyPr>
            <a:normAutofit/>
          </a:bodyPr>
          <a:lstStyle/>
          <a:p>
            <a:pPr algn="just"/>
            <a:r>
              <a:rPr lang="es-CO" sz="1900"/>
              <a:t>La validación de la solución consiste en realizar una prueba o un conjunto de pruebas para verificar que el diseño del algoritmo es correcto. En este caso podemos realizar pruebas de escritorio.</a:t>
            </a:r>
          </a:p>
          <a:p>
            <a:pPr algn="just"/>
            <a:r>
              <a:rPr lang="es-CO" sz="1900"/>
              <a:t>En las </a:t>
            </a:r>
            <a:r>
              <a:rPr lang="es-CO" sz="1900" b="1"/>
              <a:t>pruebas de escritorio </a:t>
            </a:r>
            <a:r>
              <a:rPr lang="es-CO" sz="1900"/>
              <a:t>se la dan valores a los datos de entrada, y se sigue el flujo de pasos del algoritmo para verificar que se llega a un resultado esperado.</a:t>
            </a:r>
          </a:p>
          <a:p>
            <a:pPr algn="just"/>
            <a:r>
              <a:rPr lang="es-CO" sz="1900"/>
              <a:t>Estas pruebas se pueden realizar con lápiz y papel, calculadora, Excel, entre otros.</a:t>
            </a:r>
          </a:p>
          <a:p>
            <a:pPr algn="just"/>
            <a:r>
              <a:rPr lang="es-CO" sz="1900" b="1"/>
              <a:t>Nota: </a:t>
            </a:r>
            <a:r>
              <a:rPr lang="es-CO" sz="1900"/>
              <a:t>algunos programadores realizan las pruebas de escritorio directamente con código real (que se verá en la siguiente etapa).  </a:t>
            </a:r>
          </a:p>
        </p:txBody>
      </p:sp>
      <p:sp>
        <p:nvSpPr>
          <p:cNvPr id="4" name="Marcador de número de diapositiva 3">
            <a:extLst>
              <a:ext uri="{FF2B5EF4-FFF2-40B4-BE49-F238E27FC236}">
                <a16:creationId xmlns:a16="http://schemas.microsoft.com/office/drawing/2014/main" id="{3ECCB9CA-B301-EB75-9C08-DC7A2692B887}"/>
              </a:ext>
            </a:extLst>
          </p:cNvPr>
          <p:cNvSpPr>
            <a:spLocks noGrp="1"/>
          </p:cNvSpPr>
          <p:nvPr>
            <p:ph type="sldNum" idx="12"/>
          </p:nvPr>
        </p:nvSpPr>
        <p:spPr/>
        <p:txBody>
          <a:bodyPr/>
          <a:lstStyle/>
          <a:p>
            <a:fld id="{00000000-1234-1234-1234-123412341234}" type="slidenum">
              <a:rPr lang="es-CO" smtClean="0"/>
              <a:pPr/>
              <a:t>13</a:t>
            </a:fld>
            <a:endParaRPr lang="es-CO"/>
          </a:p>
        </p:txBody>
      </p:sp>
      <p:pic>
        <p:nvPicPr>
          <p:cNvPr id="2050" name="Picture 2">
            <a:extLst>
              <a:ext uri="{FF2B5EF4-FFF2-40B4-BE49-F238E27FC236}">
                <a16:creationId xmlns:a16="http://schemas.microsoft.com/office/drawing/2014/main" id="{89DB7BFF-4E71-61A2-BE0A-CBD25DC2D3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11132" y="4822274"/>
            <a:ext cx="2703094" cy="1351547"/>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21;p12">
            <a:extLst>
              <a:ext uri="{FF2B5EF4-FFF2-40B4-BE49-F238E27FC236}">
                <a16:creationId xmlns:a16="http://schemas.microsoft.com/office/drawing/2014/main" id="{F2F93438-73BD-1782-0990-054F06136630}"/>
              </a:ext>
            </a:extLst>
          </p:cNvPr>
          <p:cNvSpPr/>
          <p:nvPr/>
        </p:nvSpPr>
        <p:spPr>
          <a:xfrm>
            <a:off x="2354905" y="4894041"/>
            <a:ext cx="2640467" cy="1242723"/>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¿Qué pilares del PC podríamos aplicar en esta etapa?</a:t>
            </a:r>
            <a:endParaRPr b="1">
              <a:solidFill>
                <a:schemeClr val="dk1"/>
              </a:solidFill>
              <a:latin typeface="Calibri"/>
              <a:cs typeface="Calibri"/>
              <a:sym typeface="Arial"/>
            </a:endParaRPr>
          </a:p>
        </p:txBody>
      </p:sp>
      <p:sp>
        <p:nvSpPr>
          <p:cNvPr id="8" name="Google Shape;462;p21">
            <a:extLst>
              <a:ext uri="{FF2B5EF4-FFF2-40B4-BE49-F238E27FC236}">
                <a16:creationId xmlns:a16="http://schemas.microsoft.com/office/drawing/2014/main" id="{CB02CA20-A2BF-708C-905F-7EFB031B5ACF}"/>
              </a:ext>
            </a:extLst>
          </p:cNvPr>
          <p:cNvSpPr/>
          <p:nvPr/>
        </p:nvSpPr>
        <p:spPr>
          <a:xfrm>
            <a:off x="6537911" y="4881083"/>
            <a:ext cx="2046504" cy="1242723"/>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bg1"/>
                </a:solidFill>
                <a:latin typeface="Calibri"/>
                <a:cs typeface="Calibri"/>
                <a:sym typeface="Calibri"/>
              </a:rPr>
              <a:t>Evaluación de soluciones</a:t>
            </a:r>
            <a:endParaRPr b="1">
              <a:solidFill>
                <a:schemeClr val="bg1"/>
              </a:solidFill>
              <a:latin typeface="Calibri"/>
              <a:cs typeface="Calibri"/>
              <a:sym typeface="Arial"/>
            </a:endParaRPr>
          </a:p>
        </p:txBody>
      </p:sp>
      <p:grpSp>
        <p:nvGrpSpPr>
          <p:cNvPr id="5" name="Grupo 4">
            <a:extLst>
              <a:ext uri="{FF2B5EF4-FFF2-40B4-BE49-F238E27FC236}">
                <a16:creationId xmlns:a16="http://schemas.microsoft.com/office/drawing/2014/main" id="{7237E299-A233-8E06-A227-07B59C794B96}"/>
              </a:ext>
            </a:extLst>
          </p:cNvPr>
          <p:cNvGrpSpPr/>
          <p:nvPr/>
        </p:nvGrpSpPr>
        <p:grpSpPr>
          <a:xfrm>
            <a:off x="5664422" y="5226865"/>
            <a:ext cx="744879" cy="303475"/>
            <a:chOff x="2403056" y="6179653"/>
            <a:chExt cx="843841" cy="352454"/>
          </a:xfrm>
        </p:grpSpPr>
        <p:sp>
          <p:nvSpPr>
            <p:cNvPr id="6" name="Rectángulo 5">
              <a:extLst>
                <a:ext uri="{FF2B5EF4-FFF2-40B4-BE49-F238E27FC236}">
                  <a16:creationId xmlns:a16="http://schemas.microsoft.com/office/drawing/2014/main" id="{5B31543F-00BC-2945-D5CE-9671FBAD14AB}"/>
                </a:ext>
              </a:extLst>
            </p:cNvPr>
            <p:cNvSpPr/>
            <p:nvPr/>
          </p:nvSpPr>
          <p:spPr>
            <a:xfrm>
              <a:off x="2403056"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1562A710-A247-1454-FC23-50D615A32DF4}"/>
                </a:ext>
              </a:extLst>
            </p:cNvPr>
            <p:cNvSpPr/>
            <p:nvPr/>
          </p:nvSpPr>
          <p:spPr>
            <a:xfrm>
              <a:off x="2704092"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3416F6F3-4A32-8792-8CBE-613D8025A383}"/>
                </a:ext>
              </a:extLst>
            </p:cNvPr>
            <p:cNvSpPr/>
            <p:nvPr/>
          </p:nvSpPr>
          <p:spPr>
            <a:xfrm>
              <a:off x="3016694"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Medio marco 10">
              <a:extLst>
                <a:ext uri="{FF2B5EF4-FFF2-40B4-BE49-F238E27FC236}">
                  <a16:creationId xmlns:a16="http://schemas.microsoft.com/office/drawing/2014/main" id="{0A65B343-670F-171A-8339-7B4E087C3F84}"/>
                </a:ext>
              </a:extLst>
            </p:cNvPr>
            <p:cNvSpPr/>
            <p:nvPr/>
          </p:nvSpPr>
          <p:spPr>
            <a:xfrm rot="7515653" flipH="1">
              <a:off x="2403352" y="6271301"/>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12" name="Medio marco 11">
              <a:extLst>
                <a:ext uri="{FF2B5EF4-FFF2-40B4-BE49-F238E27FC236}">
                  <a16:creationId xmlns:a16="http://schemas.microsoft.com/office/drawing/2014/main" id="{8CE252CD-50B3-4996-A14E-3A1ED0383477}"/>
                </a:ext>
              </a:extLst>
            </p:cNvPr>
            <p:cNvSpPr/>
            <p:nvPr/>
          </p:nvSpPr>
          <p:spPr>
            <a:xfrm rot="7515653" flipH="1">
              <a:off x="2715954" y="6287476"/>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13" name="Medio marco 12">
              <a:extLst>
                <a:ext uri="{FF2B5EF4-FFF2-40B4-BE49-F238E27FC236}">
                  <a16:creationId xmlns:a16="http://schemas.microsoft.com/office/drawing/2014/main" id="{A50A2155-9BFA-4CEB-D9F2-506D0C9E47F6}"/>
                </a:ext>
              </a:extLst>
            </p:cNvPr>
            <p:cNvSpPr/>
            <p:nvPr/>
          </p:nvSpPr>
          <p:spPr>
            <a:xfrm rot="7515653" flipH="1">
              <a:off x="3028650" y="6276949"/>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grpSp>
    </p:spTree>
    <p:extLst>
      <p:ext uri="{BB962C8B-B14F-4D97-AF65-F5344CB8AC3E}">
        <p14:creationId xmlns:p14="http://schemas.microsoft.com/office/powerpoint/2010/main" val="28551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107FBC-A026-F70D-A5E1-28EB9D3CE035}"/>
              </a:ext>
            </a:extLst>
          </p:cNvPr>
          <p:cNvSpPr>
            <a:spLocks noGrp="1"/>
          </p:cNvSpPr>
          <p:nvPr>
            <p:ph type="title"/>
          </p:nvPr>
        </p:nvSpPr>
        <p:spPr/>
        <p:txBody>
          <a:bodyPr/>
          <a:lstStyle/>
          <a:p>
            <a:r>
              <a:rPr lang="es-CO"/>
              <a:t>3. Validación de la solución – Aplicación</a:t>
            </a:r>
          </a:p>
        </p:txBody>
      </p:sp>
      <p:sp>
        <p:nvSpPr>
          <p:cNvPr id="4" name="Marcador de número de diapositiva 3">
            <a:extLst>
              <a:ext uri="{FF2B5EF4-FFF2-40B4-BE49-F238E27FC236}">
                <a16:creationId xmlns:a16="http://schemas.microsoft.com/office/drawing/2014/main" id="{FF8A14AB-CDCE-7D12-06FC-86E7120740F4}"/>
              </a:ext>
            </a:extLst>
          </p:cNvPr>
          <p:cNvSpPr>
            <a:spLocks noGrp="1"/>
          </p:cNvSpPr>
          <p:nvPr>
            <p:ph type="sldNum" idx="12"/>
          </p:nvPr>
        </p:nvSpPr>
        <p:spPr/>
        <p:txBody>
          <a:bodyPr/>
          <a:lstStyle/>
          <a:p>
            <a:fld id="{00000000-1234-1234-1234-123412341234}" type="slidenum">
              <a:rPr lang="es-CO" smtClean="0"/>
              <a:pPr/>
              <a:t>14</a:t>
            </a:fld>
            <a:endParaRPr lang="es-CO"/>
          </a:p>
        </p:txBody>
      </p:sp>
      <p:pic>
        <p:nvPicPr>
          <p:cNvPr id="6" name="Imagen 5">
            <a:extLst>
              <a:ext uri="{FF2B5EF4-FFF2-40B4-BE49-F238E27FC236}">
                <a16:creationId xmlns:a16="http://schemas.microsoft.com/office/drawing/2014/main" id="{76393734-FA37-5FB5-611F-0DF1ADD79E78}"/>
              </a:ext>
            </a:extLst>
          </p:cNvPr>
          <p:cNvPicPr>
            <a:picLocks noChangeAspect="1"/>
          </p:cNvPicPr>
          <p:nvPr/>
        </p:nvPicPr>
        <p:blipFill rotWithShape="1">
          <a:blip r:embed="rId2"/>
          <a:srcRect l="1" r="46845"/>
          <a:stretch/>
        </p:blipFill>
        <p:spPr>
          <a:xfrm>
            <a:off x="2580677" y="1235655"/>
            <a:ext cx="3426931" cy="4419983"/>
          </a:xfrm>
          <a:prstGeom prst="rect">
            <a:avLst/>
          </a:prstGeom>
        </p:spPr>
        <p:style>
          <a:lnRef idx="2">
            <a:schemeClr val="dk1"/>
          </a:lnRef>
          <a:fillRef idx="1">
            <a:schemeClr val="lt1"/>
          </a:fillRef>
          <a:effectRef idx="0">
            <a:schemeClr val="dk1"/>
          </a:effectRef>
          <a:fontRef idx="minor">
            <a:schemeClr val="dk1"/>
          </a:fontRef>
        </p:style>
      </p:pic>
      <p:grpSp>
        <p:nvGrpSpPr>
          <p:cNvPr id="3" name="Grupo 2">
            <a:extLst>
              <a:ext uri="{FF2B5EF4-FFF2-40B4-BE49-F238E27FC236}">
                <a16:creationId xmlns:a16="http://schemas.microsoft.com/office/drawing/2014/main" id="{77F3F837-0E38-0EE7-B778-090E099753DE}"/>
              </a:ext>
            </a:extLst>
          </p:cNvPr>
          <p:cNvGrpSpPr/>
          <p:nvPr/>
        </p:nvGrpSpPr>
        <p:grpSpPr>
          <a:xfrm>
            <a:off x="8361857" y="2075427"/>
            <a:ext cx="744879" cy="303475"/>
            <a:chOff x="2403056" y="6179653"/>
            <a:chExt cx="843841" cy="352454"/>
          </a:xfrm>
        </p:grpSpPr>
        <p:sp>
          <p:nvSpPr>
            <p:cNvPr id="5" name="Rectángulo 4">
              <a:extLst>
                <a:ext uri="{FF2B5EF4-FFF2-40B4-BE49-F238E27FC236}">
                  <a16:creationId xmlns:a16="http://schemas.microsoft.com/office/drawing/2014/main" id="{6C5BA7D1-325B-747E-D109-0D216111FB76}"/>
                </a:ext>
              </a:extLst>
            </p:cNvPr>
            <p:cNvSpPr/>
            <p:nvPr/>
          </p:nvSpPr>
          <p:spPr>
            <a:xfrm>
              <a:off x="2403056"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A1E14E7F-9B83-6A9B-BC97-3B5FDDD75628}"/>
                </a:ext>
              </a:extLst>
            </p:cNvPr>
            <p:cNvSpPr/>
            <p:nvPr/>
          </p:nvSpPr>
          <p:spPr>
            <a:xfrm>
              <a:off x="2704092"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143E0842-08BC-DC05-7E3C-0153D54DE7C0}"/>
                </a:ext>
              </a:extLst>
            </p:cNvPr>
            <p:cNvSpPr/>
            <p:nvPr/>
          </p:nvSpPr>
          <p:spPr>
            <a:xfrm>
              <a:off x="3016694"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Medio marco 8">
              <a:extLst>
                <a:ext uri="{FF2B5EF4-FFF2-40B4-BE49-F238E27FC236}">
                  <a16:creationId xmlns:a16="http://schemas.microsoft.com/office/drawing/2014/main" id="{7E7C306F-83F9-B6CC-0CA8-D4A6450E59D5}"/>
                </a:ext>
              </a:extLst>
            </p:cNvPr>
            <p:cNvSpPr/>
            <p:nvPr/>
          </p:nvSpPr>
          <p:spPr>
            <a:xfrm rot="7515653" flipH="1">
              <a:off x="2403352" y="6271301"/>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10" name="Medio marco 9">
              <a:extLst>
                <a:ext uri="{FF2B5EF4-FFF2-40B4-BE49-F238E27FC236}">
                  <a16:creationId xmlns:a16="http://schemas.microsoft.com/office/drawing/2014/main" id="{878B41C2-F50B-9EF6-6091-5D577B42FAED}"/>
                </a:ext>
              </a:extLst>
            </p:cNvPr>
            <p:cNvSpPr/>
            <p:nvPr/>
          </p:nvSpPr>
          <p:spPr>
            <a:xfrm rot="7515653" flipH="1">
              <a:off x="2715954" y="6287476"/>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11" name="Medio marco 10">
              <a:extLst>
                <a:ext uri="{FF2B5EF4-FFF2-40B4-BE49-F238E27FC236}">
                  <a16:creationId xmlns:a16="http://schemas.microsoft.com/office/drawing/2014/main" id="{D2755983-2D0D-2732-5320-C4274258D64B}"/>
                </a:ext>
              </a:extLst>
            </p:cNvPr>
            <p:cNvSpPr/>
            <p:nvPr/>
          </p:nvSpPr>
          <p:spPr>
            <a:xfrm rot="7515653" flipH="1">
              <a:off x="3028650" y="6276949"/>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grpSp>
      <p:sp>
        <p:nvSpPr>
          <p:cNvPr id="12" name="Google Shape;321;p12">
            <a:extLst>
              <a:ext uri="{FF2B5EF4-FFF2-40B4-BE49-F238E27FC236}">
                <a16:creationId xmlns:a16="http://schemas.microsoft.com/office/drawing/2014/main" id="{54DAC9F8-6D62-D0EA-4D39-304D098F6AD9}"/>
              </a:ext>
            </a:extLst>
          </p:cNvPr>
          <p:cNvSpPr/>
          <p:nvPr/>
        </p:nvSpPr>
        <p:spPr>
          <a:xfrm>
            <a:off x="9317362" y="1969101"/>
            <a:ext cx="2091373" cy="2358350"/>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Seguimos los pasos del algoritmo, asignando la edad de cada empleado y comprobamos el resultado, para este ejemplo usamos Excel</a:t>
            </a:r>
            <a:endParaRPr b="1">
              <a:solidFill>
                <a:schemeClr val="dk1"/>
              </a:solidFill>
              <a:latin typeface="Calibri"/>
              <a:cs typeface="Calibri"/>
              <a:sym typeface="Arial"/>
            </a:endParaRPr>
          </a:p>
        </p:txBody>
      </p:sp>
      <p:pic>
        <p:nvPicPr>
          <p:cNvPr id="13" name="Imagen 12"/>
          <p:cNvPicPr>
            <a:picLocks noChangeAspect="1"/>
          </p:cNvPicPr>
          <p:nvPr/>
        </p:nvPicPr>
        <p:blipFill rotWithShape="1">
          <a:blip r:embed="rId3"/>
          <a:srcRect t="-1" r="8354" b="-823"/>
          <a:stretch/>
        </p:blipFill>
        <p:spPr>
          <a:xfrm>
            <a:off x="6512279" y="4742663"/>
            <a:ext cx="2522764" cy="326517"/>
          </a:xfrm>
          <a:prstGeom prst="rect">
            <a:avLst/>
          </a:prstGeom>
          <a:ln>
            <a:solidFill>
              <a:schemeClr val="dk1"/>
            </a:solidFill>
          </a:ln>
        </p:spPr>
      </p:pic>
      <p:pic>
        <p:nvPicPr>
          <p:cNvPr id="14" name="Imagen 13"/>
          <p:cNvPicPr>
            <a:picLocks noChangeAspect="1"/>
          </p:cNvPicPr>
          <p:nvPr/>
        </p:nvPicPr>
        <p:blipFill rotWithShape="1">
          <a:blip r:embed="rId4"/>
          <a:srcRect t="1" r="7518" b="-61"/>
          <a:stretch/>
        </p:blipFill>
        <p:spPr>
          <a:xfrm>
            <a:off x="6511291" y="5331591"/>
            <a:ext cx="2554588" cy="324047"/>
          </a:xfrm>
          <a:prstGeom prst="rect">
            <a:avLst/>
          </a:prstGeom>
          <a:ln>
            <a:solidFill>
              <a:schemeClr val="dk1"/>
            </a:solidFill>
          </a:ln>
        </p:spPr>
      </p:pic>
      <p:cxnSp>
        <p:nvCxnSpPr>
          <p:cNvPr id="16" name="Conector recto de flecha 15"/>
          <p:cNvCxnSpPr>
            <a:endCxn id="13" idx="1"/>
          </p:cNvCxnSpPr>
          <p:nvPr/>
        </p:nvCxnSpPr>
        <p:spPr>
          <a:xfrm flipV="1">
            <a:off x="5815584" y="4905922"/>
            <a:ext cx="696695" cy="59270"/>
          </a:xfrm>
          <a:prstGeom prst="straightConnector1">
            <a:avLst/>
          </a:prstGeom>
          <a:ln w="38100">
            <a:solidFill>
              <a:srgbClr val="02C9B6"/>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a:endCxn id="14" idx="1"/>
          </p:cNvCxnSpPr>
          <p:nvPr/>
        </p:nvCxnSpPr>
        <p:spPr>
          <a:xfrm>
            <a:off x="5815584" y="5280780"/>
            <a:ext cx="695707" cy="212835"/>
          </a:xfrm>
          <a:prstGeom prst="straightConnector1">
            <a:avLst/>
          </a:prstGeom>
          <a:ln w="38100">
            <a:solidFill>
              <a:srgbClr val="02C9B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08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99AA3-6AE6-8DA4-FE9F-8BD6E6DECAE8}"/>
              </a:ext>
            </a:extLst>
          </p:cNvPr>
          <p:cNvSpPr>
            <a:spLocks noGrp="1"/>
          </p:cNvSpPr>
          <p:nvPr>
            <p:ph type="title"/>
          </p:nvPr>
        </p:nvSpPr>
        <p:spPr/>
        <p:txBody>
          <a:bodyPr>
            <a:noAutofit/>
          </a:bodyPr>
          <a:lstStyle/>
          <a:p>
            <a:r>
              <a:rPr lang="es-CO" sz="3200"/>
              <a:t>4. Codificación de la solución en un lenguaje de programación</a:t>
            </a:r>
          </a:p>
        </p:txBody>
      </p:sp>
      <p:sp>
        <p:nvSpPr>
          <p:cNvPr id="3" name="Marcador de texto 2">
            <a:extLst>
              <a:ext uri="{FF2B5EF4-FFF2-40B4-BE49-F238E27FC236}">
                <a16:creationId xmlns:a16="http://schemas.microsoft.com/office/drawing/2014/main" id="{26EEECB9-A0AD-73CC-4575-E9E3E1A1A53C}"/>
              </a:ext>
            </a:extLst>
          </p:cNvPr>
          <p:cNvSpPr>
            <a:spLocks noGrp="1"/>
          </p:cNvSpPr>
          <p:nvPr>
            <p:ph type="body" idx="1"/>
          </p:nvPr>
        </p:nvSpPr>
        <p:spPr>
          <a:xfrm>
            <a:off x="2076994" y="1410789"/>
            <a:ext cx="9666016" cy="1576165"/>
          </a:xfrm>
        </p:spPr>
        <p:txBody>
          <a:bodyPr>
            <a:normAutofit/>
          </a:bodyPr>
          <a:lstStyle/>
          <a:p>
            <a:pPr algn="just"/>
            <a:r>
              <a:rPr lang="es-CO" sz="2000"/>
              <a:t>La codificación de la solución consiste en llevar el diseño del algoritmo a un lenguaje de programación.</a:t>
            </a:r>
          </a:p>
          <a:p>
            <a:pPr algn="just"/>
            <a:r>
              <a:rPr lang="es-CO" sz="2000"/>
              <a:t>En este curso utilizaremos Python, pero existen cientos de lenguajes de programación que se podrían utilizar.</a:t>
            </a:r>
          </a:p>
        </p:txBody>
      </p:sp>
      <p:sp>
        <p:nvSpPr>
          <p:cNvPr id="4" name="Marcador de número de diapositiva 3">
            <a:extLst>
              <a:ext uri="{FF2B5EF4-FFF2-40B4-BE49-F238E27FC236}">
                <a16:creationId xmlns:a16="http://schemas.microsoft.com/office/drawing/2014/main" id="{E35542F1-EFF9-E105-A4B2-5DD6D00B19D3}"/>
              </a:ext>
            </a:extLst>
          </p:cNvPr>
          <p:cNvSpPr>
            <a:spLocks noGrp="1"/>
          </p:cNvSpPr>
          <p:nvPr>
            <p:ph type="sldNum" idx="12"/>
          </p:nvPr>
        </p:nvSpPr>
        <p:spPr/>
        <p:txBody>
          <a:bodyPr/>
          <a:lstStyle/>
          <a:p>
            <a:fld id="{00000000-1234-1234-1234-123412341234}" type="slidenum">
              <a:rPr lang="es-CO" smtClean="0"/>
              <a:pPr/>
              <a:t>15</a:t>
            </a:fld>
            <a:endParaRPr lang="es-CO"/>
          </a:p>
        </p:txBody>
      </p:sp>
      <p:pic>
        <p:nvPicPr>
          <p:cNvPr id="3074" name="Picture 2">
            <a:extLst>
              <a:ext uri="{FF2B5EF4-FFF2-40B4-BE49-F238E27FC236}">
                <a16:creationId xmlns:a16="http://schemas.microsoft.com/office/drawing/2014/main" id="{7E91EDB6-D722-416F-0D3C-5AA341F258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5961" y="3151536"/>
            <a:ext cx="5322976" cy="269908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321;p12">
            <a:extLst>
              <a:ext uri="{FF2B5EF4-FFF2-40B4-BE49-F238E27FC236}">
                <a16:creationId xmlns:a16="http://schemas.microsoft.com/office/drawing/2014/main" id="{D43FE1A5-5B76-303D-1C98-E02E04EB90EA}"/>
              </a:ext>
            </a:extLst>
          </p:cNvPr>
          <p:cNvSpPr/>
          <p:nvPr/>
        </p:nvSpPr>
        <p:spPr>
          <a:xfrm>
            <a:off x="8970264" y="3041780"/>
            <a:ext cx="2772746" cy="937459"/>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¿Qué pilares del PC podríamos aplicar en esta etapa?</a:t>
            </a:r>
            <a:endParaRPr b="1">
              <a:solidFill>
                <a:schemeClr val="dk1"/>
              </a:solidFill>
              <a:latin typeface="Calibri"/>
              <a:cs typeface="Calibri"/>
              <a:sym typeface="Arial"/>
            </a:endParaRPr>
          </a:p>
        </p:txBody>
      </p:sp>
      <p:sp>
        <p:nvSpPr>
          <p:cNvPr id="7" name="Google Shape;462;p21">
            <a:extLst>
              <a:ext uri="{FF2B5EF4-FFF2-40B4-BE49-F238E27FC236}">
                <a16:creationId xmlns:a16="http://schemas.microsoft.com/office/drawing/2014/main" id="{BBA063F1-EB13-B218-06B2-C6D2604A13E2}"/>
              </a:ext>
            </a:extLst>
          </p:cNvPr>
          <p:cNvSpPr/>
          <p:nvPr/>
        </p:nvSpPr>
        <p:spPr>
          <a:xfrm>
            <a:off x="8970264" y="4213203"/>
            <a:ext cx="2772747" cy="937459"/>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bg1"/>
                </a:solidFill>
                <a:latin typeface="Calibri"/>
                <a:cs typeface="Calibri"/>
                <a:sym typeface="Calibri"/>
              </a:rPr>
              <a:t>Evaluación de soluciones</a:t>
            </a:r>
            <a:endParaRPr b="1">
              <a:solidFill>
                <a:schemeClr val="bg1"/>
              </a:solidFill>
              <a:latin typeface="Calibri"/>
              <a:cs typeface="Calibri"/>
              <a:sym typeface="Arial"/>
            </a:endParaRPr>
          </a:p>
        </p:txBody>
      </p:sp>
      <p:grpSp>
        <p:nvGrpSpPr>
          <p:cNvPr id="17" name="Grupo 16">
            <a:extLst>
              <a:ext uri="{FF2B5EF4-FFF2-40B4-BE49-F238E27FC236}">
                <a16:creationId xmlns:a16="http://schemas.microsoft.com/office/drawing/2014/main" id="{77F3F837-0E38-0EE7-B778-090E099753DE}"/>
              </a:ext>
            </a:extLst>
          </p:cNvPr>
          <p:cNvGrpSpPr/>
          <p:nvPr/>
        </p:nvGrpSpPr>
        <p:grpSpPr>
          <a:xfrm>
            <a:off x="8014385" y="4213203"/>
            <a:ext cx="744879" cy="303475"/>
            <a:chOff x="2403056" y="6179653"/>
            <a:chExt cx="843841" cy="352454"/>
          </a:xfrm>
        </p:grpSpPr>
        <p:sp>
          <p:nvSpPr>
            <p:cNvPr id="18" name="Rectángulo 17">
              <a:extLst>
                <a:ext uri="{FF2B5EF4-FFF2-40B4-BE49-F238E27FC236}">
                  <a16:creationId xmlns:a16="http://schemas.microsoft.com/office/drawing/2014/main" id="{6C5BA7D1-325B-747E-D109-0D216111FB76}"/>
                </a:ext>
              </a:extLst>
            </p:cNvPr>
            <p:cNvSpPr/>
            <p:nvPr/>
          </p:nvSpPr>
          <p:spPr>
            <a:xfrm>
              <a:off x="2403056"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Rectángulo 18">
              <a:extLst>
                <a:ext uri="{FF2B5EF4-FFF2-40B4-BE49-F238E27FC236}">
                  <a16:creationId xmlns:a16="http://schemas.microsoft.com/office/drawing/2014/main" id="{A1E14E7F-9B83-6A9B-BC97-3B5FDDD75628}"/>
                </a:ext>
              </a:extLst>
            </p:cNvPr>
            <p:cNvSpPr/>
            <p:nvPr/>
          </p:nvSpPr>
          <p:spPr>
            <a:xfrm>
              <a:off x="2704092"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Rectángulo 19">
              <a:extLst>
                <a:ext uri="{FF2B5EF4-FFF2-40B4-BE49-F238E27FC236}">
                  <a16:creationId xmlns:a16="http://schemas.microsoft.com/office/drawing/2014/main" id="{143E0842-08BC-DC05-7E3C-0153D54DE7C0}"/>
                </a:ext>
              </a:extLst>
            </p:cNvPr>
            <p:cNvSpPr/>
            <p:nvPr/>
          </p:nvSpPr>
          <p:spPr>
            <a:xfrm>
              <a:off x="3016694"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Medio marco 20">
              <a:extLst>
                <a:ext uri="{FF2B5EF4-FFF2-40B4-BE49-F238E27FC236}">
                  <a16:creationId xmlns:a16="http://schemas.microsoft.com/office/drawing/2014/main" id="{7E7C306F-83F9-B6CC-0CA8-D4A6450E59D5}"/>
                </a:ext>
              </a:extLst>
            </p:cNvPr>
            <p:cNvSpPr/>
            <p:nvPr/>
          </p:nvSpPr>
          <p:spPr>
            <a:xfrm rot="7515653" flipH="1">
              <a:off x="2403352" y="6271301"/>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2" name="Medio marco 21">
              <a:extLst>
                <a:ext uri="{FF2B5EF4-FFF2-40B4-BE49-F238E27FC236}">
                  <a16:creationId xmlns:a16="http://schemas.microsoft.com/office/drawing/2014/main" id="{878B41C2-F50B-9EF6-6091-5D577B42FAED}"/>
                </a:ext>
              </a:extLst>
            </p:cNvPr>
            <p:cNvSpPr/>
            <p:nvPr/>
          </p:nvSpPr>
          <p:spPr>
            <a:xfrm rot="7515653" flipH="1">
              <a:off x="2715954" y="6287476"/>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3" name="Medio marco 22">
              <a:extLst>
                <a:ext uri="{FF2B5EF4-FFF2-40B4-BE49-F238E27FC236}">
                  <a16:creationId xmlns:a16="http://schemas.microsoft.com/office/drawing/2014/main" id="{D2755983-2D0D-2732-5320-C4274258D64B}"/>
                </a:ext>
              </a:extLst>
            </p:cNvPr>
            <p:cNvSpPr/>
            <p:nvPr/>
          </p:nvSpPr>
          <p:spPr>
            <a:xfrm rot="7515653" flipH="1">
              <a:off x="3028650" y="6276949"/>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grpSp>
    </p:spTree>
    <p:extLst>
      <p:ext uri="{BB962C8B-B14F-4D97-AF65-F5344CB8AC3E}">
        <p14:creationId xmlns:p14="http://schemas.microsoft.com/office/powerpoint/2010/main" val="174030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15CB43-63DD-445F-F7CF-7DBFBA227BD2}"/>
              </a:ext>
            </a:extLst>
          </p:cNvPr>
          <p:cNvSpPr>
            <a:spLocks noGrp="1"/>
          </p:cNvSpPr>
          <p:nvPr>
            <p:ph type="title"/>
          </p:nvPr>
        </p:nvSpPr>
        <p:spPr/>
        <p:txBody>
          <a:bodyPr>
            <a:noAutofit/>
          </a:bodyPr>
          <a:lstStyle/>
          <a:p>
            <a:r>
              <a:rPr lang="es-CO" sz="3200"/>
              <a:t>4. Codificación de la solución en un lenguaje de programación – Aplicación</a:t>
            </a:r>
          </a:p>
        </p:txBody>
      </p:sp>
      <p:sp>
        <p:nvSpPr>
          <p:cNvPr id="4" name="Marcador de número de diapositiva 3">
            <a:extLst>
              <a:ext uri="{FF2B5EF4-FFF2-40B4-BE49-F238E27FC236}">
                <a16:creationId xmlns:a16="http://schemas.microsoft.com/office/drawing/2014/main" id="{7F760C85-474C-9FF5-F581-0CE4DEA95DFE}"/>
              </a:ext>
            </a:extLst>
          </p:cNvPr>
          <p:cNvSpPr>
            <a:spLocks noGrp="1"/>
          </p:cNvSpPr>
          <p:nvPr>
            <p:ph type="sldNum" idx="12"/>
          </p:nvPr>
        </p:nvSpPr>
        <p:spPr/>
        <p:txBody>
          <a:bodyPr/>
          <a:lstStyle/>
          <a:p>
            <a:fld id="{00000000-1234-1234-1234-123412341234}" type="slidenum">
              <a:rPr lang="es-CO" smtClean="0"/>
              <a:pPr/>
              <a:t>16</a:t>
            </a:fld>
            <a:endParaRPr lang="es-CO"/>
          </a:p>
        </p:txBody>
      </p:sp>
      <p:pic>
        <p:nvPicPr>
          <p:cNvPr id="6" name="Imagen 5">
            <a:extLst>
              <a:ext uri="{FF2B5EF4-FFF2-40B4-BE49-F238E27FC236}">
                <a16:creationId xmlns:a16="http://schemas.microsoft.com/office/drawing/2014/main" id="{84A705FE-478A-ACEA-8B0C-9B3CE9D06663}"/>
              </a:ext>
            </a:extLst>
          </p:cNvPr>
          <p:cNvPicPr>
            <a:picLocks noChangeAspect="1"/>
          </p:cNvPicPr>
          <p:nvPr/>
        </p:nvPicPr>
        <p:blipFill>
          <a:blip r:embed="rId2"/>
          <a:stretch>
            <a:fillRect/>
          </a:stretch>
        </p:blipFill>
        <p:spPr>
          <a:xfrm>
            <a:off x="3099418" y="1483465"/>
            <a:ext cx="6300191" cy="3097300"/>
          </a:xfrm>
          <a:prstGeom prst="rect">
            <a:avLst/>
          </a:prstGeom>
        </p:spPr>
        <p:style>
          <a:lnRef idx="2">
            <a:schemeClr val="dk1"/>
          </a:lnRef>
          <a:fillRef idx="1">
            <a:schemeClr val="lt1"/>
          </a:fillRef>
          <a:effectRef idx="0">
            <a:schemeClr val="dk1"/>
          </a:effectRef>
          <a:fontRef idx="minor">
            <a:schemeClr val="dk1"/>
          </a:fontRef>
        </p:style>
      </p:pic>
      <p:pic>
        <p:nvPicPr>
          <p:cNvPr id="8" name="Imagen 7">
            <a:extLst>
              <a:ext uri="{FF2B5EF4-FFF2-40B4-BE49-F238E27FC236}">
                <a16:creationId xmlns:a16="http://schemas.microsoft.com/office/drawing/2014/main" id="{47205DE9-9CE1-4A00-137B-D4EC9579A3B5}"/>
              </a:ext>
            </a:extLst>
          </p:cNvPr>
          <p:cNvPicPr>
            <a:picLocks noChangeAspect="1"/>
          </p:cNvPicPr>
          <p:nvPr/>
        </p:nvPicPr>
        <p:blipFill>
          <a:blip r:embed="rId3"/>
          <a:stretch>
            <a:fillRect/>
          </a:stretch>
        </p:blipFill>
        <p:spPr>
          <a:xfrm>
            <a:off x="6390166" y="4253088"/>
            <a:ext cx="4821225" cy="906002"/>
          </a:xfrm>
          <a:prstGeom prst="rect">
            <a:avLst/>
          </a:prstGeom>
        </p:spPr>
        <p:style>
          <a:lnRef idx="2">
            <a:schemeClr val="dk1"/>
          </a:lnRef>
          <a:fillRef idx="1">
            <a:schemeClr val="lt1"/>
          </a:fillRef>
          <a:effectRef idx="0">
            <a:schemeClr val="dk1"/>
          </a:effectRef>
          <a:fontRef idx="minor">
            <a:schemeClr val="dk1"/>
          </a:fontRef>
        </p:style>
      </p:pic>
      <p:sp>
        <p:nvSpPr>
          <p:cNvPr id="15" name="Google Shape;321;p12">
            <a:extLst>
              <a:ext uri="{FF2B5EF4-FFF2-40B4-BE49-F238E27FC236}">
                <a16:creationId xmlns:a16="http://schemas.microsoft.com/office/drawing/2014/main" id="{784FABF6-CD32-BFF5-6C01-9AE415396328}"/>
              </a:ext>
            </a:extLst>
          </p:cNvPr>
          <p:cNvSpPr/>
          <p:nvPr/>
        </p:nvSpPr>
        <p:spPr>
          <a:xfrm>
            <a:off x="4275226" y="5590564"/>
            <a:ext cx="6653507" cy="946861"/>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Traducimos la secuencia de pasos (diseñada y validada previamente) a un lenguaje de programación</a:t>
            </a:r>
            <a:endParaRPr b="1">
              <a:solidFill>
                <a:schemeClr val="dk1"/>
              </a:solidFill>
              <a:latin typeface="Calibri"/>
              <a:cs typeface="Calibri"/>
              <a:sym typeface="Arial"/>
            </a:endParaRPr>
          </a:p>
        </p:txBody>
      </p:sp>
      <p:grpSp>
        <p:nvGrpSpPr>
          <p:cNvPr id="16" name="Grupo 15">
            <a:extLst>
              <a:ext uri="{FF2B5EF4-FFF2-40B4-BE49-F238E27FC236}">
                <a16:creationId xmlns:a16="http://schemas.microsoft.com/office/drawing/2014/main" id="{DA8A5503-897C-89E9-7799-A2A211D5E994}"/>
              </a:ext>
            </a:extLst>
          </p:cNvPr>
          <p:cNvGrpSpPr/>
          <p:nvPr/>
        </p:nvGrpSpPr>
        <p:grpSpPr>
          <a:xfrm>
            <a:off x="3156902" y="5580679"/>
            <a:ext cx="744879" cy="303475"/>
            <a:chOff x="2403056" y="6179653"/>
            <a:chExt cx="843841" cy="352454"/>
          </a:xfrm>
        </p:grpSpPr>
        <p:sp>
          <p:nvSpPr>
            <p:cNvPr id="17" name="Rectángulo 16">
              <a:extLst>
                <a:ext uri="{FF2B5EF4-FFF2-40B4-BE49-F238E27FC236}">
                  <a16:creationId xmlns:a16="http://schemas.microsoft.com/office/drawing/2014/main" id="{8360ACA7-AD1E-3155-00A3-6B3BE2C2F0E6}"/>
                </a:ext>
              </a:extLst>
            </p:cNvPr>
            <p:cNvSpPr/>
            <p:nvPr/>
          </p:nvSpPr>
          <p:spPr>
            <a:xfrm>
              <a:off x="2403056"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17">
              <a:extLst>
                <a:ext uri="{FF2B5EF4-FFF2-40B4-BE49-F238E27FC236}">
                  <a16:creationId xmlns:a16="http://schemas.microsoft.com/office/drawing/2014/main" id="{80C3E2F9-3F5A-38AD-9ADD-9B4B51F1CD08}"/>
                </a:ext>
              </a:extLst>
            </p:cNvPr>
            <p:cNvSpPr/>
            <p:nvPr/>
          </p:nvSpPr>
          <p:spPr>
            <a:xfrm>
              <a:off x="2704092"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Rectángulo 18">
              <a:extLst>
                <a:ext uri="{FF2B5EF4-FFF2-40B4-BE49-F238E27FC236}">
                  <a16:creationId xmlns:a16="http://schemas.microsoft.com/office/drawing/2014/main" id="{395EB109-9EF4-98A7-CBB6-D5C59AAFE673}"/>
                </a:ext>
              </a:extLst>
            </p:cNvPr>
            <p:cNvSpPr/>
            <p:nvPr/>
          </p:nvSpPr>
          <p:spPr>
            <a:xfrm>
              <a:off x="3016694" y="6343218"/>
              <a:ext cx="219260" cy="188889"/>
            </a:xfrm>
            <a:prstGeom prst="rect">
              <a:avLst/>
            </a:prstGeom>
            <a:no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Medio marco 19">
              <a:extLst>
                <a:ext uri="{FF2B5EF4-FFF2-40B4-BE49-F238E27FC236}">
                  <a16:creationId xmlns:a16="http://schemas.microsoft.com/office/drawing/2014/main" id="{2BC2CA41-7109-2A60-72D3-27C9A4599845}"/>
                </a:ext>
              </a:extLst>
            </p:cNvPr>
            <p:cNvSpPr/>
            <p:nvPr/>
          </p:nvSpPr>
          <p:spPr>
            <a:xfrm rot="7515653" flipH="1">
              <a:off x="2403352" y="6271301"/>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1" name="Medio marco 20">
              <a:extLst>
                <a:ext uri="{FF2B5EF4-FFF2-40B4-BE49-F238E27FC236}">
                  <a16:creationId xmlns:a16="http://schemas.microsoft.com/office/drawing/2014/main" id="{862E67C2-6D19-74F6-22EC-4E86A2A88C39}"/>
                </a:ext>
              </a:extLst>
            </p:cNvPr>
            <p:cNvSpPr/>
            <p:nvPr/>
          </p:nvSpPr>
          <p:spPr>
            <a:xfrm rot="7515653" flipH="1">
              <a:off x="2715954" y="6287476"/>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2" name="Medio marco 21">
              <a:extLst>
                <a:ext uri="{FF2B5EF4-FFF2-40B4-BE49-F238E27FC236}">
                  <a16:creationId xmlns:a16="http://schemas.microsoft.com/office/drawing/2014/main" id="{872EA81B-204E-C3C8-D29A-1E99CDF85886}"/>
                </a:ext>
              </a:extLst>
            </p:cNvPr>
            <p:cNvSpPr/>
            <p:nvPr/>
          </p:nvSpPr>
          <p:spPr>
            <a:xfrm rot="7515653" flipH="1">
              <a:off x="3028650" y="6276949"/>
              <a:ext cx="309896" cy="126599"/>
            </a:xfrm>
            <a:prstGeom prst="halfFram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grpSp>
      <p:sp>
        <p:nvSpPr>
          <p:cNvPr id="24" name="CuadroTexto 23">
            <a:extLst>
              <a:ext uri="{FF2B5EF4-FFF2-40B4-BE49-F238E27FC236}">
                <a16:creationId xmlns:a16="http://schemas.microsoft.com/office/drawing/2014/main" id="{335CD12A-C6F2-B5F7-A7E9-5BBF94A87EE2}"/>
              </a:ext>
            </a:extLst>
          </p:cNvPr>
          <p:cNvSpPr txBox="1"/>
          <p:nvPr/>
        </p:nvSpPr>
        <p:spPr>
          <a:xfrm>
            <a:off x="2147664" y="1442013"/>
            <a:ext cx="982341" cy="430887"/>
          </a:xfrm>
          <a:prstGeom prst="rect">
            <a:avLst/>
          </a:prstGeom>
          <a:noFill/>
        </p:spPr>
        <p:txBody>
          <a:bodyPr wrap="square">
            <a:spAutoFit/>
          </a:bodyPr>
          <a:lstStyle/>
          <a:p>
            <a:r>
              <a:rPr lang="es-CO" sz="2200" b="1"/>
              <a:t>Código</a:t>
            </a:r>
          </a:p>
        </p:txBody>
      </p:sp>
      <p:sp>
        <p:nvSpPr>
          <p:cNvPr id="25" name="CuadroTexto 24">
            <a:extLst>
              <a:ext uri="{FF2B5EF4-FFF2-40B4-BE49-F238E27FC236}">
                <a16:creationId xmlns:a16="http://schemas.microsoft.com/office/drawing/2014/main" id="{8DD9085E-ACE4-392D-820E-A25AC934DEF0}"/>
              </a:ext>
            </a:extLst>
          </p:cNvPr>
          <p:cNvSpPr txBox="1"/>
          <p:nvPr/>
        </p:nvSpPr>
        <p:spPr>
          <a:xfrm>
            <a:off x="5095985" y="4622217"/>
            <a:ext cx="1411700" cy="430887"/>
          </a:xfrm>
          <a:prstGeom prst="rect">
            <a:avLst/>
          </a:prstGeom>
          <a:noFill/>
        </p:spPr>
        <p:txBody>
          <a:bodyPr wrap="square">
            <a:spAutoFit/>
          </a:bodyPr>
          <a:lstStyle/>
          <a:p>
            <a:r>
              <a:rPr lang="es-CO" sz="2200" b="1"/>
              <a:t>Resultado</a:t>
            </a:r>
          </a:p>
        </p:txBody>
      </p:sp>
    </p:spTree>
    <p:extLst>
      <p:ext uri="{BB962C8B-B14F-4D97-AF65-F5344CB8AC3E}">
        <p14:creationId xmlns:p14="http://schemas.microsoft.com/office/powerpoint/2010/main" val="427137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4" grpId="0"/>
      <p:bldP spid="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5E1B8-0DC1-9A49-3E9B-07467D6B81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2A0F22-F282-A0D9-98C8-00C82B041BBA}"/>
              </a:ext>
            </a:extLst>
          </p:cNvPr>
          <p:cNvSpPr>
            <a:spLocks noGrp="1"/>
          </p:cNvSpPr>
          <p:nvPr>
            <p:ph type="title"/>
          </p:nvPr>
        </p:nvSpPr>
        <p:spPr>
          <a:xfrm>
            <a:off x="1925053" y="11154"/>
            <a:ext cx="9962147" cy="1018902"/>
          </a:xfrm>
        </p:spPr>
        <p:txBody>
          <a:bodyPr>
            <a:noAutofit/>
          </a:bodyPr>
          <a:lstStyle/>
          <a:p>
            <a:r>
              <a:rPr lang="es-CO" sz="2850"/>
              <a:t>Relación metodología de trabajo con algoritmos y pilares del PC</a:t>
            </a:r>
          </a:p>
        </p:txBody>
      </p:sp>
      <p:sp>
        <p:nvSpPr>
          <p:cNvPr id="4" name="Marcador de número de diapositiva 3">
            <a:extLst>
              <a:ext uri="{FF2B5EF4-FFF2-40B4-BE49-F238E27FC236}">
                <a16:creationId xmlns:a16="http://schemas.microsoft.com/office/drawing/2014/main" id="{C44FE293-29A8-DD04-F1DA-AD4E8D389F67}"/>
              </a:ext>
            </a:extLst>
          </p:cNvPr>
          <p:cNvSpPr>
            <a:spLocks noGrp="1"/>
          </p:cNvSpPr>
          <p:nvPr>
            <p:ph type="sldNum" idx="12"/>
          </p:nvPr>
        </p:nvSpPr>
        <p:spPr/>
        <p:txBody>
          <a:bodyPr/>
          <a:lstStyle/>
          <a:p>
            <a:fld id="{00000000-1234-1234-1234-123412341234}" type="slidenum">
              <a:rPr lang="es-CO" smtClean="0"/>
              <a:pPr/>
              <a:t>17</a:t>
            </a:fld>
            <a:endParaRPr lang="es-CO"/>
          </a:p>
        </p:txBody>
      </p:sp>
      <p:graphicFrame>
        <p:nvGraphicFramePr>
          <p:cNvPr id="3" name="Tabla 2">
            <a:extLst>
              <a:ext uri="{FF2B5EF4-FFF2-40B4-BE49-F238E27FC236}">
                <a16:creationId xmlns:a16="http://schemas.microsoft.com/office/drawing/2014/main" id="{9551FCC6-A04E-9CFD-4750-C5AE1D932897}"/>
              </a:ext>
            </a:extLst>
          </p:cNvPr>
          <p:cNvGraphicFramePr>
            <a:graphicFrameLocks noGrp="1"/>
          </p:cNvGraphicFramePr>
          <p:nvPr>
            <p:extLst>
              <p:ext uri="{D42A27DB-BD31-4B8C-83A1-F6EECF244321}">
                <p14:modId xmlns:p14="http://schemas.microsoft.com/office/powerpoint/2010/main" val="2495304917"/>
              </p:ext>
            </p:extLst>
          </p:nvPr>
        </p:nvGraphicFramePr>
        <p:xfrm>
          <a:off x="1925052" y="1093881"/>
          <a:ext cx="9962147" cy="5379720"/>
        </p:xfrm>
        <a:graphic>
          <a:graphicData uri="http://schemas.openxmlformats.org/drawingml/2006/table">
            <a:tbl>
              <a:tblPr firstRow="1" bandRow="1">
                <a:tableStyleId>{5940675A-B579-460E-94D1-54222C63F5DA}</a:tableStyleId>
              </a:tblPr>
              <a:tblGrid>
                <a:gridCol w="2823410">
                  <a:extLst>
                    <a:ext uri="{9D8B030D-6E8A-4147-A177-3AD203B41FA5}">
                      <a16:colId xmlns:a16="http://schemas.microsoft.com/office/drawing/2014/main" val="722552213"/>
                    </a:ext>
                  </a:extLst>
                </a:gridCol>
                <a:gridCol w="7138737">
                  <a:extLst>
                    <a:ext uri="{9D8B030D-6E8A-4147-A177-3AD203B41FA5}">
                      <a16:colId xmlns:a16="http://schemas.microsoft.com/office/drawing/2014/main" val="3688458231"/>
                    </a:ext>
                  </a:extLst>
                </a:gridCol>
              </a:tblGrid>
              <a:tr h="370840">
                <a:tc>
                  <a:txBody>
                    <a:bodyPr/>
                    <a:lstStyle/>
                    <a:p>
                      <a:pPr algn="ctr"/>
                      <a:r>
                        <a:rPr lang="es-CO" sz="2300" b="1">
                          <a:solidFill>
                            <a:schemeClr val="bg1"/>
                          </a:solidFill>
                        </a:rPr>
                        <a:t>Etapa de la metodología</a:t>
                      </a:r>
                    </a:p>
                  </a:txBody>
                  <a:tcPr>
                    <a:solidFill>
                      <a:srgbClr val="113649"/>
                    </a:solidFill>
                  </a:tcPr>
                </a:tc>
                <a:tc>
                  <a:txBody>
                    <a:bodyPr/>
                    <a:lstStyle/>
                    <a:p>
                      <a:pPr algn="ctr"/>
                      <a:r>
                        <a:rPr lang="es-CO" sz="2300" b="1">
                          <a:solidFill>
                            <a:schemeClr val="bg1"/>
                          </a:solidFill>
                        </a:rPr>
                        <a:t>Pilar del PC</a:t>
                      </a:r>
                    </a:p>
                  </a:txBody>
                  <a:tcPr>
                    <a:solidFill>
                      <a:srgbClr val="113649"/>
                    </a:solidFill>
                  </a:tcPr>
                </a:tc>
                <a:extLst>
                  <a:ext uri="{0D108BD9-81ED-4DB2-BD59-A6C34878D82A}">
                    <a16:rowId xmlns:a16="http://schemas.microsoft.com/office/drawing/2014/main" val="1757604693"/>
                  </a:ext>
                </a:extLst>
              </a:tr>
              <a:tr h="370840">
                <a:tc rowSpan="2">
                  <a:txBody>
                    <a:bodyPr/>
                    <a:lstStyle/>
                    <a:p>
                      <a:r>
                        <a:rPr lang="es-CO" sz="2100" b="1"/>
                        <a:t>Análisis del problema</a:t>
                      </a:r>
                    </a:p>
                  </a:txBody>
                  <a:tcPr/>
                </a:tc>
                <a:tc>
                  <a:txBody>
                    <a:bodyPr/>
                    <a:lstStyle/>
                    <a:p>
                      <a:r>
                        <a:rPr lang="es-MX" sz="2000" b="1"/>
                        <a:t>Descomposición</a:t>
                      </a:r>
                      <a:r>
                        <a:rPr lang="es-MX" sz="2000"/>
                        <a:t>: Divide el problema en subproblemas más pequeños.</a:t>
                      </a:r>
                      <a:endParaRPr lang="es-CO" sz="2000"/>
                    </a:p>
                  </a:txBody>
                  <a:tcPr/>
                </a:tc>
                <a:extLst>
                  <a:ext uri="{0D108BD9-81ED-4DB2-BD59-A6C34878D82A}">
                    <a16:rowId xmlns:a16="http://schemas.microsoft.com/office/drawing/2014/main" val="1241007629"/>
                  </a:ext>
                </a:extLst>
              </a:tr>
              <a:tr h="370840">
                <a:tc vMerge="1">
                  <a:txBody>
                    <a:bodyPr/>
                    <a:lstStyle/>
                    <a:p>
                      <a:endParaRPr lang="es-CO"/>
                    </a:p>
                  </a:txBody>
                  <a:tcPr/>
                </a:tc>
                <a:tc>
                  <a:txBody>
                    <a:bodyPr/>
                    <a:lstStyle/>
                    <a:p>
                      <a:r>
                        <a:rPr lang="es-MX" sz="2000" b="1"/>
                        <a:t>Abstracción</a:t>
                      </a:r>
                      <a:r>
                        <a:rPr lang="es-MX" sz="2000"/>
                        <a:t>: Identifica los elementos importantes del problema, eliminando detalles irrelevantes.</a:t>
                      </a:r>
                      <a:endParaRPr lang="es-CO" sz="2000"/>
                    </a:p>
                  </a:txBody>
                  <a:tcPr/>
                </a:tc>
                <a:extLst>
                  <a:ext uri="{0D108BD9-81ED-4DB2-BD59-A6C34878D82A}">
                    <a16:rowId xmlns:a16="http://schemas.microsoft.com/office/drawing/2014/main" val="3965419494"/>
                  </a:ext>
                </a:extLst>
              </a:tr>
              <a:tr h="37084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2100" b="1"/>
                        <a:t>Diseño de la solución</a:t>
                      </a:r>
                    </a:p>
                    <a:p>
                      <a:endParaRPr lang="es-CO" sz="2100"/>
                    </a:p>
                  </a:txBody>
                  <a:tcPr/>
                </a:tc>
                <a:tc>
                  <a:txBody>
                    <a:bodyPr/>
                    <a:lstStyle/>
                    <a:p>
                      <a:r>
                        <a:rPr lang="es-MX" sz="2000" b="1"/>
                        <a:t>Lógica y Algoritmia</a:t>
                      </a:r>
                      <a:r>
                        <a:rPr lang="es-MX" sz="2000"/>
                        <a:t>: Define la secuencia de pasos para resolver el problema.</a:t>
                      </a:r>
                      <a:endParaRPr lang="es-CO" sz="2000"/>
                    </a:p>
                  </a:txBody>
                  <a:tcPr/>
                </a:tc>
                <a:extLst>
                  <a:ext uri="{0D108BD9-81ED-4DB2-BD59-A6C34878D82A}">
                    <a16:rowId xmlns:a16="http://schemas.microsoft.com/office/drawing/2014/main" val="2478515418"/>
                  </a:ext>
                </a:extLst>
              </a:tr>
              <a:tr h="370840">
                <a:tc vMerge="1">
                  <a:txBody>
                    <a:bodyPr/>
                    <a:lstStyle/>
                    <a:p>
                      <a:endParaRPr lang="es-CO"/>
                    </a:p>
                  </a:txBody>
                  <a:tcPr/>
                </a:tc>
                <a:tc>
                  <a:txBody>
                    <a:bodyPr/>
                    <a:lstStyle/>
                    <a:p>
                      <a:r>
                        <a:rPr lang="es-MX" sz="2000" b="1"/>
                        <a:t>Reconocimiento de patrones</a:t>
                      </a:r>
                      <a:r>
                        <a:rPr lang="es-MX" sz="2000"/>
                        <a:t>: Aplica soluciones generales a problemas similares basándote en experiencias anteriores.</a:t>
                      </a:r>
                      <a:endParaRPr lang="es-CO" sz="2000"/>
                    </a:p>
                  </a:txBody>
                  <a:tcPr/>
                </a:tc>
                <a:extLst>
                  <a:ext uri="{0D108BD9-81ED-4DB2-BD59-A6C34878D82A}">
                    <a16:rowId xmlns:a16="http://schemas.microsoft.com/office/drawing/2014/main" val="8034546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2100" b="1"/>
                        <a:t>Validación de la solución</a:t>
                      </a:r>
                    </a:p>
                  </a:txBody>
                  <a:tcPr/>
                </a:tc>
                <a:tc>
                  <a:txBody>
                    <a:bodyPr/>
                    <a:lstStyle/>
                    <a:p>
                      <a:r>
                        <a:rPr lang="es-MX" sz="2000" b="1"/>
                        <a:t>Evaluación de la solución</a:t>
                      </a:r>
                      <a:r>
                        <a:rPr lang="es-MX" sz="2000"/>
                        <a:t>: Comprueba si el diseño cumple con los requisitos y si resuelve el problema eficientemente.</a:t>
                      </a:r>
                      <a:endParaRPr lang="es-CO" sz="2000"/>
                    </a:p>
                  </a:txBody>
                  <a:tcPr/>
                </a:tc>
                <a:extLst>
                  <a:ext uri="{0D108BD9-81ED-4DB2-BD59-A6C34878D82A}">
                    <a16:rowId xmlns:a16="http://schemas.microsoft.com/office/drawing/2014/main" val="562835410"/>
                  </a:ext>
                </a:extLst>
              </a:tr>
              <a:tr h="370840">
                <a:tc>
                  <a:txBody>
                    <a:bodyPr/>
                    <a:lstStyle/>
                    <a:p>
                      <a:r>
                        <a:rPr lang="es-CO" sz="2100" b="1"/>
                        <a:t>Codificación de la solución en un lenguaje de programación</a:t>
                      </a:r>
                    </a:p>
                  </a:txBody>
                  <a:tcPr/>
                </a:tc>
                <a:tc>
                  <a:txBody>
                    <a:bodyPr/>
                    <a:lstStyle/>
                    <a:p>
                      <a:r>
                        <a:rPr lang="es-MX" sz="2000" b="1" dirty="0"/>
                        <a:t>Codificación de la solución</a:t>
                      </a:r>
                      <a:r>
                        <a:rPr lang="es-MX" sz="2000" dirty="0"/>
                        <a:t>: Implementa el diseño en un lenguaje de programación, asegurándote de seguir la lógica planteada en los pasos anteriores.</a:t>
                      </a:r>
                      <a:endParaRPr lang="es-CO" sz="2000" dirty="0"/>
                    </a:p>
                  </a:txBody>
                  <a:tcPr/>
                </a:tc>
                <a:extLst>
                  <a:ext uri="{0D108BD9-81ED-4DB2-BD59-A6C34878D82A}">
                    <a16:rowId xmlns:a16="http://schemas.microsoft.com/office/drawing/2014/main" val="2629848083"/>
                  </a:ext>
                </a:extLst>
              </a:tr>
            </a:tbl>
          </a:graphicData>
        </a:graphic>
      </p:graphicFrame>
    </p:spTree>
    <p:extLst>
      <p:ext uri="{BB962C8B-B14F-4D97-AF65-F5344CB8AC3E}">
        <p14:creationId xmlns:p14="http://schemas.microsoft.com/office/powerpoint/2010/main" val="2557030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normAutofit fontScale="90000"/>
          </a:bodyPr>
          <a:lstStyle/>
          <a:p>
            <a:r>
              <a:rPr lang="es-CO"/>
              <a:t>Agenda</a:t>
            </a:r>
          </a:p>
        </p:txBody>
      </p:sp>
      <p:sp>
        <p:nvSpPr>
          <p:cNvPr id="4" name="Marcador de texto 3"/>
          <p:cNvSpPr>
            <a:spLocks noGrp="1"/>
          </p:cNvSpPr>
          <p:nvPr>
            <p:ph type="body" idx="1"/>
          </p:nvPr>
        </p:nvSpPr>
        <p:spPr/>
        <p:txBody>
          <a:bodyPr anchor="ctr"/>
          <a:lstStyle/>
          <a:p>
            <a:r>
              <a:rPr lang="es-CO"/>
              <a:t>Algoritmos</a:t>
            </a:r>
          </a:p>
          <a:p>
            <a:r>
              <a:rPr lang="es-CO" b="1"/>
              <a:t>Diagrama de flujo</a:t>
            </a:r>
          </a:p>
          <a:p>
            <a:r>
              <a:rPr lang="es-CO"/>
              <a:t>Ejercicios</a:t>
            </a:r>
          </a:p>
        </p:txBody>
      </p:sp>
      <p:sp>
        <p:nvSpPr>
          <p:cNvPr id="2" name="Marcador de número de diapositiva 1"/>
          <p:cNvSpPr>
            <a:spLocks noGrp="1"/>
          </p:cNvSpPr>
          <p:nvPr>
            <p:ph type="sldNum" sz="quarter" idx="4294967295"/>
          </p:nvPr>
        </p:nvSpPr>
        <p:spPr>
          <a:xfrm>
            <a:off x="11598275" y="6492875"/>
            <a:ext cx="593725" cy="365125"/>
          </a:xfrm>
        </p:spPr>
        <p:txBody>
          <a:bodyPr/>
          <a:lstStyle/>
          <a:p>
            <a:fld id="{654A6576-47F1-4326-ABAC-AEAC38241B4A}" type="slidenum">
              <a:rPr lang="es-CO" smtClean="0"/>
              <a:pPr/>
              <a:t>18</a:t>
            </a:fld>
            <a:endParaRPr lang="es-CO"/>
          </a:p>
        </p:txBody>
      </p:sp>
    </p:spTree>
    <p:extLst>
      <p:ext uri="{BB962C8B-B14F-4D97-AF65-F5344CB8AC3E}">
        <p14:creationId xmlns:p14="http://schemas.microsoft.com/office/powerpoint/2010/main" val="4001880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538724-86FC-E386-8322-B096BB18C66F}"/>
              </a:ext>
            </a:extLst>
          </p:cNvPr>
          <p:cNvSpPr>
            <a:spLocks noGrp="1"/>
          </p:cNvSpPr>
          <p:nvPr>
            <p:ph type="title"/>
          </p:nvPr>
        </p:nvSpPr>
        <p:spPr/>
        <p:txBody>
          <a:bodyPr/>
          <a:lstStyle/>
          <a:p>
            <a:r>
              <a:rPr lang="es-CO"/>
              <a:t>Diagrama de flujo</a:t>
            </a:r>
          </a:p>
        </p:txBody>
      </p:sp>
      <p:sp>
        <p:nvSpPr>
          <p:cNvPr id="3" name="Marcador de texto 2">
            <a:extLst>
              <a:ext uri="{FF2B5EF4-FFF2-40B4-BE49-F238E27FC236}">
                <a16:creationId xmlns:a16="http://schemas.microsoft.com/office/drawing/2014/main" id="{53D8F407-E3FB-9B22-6464-C805152B50F4}"/>
              </a:ext>
            </a:extLst>
          </p:cNvPr>
          <p:cNvSpPr>
            <a:spLocks noGrp="1"/>
          </p:cNvSpPr>
          <p:nvPr>
            <p:ph type="body" idx="1"/>
          </p:nvPr>
        </p:nvSpPr>
        <p:spPr>
          <a:xfrm>
            <a:off x="2076994" y="1410789"/>
            <a:ext cx="6415185" cy="4460622"/>
          </a:xfrm>
        </p:spPr>
        <p:txBody>
          <a:bodyPr>
            <a:normAutofit/>
          </a:bodyPr>
          <a:lstStyle/>
          <a:p>
            <a:pPr algn="just"/>
            <a:r>
              <a:rPr lang="es-CO" sz="2000"/>
              <a:t>En este curso utilizaremos diagramas de flujo para representar el diseño de la solución de los problemas a los que nos enfrentamos.</a:t>
            </a:r>
          </a:p>
          <a:p>
            <a:pPr marL="76200" indent="0" algn="just">
              <a:buNone/>
            </a:pPr>
            <a:r>
              <a:rPr lang="es-CO" sz="2000"/>
              <a:t> </a:t>
            </a:r>
          </a:p>
          <a:p>
            <a:pPr algn="just"/>
            <a:r>
              <a:rPr lang="es-ES" sz="2000" b="1"/>
              <a:t>Un diagrama de flujo </a:t>
            </a:r>
            <a:r>
              <a:rPr lang="es-ES" sz="2000"/>
              <a:t>es una representación gráfica de los pasos o procesos que se deben seguir para realizar una tarea o resolver un problema. Es una herramienta útil para entender y comunicar cómo funciona un proceso.</a:t>
            </a:r>
          </a:p>
          <a:p>
            <a:pPr algn="just"/>
            <a:endParaRPr lang="es-CO" sz="2000"/>
          </a:p>
          <a:p>
            <a:pPr algn="just"/>
            <a:r>
              <a:rPr lang="es-CO" sz="2000"/>
              <a:t>Los diagramas de flujo utilizan un conjunto de símbolos preestablecidos que analizaremos a continuación.</a:t>
            </a:r>
          </a:p>
          <a:p>
            <a:pPr marL="76200" indent="0" algn="just">
              <a:buNone/>
            </a:pPr>
            <a:endParaRPr lang="es-CO" sz="2000"/>
          </a:p>
        </p:txBody>
      </p:sp>
      <p:sp>
        <p:nvSpPr>
          <p:cNvPr id="4" name="Marcador de número de diapositiva 3">
            <a:extLst>
              <a:ext uri="{FF2B5EF4-FFF2-40B4-BE49-F238E27FC236}">
                <a16:creationId xmlns:a16="http://schemas.microsoft.com/office/drawing/2014/main" id="{84BC4C3A-ACDF-D33D-E88C-F4AA57F123C8}"/>
              </a:ext>
            </a:extLst>
          </p:cNvPr>
          <p:cNvSpPr>
            <a:spLocks noGrp="1"/>
          </p:cNvSpPr>
          <p:nvPr>
            <p:ph type="sldNum" idx="12"/>
          </p:nvPr>
        </p:nvSpPr>
        <p:spPr/>
        <p:txBody>
          <a:bodyPr/>
          <a:lstStyle/>
          <a:p>
            <a:fld id="{00000000-1234-1234-1234-123412341234}" type="slidenum">
              <a:rPr lang="es-CO" smtClean="0"/>
              <a:pPr/>
              <a:t>19</a:t>
            </a:fld>
            <a:endParaRPr lang="es-CO"/>
          </a:p>
        </p:txBody>
      </p:sp>
      <p:pic>
        <p:nvPicPr>
          <p:cNvPr id="4098" name="Picture 2">
            <a:extLst>
              <a:ext uri="{FF2B5EF4-FFF2-40B4-BE49-F238E27FC236}">
                <a16:creationId xmlns:a16="http://schemas.microsoft.com/office/drawing/2014/main" id="{2B0F3038-F7BD-BE22-E9F4-6D1811540A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1651" y="2218351"/>
            <a:ext cx="3048900" cy="2693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94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52C5CC-97CE-105D-9914-6B4E86641453}"/>
              </a:ext>
            </a:extLst>
          </p:cNvPr>
          <p:cNvSpPr>
            <a:spLocks noGrp="1"/>
          </p:cNvSpPr>
          <p:nvPr>
            <p:ph type="title"/>
          </p:nvPr>
        </p:nvSpPr>
        <p:spPr/>
        <p:txBody>
          <a:bodyPr/>
          <a:lstStyle/>
          <a:p>
            <a:r>
              <a:rPr lang="es-CO"/>
              <a:t>Notación diagramas de flujo</a:t>
            </a:r>
          </a:p>
        </p:txBody>
      </p:sp>
      <p:sp>
        <p:nvSpPr>
          <p:cNvPr id="4" name="Marcador de número de diapositiva 3">
            <a:extLst>
              <a:ext uri="{FF2B5EF4-FFF2-40B4-BE49-F238E27FC236}">
                <a16:creationId xmlns:a16="http://schemas.microsoft.com/office/drawing/2014/main" id="{0652F616-EDE9-FC21-1D2F-53B4F20CD1CA}"/>
              </a:ext>
            </a:extLst>
          </p:cNvPr>
          <p:cNvSpPr>
            <a:spLocks noGrp="1"/>
          </p:cNvSpPr>
          <p:nvPr>
            <p:ph type="sldNum" idx="12"/>
          </p:nvPr>
        </p:nvSpPr>
        <p:spPr/>
        <p:txBody>
          <a:bodyPr/>
          <a:lstStyle/>
          <a:p>
            <a:fld id="{00000000-1234-1234-1234-123412341234}" type="slidenum">
              <a:rPr lang="es-CO" smtClean="0"/>
              <a:pPr/>
              <a:t>20</a:t>
            </a:fld>
            <a:endParaRPr lang="es-CO"/>
          </a:p>
        </p:txBody>
      </p:sp>
      <p:graphicFrame>
        <p:nvGraphicFramePr>
          <p:cNvPr id="3" name="Tabla 2">
            <a:extLst>
              <a:ext uri="{FF2B5EF4-FFF2-40B4-BE49-F238E27FC236}">
                <a16:creationId xmlns:a16="http://schemas.microsoft.com/office/drawing/2014/main" id="{FB639E84-B865-C5C9-E9DA-67198B8507C8}"/>
              </a:ext>
            </a:extLst>
          </p:cNvPr>
          <p:cNvGraphicFramePr>
            <a:graphicFrameLocks noGrp="1"/>
          </p:cNvGraphicFramePr>
          <p:nvPr>
            <p:extLst>
              <p:ext uri="{D42A27DB-BD31-4B8C-83A1-F6EECF244321}">
                <p14:modId xmlns:p14="http://schemas.microsoft.com/office/powerpoint/2010/main" val="2840659976"/>
              </p:ext>
            </p:extLst>
          </p:nvPr>
        </p:nvGraphicFramePr>
        <p:xfrm>
          <a:off x="2369338" y="1219988"/>
          <a:ext cx="9021170" cy="4963428"/>
        </p:xfrm>
        <a:graphic>
          <a:graphicData uri="http://schemas.openxmlformats.org/drawingml/2006/table">
            <a:tbl>
              <a:tblPr firstRow="1" bandRow="1">
                <a:tableStyleId>{5C22544A-7EE6-4342-B048-85BDC9FD1C3A}</a:tableStyleId>
              </a:tblPr>
              <a:tblGrid>
                <a:gridCol w="1974299">
                  <a:extLst>
                    <a:ext uri="{9D8B030D-6E8A-4147-A177-3AD203B41FA5}">
                      <a16:colId xmlns:a16="http://schemas.microsoft.com/office/drawing/2014/main" val="2472563460"/>
                    </a:ext>
                  </a:extLst>
                </a:gridCol>
                <a:gridCol w="1887515">
                  <a:extLst>
                    <a:ext uri="{9D8B030D-6E8A-4147-A177-3AD203B41FA5}">
                      <a16:colId xmlns:a16="http://schemas.microsoft.com/office/drawing/2014/main" val="3395043722"/>
                    </a:ext>
                  </a:extLst>
                </a:gridCol>
                <a:gridCol w="5159356">
                  <a:extLst>
                    <a:ext uri="{9D8B030D-6E8A-4147-A177-3AD203B41FA5}">
                      <a16:colId xmlns:a16="http://schemas.microsoft.com/office/drawing/2014/main" val="1618321154"/>
                    </a:ext>
                  </a:extLst>
                </a:gridCol>
              </a:tblGrid>
              <a:tr h="452388">
                <a:tc>
                  <a:txBody>
                    <a:bodyPr/>
                    <a:lstStyle/>
                    <a:p>
                      <a:pPr algn="ctr"/>
                      <a:r>
                        <a:rPr lang="es-CO"/>
                        <a:t>Símbolo</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13649"/>
                    </a:solidFill>
                  </a:tcPr>
                </a:tc>
                <a:tc>
                  <a:txBody>
                    <a:bodyPr/>
                    <a:lstStyle/>
                    <a:p>
                      <a:pPr algn="ctr"/>
                      <a:r>
                        <a:rPr lang="es-CO"/>
                        <a:t>Nombre </a:t>
                      </a:r>
                    </a:p>
                  </a:txBody>
                  <a:tcPr>
                    <a:lnT w="12700" cap="flat" cmpd="sng" algn="ctr">
                      <a:solidFill>
                        <a:schemeClr val="tx1"/>
                      </a:solidFill>
                      <a:prstDash val="solid"/>
                      <a:round/>
                      <a:headEnd type="none" w="med" len="med"/>
                      <a:tailEnd type="none" w="med" len="med"/>
                    </a:lnT>
                    <a:solidFill>
                      <a:srgbClr val="113649"/>
                    </a:solidFill>
                  </a:tcPr>
                </a:tc>
                <a:tc>
                  <a:txBody>
                    <a:bodyPr/>
                    <a:lstStyle/>
                    <a:p>
                      <a:pPr algn="ctr"/>
                      <a:r>
                        <a:rPr lang="es-CO"/>
                        <a:t>Uso</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13649"/>
                    </a:solidFill>
                  </a:tcPr>
                </a:tc>
                <a:extLst>
                  <a:ext uri="{0D108BD9-81ED-4DB2-BD59-A6C34878D82A}">
                    <a16:rowId xmlns:a16="http://schemas.microsoft.com/office/drawing/2014/main" val="3823386241"/>
                  </a:ext>
                </a:extLst>
              </a:tr>
              <a:tr h="943276">
                <a:tc>
                  <a:txBody>
                    <a:bodyPr/>
                    <a:lstStyle/>
                    <a:p>
                      <a:endParaRPr lang="es-CO" sz="2200"/>
                    </a:p>
                  </a:txBody>
                  <a:tcPr>
                    <a:lnL w="12700" cap="flat" cmpd="sng" algn="ctr">
                      <a:solidFill>
                        <a:schemeClr val="tx1"/>
                      </a:solidFill>
                      <a:prstDash val="solid"/>
                      <a:round/>
                      <a:headEnd type="none" w="med" len="med"/>
                      <a:tailEnd type="none" w="med" len="med"/>
                    </a:lnL>
                    <a:noFill/>
                  </a:tcPr>
                </a:tc>
                <a:tc>
                  <a:txBody>
                    <a:bodyPr/>
                    <a:lstStyle/>
                    <a:p>
                      <a:pPr algn="ctr"/>
                      <a:r>
                        <a:rPr lang="es-CO" sz="2200"/>
                        <a:t>Inicio / Final</a:t>
                      </a:r>
                    </a:p>
                  </a:txBody>
                  <a:tcPr>
                    <a:noFill/>
                  </a:tcPr>
                </a:tc>
                <a:tc>
                  <a:txBody>
                    <a:bodyPr/>
                    <a:lstStyle/>
                    <a:p>
                      <a:r>
                        <a:rPr lang="es-CO" sz="2000"/>
                        <a:t>Representa el inicio o fin de un algoritmo. Se debe acompañar con la palabra </a:t>
                      </a:r>
                      <a:r>
                        <a:rPr lang="es-CO" sz="2000" b="1"/>
                        <a:t>Inicio</a:t>
                      </a:r>
                      <a:r>
                        <a:rPr lang="es-CO" sz="2000"/>
                        <a:t> o </a:t>
                      </a:r>
                      <a:r>
                        <a:rPr lang="es-CO" sz="2000" b="1"/>
                        <a:t>Fin</a:t>
                      </a:r>
                      <a:r>
                        <a:rPr lang="es-CO" sz="2000" b="0"/>
                        <a:t>, según sea el caso.</a:t>
                      </a:r>
                      <a:endParaRPr lang="es-CO" sz="2000"/>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543366206"/>
                  </a:ext>
                </a:extLst>
              </a:tr>
              <a:tr h="581521">
                <a:tc>
                  <a:txBody>
                    <a:bodyPr/>
                    <a:lstStyle/>
                    <a:p>
                      <a:endParaRPr lang="es-CO" sz="2200"/>
                    </a:p>
                    <a:p>
                      <a:endParaRPr lang="es-CO" sz="2200"/>
                    </a:p>
                    <a:p>
                      <a:endParaRPr lang="es-CO" sz="2200"/>
                    </a:p>
                  </a:txBody>
                  <a:tcPr>
                    <a:lnL w="12700" cap="flat" cmpd="sng" algn="ctr">
                      <a:solidFill>
                        <a:schemeClr val="tx1"/>
                      </a:solidFill>
                      <a:prstDash val="solid"/>
                      <a:round/>
                      <a:headEnd type="none" w="med" len="med"/>
                      <a:tailEnd type="none" w="med" len="med"/>
                    </a:lnL>
                    <a:solidFill>
                      <a:schemeClr val="bg1">
                        <a:lumMod val="85000"/>
                      </a:schemeClr>
                    </a:solidFill>
                  </a:tcPr>
                </a:tc>
                <a:tc>
                  <a:txBody>
                    <a:bodyPr/>
                    <a:lstStyle/>
                    <a:p>
                      <a:pPr algn="ctr"/>
                      <a:r>
                        <a:rPr lang="es-CO" sz="2200"/>
                        <a:t>Línea de flujo</a:t>
                      </a:r>
                    </a:p>
                  </a:txBody>
                  <a:tcPr>
                    <a:solidFill>
                      <a:schemeClr val="bg1">
                        <a:lumMod val="85000"/>
                      </a:schemeClr>
                    </a:solidFill>
                  </a:tcPr>
                </a:tc>
                <a:tc>
                  <a:txBody>
                    <a:bodyPr/>
                    <a:lstStyle/>
                    <a:p>
                      <a:r>
                        <a:rPr lang="es-CO" sz="2000"/>
                        <a:t>Indica el orden de la ejecución de las operaciones.</a:t>
                      </a:r>
                    </a:p>
                  </a:txBody>
                  <a:tcPr>
                    <a:lnR w="12700" cap="flat" cmpd="sng" algn="ctr">
                      <a:solidFill>
                        <a:schemeClr val="tx1"/>
                      </a:solidFill>
                      <a:prstDash val="solid"/>
                      <a:round/>
                      <a:headEnd type="none" w="med" len="med"/>
                      <a:tailEnd type="none" w="med" len="med"/>
                    </a:lnR>
                    <a:solidFill>
                      <a:schemeClr val="bg1">
                        <a:lumMod val="85000"/>
                      </a:schemeClr>
                    </a:solidFill>
                  </a:tcPr>
                </a:tc>
                <a:extLst>
                  <a:ext uri="{0D108BD9-81ED-4DB2-BD59-A6C34878D82A}">
                    <a16:rowId xmlns:a16="http://schemas.microsoft.com/office/drawing/2014/main" val="702581890"/>
                  </a:ext>
                </a:extLst>
              </a:tr>
              <a:tr h="660346">
                <a:tc>
                  <a:txBody>
                    <a:bodyPr/>
                    <a:lstStyle/>
                    <a:p>
                      <a:endParaRPr lang="es-CO" sz="2200"/>
                    </a:p>
                    <a:p>
                      <a:endParaRPr lang="es-CO" sz="2200"/>
                    </a:p>
                    <a:p>
                      <a:endParaRPr lang="es-CO" sz="2200"/>
                    </a:p>
                  </a:txBody>
                  <a:tcPr>
                    <a:lnL w="12700" cap="flat" cmpd="sng" algn="ctr">
                      <a:solidFill>
                        <a:schemeClr val="tx1"/>
                      </a:solidFill>
                      <a:prstDash val="solid"/>
                      <a:round/>
                      <a:headEnd type="none" w="med" len="med"/>
                      <a:tailEnd type="none" w="med" len="med"/>
                    </a:lnL>
                    <a:noFill/>
                  </a:tcPr>
                </a:tc>
                <a:tc>
                  <a:txBody>
                    <a:bodyPr/>
                    <a:lstStyle/>
                    <a:p>
                      <a:pPr algn="ctr"/>
                      <a:r>
                        <a:rPr lang="es-CO" sz="2200"/>
                        <a:t>Proceso o </a:t>
                      </a:r>
                    </a:p>
                    <a:p>
                      <a:pPr algn="ctr"/>
                      <a:r>
                        <a:rPr lang="es-CO" sz="2200"/>
                        <a:t>Instrucción</a:t>
                      </a:r>
                    </a:p>
                  </a:txBody>
                  <a:tcPr>
                    <a:noFill/>
                  </a:tcPr>
                </a:tc>
                <a:tc>
                  <a:txBody>
                    <a:bodyPr/>
                    <a:lstStyle/>
                    <a:p>
                      <a:r>
                        <a:rPr lang="es-CO" sz="2000"/>
                        <a:t>Representa cualquier tipo de operación, instrucción o acción, incluidas la lectura de datos en la entrada y la impresión de datos de salida.</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711749309"/>
                  </a:ext>
                </a:extLst>
              </a:tr>
              <a:tr h="660346">
                <a:tc>
                  <a:txBody>
                    <a:bodyPr/>
                    <a:lstStyle/>
                    <a:p>
                      <a:endParaRPr lang="es-CO" sz="2200"/>
                    </a:p>
                    <a:p>
                      <a:endParaRPr lang="es-CO" sz="2200"/>
                    </a:p>
                    <a:p>
                      <a:endParaRPr lang="es-CO" sz="220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s-CO" sz="2200"/>
                        <a:t>Decisión</a:t>
                      </a:r>
                    </a:p>
                  </a:txBody>
                  <a:tcP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s-CO" sz="2000"/>
                        <a:t>Representa la toma de decisiones y la comparación de datos. Se plantea una pregunta cuya respuesta sea verdadero o falso (sí o no).</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64762951"/>
                  </a:ext>
                </a:extLst>
              </a:tr>
            </a:tbl>
          </a:graphicData>
        </a:graphic>
      </p:graphicFrame>
      <p:pic>
        <p:nvPicPr>
          <p:cNvPr id="15" name="Imagen 14">
            <a:extLst>
              <a:ext uri="{FF2B5EF4-FFF2-40B4-BE49-F238E27FC236}">
                <a16:creationId xmlns:a16="http://schemas.microsoft.com/office/drawing/2014/main" id="{4EAA0A7D-2121-C1D1-962F-5429253BA2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6172" y="3078620"/>
            <a:ext cx="1532436" cy="170271"/>
          </a:xfrm>
          <a:prstGeom prst="rect">
            <a:avLst/>
          </a:prstGeom>
        </p:spPr>
      </p:pic>
      <p:pic>
        <p:nvPicPr>
          <p:cNvPr id="19" name="Imagen 18" descr="Forma&#10;&#10;Descripción generada automáticamente con confianza media">
            <a:extLst>
              <a:ext uri="{FF2B5EF4-FFF2-40B4-BE49-F238E27FC236}">
                <a16:creationId xmlns:a16="http://schemas.microsoft.com/office/drawing/2014/main" id="{085493AE-1EA8-48EE-CB00-D320D08A0B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4557" y="4137754"/>
            <a:ext cx="1396219" cy="544866"/>
          </a:xfrm>
          <a:prstGeom prst="rect">
            <a:avLst/>
          </a:prstGeom>
        </p:spPr>
      </p:pic>
      <p:pic>
        <p:nvPicPr>
          <p:cNvPr id="21" name="Imagen 20" descr="Un dibujo de una persona&#10;&#10;Descripción generada automáticamente con confianza baja">
            <a:extLst>
              <a:ext uri="{FF2B5EF4-FFF2-40B4-BE49-F238E27FC236}">
                <a16:creationId xmlns:a16="http://schemas.microsoft.com/office/drawing/2014/main" id="{C217BD42-45FB-8156-F0E4-C77DBE55B7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54557" y="5307380"/>
            <a:ext cx="1396219" cy="630001"/>
          </a:xfrm>
          <a:prstGeom prst="rect">
            <a:avLst/>
          </a:prstGeom>
        </p:spPr>
      </p:pic>
      <p:sp>
        <p:nvSpPr>
          <p:cNvPr id="10" name="Diagrama de flujo: terminador 9">
            <a:extLst>
              <a:ext uri="{FF2B5EF4-FFF2-40B4-BE49-F238E27FC236}">
                <a16:creationId xmlns:a16="http://schemas.microsoft.com/office/drawing/2014/main" id="{6E9D78FC-C2F0-E8BF-4DE3-F7ED9F7C01D8}"/>
              </a:ext>
            </a:extLst>
          </p:cNvPr>
          <p:cNvSpPr/>
          <p:nvPr/>
        </p:nvSpPr>
        <p:spPr>
          <a:xfrm>
            <a:off x="2766903" y="1872270"/>
            <a:ext cx="1177680" cy="528568"/>
          </a:xfrm>
          <a:prstGeom prst="flowChartTerminator">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1856932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err="1"/>
              <a:t>Tips</a:t>
            </a:r>
            <a:endParaRPr lang="es-CO"/>
          </a:p>
        </p:txBody>
      </p:sp>
      <p:sp>
        <p:nvSpPr>
          <p:cNvPr id="3" name="Marcador de texto 2"/>
          <p:cNvSpPr>
            <a:spLocks noGrp="1"/>
          </p:cNvSpPr>
          <p:nvPr>
            <p:ph type="body" idx="1"/>
          </p:nvPr>
        </p:nvSpPr>
        <p:spPr>
          <a:xfrm>
            <a:off x="4544707" y="1356170"/>
            <a:ext cx="6755635" cy="4834548"/>
          </a:xfrm>
        </p:spPr>
        <p:txBody>
          <a:bodyPr anchor="ctr">
            <a:normAutofit/>
          </a:bodyPr>
          <a:lstStyle/>
          <a:p>
            <a:pPr algn="just"/>
            <a:r>
              <a:rPr lang="es-CO" sz="2400"/>
              <a:t>El diagrama de flujo debe tener un </a:t>
            </a:r>
            <a:r>
              <a:rPr lang="es-CO" sz="2400" b="1"/>
              <a:t>inicio</a:t>
            </a:r>
            <a:r>
              <a:rPr lang="es-CO" sz="2400"/>
              <a:t> y un </a:t>
            </a:r>
            <a:r>
              <a:rPr lang="es-CO" sz="2400" b="1"/>
              <a:t>final</a:t>
            </a:r>
            <a:r>
              <a:rPr lang="es-CO" sz="2400"/>
              <a:t>.</a:t>
            </a:r>
          </a:p>
          <a:p>
            <a:pPr algn="just"/>
            <a:endParaRPr lang="es-CO" sz="2400"/>
          </a:p>
          <a:p>
            <a:pPr algn="just"/>
            <a:r>
              <a:rPr lang="es-CO" sz="2400"/>
              <a:t>Para facilitar su lectura, el diagrama se debe construir de </a:t>
            </a:r>
            <a:r>
              <a:rPr lang="es-CO" sz="2400" b="1"/>
              <a:t>arriba hacia abajo</a:t>
            </a:r>
            <a:r>
              <a:rPr lang="es-CO" sz="2400"/>
              <a:t> y de </a:t>
            </a:r>
            <a:r>
              <a:rPr lang="es-CO" sz="2400" b="1"/>
              <a:t>izquierda a derecha</a:t>
            </a:r>
            <a:r>
              <a:rPr lang="es-CO" sz="2400"/>
              <a:t>.</a:t>
            </a:r>
          </a:p>
          <a:p>
            <a:pPr algn="just"/>
            <a:endParaRPr lang="es-CO" sz="2400"/>
          </a:p>
          <a:p>
            <a:pPr algn="just"/>
            <a:r>
              <a:rPr lang="es-CO" sz="2400"/>
              <a:t>Se deben indicar cuáles son los datos de entrada y de salida.</a:t>
            </a:r>
          </a:p>
          <a:p>
            <a:pPr algn="just"/>
            <a:endParaRPr lang="es-CO" sz="2400"/>
          </a:p>
          <a:p>
            <a:pPr algn="just"/>
            <a:r>
              <a:rPr lang="es-CO" sz="2400"/>
              <a:t>Las instrucciones deben ser claras y concisas.</a:t>
            </a:r>
            <a:endParaRPr lang="es-CO"/>
          </a:p>
        </p:txBody>
      </p:sp>
      <p:sp>
        <p:nvSpPr>
          <p:cNvPr id="4" name="Marcador de número de diapositiva 3"/>
          <p:cNvSpPr>
            <a:spLocks noGrp="1"/>
          </p:cNvSpPr>
          <p:nvPr>
            <p:ph type="sldNum" idx="12"/>
          </p:nvPr>
        </p:nvSpPr>
        <p:spPr/>
        <p:txBody>
          <a:bodyPr/>
          <a:lstStyle/>
          <a:p>
            <a:fld id="{00000000-1234-1234-1234-123412341234}" type="slidenum">
              <a:rPr lang="es-CO" smtClean="0"/>
              <a:pPr/>
              <a:t>21</a:t>
            </a:fld>
            <a:endParaRPr lang="es-CO"/>
          </a:p>
        </p:txBody>
      </p:sp>
      <p:grpSp>
        <p:nvGrpSpPr>
          <p:cNvPr id="29" name="Grupo 28">
            <a:extLst>
              <a:ext uri="{FF2B5EF4-FFF2-40B4-BE49-F238E27FC236}">
                <a16:creationId xmlns:a16="http://schemas.microsoft.com/office/drawing/2014/main" id="{F30129E8-3259-971B-C58D-23BA3B3B9CBF}"/>
              </a:ext>
            </a:extLst>
          </p:cNvPr>
          <p:cNvGrpSpPr/>
          <p:nvPr/>
        </p:nvGrpSpPr>
        <p:grpSpPr>
          <a:xfrm>
            <a:off x="2399478" y="1655545"/>
            <a:ext cx="1844975" cy="4310515"/>
            <a:chOff x="2255101" y="1655545"/>
            <a:chExt cx="1251284" cy="4310515"/>
          </a:xfrm>
          <a:solidFill>
            <a:srgbClr val="009BAF"/>
          </a:solidFill>
        </p:grpSpPr>
        <p:sp>
          <p:nvSpPr>
            <p:cNvPr id="5" name="Diagrama de flujo: terminador 4">
              <a:extLst>
                <a:ext uri="{FF2B5EF4-FFF2-40B4-BE49-F238E27FC236}">
                  <a16:creationId xmlns:a16="http://schemas.microsoft.com/office/drawing/2014/main" id="{8B51CA1F-248D-E739-E707-7B8E224E54CC}"/>
                </a:ext>
              </a:extLst>
            </p:cNvPr>
            <p:cNvSpPr/>
            <p:nvPr/>
          </p:nvSpPr>
          <p:spPr>
            <a:xfrm>
              <a:off x="2298415" y="1655545"/>
              <a:ext cx="1164657" cy="452388"/>
            </a:xfrm>
            <a:prstGeom prst="flowChartTerminator">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2000"/>
                <a:t>Inicio</a:t>
              </a:r>
            </a:p>
          </p:txBody>
        </p:sp>
        <p:cxnSp>
          <p:nvCxnSpPr>
            <p:cNvPr id="8" name="Conector recto de flecha 7">
              <a:extLst>
                <a:ext uri="{FF2B5EF4-FFF2-40B4-BE49-F238E27FC236}">
                  <a16:creationId xmlns:a16="http://schemas.microsoft.com/office/drawing/2014/main" id="{B2E1956A-BDC2-5E56-69EB-E51C71D2C754}"/>
                </a:ext>
              </a:extLst>
            </p:cNvPr>
            <p:cNvCxnSpPr>
              <a:cxnSpLocks/>
              <a:stCxn id="5" idx="2"/>
              <a:endCxn id="9" idx="0"/>
            </p:cNvCxnSpPr>
            <p:nvPr/>
          </p:nvCxnSpPr>
          <p:spPr>
            <a:xfrm flipH="1">
              <a:off x="2880743" y="2107933"/>
              <a:ext cx="1" cy="414573"/>
            </a:xfrm>
            <a:prstGeom prst="straightConnector1">
              <a:avLst/>
            </a:prstGeom>
            <a:grpFill/>
            <a:ln w="34925">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7A371139-3E55-1CB4-1812-4667E8C2632F}"/>
                </a:ext>
              </a:extLst>
            </p:cNvPr>
            <p:cNvSpPr/>
            <p:nvPr/>
          </p:nvSpPr>
          <p:spPr>
            <a:xfrm>
              <a:off x="2255101" y="2522506"/>
              <a:ext cx="1251284" cy="557577"/>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2000"/>
                <a:t>Ingresar datos</a:t>
              </a:r>
            </a:p>
          </p:txBody>
        </p:sp>
        <p:sp>
          <p:nvSpPr>
            <p:cNvPr id="10" name="Rectángulo 9">
              <a:extLst>
                <a:ext uri="{FF2B5EF4-FFF2-40B4-BE49-F238E27FC236}">
                  <a16:creationId xmlns:a16="http://schemas.microsoft.com/office/drawing/2014/main" id="{678A1785-8BD3-B411-03AE-C95BBDE4732A}"/>
                </a:ext>
              </a:extLst>
            </p:cNvPr>
            <p:cNvSpPr/>
            <p:nvPr/>
          </p:nvSpPr>
          <p:spPr>
            <a:xfrm>
              <a:off x="2255101" y="3494656"/>
              <a:ext cx="1251284" cy="557577"/>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2000"/>
                <a:t>Realizar cálculos</a:t>
              </a:r>
            </a:p>
          </p:txBody>
        </p:sp>
        <p:sp>
          <p:nvSpPr>
            <p:cNvPr id="11" name="Rectángulo 10">
              <a:extLst>
                <a:ext uri="{FF2B5EF4-FFF2-40B4-BE49-F238E27FC236}">
                  <a16:creationId xmlns:a16="http://schemas.microsoft.com/office/drawing/2014/main" id="{DD7F8279-5F64-7676-97E9-019B48CE4675}"/>
                </a:ext>
              </a:extLst>
            </p:cNvPr>
            <p:cNvSpPr/>
            <p:nvPr/>
          </p:nvSpPr>
          <p:spPr>
            <a:xfrm>
              <a:off x="2255101" y="4466806"/>
              <a:ext cx="1251284" cy="557577"/>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2000"/>
                <a:t>Imprimir resultado</a:t>
              </a:r>
            </a:p>
          </p:txBody>
        </p:sp>
        <p:sp>
          <p:nvSpPr>
            <p:cNvPr id="12" name="Diagrama de flujo: terminador 11">
              <a:extLst>
                <a:ext uri="{FF2B5EF4-FFF2-40B4-BE49-F238E27FC236}">
                  <a16:creationId xmlns:a16="http://schemas.microsoft.com/office/drawing/2014/main" id="{F09C6329-ADC4-F72F-C0EE-F0A294C2457F}"/>
                </a:ext>
              </a:extLst>
            </p:cNvPr>
            <p:cNvSpPr/>
            <p:nvPr/>
          </p:nvSpPr>
          <p:spPr>
            <a:xfrm>
              <a:off x="2298415" y="5513672"/>
              <a:ext cx="1164657" cy="452388"/>
            </a:xfrm>
            <a:prstGeom prst="flowChartTerminator">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2000"/>
                <a:t>Fin</a:t>
              </a:r>
            </a:p>
          </p:txBody>
        </p:sp>
        <p:cxnSp>
          <p:nvCxnSpPr>
            <p:cNvPr id="13" name="Conector recto de flecha 12">
              <a:extLst>
                <a:ext uri="{FF2B5EF4-FFF2-40B4-BE49-F238E27FC236}">
                  <a16:creationId xmlns:a16="http://schemas.microsoft.com/office/drawing/2014/main" id="{E259FB07-4E90-55D9-565E-2A8511B22EA4}"/>
                </a:ext>
              </a:extLst>
            </p:cNvPr>
            <p:cNvCxnSpPr>
              <a:cxnSpLocks/>
              <a:stCxn id="9" idx="2"/>
              <a:endCxn id="10" idx="0"/>
            </p:cNvCxnSpPr>
            <p:nvPr/>
          </p:nvCxnSpPr>
          <p:spPr>
            <a:xfrm>
              <a:off x="2880743" y="3080083"/>
              <a:ext cx="0" cy="414573"/>
            </a:xfrm>
            <a:prstGeom prst="straightConnector1">
              <a:avLst/>
            </a:prstGeom>
            <a:grpFill/>
            <a:ln w="34925">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F1BCC75A-ACD2-67F4-1E49-E453AF4C226E}"/>
                </a:ext>
              </a:extLst>
            </p:cNvPr>
            <p:cNvCxnSpPr>
              <a:cxnSpLocks/>
              <a:stCxn id="10" idx="2"/>
              <a:endCxn id="11" idx="0"/>
            </p:cNvCxnSpPr>
            <p:nvPr/>
          </p:nvCxnSpPr>
          <p:spPr>
            <a:xfrm>
              <a:off x="2880743" y="4052233"/>
              <a:ext cx="0" cy="414573"/>
            </a:xfrm>
            <a:prstGeom prst="straightConnector1">
              <a:avLst/>
            </a:prstGeom>
            <a:grpFill/>
            <a:ln w="34925">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DE2331FE-8B46-1159-613B-2E29F9DEF783}"/>
                </a:ext>
              </a:extLst>
            </p:cNvPr>
            <p:cNvCxnSpPr>
              <a:cxnSpLocks/>
              <a:stCxn id="11" idx="2"/>
              <a:endCxn id="12" idx="0"/>
            </p:cNvCxnSpPr>
            <p:nvPr/>
          </p:nvCxnSpPr>
          <p:spPr>
            <a:xfrm>
              <a:off x="2880743" y="5024383"/>
              <a:ext cx="1" cy="489289"/>
            </a:xfrm>
            <a:prstGeom prst="straightConnector1">
              <a:avLst/>
            </a:prstGeom>
            <a:grpFill/>
            <a:ln w="34925">
              <a:solidFill>
                <a:srgbClr val="113649"/>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0354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76994" y="32876"/>
            <a:ext cx="9666016" cy="937657"/>
          </a:xfrm>
        </p:spPr>
        <p:txBody>
          <a:bodyPr>
            <a:normAutofit fontScale="90000"/>
          </a:bodyPr>
          <a:lstStyle/>
          <a:p>
            <a:pPr algn="ctr"/>
            <a:r>
              <a:rPr lang="es-CO"/>
              <a:t>Ejemplo – Calcular el área de un rectángulo</a:t>
            </a:r>
          </a:p>
        </p:txBody>
      </p:sp>
      <p:sp>
        <p:nvSpPr>
          <p:cNvPr id="4" name="Marcador de número de diapositiva 3"/>
          <p:cNvSpPr>
            <a:spLocks noGrp="1"/>
          </p:cNvSpPr>
          <p:nvPr>
            <p:ph type="sldNum" idx="12"/>
          </p:nvPr>
        </p:nvSpPr>
        <p:spPr/>
        <p:txBody>
          <a:bodyPr/>
          <a:lstStyle/>
          <a:p>
            <a:fld id="{00000000-1234-1234-1234-123412341234}" type="slidenum">
              <a:rPr lang="es-CO" smtClean="0"/>
              <a:pPr/>
              <a:t>22</a:t>
            </a:fld>
            <a:endParaRPr lang="es-CO"/>
          </a:p>
        </p:txBody>
      </p:sp>
      <p:sp>
        <p:nvSpPr>
          <p:cNvPr id="5" name="Google Shape;258;p40">
            <a:extLst>
              <a:ext uri="{FF2B5EF4-FFF2-40B4-BE49-F238E27FC236}">
                <a16:creationId xmlns:a16="http://schemas.microsoft.com/office/drawing/2014/main" id="{B98E6590-952D-B06C-08D8-014CFF29A134}"/>
              </a:ext>
            </a:extLst>
          </p:cNvPr>
          <p:cNvSpPr txBox="1">
            <a:spLocks noGrp="1"/>
          </p:cNvSpPr>
          <p:nvPr/>
        </p:nvSpPr>
        <p:spPr>
          <a:xfrm>
            <a:off x="2001389" y="1816601"/>
            <a:ext cx="3721491" cy="40324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rtl="0">
              <a:lnSpc>
                <a:spcPct val="90000"/>
              </a:lnSpc>
              <a:spcBef>
                <a:spcPts val="0"/>
              </a:spcBef>
              <a:spcAft>
                <a:spcPts val="0"/>
              </a:spcAft>
              <a:buClr>
                <a:schemeClr val="dk1"/>
              </a:buClr>
              <a:buSzPts val="2800"/>
              <a:buNone/>
            </a:pPr>
            <a:r>
              <a:rPr lang="es-CO" sz="2400"/>
              <a:t>Realizar un algoritmo para calcular el área de un rectángulo. El algoritmo debe:</a:t>
            </a:r>
          </a:p>
          <a:p>
            <a:pPr marL="0" marR="0" lvl="0" indent="0" algn="l" rtl="0">
              <a:lnSpc>
                <a:spcPct val="90000"/>
              </a:lnSpc>
              <a:spcBef>
                <a:spcPts val="0"/>
              </a:spcBef>
              <a:spcAft>
                <a:spcPts val="0"/>
              </a:spcAft>
              <a:buClr>
                <a:schemeClr val="dk1"/>
              </a:buClr>
              <a:buSzPts val="2800"/>
              <a:buNone/>
            </a:pPr>
            <a:endParaRPr lang="es-CO" sz="2400"/>
          </a:p>
          <a:p>
            <a:pPr marL="342900">
              <a:spcBef>
                <a:spcPts val="0"/>
              </a:spcBef>
              <a:buSzPts val="2800"/>
            </a:pPr>
            <a:r>
              <a:rPr lang="es-CO" sz="2400"/>
              <a:t>Solicitar el valor de la base.</a:t>
            </a:r>
          </a:p>
          <a:p>
            <a:pPr marL="342900">
              <a:spcBef>
                <a:spcPts val="0"/>
              </a:spcBef>
              <a:buSzPts val="2800"/>
            </a:pPr>
            <a:r>
              <a:rPr lang="es-CO" sz="2400"/>
              <a:t>Solicitar el valor de la altura. </a:t>
            </a:r>
          </a:p>
          <a:p>
            <a:pPr marL="342900">
              <a:spcBef>
                <a:spcPts val="0"/>
              </a:spcBef>
              <a:buSzPts val="2800"/>
            </a:pPr>
            <a:r>
              <a:rPr lang="es-CO" sz="2400"/>
              <a:t>Calcular el área.</a:t>
            </a:r>
          </a:p>
          <a:p>
            <a:pPr marL="342900">
              <a:spcBef>
                <a:spcPts val="0"/>
              </a:spcBef>
              <a:buSzPts val="2800"/>
            </a:pPr>
            <a:r>
              <a:rPr lang="es-CO" sz="2400"/>
              <a:t>Mostrar el resultado.</a:t>
            </a:r>
          </a:p>
          <a:p>
            <a:pPr marL="0" marR="0" lvl="0" indent="0" algn="l" rtl="0">
              <a:lnSpc>
                <a:spcPct val="90000"/>
              </a:lnSpc>
              <a:spcBef>
                <a:spcPts val="0"/>
              </a:spcBef>
              <a:spcAft>
                <a:spcPts val="0"/>
              </a:spcAft>
              <a:buClr>
                <a:schemeClr val="dk1"/>
              </a:buClr>
              <a:buSzPts val="2800"/>
              <a:buNone/>
            </a:pPr>
            <a:endParaRPr lang="es-CO" sz="2400"/>
          </a:p>
        </p:txBody>
      </p:sp>
      <p:sp>
        <p:nvSpPr>
          <p:cNvPr id="6" name="Diagrama de flujo: terminador 5">
            <a:extLst>
              <a:ext uri="{FF2B5EF4-FFF2-40B4-BE49-F238E27FC236}">
                <a16:creationId xmlns:a16="http://schemas.microsoft.com/office/drawing/2014/main" id="{BFA7284C-2364-731A-65DB-B38F7A43CCAF}"/>
              </a:ext>
            </a:extLst>
          </p:cNvPr>
          <p:cNvSpPr/>
          <p:nvPr/>
        </p:nvSpPr>
        <p:spPr>
          <a:xfrm>
            <a:off x="6698033" y="1748490"/>
            <a:ext cx="1589342" cy="426685"/>
          </a:xfrm>
          <a:prstGeom prst="flowChartTerminator">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s-CO" sz="2000">
                <a:solidFill>
                  <a:schemeClr val="bg1"/>
                </a:solidFill>
              </a:rPr>
              <a:t>INICIO</a:t>
            </a:r>
          </a:p>
        </p:txBody>
      </p:sp>
      <p:sp>
        <p:nvSpPr>
          <p:cNvPr id="9" name="Diagrama de flujo: proceso 8">
            <a:extLst>
              <a:ext uri="{FF2B5EF4-FFF2-40B4-BE49-F238E27FC236}">
                <a16:creationId xmlns:a16="http://schemas.microsoft.com/office/drawing/2014/main" id="{97DA2A26-9F85-3AAB-4771-726EAF523357}"/>
              </a:ext>
            </a:extLst>
          </p:cNvPr>
          <p:cNvSpPr/>
          <p:nvPr/>
        </p:nvSpPr>
        <p:spPr>
          <a:xfrm>
            <a:off x="6202803" y="4167818"/>
            <a:ext cx="2579797" cy="426685"/>
          </a:xfrm>
          <a:prstGeom prst="flowChartProcess">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s-CO" sz="2000">
                <a:solidFill>
                  <a:schemeClr val="bg1"/>
                </a:solidFill>
              </a:rPr>
              <a:t>área = base * altura</a:t>
            </a:r>
          </a:p>
        </p:txBody>
      </p:sp>
      <p:sp>
        <p:nvSpPr>
          <p:cNvPr id="11" name="Diagrama de flujo: terminador 10">
            <a:extLst>
              <a:ext uri="{FF2B5EF4-FFF2-40B4-BE49-F238E27FC236}">
                <a16:creationId xmlns:a16="http://schemas.microsoft.com/office/drawing/2014/main" id="{6A66D23E-5B9C-DA19-0B37-F22F72BBD6F0}"/>
              </a:ext>
            </a:extLst>
          </p:cNvPr>
          <p:cNvSpPr/>
          <p:nvPr/>
        </p:nvSpPr>
        <p:spPr>
          <a:xfrm>
            <a:off x="6698029" y="5698275"/>
            <a:ext cx="1589342" cy="426685"/>
          </a:xfrm>
          <a:prstGeom prst="flowChartTerminator">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s-CO" sz="2000">
                <a:solidFill>
                  <a:schemeClr val="bg1"/>
                </a:solidFill>
              </a:rPr>
              <a:t>FIN</a:t>
            </a:r>
          </a:p>
        </p:txBody>
      </p:sp>
      <p:cxnSp>
        <p:nvCxnSpPr>
          <p:cNvPr id="13" name="Conector recto de flecha 12">
            <a:extLst>
              <a:ext uri="{FF2B5EF4-FFF2-40B4-BE49-F238E27FC236}">
                <a16:creationId xmlns:a16="http://schemas.microsoft.com/office/drawing/2014/main" id="{1BA36574-48C9-B590-A653-4CB3821EB9F8}"/>
              </a:ext>
            </a:extLst>
          </p:cNvPr>
          <p:cNvCxnSpPr>
            <a:cxnSpLocks/>
            <a:stCxn id="6" idx="2"/>
            <a:endCxn id="50" idx="0"/>
          </p:cNvCxnSpPr>
          <p:nvPr/>
        </p:nvCxnSpPr>
        <p:spPr>
          <a:xfrm>
            <a:off x="7492704" y="2175175"/>
            <a:ext cx="0" cy="353941"/>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Conector recto de flecha 13">
            <a:extLst>
              <a:ext uri="{FF2B5EF4-FFF2-40B4-BE49-F238E27FC236}">
                <a16:creationId xmlns:a16="http://schemas.microsoft.com/office/drawing/2014/main" id="{D327D795-19FC-DAE1-5C8D-B9002EFEB48F}"/>
              </a:ext>
            </a:extLst>
          </p:cNvPr>
          <p:cNvCxnSpPr>
            <a:cxnSpLocks/>
            <a:stCxn id="50" idx="2"/>
            <a:endCxn id="49" idx="0"/>
          </p:cNvCxnSpPr>
          <p:nvPr/>
        </p:nvCxnSpPr>
        <p:spPr>
          <a:xfrm flipH="1">
            <a:off x="7492703" y="2955801"/>
            <a:ext cx="1" cy="43275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ector recto de flecha 14">
            <a:extLst>
              <a:ext uri="{FF2B5EF4-FFF2-40B4-BE49-F238E27FC236}">
                <a16:creationId xmlns:a16="http://schemas.microsoft.com/office/drawing/2014/main" id="{F9A061D8-0451-E513-855B-BA53CA8C79E6}"/>
              </a:ext>
            </a:extLst>
          </p:cNvPr>
          <p:cNvCxnSpPr>
            <a:cxnSpLocks/>
            <a:stCxn id="49" idx="2"/>
            <a:endCxn id="9" idx="0"/>
          </p:cNvCxnSpPr>
          <p:nvPr/>
        </p:nvCxnSpPr>
        <p:spPr>
          <a:xfrm flipH="1">
            <a:off x="7492702" y="3815236"/>
            <a:ext cx="1" cy="352582"/>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Conector recto de flecha 15">
            <a:extLst>
              <a:ext uri="{FF2B5EF4-FFF2-40B4-BE49-F238E27FC236}">
                <a16:creationId xmlns:a16="http://schemas.microsoft.com/office/drawing/2014/main" id="{0CAE3E8C-96F0-CFBF-6683-39987AB1B54F}"/>
              </a:ext>
            </a:extLst>
          </p:cNvPr>
          <p:cNvCxnSpPr>
            <a:cxnSpLocks/>
            <a:stCxn id="9" idx="2"/>
            <a:endCxn id="48" idx="0"/>
          </p:cNvCxnSpPr>
          <p:nvPr/>
        </p:nvCxnSpPr>
        <p:spPr>
          <a:xfrm flipH="1">
            <a:off x="7492701" y="4594503"/>
            <a:ext cx="1" cy="338031"/>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ector recto de flecha 16">
            <a:extLst>
              <a:ext uri="{FF2B5EF4-FFF2-40B4-BE49-F238E27FC236}">
                <a16:creationId xmlns:a16="http://schemas.microsoft.com/office/drawing/2014/main" id="{B903E388-47C4-BB24-4596-3774B420CC46}"/>
              </a:ext>
            </a:extLst>
          </p:cNvPr>
          <p:cNvCxnSpPr>
            <a:cxnSpLocks/>
            <a:stCxn id="48" idx="2"/>
            <a:endCxn id="11" idx="0"/>
          </p:cNvCxnSpPr>
          <p:nvPr/>
        </p:nvCxnSpPr>
        <p:spPr>
          <a:xfrm flipH="1">
            <a:off x="7492700" y="5359219"/>
            <a:ext cx="1" cy="339056"/>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CuadroTexto 30">
            <a:extLst>
              <a:ext uri="{FF2B5EF4-FFF2-40B4-BE49-F238E27FC236}">
                <a16:creationId xmlns:a16="http://schemas.microsoft.com/office/drawing/2014/main" id="{FA201BC1-895C-7579-E9D9-096F1ED73714}"/>
              </a:ext>
            </a:extLst>
          </p:cNvPr>
          <p:cNvSpPr txBox="1"/>
          <p:nvPr/>
        </p:nvSpPr>
        <p:spPr>
          <a:xfrm>
            <a:off x="8908730" y="1788768"/>
            <a:ext cx="2053242" cy="4001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CO" sz="2000">
                <a:latin typeface="+mn-lt"/>
              </a:rPr>
              <a:t>Inicia el proceso</a:t>
            </a:r>
          </a:p>
        </p:txBody>
      </p:sp>
      <p:sp>
        <p:nvSpPr>
          <p:cNvPr id="19" name="CuadroTexto 31">
            <a:extLst>
              <a:ext uri="{FF2B5EF4-FFF2-40B4-BE49-F238E27FC236}">
                <a16:creationId xmlns:a16="http://schemas.microsoft.com/office/drawing/2014/main" id="{752C8C2A-9280-B96C-CC42-DF46E0C5FDFA}"/>
              </a:ext>
            </a:extLst>
          </p:cNvPr>
          <p:cNvSpPr txBox="1"/>
          <p:nvPr/>
        </p:nvSpPr>
        <p:spPr>
          <a:xfrm>
            <a:off x="8908730" y="2529116"/>
            <a:ext cx="3072435" cy="4001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CO" sz="2000">
                <a:latin typeface="+mn-lt"/>
              </a:rPr>
              <a:t>Lee la medida de la base</a:t>
            </a:r>
          </a:p>
        </p:txBody>
      </p:sp>
      <p:sp>
        <p:nvSpPr>
          <p:cNvPr id="20" name="CuadroTexto 32">
            <a:extLst>
              <a:ext uri="{FF2B5EF4-FFF2-40B4-BE49-F238E27FC236}">
                <a16:creationId xmlns:a16="http://schemas.microsoft.com/office/drawing/2014/main" id="{28707437-D02E-4361-3651-0FBD96D66A66}"/>
              </a:ext>
            </a:extLst>
          </p:cNvPr>
          <p:cNvSpPr txBox="1"/>
          <p:nvPr/>
        </p:nvSpPr>
        <p:spPr>
          <a:xfrm>
            <a:off x="8908730" y="3381644"/>
            <a:ext cx="3158039" cy="4001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CO" sz="2000">
                <a:latin typeface="+mn-lt"/>
              </a:rPr>
              <a:t>Lee la medida de la altura</a:t>
            </a:r>
          </a:p>
        </p:txBody>
      </p:sp>
      <p:sp>
        <p:nvSpPr>
          <p:cNvPr id="21" name="CuadroTexto 33">
            <a:extLst>
              <a:ext uri="{FF2B5EF4-FFF2-40B4-BE49-F238E27FC236}">
                <a16:creationId xmlns:a16="http://schemas.microsoft.com/office/drawing/2014/main" id="{5519EEB6-3199-6E23-655F-C2A03FC9967D}"/>
              </a:ext>
            </a:extLst>
          </p:cNvPr>
          <p:cNvSpPr txBox="1"/>
          <p:nvPr/>
        </p:nvSpPr>
        <p:spPr>
          <a:xfrm>
            <a:off x="8908730" y="4175941"/>
            <a:ext cx="1911105" cy="4001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CO" sz="2000">
                <a:latin typeface="+mn-lt"/>
              </a:rPr>
              <a:t>Calcula el área</a:t>
            </a:r>
          </a:p>
        </p:txBody>
      </p:sp>
      <p:sp>
        <p:nvSpPr>
          <p:cNvPr id="22" name="CuadroTexto 34">
            <a:extLst>
              <a:ext uri="{FF2B5EF4-FFF2-40B4-BE49-F238E27FC236}">
                <a16:creationId xmlns:a16="http://schemas.microsoft.com/office/drawing/2014/main" id="{F65945B4-B65A-142E-DA12-95170A006BED}"/>
              </a:ext>
            </a:extLst>
          </p:cNvPr>
          <p:cNvSpPr txBox="1"/>
          <p:nvPr/>
        </p:nvSpPr>
        <p:spPr>
          <a:xfrm>
            <a:off x="8908730" y="4897230"/>
            <a:ext cx="2524881" cy="4001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CO" sz="2000">
                <a:latin typeface="+mn-lt"/>
              </a:rPr>
              <a:t>Muestra el resultado</a:t>
            </a:r>
          </a:p>
        </p:txBody>
      </p:sp>
      <p:sp>
        <p:nvSpPr>
          <p:cNvPr id="23" name="CuadroTexto 35">
            <a:extLst>
              <a:ext uri="{FF2B5EF4-FFF2-40B4-BE49-F238E27FC236}">
                <a16:creationId xmlns:a16="http://schemas.microsoft.com/office/drawing/2014/main" id="{1DBB3B99-F366-1450-74AE-7DF16A50C66B}"/>
              </a:ext>
            </a:extLst>
          </p:cNvPr>
          <p:cNvSpPr txBox="1"/>
          <p:nvPr/>
        </p:nvSpPr>
        <p:spPr>
          <a:xfrm>
            <a:off x="8908730" y="5658045"/>
            <a:ext cx="2342363" cy="4001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CO" sz="2000">
                <a:latin typeface="+mn-lt"/>
              </a:rPr>
              <a:t>Finaliza el proceso</a:t>
            </a:r>
          </a:p>
        </p:txBody>
      </p:sp>
      <p:sp>
        <p:nvSpPr>
          <p:cNvPr id="48" name="Diagrama de flujo: proceso 47">
            <a:extLst>
              <a:ext uri="{FF2B5EF4-FFF2-40B4-BE49-F238E27FC236}">
                <a16:creationId xmlns:a16="http://schemas.microsoft.com/office/drawing/2014/main" id="{1AFCD3E6-555C-4C75-D9D2-6E78985FD1E7}"/>
              </a:ext>
            </a:extLst>
          </p:cNvPr>
          <p:cNvSpPr/>
          <p:nvPr/>
        </p:nvSpPr>
        <p:spPr>
          <a:xfrm>
            <a:off x="6202802" y="4932534"/>
            <a:ext cx="2579797" cy="426685"/>
          </a:xfrm>
          <a:prstGeom prst="flowChartProcess">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s-CO" sz="2000">
                <a:solidFill>
                  <a:schemeClr val="bg1"/>
                </a:solidFill>
              </a:rPr>
              <a:t>Mostrar área</a:t>
            </a:r>
          </a:p>
        </p:txBody>
      </p:sp>
      <p:sp>
        <p:nvSpPr>
          <p:cNvPr id="49" name="Diagrama de flujo: proceso 48">
            <a:extLst>
              <a:ext uri="{FF2B5EF4-FFF2-40B4-BE49-F238E27FC236}">
                <a16:creationId xmlns:a16="http://schemas.microsoft.com/office/drawing/2014/main" id="{4DAC6465-7C5B-0D2B-4E18-E7B42B55B5C8}"/>
              </a:ext>
            </a:extLst>
          </p:cNvPr>
          <p:cNvSpPr/>
          <p:nvPr/>
        </p:nvSpPr>
        <p:spPr>
          <a:xfrm>
            <a:off x="6202804" y="3388551"/>
            <a:ext cx="2579797" cy="426685"/>
          </a:xfrm>
          <a:prstGeom prst="flowChartProcess">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s-CO" sz="2000">
                <a:solidFill>
                  <a:schemeClr val="bg1"/>
                </a:solidFill>
              </a:rPr>
              <a:t>Ingresar altura</a:t>
            </a:r>
          </a:p>
        </p:txBody>
      </p:sp>
      <p:sp>
        <p:nvSpPr>
          <p:cNvPr id="50" name="Diagrama de flujo: proceso 49">
            <a:extLst>
              <a:ext uri="{FF2B5EF4-FFF2-40B4-BE49-F238E27FC236}">
                <a16:creationId xmlns:a16="http://schemas.microsoft.com/office/drawing/2014/main" id="{9C6C8CE4-831F-4D8C-DECD-A56A27ABFCC5}"/>
              </a:ext>
            </a:extLst>
          </p:cNvPr>
          <p:cNvSpPr/>
          <p:nvPr/>
        </p:nvSpPr>
        <p:spPr>
          <a:xfrm>
            <a:off x="6202805" y="2529116"/>
            <a:ext cx="2579797" cy="426685"/>
          </a:xfrm>
          <a:prstGeom prst="flowChartProcess">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s-CO" sz="2000">
                <a:solidFill>
                  <a:schemeClr val="bg1"/>
                </a:solidFill>
              </a:rPr>
              <a:t>Ingresar base</a:t>
            </a:r>
          </a:p>
        </p:txBody>
      </p:sp>
    </p:spTree>
    <p:extLst>
      <p:ext uri="{BB962C8B-B14F-4D97-AF65-F5344CB8AC3E}">
        <p14:creationId xmlns:p14="http://schemas.microsoft.com/office/powerpoint/2010/main" val="56416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8" grpId="0"/>
      <p:bldP spid="19" grpId="0"/>
      <p:bldP spid="20" grpId="0"/>
      <p:bldP spid="21" grpId="0"/>
      <p:bldP spid="22" grpId="0"/>
      <p:bldP spid="23" grpId="0"/>
      <p:bldP spid="48" grpId="0" animBg="1"/>
      <p:bldP spid="49" grpId="0" animBg="1"/>
      <p:bldP spid="5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76994" y="222068"/>
            <a:ext cx="9666016" cy="1895489"/>
          </a:xfrm>
        </p:spPr>
        <p:txBody>
          <a:bodyPr>
            <a:normAutofit fontScale="90000"/>
          </a:bodyPr>
          <a:lstStyle/>
          <a:p>
            <a:pPr algn="ctr"/>
            <a:r>
              <a:rPr lang="es-CO"/>
              <a:t>Ejemplo - Algoritmo control de acceso a una  discoteca</a:t>
            </a:r>
            <a:br>
              <a:rPr lang="es-CO"/>
            </a:br>
            <a:endParaRPr lang="es-CO"/>
          </a:p>
        </p:txBody>
      </p:sp>
      <p:sp>
        <p:nvSpPr>
          <p:cNvPr id="4" name="Marcador de número de diapositiva 3"/>
          <p:cNvSpPr>
            <a:spLocks noGrp="1"/>
          </p:cNvSpPr>
          <p:nvPr>
            <p:ph type="sldNum" idx="12"/>
          </p:nvPr>
        </p:nvSpPr>
        <p:spPr/>
        <p:txBody>
          <a:bodyPr/>
          <a:lstStyle/>
          <a:p>
            <a:fld id="{00000000-1234-1234-1234-123412341234}" type="slidenum">
              <a:rPr lang="es-CO" smtClean="0"/>
              <a:pPr/>
              <a:t>23</a:t>
            </a:fld>
            <a:endParaRPr lang="es-CO"/>
          </a:p>
        </p:txBody>
      </p:sp>
      <p:pic>
        <p:nvPicPr>
          <p:cNvPr id="12" name="Imagen 11">
            <a:extLst>
              <a:ext uri="{FF2B5EF4-FFF2-40B4-BE49-F238E27FC236}">
                <a16:creationId xmlns:a16="http://schemas.microsoft.com/office/drawing/2014/main" id="{F6211A1E-5D5C-FE2A-0E7E-B45A4356ABFB}"/>
              </a:ext>
            </a:extLst>
          </p:cNvPr>
          <p:cNvPicPr>
            <a:picLocks noChangeAspect="1"/>
          </p:cNvPicPr>
          <p:nvPr/>
        </p:nvPicPr>
        <p:blipFill>
          <a:blip r:embed="rId3"/>
          <a:stretch>
            <a:fillRect/>
          </a:stretch>
        </p:blipFill>
        <p:spPr>
          <a:xfrm>
            <a:off x="7710506" y="1486920"/>
            <a:ext cx="3446129" cy="4900379"/>
          </a:xfrm>
          <a:prstGeom prst="rect">
            <a:avLst/>
          </a:prstGeom>
        </p:spPr>
      </p:pic>
      <p:sp>
        <p:nvSpPr>
          <p:cNvPr id="3" name="Marcador de texto 2">
            <a:extLst>
              <a:ext uri="{FF2B5EF4-FFF2-40B4-BE49-F238E27FC236}">
                <a16:creationId xmlns:a16="http://schemas.microsoft.com/office/drawing/2014/main" id="{9FE9B4B3-C4E8-65CF-0B89-170A6BC6553B}"/>
              </a:ext>
            </a:extLst>
          </p:cNvPr>
          <p:cNvSpPr>
            <a:spLocks noGrp="1"/>
          </p:cNvSpPr>
          <p:nvPr>
            <p:ph type="body" idx="1"/>
          </p:nvPr>
        </p:nvSpPr>
        <p:spPr>
          <a:xfrm>
            <a:off x="2378682" y="1486920"/>
            <a:ext cx="4745449" cy="4900379"/>
          </a:xfrm>
        </p:spPr>
        <p:txBody>
          <a:bodyPr anchor="ctr">
            <a:normAutofit fontScale="85000" lnSpcReduction="20000"/>
          </a:bodyPr>
          <a:lstStyle/>
          <a:p>
            <a:pPr algn="just"/>
            <a:r>
              <a:rPr lang="es-CO" sz="2400"/>
              <a:t>Inicio del algoritmo.</a:t>
            </a:r>
          </a:p>
          <a:p>
            <a:pPr algn="just"/>
            <a:r>
              <a:rPr lang="es-CO" sz="2400"/>
              <a:t>Se solicita la cédula para conocer la fecha de nacimiento de la persona que desea ingresar a la discoteca.</a:t>
            </a:r>
          </a:p>
          <a:p>
            <a:pPr algn="just"/>
            <a:r>
              <a:rPr lang="es-CO" sz="2400"/>
              <a:t>Se calcula la edad de la persona que desea ingresar a la discoteca, a partir de la fecha de nacimiento.</a:t>
            </a:r>
          </a:p>
          <a:p>
            <a:pPr algn="just"/>
            <a:r>
              <a:rPr lang="es-CO" sz="2400"/>
              <a:t>Se pregunta si la edad es mayor o igual a 18 años. La respuesta debe ser verdadero o falso.</a:t>
            </a:r>
          </a:p>
          <a:p>
            <a:pPr lvl="1" algn="just"/>
            <a:r>
              <a:rPr lang="es-CO" sz="2000"/>
              <a:t>Si la respuesta es </a:t>
            </a:r>
            <a:r>
              <a:rPr lang="es-CO" sz="2000" b="1"/>
              <a:t>verdadero</a:t>
            </a:r>
            <a:r>
              <a:rPr lang="es-CO" sz="2000"/>
              <a:t>, entonces se da un mensaje de bienvenida a la persona que desea ingresar a la discoteca.</a:t>
            </a:r>
          </a:p>
          <a:p>
            <a:pPr lvl="1" algn="just"/>
            <a:r>
              <a:rPr lang="es-CO" sz="2000"/>
              <a:t>Si la respuesta es </a:t>
            </a:r>
            <a:r>
              <a:rPr lang="es-CO" sz="2000" b="1"/>
              <a:t>falso</a:t>
            </a:r>
            <a:r>
              <a:rPr lang="es-CO" sz="2000"/>
              <a:t>, entonces se da un mensaje indicando a la persona que no puede ingresar a la discoteca.</a:t>
            </a:r>
            <a:endParaRPr lang="es-CO" sz="2000" b="1"/>
          </a:p>
          <a:p>
            <a:pPr algn="just"/>
            <a:r>
              <a:rPr lang="es-CO" sz="2400"/>
              <a:t>Fin del algoritmo</a:t>
            </a:r>
          </a:p>
        </p:txBody>
      </p:sp>
    </p:spTree>
    <p:extLst>
      <p:ext uri="{BB962C8B-B14F-4D97-AF65-F5344CB8AC3E}">
        <p14:creationId xmlns:p14="http://schemas.microsoft.com/office/powerpoint/2010/main" val="59057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idx="12"/>
          </p:nvPr>
        </p:nvSpPr>
        <p:spPr/>
        <p:txBody>
          <a:bodyPr/>
          <a:lstStyle/>
          <a:p>
            <a:fld id="{00000000-1234-1234-1234-123412341234}" type="slidenum">
              <a:rPr lang="es-CO" smtClean="0"/>
              <a:pPr/>
              <a:t>24</a:t>
            </a:fld>
            <a:endParaRPr lang="es-CO"/>
          </a:p>
        </p:txBody>
      </p:sp>
      <p:sp>
        <p:nvSpPr>
          <p:cNvPr id="19" name="Título 1">
            <a:extLst>
              <a:ext uri="{FF2B5EF4-FFF2-40B4-BE49-F238E27FC236}">
                <a16:creationId xmlns:a16="http://schemas.microsoft.com/office/drawing/2014/main" id="{ACD6E6B7-0413-8AB0-D698-7FB667E506EA}"/>
              </a:ext>
            </a:extLst>
          </p:cNvPr>
          <p:cNvSpPr>
            <a:spLocks noGrp="1"/>
          </p:cNvSpPr>
          <p:nvPr>
            <p:ph type="title"/>
          </p:nvPr>
        </p:nvSpPr>
        <p:spPr>
          <a:xfrm>
            <a:off x="1892941" y="164459"/>
            <a:ext cx="9666016" cy="1018902"/>
          </a:xfrm>
        </p:spPr>
        <p:txBody>
          <a:bodyPr>
            <a:normAutofit/>
          </a:bodyPr>
          <a:lstStyle/>
          <a:p>
            <a:r>
              <a:rPr lang="es-CO"/>
              <a:t>Ejemplo - Algoritmo tomar café</a:t>
            </a:r>
          </a:p>
        </p:txBody>
      </p:sp>
      <p:sp>
        <p:nvSpPr>
          <p:cNvPr id="5" name="Diagrama de flujo: terminador 4">
            <a:extLst>
              <a:ext uri="{FF2B5EF4-FFF2-40B4-BE49-F238E27FC236}">
                <a16:creationId xmlns:a16="http://schemas.microsoft.com/office/drawing/2014/main" id="{8B51CA1F-248D-E739-E707-7B8E224E54CC}"/>
              </a:ext>
            </a:extLst>
          </p:cNvPr>
          <p:cNvSpPr/>
          <p:nvPr/>
        </p:nvSpPr>
        <p:spPr>
          <a:xfrm>
            <a:off x="6670444" y="1439621"/>
            <a:ext cx="1164657" cy="452388"/>
          </a:xfrm>
          <a:prstGeom prst="flowChartTerminator">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Inicio</a:t>
            </a:r>
          </a:p>
        </p:txBody>
      </p:sp>
      <p:cxnSp>
        <p:nvCxnSpPr>
          <p:cNvPr id="8" name="Conector recto de flecha 7">
            <a:extLst>
              <a:ext uri="{FF2B5EF4-FFF2-40B4-BE49-F238E27FC236}">
                <a16:creationId xmlns:a16="http://schemas.microsoft.com/office/drawing/2014/main" id="{B2E1956A-BDC2-5E56-69EB-E51C71D2C754}"/>
              </a:ext>
            </a:extLst>
          </p:cNvPr>
          <p:cNvCxnSpPr>
            <a:cxnSpLocks/>
            <a:stCxn id="5" idx="2"/>
            <a:endCxn id="27" idx="0"/>
          </p:cNvCxnSpPr>
          <p:nvPr/>
        </p:nvCxnSpPr>
        <p:spPr>
          <a:xfrm flipH="1">
            <a:off x="7252772" y="1892009"/>
            <a:ext cx="1" cy="320728"/>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7A371139-3E55-1CB4-1812-4667E8C2632F}"/>
              </a:ext>
            </a:extLst>
          </p:cNvPr>
          <p:cNvSpPr/>
          <p:nvPr/>
        </p:nvSpPr>
        <p:spPr>
          <a:xfrm>
            <a:off x="8601151" y="2318959"/>
            <a:ext cx="1251284" cy="557577"/>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Preparar café</a:t>
            </a:r>
          </a:p>
        </p:txBody>
      </p:sp>
      <p:sp>
        <p:nvSpPr>
          <p:cNvPr id="10" name="Rectángulo 9">
            <a:extLst>
              <a:ext uri="{FF2B5EF4-FFF2-40B4-BE49-F238E27FC236}">
                <a16:creationId xmlns:a16="http://schemas.microsoft.com/office/drawing/2014/main" id="{678A1785-8BD3-B411-03AE-C95BBDE4732A}"/>
              </a:ext>
            </a:extLst>
          </p:cNvPr>
          <p:cNvSpPr/>
          <p:nvPr/>
        </p:nvSpPr>
        <p:spPr>
          <a:xfrm>
            <a:off x="6626702" y="5621594"/>
            <a:ext cx="1251284" cy="557577"/>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Añadir azúcar</a:t>
            </a:r>
          </a:p>
        </p:txBody>
      </p:sp>
      <p:sp>
        <p:nvSpPr>
          <p:cNvPr id="11" name="Rectángulo 10">
            <a:extLst>
              <a:ext uri="{FF2B5EF4-FFF2-40B4-BE49-F238E27FC236}">
                <a16:creationId xmlns:a16="http://schemas.microsoft.com/office/drawing/2014/main" id="{DD7F8279-5F64-7676-97E9-019B48CE4675}"/>
              </a:ext>
            </a:extLst>
          </p:cNvPr>
          <p:cNvSpPr/>
          <p:nvPr/>
        </p:nvSpPr>
        <p:spPr>
          <a:xfrm>
            <a:off x="10520721" y="4507939"/>
            <a:ext cx="1251284" cy="557577"/>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Tomar café</a:t>
            </a:r>
          </a:p>
        </p:txBody>
      </p:sp>
      <p:sp>
        <p:nvSpPr>
          <p:cNvPr id="12" name="Diagrama de flujo: terminador 11">
            <a:extLst>
              <a:ext uri="{FF2B5EF4-FFF2-40B4-BE49-F238E27FC236}">
                <a16:creationId xmlns:a16="http://schemas.microsoft.com/office/drawing/2014/main" id="{F09C6329-ADC4-F72F-C0EE-F0A294C2457F}"/>
              </a:ext>
            </a:extLst>
          </p:cNvPr>
          <p:cNvSpPr/>
          <p:nvPr/>
        </p:nvSpPr>
        <p:spPr>
          <a:xfrm>
            <a:off x="10564034" y="5726783"/>
            <a:ext cx="1164657" cy="452388"/>
          </a:xfrm>
          <a:prstGeom prst="flowChartTerminator">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Fin</a:t>
            </a:r>
          </a:p>
        </p:txBody>
      </p:sp>
      <p:cxnSp>
        <p:nvCxnSpPr>
          <p:cNvPr id="13" name="Conector recto de flecha 12">
            <a:extLst>
              <a:ext uri="{FF2B5EF4-FFF2-40B4-BE49-F238E27FC236}">
                <a16:creationId xmlns:a16="http://schemas.microsoft.com/office/drawing/2014/main" id="{E259FB07-4E90-55D9-565E-2A8511B22EA4}"/>
              </a:ext>
            </a:extLst>
          </p:cNvPr>
          <p:cNvCxnSpPr>
            <a:cxnSpLocks/>
            <a:stCxn id="9" idx="2"/>
          </p:cNvCxnSpPr>
          <p:nvPr/>
        </p:nvCxnSpPr>
        <p:spPr>
          <a:xfrm rot="5400000">
            <a:off x="8043357" y="2085950"/>
            <a:ext cx="392851" cy="1974022"/>
          </a:xfrm>
          <a:prstGeom prst="bentConnector2">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F1BCC75A-ACD2-67F4-1E49-E453AF4C226E}"/>
              </a:ext>
            </a:extLst>
          </p:cNvPr>
          <p:cNvCxnSpPr>
            <a:cxnSpLocks/>
            <a:stCxn id="32" idx="3"/>
            <a:endCxn id="31" idx="1"/>
          </p:cNvCxnSpPr>
          <p:nvPr/>
        </p:nvCxnSpPr>
        <p:spPr>
          <a:xfrm flipV="1">
            <a:off x="8087974" y="4790421"/>
            <a:ext cx="514361" cy="14006"/>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DE2331FE-8B46-1159-613B-2E29F9DEF783}"/>
              </a:ext>
            </a:extLst>
          </p:cNvPr>
          <p:cNvCxnSpPr>
            <a:cxnSpLocks/>
            <a:stCxn id="11" idx="2"/>
            <a:endCxn id="12" idx="0"/>
          </p:cNvCxnSpPr>
          <p:nvPr/>
        </p:nvCxnSpPr>
        <p:spPr>
          <a:xfrm>
            <a:off x="11146363" y="5065516"/>
            <a:ext cx="0" cy="661267"/>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27" name="Rombo 26">
            <a:extLst>
              <a:ext uri="{FF2B5EF4-FFF2-40B4-BE49-F238E27FC236}">
                <a16:creationId xmlns:a16="http://schemas.microsoft.com/office/drawing/2014/main" id="{8C52225D-D791-BFBF-84D2-4C91E74E24B0}"/>
              </a:ext>
            </a:extLst>
          </p:cNvPr>
          <p:cNvSpPr/>
          <p:nvPr/>
        </p:nvSpPr>
        <p:spPr>
          <a:xfrm>
            <a:off x="6543711" y="2212737"/>
            <a:ext cx="1418122" cy="770023"/>
          </a:xfrm>
          <a:prstGeom prst="diamond">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¿Hay café?</a:t>
            </a:r>
          </a:p>
        </p:txBody>
      </p:sp>
      <p:sp>
        <p:nvSpPr>
          <p:cNvPr id="30" name="Rectángulo 29">
            <a:extLst>
              <a:ext uri="{FF2B5EF4-FFF2-40B4-BE49-F238E27FC236}">
                <a16:creationId xmlns:a16="http://schemas.microsoft.com/office/drawing/2014/main" id="{7C24AEFA-9601-ED49-094F-E96AAD9AE939}"/>
              </a:ext>
            </a:extLst>
          </p:cNvPr>
          <p:cNvSpPr/>
          <p:nvPr/>
        </p:nvSpPr>
        <p:spPr>
          <a:xfrm>
            <a:off x="6627129" y="3510170"/>
            <a:ext cx="1251284" cy="557577"/>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Calentar café</a:t>
            </a:r>
          </a:p>
        </p:txBody>
      </p:sp>
      <p:sp>
        <p:nvSpPr>
          <p:cNvPr id="31" name="Rectángulo 30">
            <a:extLst>
              <a:ext uri="{FF2B5EF4-FFF2-40B4-BE49-F238E27FC236}">
                <a16:creationId xmlns:a16="http://schemas.microsoft.com/office/drawing/2014/main" id="{76406C02-9D77-8043-91D1-38AE08A7C783}"/>
              </a:ext>
            </a:extLst>
          </p:cNvPr>
          <p:cNvSpPr/>
          <p:nvPr/>
        </p:nvSpPr>
        <p:spPr>
          <a:xfrm>
            <a:off x="8602335" y="4511632"/>
            <a:ext cx="1251284" cy="557577"/>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Servir café en taza</a:t>
            </a:r>
          </a:p>
        </p:txBody>
      </p:sp>
      <p:sp>
        <p:nvSpPr>
          <p:cNvPr id="32" name="Rombo 31">
            <a:extLst>
              <a:ext uri="{FF2B5EF4-FFF2-40B4-BE49-F238E27FC236}">
                <a16:creationId xmlns:a16="http://schemas.microsoft.com/office/drawing/2014/main" id="{5446BE4A-EBA0-4D93-A9BE-E540B4A7E1E8}"/>
              </a:ext>
            </a:extLst>
          </p:cNvPr>
          <p:cNvSpPr/>
          <p:nvPr/>
        </p:nvSpPr>
        <p:spPr>
          <a:xfrm>
            <a:off x="6417569" y="4419415"/>
            <a:ext cx="1670405" cy="770023"/>
          </a:xfrm>
          <a:prstGeom prst="diamond">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¿Está dulce?</a:t>
            </a:r>
          </a:p>
        </p:txBody>
      </p:sp>
      <p:cxnSp>
        <p:nvCxnSpPr>
          <p:cNvPr id="35" name="Conector recto de flecha 34">
            <a:extLst>
              <a:ext uri="{FF2B5EF4-FFF2-40B4-BE49-F238E27FC236}">
                <a16:creationId xmlns:a16="http://schemas.microsoft.com/office/drawing/2014/main" id="{35ED04E7-8B64-BF7C-96F4-0E5F7B9A44F1}"/>
              </a:ext>
            </a:extLst>
          </p:cNvPr>
          <p:cNvCxnSpPr>
            <a:cxnSpLocks/>
            <a:stCxn id="27" idx="3"/>
            <a:endCxn id="9" idx="1"/>
          </p:cNvCxnSpPr>
          <p:nvPr/>
        </p:nvCxnSpPr>
        <p:spPr>
          <a:xfrm flipV="1">
            <a:off x="7961833" y="2597748"/>
            <a:ext cx="639318" cy="1"/>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720DB493-F80E-EC39-62AF-1305B73181FB}"/>
              </a:ext>
            </a:extLst>
          </p:cNvPr>
          <p:cNvCxnSpPr>
            <a:cxnSpLocks/>
            <a:stCxn id="27" idx="2"/>
            <a:endCxn id="30" idx="0"/>
          </p:cNvCxnSpPr>
          <p:nvPr/>
        </p:nvCxnSpPr>
        <p:spPr>
          <a:xfrm flipH="1">
            <a:off x="7252771" y="2982760"/>
            <a:ext cx="1" cy="527410"/>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42" name="CuadroTexto 41">
            <a:extLst>
              <a:ext uri="{FF2B5EF4-FFF2-40B4-BE49-F238E27FC236}">
                <a16:creationId xmlns:a16="http://schemas.microsoft.com/office/drawing/2014/main" id="{08743F39-F167-38E6-AB82-18874F1B1670}"/>
              </a:ext>
            </a:extLst>
          </p:cNvPr>
          <p:cNvSpPr txBox="1"/>
          <p:nvPr/>
        </p:nvSpPr>
        <p:spPr>
          <a:xfrm>
            <a:off x="8013611" y="2236256"/>
            <a:ext cx="428322" cy="369332"/>
          </a:xfrm>
          <a:prstGeom prst="rect">
            <a:avLst/>
          </a:prstGeom>
          <a:noFill/>
        </p:spPr>
        <p:txBody>
          <a:bodyPr wrap="none" rtlCol="0">
            <a:spAutoFit/>
          </a:bodyPr>
          <a:lstStyle/>
          <a:p>
            <a:r>
              <a:rPr lang="es-CO"/>
              <a:t>no</a:t>
            </a:r>
          </a:p>
        </p:txBody>
      </p:sp>
      <p:sp>
        <p:nvSpPr>
          <p:cNvPr id="43" name="CuadroTexto 42">
            <a:extLst>
              <a:ext uri="{FF2B5EF4-FFF2-40B4-BE49-F238E27FC236}">
                <a16:creationId xmlns:a16="http://schemas.microsoft.com/office/drawing/2014/main" id="{94932D56-090D-2292-9917-EB51BDEE090F}"/>
              </a:ext>
            </a:extLst>
          </p:cNvPr>
          <p:cNvSpPr txBox="1"/>
          <p:nvPr/>
        </p:nvSpPr>
        <p:spPr>
          <a:xfrm>
            <a:off x="7342199" y="2876536"/>
            <a:ext cx="327334" cy="369332"/>
          </a:xfrm>
          <a:prstGeom prst="rect">
            <a:avLst/>
          </a:prstGeom>
          <a:noFill/>
        </p:spPr>
        <p:txBody>
          <a:bodyPr wrap="none" rtlCol="0">
            <a:spAutoFit/>
          </a:bodyPr>
          <a:lstStyle/>
          <a:p>
            <a:r>
              <a:rPr lang="es-CO"/>
              <a:t>sí</a:t>
            </a:r>
          </a:p>
        </p:txBody>
      </p:sp>
      <p:cxnSp>
        <p:nvCxnSpPr>
          <p:cNvPr id="51" name="Conector recto de flecha 50">
            <a:extLst>
              <a:ext uri="{FF2B5EF4-FFF2-40B4-BE49-F238E27FC236}">
                <a16:creationId xmlns:a16="http://schemas.microsoft.com/office/drawing/2014/main" id="{86DDAAD6-5B3D-1907-31DB-7AAFC4F0BB20}"/>
              </a:ext>
            </a:extLst>
          </p:cNvPr>
          <p:cNvCxnSpPr>
            <a:cxnSpLocks/>
            <a:stCxn id="30" idx="2"/>
            <a:endCxn id="32" idx="0"/>
          </p:cNvCxnSpPr>
          <p:nvPr/>
        </p:nvCxnSpPr>
        <p:spPr>
          <a:xfrm>
            <a:off x="7252771" y="4067747"/>
            <a:ext cx="1" cy="351668"/>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de flecha 12">
            <a:extLst>
              <a:ext uri="{FF2B5EF4-FFF2-40B4-BE49-F238E27FC236}">
                <a16:creationId xmlns:a16="http://schemas.microsoft.com/office/drawing/2014/main" id="{895A3B99-7A5C-C135-1422-FC10FEF9AC2A}"/>
              </a:ext>
            </a:extLst>
          </p:cNvPr>
          <p:cNvCxnSpPr>
            <a:cxnSpLocks/>
            <a:stCxn id="10" idx="1"/>
            <a:endCxn id="32" idx="1"/>
          </p:cNvCxnSpPr>
          <p:nvPr/>
        </p:nvCxnSpPr>
        <p:spPr>
          <a:xfrm rot="10800000">
            <a:off x="6417570" y="4804427"/>
            <a:ext cx="209133" cy="1095956"/>
          </a:xfrm>
          <a:prstGeom prst="bentConnector3">
            <a:avLst>
              <a:gd name="adj1" fmla="val 209308"/>
            </a:avLst>
          </a:prstGeom>
          <a:ln w="31750">
            <a:solidFill>
              <a:srgbClr val="009BAF"/>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ector recto de flecha 59">
            <a:extLst>
              <a:ext uri="{FF2B5EF4-FFF2-40B4-BE49-F238E27FC236}">
                <a16:creationId xmlns:a16="http://schemas.microsoft.com/office/drawing/2014/main" id="{B9AE0066-7831-A127-9587-7A2F7EFA5463}"/>
              </a:ext>
            </a:extLst>
          </p:cNvPr>
          <p:cNvCxnSpPr>
            <a:cxnSpLocks/>
            <a:stCxn id="32" idx="2"/>
            <a:endCxn id="10" idx="0"/>
          </p:cNvCxnSpPr>
          <p:nvPr/>
        </p:nvCxnSpPr>
        <p:spPr>
          <a:xfrm flipH="1">
            <a:off x="7252344" y="5189438"/>
            <a:ext cx="428" cy="432156"/>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889C28A9-53AE-B143-AE78-0563EC6AAE8C}"/>
              </a:ext>
            </a:extLst>
          </p:cNvPr>
          <p:cNvCxnSpPr>
            <a:cxnSpLocks/>
            <a:stCxn id="31" idx="3"/>
            <a:endCxn id="11" idx="1"/>
          </p:cNvCxnSpPr>
          <p:nvPr/>
        </p:nvCxnSpPr>
        <p:spPr>
          <a:xfrm flipV="1">
            <a:off x="9853619" y="4786728"/>
            <a:ext cx="667102" cy="3693"/>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85" name="CuadroTexto 84">
            <a:extLst>
              <a:ext uri="{FF2B5EF4-FFF2-40B4-BE49-F238E27FC236}">
                <a16:creationId xmlns:a16="http://schemas.microsoft.com/office/drawing/2014/main" id="{E2723E64-D169-66E3-D370-2FB0503E41BE}"/>
              </a:ext>
            </a:extLst>
          </p:cNvPr>
          <p:cNvSpPr txBox="1"/>
          <p:nvPr/>
        </p:nvSpPr>
        <p:spPr>
          <a:xfrm>
            <a:off x="7313480" y="5167739"/>
            <a:ext cx="428322" cy="369332"/>
          </a:xfrm>
          <a:prstGeom prst="rect">
            <a:avLst/>
          </a:prstGeom>
          <a:noFill/>
        </p:spPr>
        <p:txBody>
          <a:bodyPr wrap="none" rtlCol="0">
            <a:spAutoFit/>
          </a:bodyPr>
          <a:lstStyle/>
          <a:p>
            <a:r>
              <a:rPr lang="es-CO"/>
              <a:t>no</a:t>
            </a:r>
          </a:p>
        </p:txBody>
      </p:sp>
      <p:sp>
        <p:nvSpPr>
          <p:cNvPr id="86" name="CuadroTexto 85">
            <a:extLst>
              <a:ext uri="{FF2B5EF4-FFF2-40B4-BE49-F238E27FC236}">
                <a16:creationId xmlns:a16="http://schemas.microsoft.com/office/drawing/2014/main" id="{0494876E-C3FA-C169-B42A-75F947CEC608}"/>
              </a:ext>
            </a:extLst>
          </p:cNvPr>
          <p:cNvSpPr txBox="1"/>
          <p:nvPr/>
        </p:nvSpPr>
        <p:spPr>
          <a:xfrm>
            <a:off x="8192264" y="4417395"/>
            <a:ext cx="327334" cy="369332"/>
          </a:xfrm>
          <a:prstGeom prst="rect">
            <a:avLst/>
          </a:prstGeom>
          <a:noFill/>
        </p:spPr>
        <p:txBody>
          <a:bodyPr wrap="none" rtlCol="0">
            <a:spAutoFit/>
          </a:bodyPr>
          <a:lstStyle/>
          <a:p>
            <a:r>
              <a:rPr lang="es-CO"/>
              <a:t>sí</a:t>
            </a:r>
          </a:p>
        </p:txBody>
      </p:sp>
      <p:sp>
        <p:nvSpPr>
          <p:cNvPr id="2" name="Marcador de texto 2">
            <a:extLst>
              <a:ext uri="{FF2B5EF4-FFF2-40B4-BE49-F238E27FC236}">
                <a16:creationId xmlns:a16="http://schemas.microsoft.com/office/drawing/2014/main" id="{524EC5DE-F066-6E8D-D8C7-84A1632DF423}"/>
              </a:ext>
            </a:extLst>
          </p:cNvPr>
          <p:cNvSpPr>
            <a:spLocks noGrp="1"/>
          </p:cNvSpPr>
          <p:nvPr>
            <p:ph type="body" idx="1"/>
          </p:nvPr>
        </p:nvSpPr>
        <p:spPr>
          <a:xfrm>
            <a:off x="2338381" y="1203614"/>
            <a:ext cx="3723815" cy="5333811"/>
          </a:xfrm>
        </p:spPr>
        <p:txBody>
          <a:bodyPr anchor="ctr">
            <a:normAutofit fontScale="70000" lnSpcReduction="20000"/>
          </a:bodyPr>
          <a:lstStyle/>
          <a:p>
            <a:pPr algn="just"/>
            <a:r>
              <a:rPr lang="es-CO" sz="2600"/>
              <a:t>Inicio del algoritmo.</a:t>
            </a:r>
          </a:p>
          <a:p>
            <a:pPr algn="just"/>
            <a:r>
              <a:rPr lang="es-CO" sz="2600"/>
              <a:t>Se pregunta si hay café preparado.</a:t>
            </a:r>
          </a:p>
          <a:p>
            <a:pPr lvl="1" algn="just"/>
            <a:r>
              <a:rPr lang="es-CO" sz="2100"/>
              <a:t>Si la respuesta es </a:t>
            </a:r>
            <a:r>
              <a:rPr lang="es-CO" sz="2100" b="1"/>
              <a:t>sí</a:t>
            </a:r>
            <a:r>
              <a:rPr lang="es-CO" sz="2100"/>
              <a:t>, entonces se continúa con la acción de calentar el café.</a:t>
            </a:r>
          </a:p>
          <a:p>
            <a:pPr lvl="1" algn="just"/>
            <a:r>
              <a:rPr lang="es-CO" sz="2100"/>
              <a:t>Si la respuesta es </a:t>
            </a:r>
            <a:r>
              <a:rPr lang="es-CO" sz="2100" b="1"/>
              <a:t>no</a:t>
            </a:r>
            <a:r>
              <a:rPr lang="es-CO" sz="2100"/>
              <a:t>, entonces se continúa con la acción de preparar café, luego se realiza la acción de calentar el café.</a:t>
            </a:r>
          </a:p>
          <a:p>
            <a:pPr algn="just"/>
            <a:r>
              <a:rPr lang="es-CO" sz="2600"/>
              <a:t>Se pregunta si el café está dulce.</a:t>
            </a:r>
          </a:p>
          <a:p>
            <a:pPr lvl="1" algn="just"/>
            <a:r>
              <a:rPr lang="es-CO" sz="2100"/>
              <a:t>Si la respuesta es sí, entonces se realiza la acción de servir el café en una taza. Luego, se realiza la acción de tomar café.</a:t>
            </a:r>
          </a:p>
          <a:p>
            <a:pPr lvl="1" algn="just"/>
            <a:r>
              <a:rPr lang="es-CO" sz="2100"/>
              <a:t>Si la respuesta es </a:t>
            </a:r>
            <a:r>
              <a:rPr lang="es-CO" sz="2100" b="1"/>
              <a:t>no</a:t>
            </a:r>
            <a:r>
              <a:rPr lang="es-CO" sz="2100"/>
              <a:t>, entonces se realiza la acción de añadir azúcar. Se vuelve a preguntar si el café está dulce. Se añade azúcar y se pregunta si está dulce hasta que esté a gusto de quien lo va a tomar.</a:t>
            </a:r>
          </a:p>
          <a:p>
            <a:pPr algn="just"/>
            <a:r>
              <a:rPr lang="es-CO" sz="2600"/>
              <a:t>Fin del algoritmo</a:t>
            </a:r>
          </a:p>
        </p:txBody>
      </p:sp>
    </p:spTree>
    <p:extLst>
      <p:ext uri="{BB962C8B-B14F-4D97-AF65-F5344CB8AC3E}">
        <p14:creationId xmlns:p14="http://schemas.microsoft.com/office/powerpoint/2010/main" val="178038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EBDAA-D612-453E-F0FB-FD603DB26A90}"/>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385D1139-1E00-49D5-10B1-6BDFC4017A52}"/>
              </a:ext>
            </a:extLst>
          </p:cNvPr>
          <p:cNvSpPr>
            <a:spLocks noGrp="1"/>
          </p:cNvSpPr>
          <p:nvPr>
            <p:ph type="title"/>
          </p:nvPr>
        </p:nvSpPr>
        <p:spPr/>
        <p:txBody>
          <a:bodyPr>
            <a:normAutofit fontScale="90000"/>
          </a:bodyPr>
          <a:lstStyle/>
          <a:p>
            <a:r>
              <a:rPr lang="es-CO"/>
              <a:t>Agenda</a:t>
            </a:r>
          </a:p>
        </p:txBody>
      </p:sp>
      <p:sp>
        <p:nvSpPr>
          <p:cNvPr id="4" name="Marcador de texto 3">
            <a:extLst>
              <a:ext uri="{FF2B5EF4-FFF2-40B4-BE49-F238E27FC236}">
                <a16:creationId xmlns:a16="http://schemas.microsoft.com/office/drawing/2014/main" id="{BD704039-4E9C-B340-ED78-4D7109608D58}"/>
              </a:ext>
            </a:extLst>
          </p:cNvPr>
          <p:cNvSpPr>
            <a:spLocks noGrp="1"/>
          </p:cNvSpPr>
          <p:nvPr>
            <p:ph type="body" idx="1"/>
          </p:nvPr>
        </p:nvSpPr>
        <p:spPr/>
        <p:txBody>
          <a:bodyPr anchor="ctr"/>
          <a:lstStyle/>
          <a:p>
            <a:r>
              <a:rPr lang="es-CO"/>
              <a:t>Algoritmos</a:t>
            </a:r>
          </a:p>
          <a:p>
            <a:r>
              <a:rPr lang="es-CO"/>
              <a:t>Diagrama de flujo</a:t>
            </a:r>
          </a:p>
          <a:p>
            <a:r>
              <a:rPr lang="es-CO" b="1"/>
              <a:t>Ejercicios</a:t>
            </a:r>
          </a:p>
        </p:txBody>
      </p:sp>
      <p:sp>
        <p:nvSpPr>
          <p:cNvPr id="2" name="Marcador de número de diapositiva 1">
            <a:extLst>
              <a:ext uri="{FF2B5EF4-FFF2-40B4-BE49-F238E27FC236}">
                <a16:creationId xmlns:a16="http://schemas.microsoft.com/office/drawing/2014/main" id="{442B59F4-83F4-EDD1-CDA1-11E6B6652FB7}"/>
              </a:ext>
            </a:extLst>
          </p:cNvPr>
          <p:cNvSpPr>
            <a:spLocks noGrp="1"/>
          </p:cNvSpPr>
          <p:nvPr>
            <p:ph type="sldNum" sz="quarter" idx="4294967295"/>
          </p:nvPr>
        </p:nvSpPr>
        <p:spPr>
          <a:xfrm>
            <a:off x="11598275" y="6492875"/>
            <a:ext cx="593725" cy="365125"/>
          </a:xfrm>
        </p:spPr>
        <p:txBody>
          <a:bodyPr/>
          <a:lstStyle/>
          <a:p>
            <a:fld id="{654A6576-47F1-4326-ABAC-AEAC38241B4A}" type="slidenum">
              <a:rPr lang="es-CO" smtClean="0"/>
              <a:pPr/>
              <a:t>25</a:t>
            </a:fld>
            <a:endParaRPr lang="es-CO"/>
          </a:p>
        </p:txBody>
      </p:sp>
    </p:spTree>
    <p:extLst>
      <p:ext uri="{BB962C8B-B14F-4D97-AF65-F5344CB8AC3E}">
        <p14:creationId xmlns:p14="http://schemas.microsoft.com/office/powerpoint/2010/main" val="2723545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CO"/>
              <a:t>Ejercicio – Promedio de notas</a:t>
            </a:r>
          </a:p>
        </p:txBody>
      </p:sp>
      <p:sp>
        <p:nvSpPr>
          <p:cNvPr id="4" name="Marcador de número de diapositiva 3"/>
          <p:cNvSpPr>
            <a:spLocks noGrp="1"/>
          </p:cNvSpPr>
          <p:nvPr>
            <p:ph type="sldNum" idx="12"/>
          </p:nvPr>
        </p:nvSpPr>
        <p:spPr/>
        <p:txBody>
          <a:bodyPr/>
          <a:lstStyle/>
          <a:p>
            <a:fld id="{00000000-1234-1234-1234-123412341234}" type="slidenum">
              <a:rPr lang="es-CO" smtClean="0"/>
              <a:pPr/>
              <a:t>26</a:t>
            </a:fld>
            <a:endParaRPr lang="es-CO"/>
          </a:p>
        </p:txBody>
      </p:sp>
      <p:sp>
        <p:nvSpPr>
          <p:cNvPr id="5" name="Google Shape;258;p40">
            <a:extLst>
              <a:ext uri="{FF2B5EF4-FFF2-40B4-BE49-F238E27FC236}">
                <a16:creationId xmlns:a16="http://schemas.microsoft.com/office/drawing/2014/main" id="{B98E6590-952D-B06C-08D8-014CFF29A134}"/>
              </a:ext>
            </a:extLst>
          </p:cNvPr>
          <p:cNvSpPr txBox="1">
            <a:spLocks noGrp="1"/>
          </p:cNvSpPr>
          <p:nvPr/>
        </p:nvSpPr>
        <p:spPr>
          <a:xfrm>
            <a:off x="2541157" y="1737776"/>
            <a:ext cx="8737690" cy="40324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rtl="0">
              <a:lnSpc>
                <a:spcPct val="90000"/>
              </a:lnSpc>
              <a:spcBef>
                <a:spcPts val="0"/>
              </a:spcBef>
              <a:spcAft>
                <a:spcPts val="0"/>
              </a:spcAft>
              <a:buClr>
                <a:schemeClr val="dk1"/>
              </a:buClr>
              <a:buSzPts val="2800"/>
              <a:buNone/>
            </a:pPr>
            <a:r>
              <a:rPr lang="es-CO" sz="2400"/>
              <a:t>Realizar un algoritmo que calcule el promedio de las 3 notas de una materia. Pedir al estudiante ingresar las tres notas, sumar las notas, calcular el promedio. Si el promedio es mayor o igual a 3 mostrar mensaje “Ganaste la materia”. De lo contrario, si la nota es menor a tres, mostrar mensaje “Perdiste la materia”.</a:t>
            </a:r>
          </a:p>
          <a:p>
            <a:pPr marL="0" marR="0" lvl="0" indent="0" algn="l" rtl="0">
              <a:lnSpc>
                <a:spcPct val="90000"/>
              </a:lnSpc>
              <a:spcBef>
                <a:spcPts val="0"/>
              </a:spcBef>
              <a:spcAft>
                <a:spcPts val="0"/>
              </a:spcAft>
              <a:buClr>
                <a:schemeClr val="dk1"/>
              </a:buClr>
              <a:buSzPts val="2800"/>
              <a:buNone/>
            </a:pPr>
            <a:endParaRPr lang="es-CO" sz="2400"/>
          </a:p>
          <a:p>
            <a:pPr marL="0" marR="0" lvl="0" indent="0" algn="l" rtl="0">
              <a:lnSpc>
                <a:spcPct val="90000"/>
              </a:lnSpc>
              <a:spcBef>
                <a:spcPts val="0"/>
              </a:spcBef>
              <a:spcAft>
                <a:spcPts val="0"/>
              </a:spcAft>
              <a:buClr>
                <a:schemeClr val="dk1"/>
              </a:buClr>
              <a:buSzPts val="2800"/>
              <a:buNone/>
            </a:pPr>
            <a:r>
              <a:rPr lang="es-CO" sz="2400" b="1"/>
              <a:t>Nota: </a:t>
            </a:r>
            <a:r>
              <a:rPr lang="es-CO" sz="2400"/>
              <a:t>Puede realizar el diagrama en una hoja o en el programa que indique el docente.</a:t>
            </a:r>
          </a:p>
          <a:p>
            <a:pPr marL="0" marR="0" lvl="0" indent="0" algn="l" rtl="0">
              <a:lnSpc>
                <a:spcPct val="90000"/>
              </a:lnSpc>
              <a:spcBef>
                <a:spcPts val="0"/>
              </a:spcBef>
              <a:spcAft>
                <a:spcPts val="0"/>
              </a:spcAft>
              <a:buClr>
                <a:schemeClr val="dk1"/>
              </a:buClr>
              <a:buSzPts val="2800"/>
              <a:buNone/>
            </a:pPr>
            <a:endParaRPr lang="es-CO" sz="2400"/>
          </a:p>
          <a:p>
            <a:pPr marL="0" marR="0" lvl="0" indent="0" algn="l" rtl="0">
              <a:lnSpc>
                <a:spcPct val="90000"/>
              </a:lnSpc>
              <a:spcBef>
                <a:spcPts val="0"/>
              </a:spcBef>
              <a:spcAft>
                <a:spcPts val="0"/>
              </a:spcAft>
              <a:buClr>
                <a:schemeClr val="dk1"/>
              </a:buClr>
              <a:buSzPts val="2800"/>
              <a:buNone/>
            </a:pPr>
            <a:endParaRPr lang="es-CO" sz="2400"/>
          </a:p>
        </p:txBody>
      </p:sp>
    </p:spTree>
    <p:extLst>
      <p:ext uri="{BB962C8B-B14F-4D97-AF65-F5344CB8AC3E}">
        <p14:creationId xmlns:p14="http://schemas.microsoft.com/office/powerpoint/2010/main" val="4177300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idx="12"/>
          </p:nvPr>
        </p:nvSpPr>
        <p:spPr/>
        <p:txBody>
          <a:bodyPr/>
          <a:lstStyle/>
          <a:p>
            <a:fld id="{00000000-1234-1234-1234-123412341234}" type="slidenum">
              <a:rPr lang="es-CO" smtClean="0"/>
              <a:pPr/>
              <a:t>27</a:t>
            </a:fld>
            <a:endParaRPr lang="es-CO"/>
          </a:p>
        </p:txBody>
      </p:sp>
      <p:sp>
        <p:nvSpPr>
          <p:cNvPr id="9" name="Título 1">
            <a:extLst>
              <a:ext uri="{FF2B5EF4-FFF2-40B4-BE49-F238E27FC236}">
                <a16:creationId xmlns:a16="http://schemas.microsoft.com/office/drawing/2014/main" id="{798B1C3C-6474-F90F-F93F-1BAA8FCC75C1}"/>
              </a:ext>
            </a:extLst>
          </p:cNvPr>
          <p:cNvSpPr txBox="1">
            <a:spLocks/>
          </p:cNvSpPr>
          <p:nvPr/>
        </p:nvSpPr>
        <p:spPr>
          <a:xfrm>
            <a:off x="2229394" y="374469"/>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Ejercicio – Promedio de notas</a:t>
            </a:r>
          </a:p>
        </p:txBody>
      </p:sp>
      <p:pic>
        <p:nvPicPr>
          <p:cNvPr id="2" name="Imagen 1" descr="Diagrama&#10;&#10;El contenido generado por inteligencia artificial puede ser incorrecto.">
            <a:extLst>
              <a:ext uri="{FF2B5EF4-FFF2-40B4-BE49-F238E27FC236}">
                <a16:creationId xmlns:a16="http://schemas.microsoft.com/office/drawing/2014/main" id="{062C7A94-0809-D7DC-DE8F-212DD6CF4BB2}"/>
              </a:ext>
            </a:extLst>
          </p:cNvPr>
          <p:cNvPicPr>
            <a:picLocks noChangeAspect="1"/>
          </p:cNvPicPr>
          <p:nvPr/>
        </p:nvPicPr>
        <p:blipFill>
          <a:blip r:embed="rId3"/>
          <a:stretch>
            <a:fillRect/>
          </a:stretch>
        </p:blipFill>
        <p:spPr>
          <a:xfrm>
            <a:off x="5377595" y="1399930"/>
            <a:ext cx="3371118" cy="4956908"/>
          </a:xfrm>
          <a:prstGeom prst="rect">
            <a:avLst/>
          </a:prstGeom>
        </p:spPr>
      </p:pic>
    </p:spTree>
    <p:extLst>
      <p:ext uri="{BB962C8B-B14F-4D97-AF65-F5344CB8AC3E}">
        <p14:creationId xmlns:p14="http://schemas.microsoft.com/office/powerpoint/2010/main" val="2813072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CO"/>
              <a:t>Ejercicio - Sueldo</a:t>
            </a:r>
          </a:p>
        </p:txBody>
      </p:sp>
      <p:sp>
        <p:nvSpPr>
          <p:cNvPr id="4" name="Marcador de número de diapositiva 3"/>
          <p:cNvSpPr>
            <a:spLocks noGrp="1"/>
          </p:cNvSpPr>
          <p:nvPr>
            <p:ph type="sldNum" idx="12"/>
          </p:nvPr>
        </p:nvSpPr>
        <p:spPr/>
        <p:txBody>
          <a:bodyPr/>
          <a:lstStyle/>
          <a:p>
            <a:fld id="{00000000-1234-1234-1234-123412341234}" type="slidenum">
              <a:rPr lang="es-CO" smtClean="0"/>
              <a:pPr/>
              <a:t>28</a:t>
            </a:fld>
            <a:endParaRPr lang="es-CO"/>
          </a:p>
        </p:txBody>
      </p:sp>
      <p:sp>
        <p:nvSpPr>
          <p:cNvPr id="5" name="Google Shape;258;p40">
            <a:extLst>
              <a:ext uri="{FF2B5EF4-FFF2-40B4-BE49-F238E27FC236}">
                <a16:creationId xmlns:a16="http://schemas.microsoft.com/office/drawing/2014/main" id="{B98E6590-952D-B06C-08D8-014CFF29A134}"/>
              </a:ext>
            </a:extLst>
          </p:cNvPr>
          <p:cNvSpPr txBox="1">
            <a:spLocks noGrp="1"/>
          </p:cNvSpPr>
          <p:nvPr/>
        </p:nvSpPr>
        <p:spPr>
          <a:xfrm>
            <a:off x="2565779" y="1240185"/>
            <a:ext cx="5075992" cy="46876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rtl="0">
              <a:lnSpc>
                <a:spcPct val="90000"/>
              </a:lnSpc>
              <a:spcBef>
                <a:spcPts val="0"/>
              </a:spcBef>
              <a:spcAft>
                <a:spcPts val="0"/>
              </a:spcAft>
              <a:buClr>
                <a:schemeClr val="dk1"/>
              </a:buClr>
              <a:buSzPts val="2800"/>
              <a:buNone/>
            </a:pPr>
            <a:endParaRPr lang="es-CO" sz="2000" dirty="0">
              <a:latin typeface="+mn-lt"/>
            </a:endParaRPr>
          </a:p>
          <a:p>
            <a:pPr marL="0" indent="0">
              <a:spcBef>
                <a:spcPts val="0"/>
              </a:spcBef>
              <a:buSzPts val="2800"/>
              <a:buNone/>
            </a:pPr>
            <a:r>
              <a:rPr lang="es-ES" sz="2000" dirty="0">
                <a:solidFill>
                  <a:srgbClr val="333333"/>
                </a:solidFill>
                <a:latin typeface="+mn-lt"/>
              </a:rPr>
              <a:t>Realizar un </a:t>
            </a:r>
            <a:r>
              <a:rPr lang="es-ES" sz="2000">
                <a:solidFill>
                  <a:srgbClr val="333333"/>
                </a:solidFill>
                <a:latin typeface="+mn-lt"/>
              </a:rPr>
              <a:t>algoritmo</a:t>
            </a:r>
            <a:r>
              <a:rPr lang="es-ES" sz="2000" dirty="0">
                <a:solidFill>
                  <a:srgbClr val="333333"/>
                </a:solidFill>
                <a:latin typeface="+mn-lt"/>
              </a:rPr>
              <a:t> para calcular</a:t>
            </a:r>
            <a:r>
              <a:rPr lang="es-ES" sz="2000" b="0" i="0" dirty="0">
                <a:solidFill>
                  <a:srgbClr val="333333"/>
                </a:solidFill>
                <a:effectLst/>
                <a:latin typeface="+mn-lt"/>
              </a:rPr>
              <a:t> el sueldo mensual de un operario conociendo la cantidad de horas trabajadas y el valor por hora.</a:t>
            </a:r>
          </a:p>
          <a:p>
            <a:pPr marL="0" indent="0">
              <a:spcBef>
                <a:spcPts val="0"/>
              </a:spcBef>
              <a:buSzPts val="2800"/>
              <a:buNone/>
            </a:pPr>
            <a:r>
              <a:rPr lang="es-ES" sz="2000" dirty="0">
                <a:solidFill>
                  <a:srgbClr val="333333"/>
                </a:solidFill>
                <a:latin typeface="+mn-lt"/>
              </a:rPr>
              <a:t>Pedir al usuario la cantidad de horas trabajadas. Calcular el sueldo y mostrar el </a:t>
            </a:r>
            <a:r>
              <a:rPr lang="es-ES" sz="2000">
                <a:solidFill>
                  <a:srgbClr val="333333"/>
                </a:solidFill>
                <a:latin typeface="+mn-lt"/>
              </a:rPr>
              <a:t>sueldo.</a:t>
            </a:r>
            <a:endParaRPr lang="es-ES" sz="2000" dirty="0">
              <a:solidFill>
                <a:srgbClr val="333333"/>
              </a:solidFill>
              <a:latin typeface="+mn-lt"/>
            </a:endParaRPr>
          </a:p>
          <a:p>
            <a:pPr marL="0" marR="0" lvl="0" indent="0" algn="l" rtl="0">
              <a:lnSpc>
                <a:spcPct val="90000"/>
              </a:lnSpc>
              <a:spcBef>
                <a:spcPts val="0"/>
              </a:spcBef>
              <a:spcAft>
                <a:spcPts val="0"/>
              </a:spcAft>
              <a:buClr>
                <a:schemeClr val="dk1"/>
              </a:buClr>
              <a:buSzPts val="2800"/>
              <a:buNone/>
            </a:pPr>
            <a:endParaRPr lang="es-ES" sz="2400">
              <a:solidFill>
                <a:srgbClr val="333333"/>
              </a:solidFill>
              <a:latin typeface="+mn-lt"/>
            </a:endParaRPr>
          </a:p>
          <a:p>
            <a:pPr marL="0" indent="0">
              <a:spcBef>
                <a:spcPts val="0"/>
              </a:spcBef>
              <a:buSzPts val="2800"/>
              <a:buNone/>
            </a:pPr>
            <a:endParaRPr lang="es-CO" sz="2400">
              <a:latin typeface="+mn-lt"/>
            </a:endParaRPr>
          </a:p>
        </p:txBody>
      </p:sp>
      <p:pic>
        <p:nvPicPr>
          <p:cNvPr id="3" name="Imagen 2">
            <a:extLst>
              <a:ext uri="{FF2B5EF4-FFF2-40B4-BE49-F238E27FC236}">
                <a16:creationId xmlns:a16="http://schemas.microsoft.com/office/drawing/2014/main" id="{DF094DB0-13DD-6182-CF40-5D84D517AECB}"/>
              </a:ext>
            </a:extLst>
          </p:cNvPr>
          <p:cNvPicPr>
            <a:picLocks noChangeAspect="1"/>
          </p:cNvPicPr>
          <p:nvPr/>
        </p:nvPicPr>
        <p:blipFill>
          <a:blip r:embed="rId3"/>
          <a:stretch>
            <a:fillRect/>
          </a:stretch>
        </p:blipFill>
        <p:spPr>
          <a:xfrm>
            <a:off x="7846379" y="1240185"/>
            <a:ext cx="3486637" cy="5010849"/>
          </a:xfrm>
          <a:prstGeom prst="rect">
            <a:avLst/>
          </a:prstGeom>
        </p:spPr>
      </p:pic>
    </p:spTree>
    <p:extLst>
      <p:ext uri="{BB962C8B-B14F-4D97-AF65-F5344CB8AC3E}">
        <p14:creationId xmlns:p14="http://schemas.microsoft.com/office/powerpoint/2010/main" val="194028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3FF8F-1C98-397B-BF9B-A79074C89E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354C33-2039-94AA-5CC1-A0FF420AF74A}"/>
              </a:ext>
            </a:extLst>
          </p:cNvPr>
          <p:cNvSpPr>
            <a:spLocks noGrp="1"/>
          </p:cNvSpPr>
          <p:nvPr>
            <p:ph type="title"/>
          </p:nvPr>
        </p:nvSpPr>
        <p:spPr/>
        <p:txBody>
          <a:bodyPr>
            <a:normAutofit/>
          </a:bodyPr>
          <a:lstStyle/>
          <a:p>
            <a:pPr algn="ctr"/>
            <a:r>
              <a:rPr lang="es-CO"/>
              <a:t>Ejercicio – Número mayor</a:t>
            </a:r>
          </a:p>
        </p:txBody>
      </p:sp>
      <p:sp>
        <p:nvSpPr>
          <p:cNvPr id="4" name="Marcador de número de diapositiva 3">
            <a:extLst>
              <a:ext uri="{FF2B5EF4-FFF2-40B4-BE49-F238E27FC236}">
                <a16:creationId xmlns:a16="http://schemas.microsoft.com/office/drawing/2014/main" id="{F8681C18-F492-201E-6FAF-4B9485DC8D46}"/>
              </a:ext>
            </a:extLst>
          </p:cNvPr>
          <p:cNvSpPr>
            <a:spLocks noGrp="1"/>
          </p:cNvSpPr>
          <p:nvPr>
            <p:ph type="sldNum" idx="12"/>
          </p:nvPr>
        </p:nvSpPr>
        <p:spPr/>
        <p:txBody>
          <a:bodyPr/>
          <a:lstStyle/>
          <a:p>
            <a:fld id="{00000000-1234-1234-1234-123412341234}" type="slidenum">
              <a:rPr lang="es-CO" smtClean="0"/>
              <a:pPr/>
              <a:t>29</a:t>
            </a:fld>
            <a:endParaRPr lang="es-CO"/>
          </a:p>
        </p:txBody>
      </p:sp>
      <p:sp>
        <p:nvSpPr>
          <p:cNvPr id="5" name="Google Shape;258;p40">
            <a:extLst>
              <a:ext uri="{FF2B5EF4-FFF2-40B4-BE49-F238E27FC236}">
                <a16:creationId xmlns:a16="http://schemas.microsoft.com/office/drawing/2014/main" id="{F07A8A0E-A94D-103C-12E4-40C07B54EADC}"/>
              </a:ext>
            </a:extLst>
          </p:cNvPr>
          <p:cNvSpPr txBox="1">
            <a:spLocks noGrp="1"/>
          </p:cNvSpPr>
          <p:nvPr/>
        </p:nvSpPr>
        <p:spPr>
          <a:xfrm>
            <a:off x="2076994" y="1339337"/>
            <a:ext cx="4731430" cy="46876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SzPts val="2800"/>
              <a:buNone/>
            </a:pPr>
            <a:r>
              <a:rPr lang="es-ES" sz="2400" dirty="0">
                <a:solidFill>
                  <a:srgbClr val="333333"/>
                </a:solidFill>
                <a:latin typeface="+mn-lt"/>
              </a:rPr>
              <a:t>Realizar un algoritmo que solicite al </a:t>
            </a:r>
            <a:r>
              <a:rPr lang="es-ES" sz="2400">
                <a:solidFill>
                  <a:srgbClr val="333333"/>
                </a:solidFill>
                <a:latin typeface="+mn-lt"/>
              </a:rPr>
              <a:t>usuario</a:t>
            </a:r>
            <a:r>
              <a:rPr lang="es-ES" sz="2400" dirty="0">
                <a:solidFill>
                  <a:srgbClr val="333333"/>
                </a:solidFill>
                <a:latin typeface="+mn-lt"/>
              </a:rPr>
              <a:t> ingresar dos números distintos y muestre el mayor de ellos.</a:t>
            </a:r>
          </a:p>
          <a:p>
            <a:pPr marL="0" marR="0" lvl="0" indent="0" algn="l" rtl="0">
              <a:lnSpc>
                <a:spcPct val="90000"/>
              </a:lnSpc>
              <a:spcBef>
                <a:spcPts val="0"/>
              </a:spcBef>
              <a:spcAft>
                <a:spcPts val="0"/>
              </a:spcAft>
              <a:buClr>
                <a:schemeClr val="dk1"/>
              </a:buClr>
              <a:buSzPts val="2800"/>
              <a:buNone/>
            </a:pPr>
            <a:endParaRPr lang="es-ES" sz="2400">
              <a:solidFill>
                <a:srgbClr val="333333"/>
              </a:solidFill>
              <a:latin typeface="+mn-lt"/>
            </a:endParaRPr>
          </a:p>
          <a:p>
            <a:pPr marL="0" marR="0" lvl="0" indent="0" algn="l" rtl="0">
              <a:lnSpc>
                <a:spcPct val="90000"/>
              </a:lnSpc>
              <a:spcBef>
                <a:spcPts val="0"/>
              </a:spcBef>
              <a:spcAft>
                <a:spcPts val="0"/>
              </a:spcAft>
              <a:buClr>
                <a:schemeClr val="dk1"/>
              </a:buClr>
              <a:buSzPts val="2800"/>
              <a:buNone/>
            </a:pPr>
            <a:endParaRPr lang="es-CO" sz="2400">
              <a:latin typeface="+mn-lt"/>
            </a:endParaRPr>
          </a:p>
        </p:txBody>
      </p:sp>
      <p:pic>
        <p:nvPicPr>
          <p:cNvPr id="3" name="Imagen 2">
            <a:extLst>
              <a:ext uri="{FF2B5EF4-FFF2-40B4-BE49-F238E27FC236}">
                <a16:creationId xmlns:a16="http://schemas.microsoft.com/office/drawing/2014/main" id="{0D095F1B-D1D3-188F-D217-DA00D0A6B681}"/>
              </a:ext>
            </a:extLst>
          </p:cNvPr>
          <p:cNvPicPr>
            <a:picLocks noChangeAspect="1"/>
          </p:cNvPicPr>
          <p:nvPr/>
        </p:nvPicPr>
        <p:blipFill>
          <a:blip r:embed="rId3"/>
          <a:stretch>
            <a:fillRect/>
          </a:stretch>
        </p:blipFill>
        <p:spPr>
          <a:xfrm>
            <a:off x="7033962" y="1240185"/>
            <a:ext cx="4483510" cy="4663651"/>
          </a:xfrm>
          <a:prstGeom prst="rect">
            <a:avLst/>
          </a:prstGeom>
        </p:spPr>
      </p:pic>
    </p:spTree>
    <p:extLst>
      <p:ext uri="{BB962C8B-B14F-4D97-AF65-F5344CB8AC3E}">
        <p14:creationId xmlns:p14="http://schemas.microsoft.com/office/powerpoint/2010/main" val="362283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5FF8F-63CE-DF24-75C7-7DBA0D1FDE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646CA4-30D9-448E-432B-5D509FF9496D}"/>
              </a:ext>
            </a:extLst>
          </p:cNvPr>
          <p:cNvSpPr>
            <a:spLocks noGrp="1"/>
          </p:cNvSpPr>
          <p:nvPr>
            <p:ph type="title"/>
          </p:nvPr>
        </p:nvSpPr>
        <p:spPr>
          <a:xfrm>
            <a:off x="1833726" y="152053"/>
            <a:ext cx="4831171" cy="1018902"/>
          </a:xfrm>
        </p:spPr>
        <p:txBody>
          <a:bodyPr>
            <a:normAutofit/>
          </a:bodyPr>
          <a:lstStyle/>
          <a:p>
            <a:pPr algn="ctr"/>
            <a:r>
              <a:rPr lang="es-CO"/>
              <a:t>Ejercicio</a:t>
            </a:r>
          </a:p>
        </p:txBody>
      </p:sp>
      <p:sp>
        <p:nvSpPr>
          <p:cNvPr id="4" name="Marcador de número de diapositiva 3">
            <a:extLst>
              <a:ext uri="{FF2B5EF4-FFF2-40B4-BE49-F238E27FC236}">
                <a16:creationId xmlns:a16="http://schemas.microsoft.com/office/drawing/2014/main" id="{9424C960-AB8D-8264-A510-708BA2FC8A69}"/>
              </a:ext>
            </a:extLst>
          </p:cNvPr>
          <p:cNvSpPr>
            <a:spLocks noGrp="1"/>
          </p:cNvSpPr>
          <p:nvPr>
            <p:ph type="sldNum" idx="12"/>
          </p:nvPr>
        </p:nvSpPr>
        <p:spPr/>
        <p:txBody>
          <a:bodyPr/>
          <a:lstStyle/>
          <a:p>
            <a:fld id="{00000000-1234-1234-1234-123412341234}" type="slidenum">
              <a:rPr lang="es-CO" smtClean="0"/>
              <a:pPr/>
              <a:t>30</a:t>
            </a:fld>
            <a:endParaRPr lang="es-CO"/>
          </a:p>
        </p:txBody>
      </p:sp>
      <p:sp>
        <p:nvSpPr>
          <p:cNvPr id="5" name="Google Shape;258;p40">
            <a:extLst>
              <a:ext uri="{FF2B5EF4-FFF2-40B4-BE49-F238E27FC236}">
                <a16:creationId xmlns:a16="http://schemas.microsoft.com/office/drawing/2014/main" id="{9C6F46EF-3633-CE2F-D4B0-9915AF5B4E7F}"/>
              </a:ext>
            </a:extLst>
          </p:cNvPr>
          <p:cNvSpPr txBox="1">
            <a:spLocks noGrp="1"/>
          </p:cNvSpPr>
          <p:nvPr/>
        </p:nvSpPr>
        <p:spPr>
          <a:xfrm>
            <a:off x="1833726" y="1027287"/>
            <a:ext cx="4165392" cy="119271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rtl="0">
              <a:lnSpc>
                <a:spcPct val="90000"/>
              </a:lnSpc>
              <a:spcBef>
                <a:spcPts val="0"/>
              </a:spcBef>
              <a:spcAft>
                <a:spcPts val="0"/>
              </a:spcAft>
              <a:buClr>
                <a:schemeClr val="dk1"/>
              </a:buClr>
              <a:buSzPts val="2800"/>
              <a:buNone/>
            </a:pPr>
            <a:r>
              <a:rPr lang="es-CO" sz="2200" dirty="0"/>
              <a:t>Realiza el diagrama de flujo que represente el algoritmo que buscaste hace un rato.</a:t>
            </a:r>
          </a:p>
          <a:p>
            <a:pPr marL="0" marR="0" lvl="0" indent="0" algn="l" rtl="0">
              <a:lnSpc>
                <a:spcPct val="90000"/>
              </a:lnSpc>
              <a:spcBef>
                <a:spcPts val="0"/>
              </a:spcBef>
              <a:spcAft>
                <a:spcPts val="0"/>
              </a:spcAft>
              <a:buClr>
                <a:schemeClr val="dk1"/>
              </a:buClr>
              <a:buSzPts val="2800"/>
              <a:buNone/>
            </a:pPr>
            <a:endParaRPr lang="es-CO" sz="2400" dirty="0"/>
          </a:p>
          <a:p>
            <a:pPr marL="0" marR="0" lvl="0" indent="0" algn="l" rtl="0">
              <a:lnSpc>
                <a:spcPct val="90000"/>
              </a:lnSpc>
              <a:spcBef>
                <a:spcPts val="0"/>
              </a:spcBef>
              <a:spcAft>
                <a:spcPts val="0"/>
              </a:spcAft>
              <a:buClr>
                <a:schemeClr val="dk1"/>
              </a:buClr>
              <a:buSzPts val="2800"/>
              <a:buNone/>
            </a:pPr>
            <a:endParaRPr lang="es-CO" sz="2400" dirty="0"/>
          </a:p>
          <a:p>
            <a:pPr marL="0" marR="0" lvl="0" indent="0" algn="l" rtl="0">
              <a:lnSpc>
                <a:spcPct val="90000"/>
              </a:lnSpc>
              <a:spcBef>
                <a:spcPts val="0"/>
              </a:spcBef>
              <a:spcAft>
                <a:spcPts val="0"/>
              </a:spcAft>
              <a:buClr>
                <a:schemeClr val="dk1"/>
              </a:buClr>
              <a:buSzPts val="2800"/>
              <a:buNone/>
            </a:pPr>
            <a:endParaRPr lang="es-CO" sz="2400" dirty="0"/>
          </a:p>
          <a:p>
            <a:pPr marL="0" marR="0" lvl="0" indent="0" algn="l" rtl="0">
              <a:lnSpc>
                <a:spcPct val="90000"/>
              </a:lnSpc>
              <a:spcBef>
                <a:spcPts val="0"/>
              </a:spcBef>
              <a:spcAft>
                <a:spcPts val="0"/>
              </a:spcAft>
              <a:buClr>
                <a:schemeClr val="dk1"/>
              </a:buClr>
              <a:buSzPts val="2800"/>
              <a:buNone/>
            </a:pPr>
            <a:endParaRPr lang="es-CO" sz="2400" dirty="0"/>
          </a:p>
          <a:p>
            <a:pPr marL="0" marR="0" lvl="0" indent="0" algn="l" rtl="0">
              <a:lnSpc>
                <a:spcPct val="90000"/>
              </a:lnSpc>
              <a:spcBef>
                <a:spcPts val="0"/>
              </a:spcBef>
              <a:spcAft>
                <a:spcPts val="0"/>
              </a:spcAft>
              <a:buClr>
                <a:schemeClr val="dk1"/>
              </a:buClr>
              <a:buSzPts val="2800"/>
              <a:buNone/>
            </a:pPr>
            <a:endParaRPr lang="es-CO" sz="2400" dirty="0"/>
          </a:p>
        </p:txBody>
      </p:sp>
      <p:pic>
        <p:nvPicPr>
          <p:cNvPr id="3" name="Picture 2">
            <a:extLst>
              <a:ext uri="{FF2B5EF4-FFF2-40B4-BE49-F238E27FC236}">
                <a16:creationId xmlns:a16="http://schemas.microsoft.com/office/drawing/2014/main" id="{17B1095C-57EF-1983-9339-3EDA822E1B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232"/>
          <a:stretch>
            <a:fillRect/>
          </a:stretch>
        </p:blipFill>
        <p:spPr bwMode="auto">
          <a:xfrm>
            <a:off x="1703705" y="2087794"/>
            <a:ext cx="4167672" cy="4450473"/>
          </a:xfrm>
          <a:prstGeom prst="rect">
            <a:avLst/>
          </a:prstGeom>
          <a:noFill/>
          <a:extLst>
            <a:ext uri="{909E8E84-426E-40DD-AFC4-6F175D3DCCD1}">
              <a14:hiddenFill xmlns:a14="http://schemas.microsoft.com/office/drawing/2010/main">
                <a:solidFill>
                  <a:srgbClr val="FFFFFF"/>
                </a:solidFill>
              </a14:hiddenFill>
            </a:ext>
          </a:extLst>
        </p:spPr>
      </p:pic>
      <p:sp>
        <p:nvSpPr>
          <p:cNvPr id="29" name="Diagrama de flujo: terminador 28">
            <a:extLst>
              <a:ext uri="{FF2B5EF4-FFF2-40B4-BE49-F238E27FC236}">
                <a16:creationId xmlns:a16="http://schemas.microsoft.com/office/drawing/2014/main" id="{90E26DCB-13BD-237A-79EC-F2F81D144887}"/>
              </a:ext>
            </a:extLst>
          </p:cNvPr>
          <p:cNvSpPr/>
          <p:nvPr/>
        </p:nvSpPr>
        <p:spPr>
          <a:xfrm>
            <a:off x="6840965" y="449064"/>
            <a:ext cx="1164657" cy="360000"/>
          </a:xfrm>
          <a:prstGeom prst="flowChartTerminator">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700"/>
              <a:t>Inicio</a:t>
            </a:r>
          </a:p>
        </p:txBody>
      </p:sp>
      <p:cxnSp>
        <p:nvCxnSpPr>
          <p:cNvPr id="30" name="Conector recto de flecha 29">
            <a:extLst>
              <a:ext uri="{FF2B5EF4-FFF2-40B4-BE49-F238E27FC236}">
                <a16:creationId xmlns:a16="http://schemas.microsoft.com/office/drawing/2014/main" id="{FE1EB66D-0C7A-5CC7-FDDD-9712416387FC}"/>
              </a:ext>
            </a:extLst>
          </p:cNvPr>
          <p:cNvCxnSpPr>
            <a:cxnSpLocks/>
            <a:stCxn id="29" idx="2"/>
          </p:cNvCxnSpPr>
          <p:nvPr/>
        </p:nvCxnSpPr>
        <p:spPr>
          <a:xfrm flipH="1">
            <a:off x="7423293" y="809064"/>
            <a:ext cx="1" cy="324000"/>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32" name="Rectángulo 31">
            <a:extLst>
              <a:ext uri="{FF2B5EF4-FFF2-40B4-BE49-F238E27FC236}">
                <a16:creationId xmlns:a16="http://schemas.microsoft.com/office/drawing/2014/main" id="{B4E91DBE-7709-69BC-37CF-5FC4B1045606}"/>
              </a:ext>
            </a:extLst>
          </p:cNvPr>
          <p:cNvSpPr/>
          <p:nvPr/>
        </p:nvSpPr>
        <p:spPr>
          <a:xfrm>
            <a:off x="5914251" y="6003097"/>
            <a:ext cx="3064733" cy="360000"/>
          </a:xfrm>
          <a:prstGeom prst="rect">
            <a:avLst/>
          </a:prstGeom>
          <a:solidFill>
            <a:srgbClr val="0E8E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ESI 5: Alto tiempo de espera</a:t>
            </a:r>
          </a:p>
        </p:txBody>
      </p:sp>
      <p:sp>
        <p:nvSpPr>
          <p:cNvPr id="34" name="Diagrama de flujo: terminador 33">
            <a:extLst>
              <a:ext uri="{FF2B5EF4-FFF2-40B4-BE49-F238E27FC236}">
                <a16:creationId xmlns:a16="http://schemas.microsoft.com/office/drawing/2014/main" id="{D5499472-7D18-5275-0419-9A27D170C723}"/>
              </a:ext>
            </a:extLst>
          </p:cNvPr>
          <p:cNvSpPr/>
          <p:nvPr/>
        </p:nvSpPr>
        <p:spPr>
          <a:xfrm>
            <a:off x="9316623" y="6023425"/>
            <a:ext cx="1164657" cy="319343"/>
          </a:xfrm>
          <a:prstGeom prst="flowChartTerminator">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700"/>
              <a:t>Fin</a:t>
            </a:r>
          </a:p>
        </p:txBody>
      </p:sp>
      <p:cxnSp>
        <p:nvCxnSpPr>
          <p:cNvPr id="36" name="Conector recto de flecha 35">
            <a:extLst>
              <a:ext uri="{FF2B5EF4-FFF2-40B4-BE49-F238E27FC236}">
                <a16:creationId xmlns:a16="http://schemas.microsoft.com/office/drawing/2014/main" id="{78E4F6B8-5681-25CC-DF43-3630649378E3}"/>
              </a:ext>
            </a:extLst>
          </p:cNvPr>
          <p:cNvCxnSpPr>
            <a:cxnSpLocks/>
            <a:stCxn id="41" idx="3"/>
            <a:endCxn id="40" idx="1"/>
          </p:cNvCxnSpPr>
          <p:nvPr/>
        </p:nvCxnSpPr>
        <p:spPr>
          <a:xfrm>
            <a:off x="8580618" y="5336934"/>
            <a:ext cx="423436" cy="0"/>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6B6875B4-4709-32CE-7C8F-33FB018DF3ED}"/>
              </a:ext>
            </a:extLst>
          </p:cNvPr>
          <p:cNvCxnSpPr>
            <a:cxnSpLocks/>
            <a:stCxn id="32" idx="3"/>
            <a:endCxn id="34" idx="1"/>
          </p:cNvCxnSpPr>
          <p:nvPr/>
        </p:nvCxnSpPr>
        <p:spPr>
          <a:xfrm>
            <a:off x="8978984" y="6183097"/>
            <a:ext cx="337639" cy="0"/>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38" name="Rombo 37">
            <a:extLst>
              <a:ext uri="{FF2B5EF4-FFF2-40B4-BE49-F238E27FC236}">
                <a16:creationId xmlns:a16="http://schemas.microsoft.com/office/drawing/2014/main" id="{597D4B9A-E7AE-B218-95D2-94FF7CF3B858}"/>
              </a:ext>
            </a:extLst>
          </p:cNvPr>
          <p:cNvSpPr/>
          <p:nvPr/>
        </p:nvSpPr>
        <p:spPr>
          <a:xfrm>
            <a:off x="6291295" y="1823080"/>
            <a:ext cx="2282626" cy="720000"/>
          </a:xfrm>
          <a:prstGeom prst="diamond">
            <a:avLst/>
          </a:prstGeom>
          <a:solidFill>
            <a:srgbClr val="DD0D2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¿Grave?</a:t>
            </a:r>
          </a:p>
        </p:txBody>
      </p:sp>
      <p:sp>
        <p:nvSpPr>
          <p:cNvPr id="39" name="Rectángulo 38">
            <a:extLst>
              <a:ext uri="{FF2B5EF4-FFF2-40B4-BE49-F238E27FC236}">
                <a16:creationId xmlns:a16="http://schemas.microsoft.com/office/drawing/2014/main" id="{A2D9576E-557C-1A1D-3559-B97E721DEB4C}"/>
              </a:ext>
            </a:extLst>
          </p:cNvPr>
          <p:cNvSpPr/>
          <p:nvPr/>
        </p:nvSpPr>
        <p:spPr>
          <a:xfrm>
            <a:off x="8988836" y="2020472"/>
            <a:ext cx="2582832" cy="360000"/>
          </a:xfrm>
          <a:prstGeom prst="rect">
            <a:avLst/>
          </a:prstGeom>
          <a:solidFill>
            <a:srgbClr val="DD0D2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ESI 1: Atención inmediata</a:t>
            </a:r>
          </a:p>
        </p:txBody>
      </p:sp>
      <p:sp>
        <p:nvSpPr>
          <p:cNvPr id="40" name="Rectángulo 39">
            <a:extLst>
              <a:ext uri="{FF2B5EF4-FFF2-40B4-BE49-F238E27FC236}">
                <a16:creationId xmlns:a16="http://schemas.microsoft.com/office/drawing/2014/main" id="{C5883B67-ECD4-33F2-8EBA-78ECBE09061C}"/>
              </a:ext>
            </a:extLst>
          </p:cNvPr>
          <p:cNvSpPr/>
          <p:nvPr/>
        </p:nvSpPr>
        <p:spPr>
          <a:xfrm>
            <a:off x="9004054" y="5156934"/>
            <a:ext cx="2861767" cy="360000"/>
          </a:xfrm>
          <a:prstGeom prst="rect">
            <a:avLst/>
          </a:prstGeom>
          <a:solidFill>
            <a:srgbClr val="82B7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ESI 4: Alto tiempo de espera</a:t>
            </a:r>
          </a:p>
        </p:txBody>
      </p:sp>
      <p:sp>
        <p:nvSpPr>
          <p:cNvPr id="41" name="Rombo 40">
            <a:extLst>
              <a:ext uri="{FF2B5EF4-FFF2-40B4-BE49-F238E27FC236}">
                <a16:creationId xmlns:a16="http://schemas.microsoft.com/office/drawing/2014/main" id="{9AEABDAF-F80B-AE24-258A-E5ABD6C57AFC}"/>
              </a:ext>
            </a:extLst>
          </p:cNvPr>
          <p:cNvSpPr/>
          <p:nvPr/>
        </p:nvSpPr>
        <p:spPr>
          <a:xfrm>
            <a:off x="6312618" y="4976934"/>
            <a:ext cx="2268000" cy="720000"/>
          </a:xfrm>
          <a:prstGeom prst="diamond">
            <a:avLst/>
          </a:prstGeom>
          <a:solidFill>
            <a:srgbClr val="82B7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¿Leve?</a:t>
            </a:r>
          </a:p>
        </p:txBody>
      </p:sp>
      <p:cxnSp>
        <p:nvCxnSpPr>
          <p:cNvPr id="42" name="Conector recto de flecha 41">
            <a:extLst>
              <a:ext uri="{FF2B5EF4-FFF2-40B4-BE49-F238E27FC236}">
                <a16:creationId xmlns:a16="http://schemas.microsoft.com/office/drawing/2014/main" id="{14D2BBE3-4D72-8120-8229-A60722B2F8BC}"/>
              </a:ext>
            </a:extLst>
          </p:cNvPr>
          <p:cNvCxnSpPr>
            <a:cxnSpLocks/>
          </p:cNvCxnSpPr>
          <p:nvPr/>
        </p:nvCxnSpPr>
        <p:spPr>
          <a:xfrm>
            <a:off x="8588585" y="2178515"/>
            <a:ext cx="399696" cy="15083"/>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018EB968-57B4-EAF6-6552-D46E3BAEF645}"/>
              </a:ext>
            </a:extLst>
          </p:cNvPr>
          <p:cNvCxnSpPr>
            <a:cxnSpLocks/>
            <a:stCxn id="38" idx="2"/>
            <a:endCxn id="128" idx="0"/>
          </p:cNvCxnSpPr>
          <p:nvPr/>
        </p:nvCxnSpPr>
        <p:spPr>
          <a:xfrm flipH="1">
            <a:off x="7431315" y="2543080"/>
            <a:ext cx="1293" cy="331291"/>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44" name="CuadroTexto 43">
            <a:extLst>
              <a:ext uri="{FF2B5EF4-FFF2-40B4-BE49-F238E27FC236}">
                <a16:creationId xmlns:a16="http://schemas.microsoft.com/office/drawing/2014/main" id="{24FAA89B-3BD7-160B-C78F-621F82207EA5}"/>
              </a:ext>
            </a:extLst>
          </p:cNvPr>
          <p:cNvSpPr txBox="1"/>
          <p:nvPr/>
        </p:nvSpPr>
        <p:spPr>
          <a:xfrm>
            <a:off x="8624808" y="1795584"/>
            <a:ext cx="327334" cy="369332"/>
          </a:xfrm>
          <a:prstGeom prst="rect">
            <a:avLst/>
          </a:prstGeom>
          <a:noFill/>
        </p:spPr>
        <p:txBody>
          <a:bodyPr wrap="none" rtlCol="0">
            <a:spAutoFit/>
          </a:bodyPr>
          <a:lstStyle/>
          <a:p>
            <a:r>
              <a:rPr lang="es-CO"/>
              <a:t>sí</a:t>
            </a:r>
          </a:p>
        </p:txBody>
      </p:sp>
      <p:sp>
        <p:nvSpPr>
          <p:cNvPr id="45" name="CuadroTexto 44">
            <a:extLst>
              <a:ext uri="{FF2B5EF4-FFF2-40B4-BE49-F238E27FC236}">
                <a16:creationId xmlns:a16="http://schemas.microsoft.com/office/drawing/2014/main" id="{0510A4D7-F9AF-565F-467A-0C1892AC8BE8}"/>
              </a:ext>
            </a:extLst>
          </p:cNvPr>
          <p:cNvSpPr txBox="1"/>
          <p:nvPr/>
        </p:nvSpPr>
        <p:spPr>
          <a:xfrm>
            <a:off x="7455511" y="2507736"/>
            <a:ext cx="428322" cy="369332"/>
          </a:xfrm>
          <a:prstGeom prst="rect">
            <a:avLst/>
          </a:prstGeom>
          <a:noFill/>
        </p:spPr>
        <p:txBody>
          <a:bodyPr wrap="none" rtlCol="0">
            <a:spAutoFit/>
          </a:bodyPr>
          <a:lstStyle/>
          <a:p>
            <a:r>
              <a:rPr lang="es-CO"/>
              <a:t>no</a:t>
            </a:r>
          </a:p>
        </p:txBody>
      </p:sp>
      <p:cxnSp>
        <p:nvCxnSpPr>
          <p:cNvPr id="48" name="Conector recto de flecha 47">
            <a:extLst>
              <a:ext uri="{FF2B5EF4-FFF2-40B4-BE49-F238E27FC236}">
                <a16:creationId xmlns:a16="http://schemas.microsoft.com/office/drawing/2014/main" id="{A5F7022B-D749-EA16-0279-9BEFA3239704}"/>
              </a:ext>
            </a:extLst>
          </p:cNvPr>
          <p:cNvCxnSpPr>
            <a:cxnSpLocks/>
            <a:stCxn id="41" idx="2"/>
            <a:endCxn id="32" idx="0"/>
          </p:cNvCxnSpPr>
          <p:nvPr/>
        </p:nvCxnSpPr>
        <p:spPr>
          <a:xfrm>
            <a:off x="7446618" y="5696934"/>
            <a:ext cx="0" cy="306163"/>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50" name="CuadroTexto 49">
            <a:extLst>
              <a:ext uri="{FF2B5EF4-FFF2-40B4-BE49-F238E27FC236}">
                <a16:creationId xmlns:a16="http://schemas.microsoft.com/office/drawing/2014/main" id="{E2AE0332-4712-DE53-6FAA-A45B89ADB1FB}"/>
              </a:ext>
            </a:extLst>
          </p:cNvPr>
          <p:cNvSpPr txBox="1"/>
          <p:nvPr/>
        </p:nvSpPr>
        <p:spPr>
          <a:xfrm>
            <a:off x="7478910" y="5647527"/>
            <a:ext cx="428322" cy="369332"/>
          </a:xfrm>
          <a:prstGeom prst="rect">
            <a:avLst/>
          </a:prstGeom>
          <a:noFill/>
        </p:spPr>
        <p:txBody>
          <a:bodyPr wrap="none" rtlCol="0">
            <a:spAutoFit/>
          </a:bodyPr>
          <a:lstStyle/>
          <a:p>
            <a:r>
              <a:rPr lang="es-CO"/>
              <a:t>no</a:t>
            </a:r>
          </a:p>
        </p:txBody>
      </p:sp>
      <p:sp>
        <p:nvSpPr>
          <p:cNvPr id="51" name="CuadroTexto 50">
            <a:extLst>
              <a:ext uri="{FF2B5EF4-FFF2-40B4-BE49-F238E27FC236}">
                <a16:creationId xmlns:a16="http://schemas.microsoft.com/office/drawing/2014/main" id="{9CA0896A-12DB-AABF-E8CA-ACEF61D2FFD6}"/>
              </a:ext>
            </a:extLst>
          </p:cNvPr>
          <p:cNvSpPr txBox="1"/>
          <p:nvPr/>
        </p:nvSpPr>
        <p:spPr>
          <a:xfrm>
            <a:off x="8407204" y="4974914"/>
            <a:ext cx="327334" cy="369332"/>
          </a:xfrm>
          <a:prstGeom prst="rect">
            <a:avLst/>
          </a:prstGeom>
          <a:noFill/>
        </p:spPr>
        <p:txBody>
          <a:bodyPr wrap="none" rtlCol="0">
            <a:spAutoFit/>
          </a:bodyPr>
          <a:lstStyle/>
          <a:p>
            <a:r>
              <a:rPr lang="es-CO"/>
              <a:t>sí</a:t>
            </a:r>
          </a:p>
        </p:txBody>
      </p:sp>
      <p:sp>
        <p:nvSpPr>
          <p:cNvPr id="122" name="Rectángulo 121">
            <a:extLst>
              <a:ext uri="{FF2B5EF4-FFF2-40B4-BE49-F238E27FC236}">
                <a16:creationId xmlns:a16="http://schemas.microsoft.com/office/drawing/2014/main" id="{4727E806-1510-7B53-25C7-116183D73551}"/>
              </a:ext>
            </a:extLst>
          </p:cNvPr>
          <p:cNvSpPr/>
          <p:nvPr/>
        </p:nvSpPr>
        <p:spPr>
          <a:xfrm>
            <a:off x="6522339" y="1126875"/>
            <a:ext cx="1894269" cy="36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a:t>Evaluar paciente</a:t>
            </a:r>
          </a:p>
        </p:txBody>
      </p:sp>
      <p:cxnSp>
        <p:nvCxnSpPr>
          <p:cNvPr id="127" name="Conector recto de flecha 126">
            <a:extLst>
              <a:ext uri="{FF2B5EF4-FFF2-40B4-BE49-F238E27FC236}">
                <a16:creationId xmlns:a16="http://schemas.microsoft.com/office/drawing/2014/main" id="{C6E51E2A-CD36-9347-0A36-D94F197AA23C}"/>
              </a:ext>
            </a:extLst>
          </p:cNvPr>
          <p:cNvCxnSpPr>
            <a:cxnSpLocks/>
          </p:cNvCxnSpPr>
          <p:nvPr/>
        </p:nvCxnSpPr>
        <p:spPr>
          <a:xfrm flipH="1">
            <a:off x="7431315" y="1503425"/>
            <a:ext cx="1" cy="324000"/>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128" name="Rombo 127">
            <a:extLst>
              <a:ext uri="{FF2B5EF4-FFF2-40B4-BE49-F238E27FC236}">
                <a16:creationId xmlns:a16="http://schemas.microsoft.com/office/drawing/2014/main" id="{1A3B02D7-2FB0-D022-4FC5-F70F147CA01F}"/>
              </a:ext>
            </a:extLst>
          </p:cNvPr>
          <p:cNvSpPr/>
          <p:nvPr/>
        </p:nvSpPr>
        <p:spPr>
          <a:xfrm>
            <a:off x="6182150" y="2874371"/>
            <a:ext cx="2498329" cy="720000"/>
          </a:xfrm>
          <a:prstGeom prst="diamond">
            <a:avLst/>
          </a:prstGeom>
          <a:solidFill>
            <a:srgbClr val="E65D0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600"/>
              <a:t>¿Mediana gravedad?</a:t>
            </a:r>
          </a:p>
        </p:txBody>
      </p:sp>
      <p:sp>
        <p:nvSpPr>
          <p:cNvPr id="137" name="Rectángulo 136">
            <a:extLst>
              <a:ext uri="{FF2B5EF4-FFF2-40B4-BE49-F238E27FC236}">
                <a16:creationId xmlns:a16="http://schemas.microsoft.com/office/drawing/2014/main" id="{F42803FA-BC6D-95F0-2CA4-F20595927874}"/>
              </a:ext>
            </a:extLst>
          </p:cNvPr>
          <p:cNvSpPr/>
          <p:nvPr/>
        </p:nvSpPr>
        <p:spPr>
          <a:xfrm>
            <a:off x="9096734" y="3065710"/>
            <a:ext cx="2769093" cy="360000"/>
          </a:xfrm>
          <a:prstGeom prst="rect">
            <a:avLst/>
          </a:prstGeom>
          <a:solidFill>
            <a:srgbClr val="E65D0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700"/>
              <a:t>ESI 2: Atención a la brevedad</a:t>
            </a:r>
          </a:p>
        </p:txBody>
      </p:sp>
      <p:cxnSp>
        <p:nvCxnSpPr>
          <p:cNvPr id="138" name="Conector recto de flecha 137">
            <a:extLst>
              <a:ext uri="{FF2B5EF4-FFF2-40B4-BE49-F238E27FC236}">
                <a16:creationId xmlns:a16="http://schemas.microsoft.com/office/drawing/2014/main" id="{A9C17D7A-4A32-09A8-B854-F78DD28C5733}"/>
              </a:ext>
            </a:extLst>
          </p:cNvPr>
          <p:cNvCxnSpPr>
            <a:cxnSpLocks/>
          </p:cNvCxnSpPr>
          <p:nvPr/>
        </p:nvCxnSpPr>
        <p:spPr>
          <a:xfrm>
            <a:off x="8680479" y="3232993"/>
            <a:ext cx="399696" cy="15083"/>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139" name="CuadroTexto 138">
            <a:extLst>
              <a:ext uri="{FF2B5EF4-FFF2-40B4-BE49-F238E27FC236}">
                <a16:creationId xmlns:a16="http://schemas.microsoft.com/office/drawing/2014/main" id="{85C16351-8D4C-505D-9559-52401510A270}"/>
              </a:ext>
            </a:extLst>
          </p:cNvPr>
          <p:cNvSpPr txBox="1"/>
          <p:nvPr/>
        </p:nvSpPr>
        <p:spPr>
          <a:xfrm>
            <a:off x="8676721" y="2895667"/>
            <a:ext cx="327334" cy="369332"/>
          </a:xfrm>
          <a:prstGeom prst="rect">
            <a:avLst/>
          </a:prstGeom>
          <a:noFill/>
        </p:spPr>
        <p:txBody>
          <a:bodyPr wrap="none" rtlCol="0">
            <a:spAutoFit/>
          </a:bodyPr>
          <a:lstStyle/>
          <a:p>
            <a:r>
              <a:rPr lang="es-CO"/>
              <a:t>sí</a:t>
            </a:r>
          </a:p>
        </p:txBody>
      </p:sp>
      <p:cxnSp>
        <p:nvCxnSpPr>
          <p:cNvPr id="140" name="Conector recto de flecha 139">
            <a:extLst>
              <a:ext uri="{FF2B5EF4-FFF2-40B4-BE49-F238E27FC236}">
                <a16:creationId xmlns:a16="http://schemas.microsoft.com/office/drawing/2014/main" id="{77C3810D-B7AD-ED67-8D84-AB11E1E1EB60}"/>
              </a:ext>
            </a:extLst>
          </p:cNvPr>
          <p:cNvCxnSpPr>
            <a:cxnSpLocks/>
          </p:cNvCxnSpPr>
          <p:nvPr/>
        </p:nvCxnSpPr>
        <p:spPr>
          <a:xfrm>
            <a:off x="7433882" y="3606572"/>
            <a:ext cx="8450" cy="325336"/>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141" name="CuadroTexto 140">
            <a:extLst>
              <a:ext uri="{FF2B5EF4-FFF2-40B4-BE49-F238E27FC236}">
                <a16:creationId xmlns:a16="http://schemas.microsoft.com/office/drawing/2014/main" id="{DF3C3011-962F-0810-6AB6-9A5F75556C9A}"/>
              </a:ext>
            </a:extLst>
          </p:cNvPr>
          <p:cNvSpPr txBox="1"/>
          <p:nvPr/>
        </p:nvSpPr>
        <p:spPr>
          <a:xfrm>
            <a:off x="7446618" y="3537466"/>
            <a:ext cx="428322" cy="369332"/>
          </a:xfrm>
          <a:prstGeom prst="rect">
            <a:avLst/>
          </a:prstGeom>
          <a:noFill/>
        </p:spPr>
        <p:txBody>
          <a:bodyPr wrap="none" rtlCol="0">
            <a:spAutoFit/>
          </a:bodyPr>
          <a:lstStyle/>
          <a:p>
            <a:r>
              <a:rPr lang="es-CO"/>
              <a:t>no</a:t>
            </a:r>
          </a:p>
        </p:txBody>
      </p:sp>
      <p:sp>
        <p:nvSpPr>
          <p:cNvPr id="142" name="Rombo 141">
            <a:extLst>
              <a:ext uri="{FF2B5EF4-FFF2-40B4-BE49-F238E27FC236}">
                <a16:creationId xmlns:a16="http://schemas.microsoft.com/office/drawing/2014/main" id="{332C037A-759E-FE2E-F759-92120C28FD9B}"/>
              </a:ext>
            </a:extLst>
          </p:cNvPr>
          <p:cNvSpPr/>
          <p:nvPr/>
        </p:nvSpPr>
        <p:spPr>
          <a:xfrm>
            <a:off x="6188942" y="3921867"/>
            <a:ext cx="2498329" cy="720000"/>
          </a:xfrm>
          <a:prstGeom prst="diamond">
            <a:avLst/>
          </a:prstGeom>
          <a:solidFill>
            <a:srgbClr val="F3A61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700"/>
              <a:t>¿Menos grave?</a:t>
            </a:r>
          </a:p>
        </p:txBody>
      </p:sp>
      <p:sp>
        <p:nvSpPr>
          <p:cNvPr id="143" name="Rectángulo 142">
            <a:extLst>
              <a:ext uri="{FF2B5EF4-FFF2-40B4-BE49-F238E27FC236}">
                <a16:creationId xmlns:a16="http://schemas.microsoft.com/office/drawing/2014/main" id="{915D1DDF-36DA-EA4F-0DF4-433BB0133C94}"/>
              </a:ext>
            </a:extLst>
          </p:cNvPr>
          <p:cNvSpPr/>
          <p:nvPr/>
        </p:nvSpPr>
        <p:spPr>
          <a:xfrm>
            <a:off x="9103983" y="3973902"/>
            <a:ext cx="2680893" cy="557577"/>
          </a:xfrm>
          <a:prstGeom prst="rect">
            <a:avLst/>
          </a:prstGeom>
          <a:solidFill>
            <a:srgbClr val="F3A61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700"/>
              <a:t>ESI 3: Atención después de pacientes más graves</a:t>
            </a:r>
          </a:p>
        </p:txBody>
      </p:sp>
      <p:cxnSp>
        <p:nvCxnSpPr>
          <p:cNvPr id="144" name="Conector recto de flecha 143">
            <a:extLst>
              <a:ext uri="{FF2B5EF4-FFF2-40B4-BE49-F238E27FC236}">
                <a16:creationId xmlns:a16="http://schemas.microsoft.com/office/drawing/2014/main" id="{A74E4E4B-37F1-2EF2-51D6-FD118F344423}"/>
              </a:ext>
            </a:extLst>
          </p:cNvPr>
          <p:cNvCxnSpPr>
            <a:cxnSpLocks/>
          </p:cNvCxnSpPr>
          <p:nvPr/>
        </p:nvCxnSpPr>
        <p:spPr>
          <a:xfrm>
            <a:off x="8677276" y="4277580"/>
            <a:ext cx="399696" cy="15083"/>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145" name="CuadroTexto 144">
            <a:extLst>
              <a:ext uri="{FF2B5EF4-FFF2-40B4-BE49-F238E27FC236}">
                <a16:creationId xmlns:a16="http://schemas.microsoft.com/office/drawing/2014/main" id="{04C7C62C-B292-E84F-13D6-13CD339C0CD6}"/>
              </a:ext>
            </a:extLst>
          </p:cNvPr>
          <p:cNvSpPr txBox="1"/>
          <p:nvPr/>
        </p:nvSpPr>
        <p:spPr>
          <a:xfrm>
            <a:off x="8643670" y="3931171"/>
            <a:ext cx="327334" cy="369332"/>
          </a:xfrm>
          <a:prstGeom prst="rect">
            <a:avLst/>
          </a:prstGeom>
          <a:noFill/>
        </p:spPr>
        <p:txBody>
          <a:bodyPr wrap="none" rtlCol="0">
            <a:spAutoFit/>
          </a:bodyPr>
          <a:lstStyle/>
          <a:p>
            <a:r>
              <a:rPr lang="es-CO"/>
              <a:t>sí</a:t>
            </a:r>
          </a:p>
        </p:txBody>
      </p:sp>
      <p:cxnSp>
        <p:nvCxnSpPr>
          <p:cNvPr id="150" name="Conector recto de flecha 149">
            <a:extLst>
              <a:ext uri="{FF2B5EF4-FFF2-40B4-BE49-F238E27FC236}">
                <a16:creationId xmlns:a16="http://schemas.microsoft.com/office/drawing/2014/main" id="{3B12C8B6-586C-BE5D-DBE2-FAC25604D5B2}"/>
              </a:ext>
            </a:extLst>
          </p:cNvPr>
          <p:cNvCxnSpPr>
            <a:cxnSpLocks/>
          </p:cNvCxnSpPr>
          <p:nvPr/>
        </p:nvCxnSpPr>
        <p:spPr>
          <a:xfrm flipH="1">
            <a:off x="7454714" y="4635375"/>
            <a:ext cx="1293" cy="331291"/>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151" name="CuadroTexto 150">
            <a:extLst>
              <a:ext uri="{FF2B5EF4-FFF2-40B4-BE49-F238E27FC236}">
                <a16:creationId xmlns:a16="http://schemas.microsoft.com/office/drawing/2014/main" id="{705E76B9-CD0B-691C-C157-9CE4F21D85CA}"/>
              </a:ext>
            </a:extLst>
          </p:cNvPr>
          <p:cNvSpPr txBox="1"/>
          <p:nvPr/>
        </p:nvSpPr>
        <p:spPr>
          <a:xfrm>
            <a:off x="7478910" y="4600031"/>
            <a:ext cx="428322" cy="369332"/>
          </a:xfrm>
          <a:prstGeom prst="rect">
            <a:avLst/>
          </a:prstGeom>
          <a:noFill/>
        </p:spPr>
        <p:txBody>
          <a:bodyPr wrap="none" rtlCol="0">
            <a:spAutoFit/>
          </a:bodyPr>
          <a:lstStyle/>
          <a:p>
            <a:r>
              <a:rPr lang="es-CO"/>
              <a:t>no</a:t>
            </a:r>
          </a:p>
        </p:txBody>
      </p:sp>
      <p:cxnSp>
        <p:nvCxnSpPr>
          <p:cNvPr id="6" name="Conector recto de flecha 5">
            <a:extLst>
              <a:ext uri="{FF2B5EF4-FFF2-40B4-BE49-F238E27FC236}">
                <a16:creationId xmlns:a16="http://schemas.microsoft.com/office/drawing/2014/main" id="{FCC12576-849D-7133-83A5-7F8370192D6D}"/>
              </a:ext>
            </a:extLst>
          </p:cNvPr>
          <p:cNvCxnSpPr>
            <a:cxnSpLocks/>
          </p:cNvCxnSpPr>
          <p:nvPr/>
        </p:nvCxnSpPr>
        <p:spPr>
          <a:xfrm flipH="1" flipV="1">
            <a:off x="10473769" y="6172869"/>
            <a:ext cx="1538937" cy="10227"/>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6017CF62-BEDC-01E2-1071-EF84B964CBD8}"/>
              </a:ext>
            </a:extLst>
          </p:cNvPr>
          <p:cNvCxnSpPr>
            <a:cxnSpLocks/>
          </p:cNvCxnSpPr>
          <p:nvPr/>
        </p:nvCxnSpPr>
        <p:spPr>
          <a:xfrm>
            <a:off x="11865821" y="3253484"/>
            <a:ext cx="146885" cy="0"/>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FC79AE06-E21E-0D53-D3D6-41970E31421B}"/>
              </a:ext>
            </a:extLst>
          </p:cNvPr>
          <p:cNvCxnSpPr>
            <a:cxnSpLocks/>
          </p:cNvCxnSpPr>
          <p:nvPr/>
        </p:nvCxnSpPr>
        <p:spPr>
          <a:xfrm flipV="1">
            <a:off x="11571668" y="2186056"/>
            <a:ext cx="450136" cy="11858"/>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8093F804-05A0-7177-8093-410485B77655}"/>
              </a:ext>
            </a:extLst>
          </p:cNvPr>
          <p:cNvCxnSpPr>
            <a:cxnSpLocks/>
          </p:cNvCxnSpPr>
          <p:nvPr/>
        </p:nvCxnSpPr>
        <p:spPr>
          <a:xfrm>
            <a:off x="11865622" y="5344246"/>
            <a:ext cx="146885" cy="0"/>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396E7CDB-E694-BDAC-C33D-ECDD540A4704}"/>
              </a:ext>
            </a:extLst>
          </p:cNvPr>
          <p:cNvCxnSpPr>
            <a:cxnSpLocks/>
          </p:cNvCxnSpPr>
          <p:nvPr/>
        </p:nvCxnSpPr>
        <p:spPr>
          <a:xfrm>
            <a:off x="12012507" y="2164916"/>
            <a:ext cx="0" cy="4018180"/>
          </a:xfrm>
          <a:prstGeom prst="straightConnector1">
            <a:avLst/>
          </a:prstGeom>
          <a:ln w="31750">
            <a:solidFill>
              <a:srgbClr val="113649"/>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834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2" grpId="0" animBg="1"/>
      <p:bldP spid="34" grpId="0" animBg="1"/>
      <p:bldP spid="38" grpId="0" animBg="1"/>
      <p:bldP spid="39" grpId="0" animBg="1"/>
      <p:bldP spid="40" grpId="0" animBg="1"/>
      <p:bldP spid="41" grpId="0" animBg="1"/>
      <p:bldP spid="44" grpId="0"/>
      <p:bldP spid="45" grpId="0"/>
      <p:bldP spid="50" grpId="0"/>
      <p:bldP spid="51" grpId="0"/>
      <p:bldP spid="122" grpId="0" animBg="1"/>
      <p:bldP spid="128" grpId="0" animBg="1"/>
      <p:bldP spid="137" grpId="0" animBg="1"/>
      <p:bldP spid="139" grpId="0"/>
      <p:bldP spid="141" grpId="0"/>
      <p:bldP spid="142" grpId="0" animBg="1"/>
      <p:bldP spid="143" grpId="0" animBg="1"/>
      <p:bldP spid="145" grpId="0"/>
      <p:bldP spid="15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3FF8F-1C98-397B-BF9B-A79074C89E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354C33-2039-94AA-5CC1-A0FF420AF74A}"/>
              </a:ext>
            </a:extLst>
          </p:cNvPr>
          <p:cNvSpPr>
            <a:spLocks noGrp="1"/>
          </p:cNvSpPr>
          <p:nvPr>
            <p:ph type="title"/>
          </p:nvPr>
        </p:nvSpPr>
        <p:spPr/>
        <p:txBody>
          <a:bodyPr>
            <a:normAutofit/>
          </a:bodyPr>
          <a:lstStyle/>
          <a:p>
            <a:pPr algn="ctr"/>
            <a:r>
              <a:rPr lang="es-CO"/>
              <a:t>Ejercicio</a:t>
            </a:r>
          </a:p>
        </p:txBody>
      </p:sp>
      <p:sp>
        <p:nvSpPr>
          <p:cNvPr id="4" name="Marcador de número de diapositiva 3">
            <a:extLst>
              <a:ext uri="{FF2B5EF4-FFF2-40B4-BE49-F238E27FC236}">
                <a16:creationId xmlns:a16="http://schemas.microsoft.com/office/drawing/2014/main" id="{F8681C18-F492-201E-6FAF-4B9485DC8D46}"/>
              </a:ext>
            </a:extLst>
          </p:cNvPr>
          <p:cNvSpPr>
            <a:spLocks noGrp="1"/>
          </p:cNvSpPr>
          <p:nvPr>
            <p:ph type="sldNum" idx="12"/>
          </p:nvPr>
        </p:nvSpPr>
        <p:spPr/>
        <p:txBody>
          <a:bodyPr/>
          <a:lstStyle/>
          <a:p>
            <a:fld id="{00000000-1234-1234-1234-123412341234}" type="slidenum">
              <a:rPr lang="es-CO" smtClean="0"/>
              <a:pPr/>
              <a:t>31</a:t>
            </a:fld>
            <a:endParaRPr lang="es-CO"/>
          </a:p>
        </p:txBody>
      </p:sp>
      <p:sp>
        <p:nvSpPr>
          <p:cNvPr id="5" name="Google Shape;258;p40">
            <a:extLst>
              <a:ext uri="{FF2B5EF4-FFF2-40B4-BE49-F238E27FC236}">
                <a16:creationId xmlns:a16="http://schemas.microsoft.com/office/drawing/2014/main" id="{F07A8A0E-A94D-103C-12E4-40C07B54EADC}"/>
              </a:ext>
            </a:extLst>
          </p:cNvPr>
          <p:cNvSpPr txBox="1">
            <a:spLocks noGrp="1"/>
          </p:cNvSpPr>
          <p:nvPr/>
        </p:nvSpPr>
        <p:spPr>
          <a:xfrm>
            <a:off x="2155478" y="1075600"/>
            <a:ext cx="9509048" cy="546182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spcBef>
                <a:spcPts val="0"/>
              </a:spcBef>
              <a:buSzPts val="2800"/>
              <a:buNone/>
            </a:pPr>
            <a:r>
              <a:rPr lang="es-ES" sz="1800" b="1">
                <a:latin typeface="+mn-lt"/>
              </a:rPr>
              <a:t>RETO:</a:t>
            </a:r>
          </a:p>
          <a:p>
            <a:pPr marL="0" indent="0" algn="just">
              <a:spcBef>
                <a:spcPts val="0"/>
              </a:spcBef>
              <a:buSzPts val="2800"/>
              <a:buNone/>
            </a:pPr>
            <a:r>
              <a:rPr lang="es-ES" sz="1800">
                <a:latin typeface="+mn-lt"/>
              </a:rPr>
              <a:t>Realizar un diagrama de flujo que representa la secuencia de un proceso. El proceso puede estar relacionado con: una situación cotidiana, un procedimiento de la Universidad, o proceso asociado a tu pregrado.  Ejemplos: control de acceso al parqueadero de la U, proceso de matrícula, retiro de una cuenta de ahorros, rutina ejercicios en el gimnasio, proceso de pedido en Las Hermosas, etc.</a:t>
            </a:r>
          </a:p>
          <a:p>
            <a:pPr marL="0" indent="0" algn="just">
              <a:spcBef>
                <a:spcPts val="0"/>
              </a:spcBef>
              <a:buSzPts val="2800"/>
              <a:buNone/>
            </a:pPr>
            <a:endParaRPr lang="es-ES" sz="1800">
              <a:latin typeface="+mn-lt"/>
            </a:endParaRPr>
          </a:p>
          <a:p>
            <a:pPr marL="114300" indent="0">
              <a:buNone/>
            </a:pPr>
            <a:r>
              <a:rPr lang="es-ES" sz="1800" b="1">
                <a:latin typeface="+mn-lt"/>
              </a:rPr>
              <a:t>Recomendaciones</a:t>
            </a:r>
            <a:r>
              <a:rPr lang="es-ES" sz="1800">
                <a:latin typeface="+mn-lt"/>
              </a:rPr>
              <a:t>:</a:t>
            </a:r>
          </a:p>
          <a:p>
            <a:pPr>
              <a:buFont typeface="+mj-lt"/>
              <a:buAutoNum type="arabicPeriod"/>
            </a:pPr>
            <a:r>
              <a:rPr lang="es-ES" sz="1800" b="1">
                <a:latin typeface="+mn-lt"/>
              </a:rPr>
              <a:t>Definir el objetivo</a:t>
            </a:r>
            <a:r>
              <a:rPr lang="es-ES" sz="1800">
                <a:latin typeface="+mn-lt"/>
              </a:rPr>
              <a:t>: Identifica claramente qué deseas representar.</a:t>
            </a:r>
          </a:p>
          <a:p>
            <a:pPr>
              <a:buFont typeface="+mj-lt"/>
              <a:buAutoNum type="arabicPeriod"/>
            </a:pPr>
            <a:r>
              <a:rPr lang="es-ES" sz="1800" b="1">
                <a:latin typeface="+mn-lt"/>
              </a:rPr>
              <a:t>Establecer los datos de entrada: </a:t>
            </a:r>
            <a:r>
              <a:rPr lang="es-ES" sz="1800">
                <a:latin typeface="+mn-lt"/>
              </a:rPr>
              <a:t>Qué datos se deben solicitar.</a:t>
            </a:r>
          </a:p>
          <a:p>
            <a:pPr>
              <a:buFont typeface="+mj-lt"/>
              <a:buAutoNum type="arabicPeriod"/>
            </a:pPr>
            <a:r>
              <a:rPr lang="es-ES" sz="1800" b="1">
                <a:latin typeface="+mn-lt"/>
              </a:rPr>
              <a:t>Detallar las acciones o pasos</a:t>
            </a:r>
            <a:r>
              <a:rPr lang="es-ES" sz="1800">
                <a:latin typeface="+mn-lt"/>
              </a:rPr>
              <a:t>: Lista los pasos principales, sin necesidad de ser extremadamente específico o técnico.</a:t>
            </a:r>
          </a:p>
          <a:p>
            <a:pPr>
              <a:buFont typeface="+mj-lt"/>
              <a:buAutoNum type="arabicPeriod"/>
            </a:pPr>
            <a:r>
              <a:rPr lang="es-ES" sz="1800" b="1">
                <a:latin typeface="+mn-lt"/>
              </a:rPr>
              <a:t>Indicar los datos de salida: </a:t>
            </a:r>
            <a:r>
              <a:rPr lang="es-ES" sz="1800">
                <a:latin typeface="+mn-lt"/>
              </a:rPr>
              <a:t>Define los resultados o productos finales del proceso.</a:t>
            </a:r>
          </a:p>
          <a:p>
            <a:pPr>
              <a:buFont typeface="+mj-lt"/>
              <a:buAutoNum type="arabicPeriod"/>
            </a:pPr>
            <a:r>
              <a:rPr lang="es-ES" sz="1800" b="1">
                <a:latin typeface="+mn-lt"/>
              </a:rPr>
              <a:t>Seguir las reglas básicas</a:t>
            </a:r>
            <a:r>
              <a:rPr lang="es-ES" sz="1800">
                <a:latin typeface="+mn-lt"/>
              </a:rPr>
              <a:t>:</a:t>
            </a:r>
          </a:p>
          <a:p>
            <a:pPr marL="742950" lvl="1" indent="-285750">
              <a:buFont typeface="+mj-lt"/>
              <a:buAutoNum type="arabicPeriod"/>
            </a:pPr>
            <a:r>
              <a:rPr lang="es-ES" sz="1800">
                <a:latin typeface="+mn-lt"/>
              </a:rPr>
              <a:t>Utiliza símbolos estándar (inicio/fin, procesos, decisiones).</a:t>
            </a:r>
          </a:p>
          <a:p>
            <a:pPr marL="742950" lvl="1" indent="-285750">
              <a:buFont typeface="+mj-lt"/>
              <a:buAutoNum type="arabicPeriod"/>
            </a:pPr>
            <a:r>
              <a:rPr lang="es-ES" sz="1800">
                <a:latin typeface="+mn-lt"/>
              </a:rPr>
              <a:t>Sigue una secuencia lógica y clara.</a:t>
            </a:r>
          </a:p>
          <a:p>
            <a:pPr marL="742950" lvl="1" indent="-285750">
              <a:buFont typeface="+mj-lt"/>
              <a:buAutoNum type="arabicPeriod"/>
            </a:pPr>
            <a:r>
              <a:rPr lang="es-ES" sz="1800">
                <a:latin typeface="+mn-lt"/>
              </a:rPr>
              <a:t>Redacta instrucciones de forma concreta y directa.</a:t>
            </a:r>
          </a:p>
          <a:p>
            <a:pPr marL="342900" algn="just">
              <a:spcBef>
                <a:spcPts val="0"/>
              </a:spcBef>
              <a:buSzPts val="2800"/>
              <a:buFontTx/>
              <a:buChar char="-"/>
            </a:pPr>
            <a:endParaRPr lang="es-ES" sz="1600">
              <a:latin typeface="+mn-lt"/>
            </a:endParaRPr>
          </a:p>
          <a:p>
            <a:pPr marL="342900" algn="just">
              <a:spcBef>
                <a:spcPts val="0"/>
              </a:spcBef>
              <a:buSzPts val="2800"/>
              <a:buFontTx/>
              <a:buChar char="-"/>
            </a:pPr>
            <a:endParaRPr lang="es-ES" sz="1800">
              <a:latin typeface="+mn-lt"/>
            </a:endParaRPr>
          </a:p>
          <a:p>
            <a:pPr marL="342900" algn="just">
              <a:spcBef>
                <a:spcPts val="0"/>
              </a:spcBef>
              <a:buSzPts val="2800"/>
              <a:buFontTx/>
              <a:buChar char="-"/>
            </a:pPr>
            <a:endParaRPr lang="es-ES" sz="1800">
              <a:latin typeface="+mn-lt"/>
            </a:endParaRPr>
          </a:p>
          <a:p>
            <a:pPr marL="342900" algn="just">
              <a:spcBef>
                <a:spcPts val="0"/>
              </a:spcBef>
              <a:buSzPts val="2800"/>
              <a:buFontTx/>
              <a:buChar char="-"/>
            </a:pPr>
            <a:endParaRPr lang="es-ES" sz="1800">
              <a:latin typeface="+mn-lt"/>
            </a:endParaRPr>
          </a:p>
          <a:p>
            <a:pPr marL="0" indent="0" algn="just">
              <a:spcBef>
                <a:spcPts val="0"/>
              </a:spcBef>
              <a:buSzPts val="2800"/>
              <a:buNone/>
            </a:pPr>
            <a:endParaRPr lang="es-ES" sz="1800">
              <a:latin typeface="+mn-lt"/>
            </a:endParaRPr>
          </a:p>
          <a:p>
            <a:pPr marL="0" marR="0" lvl="0" indent="0" algn="l" rtl="0">
              <a:lnSpc>
                <a:spcPct val="90000"/>
              </a:lnSpc>
              <a:spcBef>
                <a:spcPts val="0"/>
              </a:spcBef>
              <a:spcAft>
                <a:spcPts val="0"/>
              </a:spcAft>
              <a:buClr>
                <a:schemeClr val="dk1"/>
              </a:buClr>
              <a:buSzPts val="2800"/>
              <a:buNone/>
            </a:pPr>
            <a:endParaRPr lang="es-CO" sz="2000">
              <a:latin typeface="+mn-lt"/>
            </a:endParaRPr>
          </a:p>
        </p:txBody>
      </p:sp>
    </p:spTree>
    <p:extLst>
      <p:ext uri="{BB962C8B-B14F-4D97-AF65-F5344CB8AC3E}">
        <p14:creationId xmlns:p14="http://schemas.microsoft.com/office/powerpoint/2010/main" val="2909376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EBD4D-9A65-6AD9-1F84-7A59A1977D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D5B212-6CDF-D852-E1F2-B54ABEB9982F}"/>
              </a:ext>
            </a:extLst>
          </p:cNvPr>
          <p:cNvSpPr>
            <a:spLocks noGrp="1"/>
          </p:cNvSpPr>
          <p:nvPr>
            <p:ph type="title"/>
          </p:nvPr>
        </p:nvSpPr>
        <p:spPr/>
        <p:txBody>
          <a:bodyPr>
            <a:normAutofit/>
          </a:bodyPr>
          <a:lstStyle/>
          <a:p>
            <a:pPr algn="ctr"/>
            <a:r>
              <a:rPr lang="es-CO"/>
              <a:t>Ejercicios para practicar</a:t>
            </a:r>
          </a:p>
        </p:txBody>
      </p:sp>
      <p:sp>
        <p:nvSpPr>
          <p:cNvPr id="4" name="Marcador de número de diapositiva 3">
            <a:extLst>
              <a:ext uri="{FF2B5EF4-FFF2-40B4-BE49-F238E27FC236}">
                <a16:creationId xmlns:a16="http://schemas.microsoft.com/office/drawing/2014/main" id="{1883B173-3E65-2EAD-ABBF-5B24E949B183}"/>
              </a:ext>
            </a:extLst>
          </p:cNvPr>
          <p:cNvSpPr>
            <a:spLocks noGrp="1"/>
          </p:cNvSpPr>
          <p:nvPr>
            <p:ph type="sldNum" idx="12"/>
          </p:nvPr>
        </p:nvSpPr>
        <p:spPr/>
        <p:txBody>
          <a:bodyPr/>
          <a:lstStyle/>
          <a:p>
            <a:fld id="{00000000-1234-1234-1234-123412341234}" type="slidenum">
              <a:rPr lang="es-CO" smtClean="0"/>
              <a:pPr/>
              <a:t>32</a:t>
            </a:fld>
            <a:endParaRPr lang="es-CO"/>
          </a:p>
        </p:txBody>
      </p:sp>
      <p:sp>
        <p:nvSpPr>
          <p:cNvPr id="5" name="Google Shape;258;p40">
            <a:extLst>
              <a:ext uri="{FF2B5EF4-FFF2-40B4-BE49-F238E27FC236}">
                <a16:creationId xmlns:a16="http://schemas.microsoft.com/office/drawing/2014/main" id="{CAA69245-85FA-363A-2466-A9959BAA3E45}"/>
              </a:ext>
            </a:extLst>
          </p:cNvPr>
          <p:cNvSpPr txBox="1">
            <a:spLocks noGrp="1"/>
          </p:cNvSpPr>
          <p:nvPr/>
        </p:nvSpPr>
        <p:spPr>
          <a:xfrm>
            <a:off x="2105778" y="1555845"/>
            <a:ext cx="9382588" cy="42853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spcBef>
                <a:spcPts val="0"/>
              </a:spcBef>
              <a:buSzPts val="2800"/>
              <a:buNone/>
            </a:pPr>
            <a:r>
              <a:rPr lang="es-ES" sz="2400" b="1" dirty="0">
                <a:latin typeface="+mn-lt"/>
              </a:rPr>
              <a:t>Desarrolle un algoritmo para cada situación:</a:t>
            </a:r>
          </a:p>
          <a:p>
            <a:pPr marL="0" indent="0" algn="just">
              <a:spcBef>
                <a:spcPts val="0"/>
              </a:spcBef>
              <a:buSzPts val="2800"/>
              <a:buNone/>
            </a:pPr>
            <a:endParaRPr lang="es-ES" sz="2000" dirty="0">
              <a:latin typeface="+mn-lt"/>
            </a:endParaRPr>
          </a:p>
          <a:p>
            <a:pPr indent="-457200" algn="just">
              <a:spcBef>
                <a:spcPts val="0"/>
              </a:spcBef>
              <a:buClr>
                <a:srgbClr val="009BAF"/>
              </a:buClr>
              <a:buSzPct val="100000"/>
              <a:buFont typeface="+mj-lt"/>
              <a:buAutoNum type="arabicPeriod"/>
            </a:pPr>
            <a:r>
              <a:rPr lang="es-ES" sz="2000" dirty="0">
                <a:latin typeface="+mn-lt"/>
              </a:rPr>
              <a:t>Ingresar un valor por teclado y determinar si es positivo, negativo o igual a cero, imprimir una leyenda en cada caso. </a:t>
            </a:r>
          </a:p>
          <a:p>
            <a:pPr indent="-457200" algn="just">
              <a:spcBef>
                <a:spcPts val="0"/>
              </a:spcBef>
              <a:buClr>
                <a:srgbClr val="009BAF"/>
              </a:buClr>
              <a:buSzPct val="100000"/>
              <a:buFont typeface="+mj-lt"/>
              <a:buAutoNum type="arabicPeriod"/>
            </a:pPr>
            <a:endParaRPr lang="es-ES" sz="2000" dirty="0">
              <a:latin typeface="+mn-lt"/>
            </a:endParaRPr>
          </a:p>
          <a:p>
            <a:pPr indent="-457200" algn="just">
              <a:spcBef>
                <a:spcPts val="0"/>
              </a:spcBef>
              <a:buClr>
                <a:srgbClr val="009BAF"/>
              </a:buClr>
              <a:buSzPct val="100000"/>
              <a:buFont typeface="+mj-lt"/>
              <a:buAutoNum type="arabicPeriod"/>
            </a:pPr>
            <a:r>
              <a:rPr lang="es-ES" sz="2000" dirty="0">
                <a:latin typeface="+mn-lt"/>
              </a:rPr>
              <a:t>Leer 3 valores distintos, y luego mostrar el resultado de la suma.</a:t>
            </a:r>
          </a:p>
          <a:p>
            <a:pPr indent="-457200" algn="just">
              <a:spcBef>
                <a:spcPts val="0"/>
              </a:spcBef>
              <a:buClr>
                <a:srgbClr val="009BAF"/>
              </a:buClr>
              <a:buSzPct val="100000"/>
              <a:buFont typeface="+mj-lt"/>
              <a:buAutoNum type="arabicPeriod"/>
            </a:pPr>
            <a:endParaRPr lang="es-ES" sz="2000" dirty="0">
              <a:latin typeface="+mn-lt"/>
            </a:endParaRPr>
          </a:p>
          <a:p>
            <a:pPr indent="-457200" algn="just">
              <a:spcBef>
                <a:spcPts val="0"/>
              </a:spcBef>
              <a:buClr>
                <a:srgbClr val="009BAF"/>
              </a:buClr>
              <a:buSzPct val="100000"/>
              <a:buFont typeface="+mj-lt"/>
              <a:buAutoNum type="arabicPeriod"/>
            </a:pPr>
            <a:r>
              <a:rPr lang="es-ES" sz="2000" dirty="0">
                <a:latin typeface="+mn-lt"/>
              </a:rPr>
              <a:t>Indicar cual es el promedio de 4 números. </a:t>
            </a:r>
          </a:p>
          <a:p>
            <a:pPr indent="-457200" algn="just">
              <a:spcBef>
                <a:spcPts val="0"/>
              </a:spcBef>
              <a:buClr>
                <a:srgbClr val="009BAF"/>
              </a:buClr>
              <a:buSzPct val="100000"/>
              <a:buFont typeface="+mj-lt"/>
              <a:buAutoNum type="arabicPeriod"/>
            </a:pPr>
            <a:endParaRPr lang="es-ES" sz="2000" dirty="0">
              <a:latin typeface="+mn-lt"/>
            </a:endParaRPr>
          </a:p>
          <a:p>
            <a:pPr indent="-457200" algn="just">
              <a:spcBef>
                <a:spcPts val="0"/>
              </a:spcBef>
              <a:buClr>
                <a:srgbClr val="009BAF"/>
              </a:buClr>
              <a:buSzPct val="100000"/>
              <a:buFont typeface="+mj-lt"/>
              <a:buAutoNum type="arabicPeriod"/>
            </a:pPr>
            <a:r>
              <a:rPr lang="es-MX" sz="2000" dirty="0">
                <a:latin typeface="+mn-lt"/>
              </a:rPr>
              <a:t>Leer un valor cualquiera N y escribir si dicho número es par o impar.</a:t>
            </a:r>
          </a:p>
          <a:p>
            <a:pPr indent="-457200" algn="just">
              <a:spcBef>
                <a:spcPts val="0"/>
              </a:spcBef>
              <a:buClr>
                <a:srgbClr val="009BAF"/>
              </a:buClr>
              <a:buSzPct val="100000"/>
              <a:buFont typeface="+mj-lt"/>
              <a:buAutoNum type="arabicPeriod"/>
            </a:pPr>
            <a:endParaRPr lang="es-ES" sz="2000" dirty="0">
              <a:latin typeface="+mn-lt"/>
            </a:endParaRPr>
          </a:p>
          <a:p>
            <a:pPr indent="-457200" algn="just">
              <a:spcBef>
                <a:spcPts val="0"/>
              </a:spcBef>
              <a:buClr>
                <a:srgbClr val="009BAF"/>
              </a:buClr>
              <a:buSzPct val="100000"/>
              <a:buFont typeface="+mj-lt"/>
              <a:buAutoNum type="arabicPeriod"/>
            </a:pPr>
            <a:r>
              <a:rPr lang="es-ES" sz="2000" dirty="0">
                <a:latin typeface="+mn-lt"/>
              </a:rPr>
              <a:t>Realizar la sumatoria de los números enteros comprendidos entre el 1 y el 5, es decir, 1 + 2 + 3 + 4 + 5.</a:t>
            </a:r>
          </a:p>
          <a:p>
            <a:pPr marL="0" marR="0" lvl="0" indent="0" algn="l" rtl="0">
              <a:lnSpc>
                <a:spcPct val="90000"/>
              </a:lnSpc>
              <a:spcBef>
                <a:spcPts val="0"/>
              </a:spcBef>
              <a:spcAft>
                <a:spcPts val="0"/>
              </a:spcAft>
              <a:buClr>
                <a:schemeClr val="dk1"/>
              </a:buClr>
              <a:buSzPts val="2800"/>
              <a:buNone/>
            </a:pPr>
            <a:endParaRPr lang="es-CO" sz="2400" dirty="0">
              <a:latin typeface="+mn-lt"/>
            </a:endParaRPr>
          </a:p>
        </p:txBody>
      </p:sp>
    </p:spTree>
    <p:extLst>
      <p:ext uri="{BB962C8B-B14F-4D97-AF65-F5344CB8AC3E}">
        <p14:creationId xmlns:p14="http://schemas.microsoft.com/office/powerpoint/2010/main" val="1909131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3FF8F-1C98-397B-BF9B-A79074C89E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354C33-2039-94AA-5CC1-A0FF420AF74A}"/>
              </a:ext>
            </a:extLst>
          </p:cNvPr>
          <p:cNvSpPr>
            <a:spLocks noGrp="1"/>
          </p:cNvSpPr>
          <p:nvPr>
            <p:ph type="title"/>
          </p:nvPr>
        </p:nvSpPr>
        <p:spPr/>
        <p:txBody>
          <a:bodyPr>
            <a:normAutofit/>
          </a:bodyPr>
          <a:lstStyle/>
          <a:p>
            <a:r>
              <a:rPr lang="es-CO"/>
              <a:t>Ejercicios para practicar</a:t>
            </a:r>
          </a:p>
        </p:txBody>
      </p:sp>
      <p:sp>
        <p:nvSpPr>
          <p:cNvPr id="4" name="Marcador de número de diapositiva 3">
            <a:extLst>
              <a:ext uri="{FF2B5EF4-FFF2-40B4-BE49-F238E27FC236}">
                <a16:creationId xmlns:a16="http://schemas.microsoft.com/office/drawing/2014/main" id="{F8681C18-F492-201E-6FAF-4B9485DC8D46}"/>
              </a:ext>
            </a:extLst>
          </p:cNvPr>
          <p:cNvSpPr>
            <a:spLocks noGrp="1"/>
          </p:cNvSpPr>
          <p:nvPr>
            <p:ph type="sldNum" idx="12"/>
          </p:nvPr>
        </p:nvSpPr>
        <p:spPr/>
        <p:txBody>
          <a:bodyPr/>
          <a:lstStyle/>
          <a:p>
            <a:fld id="{00000000-1234-1234-1234-123412341234}" type="slidenum">
              <a:rPr lang="es-CO" smtClean="0"/>
              <a:pPr/>
              <a:t>33</a:t>
            </a:fld>
            <a:endParaRPr lang="es-CO"/>
          </a:p>
        </p:txBody>
      </p:sp>
      <p:sp>
        <p:nvSpPr>
          <p:cNvPr id="5" name="Google Shape;258;p40">
            <a:extLst>
              <a:ext uri="{FF2B5EF4-FFF2-40B4-BE49-F238E27FC236}">
                <a16:creationId xmlns:a16="http://schemas.microsoft.com/office/drawing/2014/main" id="{F07A8A0E-A94D-103C-12E4-40C07B54EADC}"/>
              </a:ext>
            </a:extLst>
          </p:cNvPr>
          <p:cNvSpPr txBox="1">
            <a:spLocks noGrp="1"/>
          </p:cNvSpPr>
          <p:nvPr/>
        </p:nvSpPr>
        <p:spPr>
          <a:xfrm>
            <a:off x="2076994" y="1497840"/>
            <a:ext cx="9450283" cy="41247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spcBef>
                <a:spcPts val="0"/>
              </a:spcBef>
              <a:buSzPts val="2800"/>
              <a:buNone/>
            </a:pPr>
            <a:r>
              <a:rPr lang="es-ES" sz="2400" b="1">
                <a:latin typeface="+mn-lt"/>
              </a:rPr>
              <a:t>Desarrolle un algoritmo para cada situación:</a:t>
            </a:r>
          </a:p>
          <a:p>
            <a:pPr marL="0" indent="0" algn="just">
              <a:spcBef>
                <a:spcPts val="0"/>
              </a:spcBef>
              <a:buClr>
                <a:srgbClr val="009BAF"/>
              </a:buClr>
              <a:buSzPct val="100000"/>
              <a:buNone/>
            </a:pPr>
            <a:endParaRPr lang="es-ES" sz="2000">
              <a:latin typeface="+mn-lt"/>
            </a:endParaRPr>
          </a:p>
          <a:p>
            <a:pPr indent="-457200" algn="just">
              <a:spcBef>
                <a:spcPts val="0"/>
              </a:spcBef>
              <a:buClr>
                <a:srgbClr val="009BAF"/>
              </a:buClr>
              <a:buSzPct val="100000"/>
              <a:buFont typeface="+mj-lt"/>
              <a:buAutoNum type="arabicPeriod" startAt="6"/>
            </a:pPr>
            <a:r>
              <a:rPr lang="es-ES" sz="2000">
                <a:latin typeface="+mn-lt"/>
              </a:rPr>
              <a:t>Leer tres valores y almacenarlos en las variables A, B y C respectivamente. El algoritmo debe imprimir cual es el mayor y cuál es el menor.</a:t>
            </a:r>
          </a:p>
          <a:p>
            <a:pPr indent="-457200" algn="just">
              <a:spcBef>
                <a:spcPts val="0"/>
              </a:spcBef>
              <a:buClr>
                <a:srgbClr val="009BAF"/>
              </a:buClr>
              <a:buSzPct val="100000"/>
              <a:buFont typeface="+mj-lt"/>
              <a:buAutoNum type="arabicPeriod" startAt="6"/>
            </a:pPr>
            <a:endParaRPr lang="es-ES" sz="2000">
              <a:latin typeface="+mn-lt"/>
            </a:endParaRPr>
          </a:p>
          <a:p>
            <a:pPr indent="-457200" algn="just">
              <a:spcBef>
                <a:spcPts val="0"/>
              </a:spcBef>
              <a:buClr>
                <a:srgbClr val="009BAF"/>
              </a:buClr>
              <a:buSzPct val="100000"/>
              <a:buFont typeface="+mj-lt"/>
              <a:buAutoNum type="arabicPeriod" startAt="6"/>
            </a:pPr>
            <a:r>
              <a:rPr lang="es-ES" sz="2000">
                <a:latin typeface="+mn-lt"/>
              </a:rPr>
              <a:t>Indicar a un estudiante cuál es la nota mínima que debe sacar en el examen final para aprobar la materia, teniendo en cuanta las notas que lleva hasta el momento. Tenga en cuenta que una materia se aprueba con 3.0. Las notas que el usuario debe ingresar son: parcial1: 25%, parcial2: 25%, seguimiento: 30%. La nota del examen final vale el 30%.</a:t>
            </a:r>
            <a:endParaRPr lang="es-CO" sz="2000">
              <a:latin typeface="+mn-lt"/>
            </a:endParaRPr>
          </a:p>
          <a:p>
            <a:pPr marL="0" marR="0" lvl="0" indent="0" algn="l" rtl="0">
              <a:lnSpc>
                <a:spcPct val="90000"/>
              </a:lnSpc>
              <a:spcBef>
                <a:spcPts val="0"/>
              </a:spcBef>
              <a:spcAft>
                <a:spcPts val="0"/>
              </a:spcAft>
              <a:buClr>
                <a:schemeClr val="dk1"/>
              </a:buClr>
              <a:buSzPts val="2800"/>
              <a:buNone/>
            </a:pPr>
            <a:endParaRPr lang="es-CO" sz="2400">
              <a:latin typeface="+mn-lt"/>
            </a:endParaRPr>
          </a:p>
        </p:txBody>
      </p:sp>
    </p:spTree>
    <p:extLst>
      <p:ext uri="{BB962C8B-B14F-4D97-AF65-F5344CB8AC3E}">
        <p14:creationId xmlns:p14="http://schemas.microsoft.com/office/powerpoint/2010/main" val="4037045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2EBA-C095-9AFB-1975-67C6CEF5A8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83CB81-E04B-DCCC-3159-31B8BC095F43}"/>
              </a:ext>
            </a:extLst>
          </p:cNvPr>
          <p:cNvSpPr>
            <a:spLocks noGrp="1"/>
          </p:cNvSpPr>
          <p:nvPr>
            <p:ph type="title"/>
          </p:nvPr>
        </p:nvSpPr>
        <p:spPr/>
        <p:txBody>
          <a:bodyPr>
            <a:normAutofit/>
          </a:bodyPr>
          <a:lstStyle/>
          <a:p>
            <a:r>
              <a:rPr lang="es-CO"/>
              <a:t>Ejercicios para practicar</a:t>
            </a:r>
          </a:p>
        </p:txBody>
      </p:sp>
      <p:sp>
        <p:nvSpPr>
          <p:cNvPr id="4" name="Marcador de número de diapositiva 3">
            <a:extLst>
              <a:ext uri="{FF2B5EF4-FFF2-40B4-BE49-F238E27FC236}">
                <a16:creationId xmlns:a16="http://schemas.microsoft.com/office/drawing/2014/main" id="{A19184AD-94AB-5073-8202-C528B2C5A1A3}"/>
              </a:ext>
            </a:extLst>
          </p:cNvPr>
          <p:cNvSpPr>
            <a:spLocks noGrp="1"/>
          </p:cNvSpPr>
          <p:nvPr>
            <p:ph type="sldNum" idx="12"/>
          </p:nvPr>
        </p:nvSpPr>
        <p:spPr/>
        <p:txBody>
          <a:bodyPr/>
          <a:lstStyle/>
          <a:p>
            <a:fld id="{00000000-1234-1234-1234-123412341234}" type="slidenum">
              <a:rPr lang="es-CO" smtClean="0"/>
              <a:pPr/>
              <a:t>34</a:t>
            </a:fld>
            <a:endParaRPr lang="es-CO"/>
          </a:p>
        </p:txBody>
      </p:sp>
      <p:sp>
        <p:nvSpPr>
          <p:cNvPr id="5" name="Google Shape;258;p40">
            <a:extLst>
              <a:ext uri="{FF2B5EF4-FFF2-40B4-BE49-F238E27FC236}">
                <a16:creationId xmlns:a16="http://schemas.microsoft.com/office/drawing/2014/main" id="{4F54C103-28F8-1416-80B8-952A477F8ACE}"/>
              </a:ext>
            </a:extLst>
          </p:cNvPr>
          <p:cNvSpPr txBox="1">
            <a:spLocks noGrp="1"/>
          </p:cNvSpPr>
          <p:nvPr/>
        </p:nvSpPr>
        <p:spPr>
          <a:xfrm>
            <a:off x="2076994" y="1043104"/>
            <a:ext cx="9450283" cy="5402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spcBef>
                <a:spcPts val="0"/>
              </a:spcBef>
              <a:buSzPts val="2800"/>
              <a:buNone/>
            </a:pPr>
            <a:r>
              <a:rPr lang="es-ES" sz="2400" b="1">
                <a:latin typeface="+mn-lt"/>
              </a:rPr>
              <a:t>Desarrolle un diagrama de flujo para cada situación:</a:t>
            </a:r>
          </a:p>
          <a:p>
            <a:pPr marL="0" indent="0" algn="just">
              <a:spcBef>
                <a:spcPts val="0"/>
              </a:spcBef>
              <a:buClr>
                <a:srgbClr val="009BAF"/>
              </a:buClr>
              <a:buSzPct val="100000"/>
              <a:buNone/>
            </a:pPr>
            <a:endParaRPr lang="es-ES" sz="2000">
              <a:latin typeface="+mn-lt"/>
            </a:endParaRPr>
          </a:p>
          <a:p>
            <a:pPr marL="0" marR="0" lvl="0" indent="0" algn="l" rtl="0">
              <a:lnSpc>
                <a:spcPct val="90000"/>
              </a:lnSpc>
              <a:spcBef>
                <a:spcPts val="0"/>
              </a:spcBef>
              <a:spcAft>
                <a:spcPts val="0"/>
              </a:spcAft>
              <a:buClr>
                <a:schemeClr val="dk1"/>
              </a:buClr>
              <a:buSzPts val="2800"/>
              <a:buNone/>
            </a:pPr>
            <a:endParaRPr lang="es-CO" sz="2400">
              <a:latin typeface="+mn-lt"/>
            </a:endParaRPr>
          </a:p>
        </p:txBody>
      </p:sp>
      <p:pic>
        <p:nvPicPr>
          <p:cNvPr id="6" name="Imagen 5">
            <a:extLst>
              <a:ext uri="{FF2B5EF4-FFF2-40B4-BE49-F238E27FC236}">
                <a16:creationId xmlns:a16="http://schemas.microsoft.com/office/drawing/2014/main" id="{22A2417B-574F-7B34-84AA-03646E1BE1FC}"/>
              </a:ext>
            </a:extLst>
          </p:cNvPr>
          <p:cNvPicPr>
            <a:picLocks noChangeAspect="1"/>
          </p:cNvPicPr>
          <p:nvPr/>
        </p:nvPicPr>
        <p:blipFill>
          <a:blip r:embed="rId3"/>
          <a:srcRect l="18765" t="5482"/>
          <a:stretch>
            <a:fillRect/>
          </a:stretch>
        </p:blipFill>
        <p:spPr>
          <a:xfrm rot="16200000">
            <a:off x="3451234" y="1393473"/>
            <a:ext cx="2357533" cy="3299236"/>
          </a:xfrm>
          <a:prstGeom prst="rect">
            <a:avLst/>
          </a:prstGeom>
        </p:spPr>
      </p:pic>
      <p:sp>
        <p:nvSpPr>
          <p:cNvPr id="9" name="Google Shape;258;p40">
            <a:extLst>
              <a:ext uri="{FF2B5EF4-FFF2-40B4-BE49-F238E27FC236}">
                <a16:creationId xmlns:a16="http://schemas.microsoft.com/office/drawing/2014/main" id="{38DB3870-B90F-B058-34C2-02CC00DBDCF3}"/>
              </a:ext>
            </a:extLst>
          </p:cNvPr>
          <p:cNvSpPr txBox="1">
            <a:spLocks noGrp="1"/>
          </p:cNvSpPr>
          <p:nvPr/>
        </p:nvSpPr>
        <p:spPr>
          <a:xfrm>
            <a:off x="2980381" y="1486270"/>
            <a:ext cx="3431442" cy="3780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lgn="just">
              <a:spcBef>
                <a:spcPts val="0"/>
              </a:spcBef>
              <a:buClr>
                <a:srgbClr val="02C9B6"/>
              </a:buClr>
              <a:buSzPct val="100000"/>
              <a:buFont typeface="+mj-lt"/>
              <a:buAutoNum type="arabicPeriod"/>
            </a:pPr>
            <a:r>
              <a:rPr lang="es-ES" sz="2000">
                <a:latin typeface="+mn-lt"/>
              </a:rPr>
              <a:t>Batido</a:t>
            </a:r>
          </a:p>
          <a:p>
            <a:pPr marL="0" indent="0" algn="just">
              <a:spcBef>
                <a:spcPts val="0"/>
              </a:spcBef>
              <a:buClr>
                <a:srgbClr val="009BAF"/>
              </a:buClr>
              <a:buSzPct val="100000"/>
              <a:buNone/>
            </a:pPr>
            <a:endParaRPr lang="es-ES" sz="2000">
              <a:latin typeface="+mn-lt"/>
            </a:endParaRPr>
          </a:p>
          <a:p>
            <a:pPr marR="0" lvl="0" indent="-457200" algn="l" rtl="0">
              <a:lnSpc>
                <a:spcPct val="90000"/>
              </a:lnSpc>
              <a:spcBef>
                <a:spcPts val="0"/>
              </a:spcBef>
              <a:spcAft>
                <a:spcPts val="0"/>
              </a:spcAft>
              <a:buClr>
                <a:schemeClr val="dk1"/>
              </a:buClr>
              <a:buSzPts val="2800"/>
              <a:buFont typeface="+mj-lt"/>
              <a:buAutoNum type="arabicPeriod"/>
            </a:pPr>
            <a:endParaRPr lang="es-CO" sz="2400">
              <a:latin typeface="+mn-lt"/>
            </a:endParaRPr>
          </a:p>
        </p:txBody>
      </p:sp>
      <p:sp>
        <p:nvSpPr>
          <p:cNvPr id="15" name="Google Shape;258;p40">
            <a:extLst>
              <a:ext uri="{FF2B5EF4-FFF2-40B4-BE49-F238E27FC236}">
                <a16:creationId xmlns:a16="http://schemas.microsoft.com/office/drawing/2014/main" id="{F6F5E44A-4BCB-6B6B-C409-17B503221907}"/>
              </a:ext>
            </a:extLst>
          </p:cNvPr>
          <p:cNvSpPr txBox="1">
            <a:spLocks noGrp="1"/>
          </p:cNvSpPr>
          <p:nvPr/>
        </p:nvSpPr>
        <p:spPr>
          <a:xfrm>
            <a:off x="2980381" y="4407779"/>
            <a:ext cx="3058025" cy="3780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lgn="just">
              <a:spcBef>
                <a:spcPts val="0"/>
              </a:spcBef>
              <a:buClr>
                <a:srgbClr val="02C9B6"/>
              </a:buClr>
              <a:buSzPct val="100000"/>
              <a:buFont typeface="+mj-lt"/>
              <a:buAutoNum type="arabicPeriod" startAt="2"/>
            </a:pPr>
            <a:r>
              <a:rPr lang="es-ES" sz="2000">
                <a:latin typeface="+mn-lt"/>
              </a:rPr>
              <a:t>Café instantáneo</a:t>
            </a:r>
          </a:p>
          <a:p>
            <a:pPr marL="0" indent="0" algn="just">
              <a:spcBef>
                <a:spcPts val="0"/>
              </a:spcBef>
              <a:buClr>
                <a:srgbClr val="009BAF"/>
              </a:buClr>
              <a:buSzPct val="100000"/>
              <a:buNone/>
            </a:pPr>
            <a:endParaRPr lang="es-ES" sz="2000">
              <a:latin typeface="+mn-lt"/>
            </a:endParaRPr>
          </a:p>
          <a:p>
            <a:pPr marR="0" lvl="0" indent="-457200" algn="l" rtl="0">
              <a:lnSpc>
                <a:spcPct val="90000"/>
              </a:lnSpc>
              <a:spcBef>
                <a:spcPts val="0"/>
              </a:spcBef>
              <a:spcAft>
                <a:spcPts val="0"/>
              </a:spcAft>
              <a:buClr>
                <a:schemeClr val="dk1"/>
              </a:buClr>
              <a:buSzPts val="2800"/>
              <a:buFont typeface="+mj-lt"/>
              <a:buAutoNum type="arabicPeriod"/>
            </a:pPr>
            <a:endParaRPr lang="es-CO" sz="2400">
              <a:latin typeface="+mn-lt"/>
            </a:endParaRPr>
          </a:p>
        </p:txBody>
      </p:sp>
      <p:pic>
        <p:nvPicPr>
          <p:cNvPr id="17" name="Imagen 16">
            <a:extLst>
              <a:ext uri="{FF2B5EF4-FFF2-40B4-BE49-F238E27FC236}">
                <a16:creationId xmlns:a16="http://schemas.microsoft.com/office/drawing/2014/main" id="{0DCA4761-CAA8-F40B-64D2-25C4EA653FC5}"/>
              </a:ext>
            </a:extLst>
          </p:cNvPr>
          <p:cNvPicPr>
            <a:picLocks noChangeAspect="1"/>
          </p:cNvPicPr>
          <p:nvPr/>
        </p:nvPicPr>
        <p:blipFill>
          <a:blip r:embed="rId4"/>
          <a:srcRect t="22495"/>
          <a:stretch>
            <a:fillRect/>
          </a:stretch>
        </p:blipFill>
        <p:spPr>
          <a:xfrm>
            <a:off x="7351243" y="1916312"/>
            <a:ext cx="2695951" cy="1772006"/>
          </a:xfrm>
          <a:prstGeom prst="rect">
            <a:avLst/>
          </a:prstGeom>
        </p:spPr>
      </p:pic>
      <p:sp>
        <p:nvSpPr>
          <p:cNvPr id="18" name="Google Shape;258;p40">
            <a:extLst>
              <a:ext uri="{FF2B5EF4-FFF2-40B4-BE49-F238E27FC236}">
                <a16:creationId xmlns:a16="http://schemas.microsoft.com/office/drawing/2014/main" id="{E4844A32-28DF-C41C-945F-4F854EA8CBC2}"/>
              </a:ext>
            </a:extLst>
          </p:cNvPr>
          <p:cNvSpPr txBox="1">
            <a:spLocks noGrp="1"/>
          </p:cNvSpPr>
          <p:nvPr/>
        </p:nvSpPr>
        <p:spPr>
          <a:xfrm>
            <a:off x="7331979" y="1538257"/>
            <a:ext cx="2715215" cy="3780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lgn="just">
              <a:spcBef>
                <a:spcPts val="0"/>
              </a:spcBef>
              <a:buClr>
                <a:srgbClr val="02C9B6"/>
              </a:buClr>
              <a:buSzPct val="100000"/>
              <a:buFont typeface="+mj-lt"/>
              <a:buAutoNum type="arabicPeriod" startAt="3"/>
            </a:pPr>
            <a:r>
              <a:rPr lang="es-ES" sz="2000">
                <a:latin typeface="+mn-lt"/>
              </a:rPr>
              <a:t>Sal parrillera</a:t>
            </a:r>
          </a:p>
          <a:p>
            <a:pPr marL="0" indent="0" algn="just">
              <a:spcBef>
                <a:spcPts val="0"/>
              </a:spcBef>
              <a:buClr>
                <a:srgbClr val="009BAF"/>
              </a:buClr>
              <a:buSzPct val="100000"/>
              <a:buNone/>
            </a:pPr>
            <a:endParaRPr lang="es-ES" sz="2000">
              <a:latin typeface="+mn-lt"/>
            </a:endParaRPr>
          </a:p>
          <a:p>
            <a:pPr marR="0" lvl="0" indent="-457200" algn="l" rtl="0">
              <a:lnSpc>
                <a:spcPct val="90000"/>
              </a:lnSpc>
              <a:spcBef>
                <a:spcPts val="0"/>
              </a:spcBef>
              <a:spcAft>
                <a:spcPts val="0"/>
              </a:spcAft>
              <a:buClr>
                <a:schemeClr val="dk1"/>
              </a:buClr>
              <a:buSzPts val="2800"/>
              <a:buFont typeface="+mj-lt"/>
              <a:buAutoNum type="arabicPeriod"/>
            </a:pPr>
            <a:endParaRPr lang="es-CO" sz="2400">
              <a:latin typeface="+mn-lt"/>
            </a:endParaRPr>
          </a:p>
        </p:txBody>
      </p:sp>
      <p:pic>
        <p:nvPicPr>
          <p:cNvPr id="22" name="Imagen 21">
            <a:extLst>
              <a:ext uri="{FF2B5EF4-FFF2-40B4-BE49-F238E27FC236}">
                <a16:creationId xmlns:a16="http://schemas.microsoft.com/office/drawing/2014/main" id="{F0872A5D-ECD9-5F7D-3E48-696A2242E747}"/>
              </a:ext>
            </a:extLst>
          </p:cNvPr>
          <p:cNvPicPr>
            <a:picLocks noChangeAspect="1"/>
          </p:cNvPicPr>
          <p:nvPr/>
        </p:nvPicPr>
        <p:blipFill>
          <a:blip r:embed="rId5"/>
          <a:stretch>
            <a:fillRect/>
          </a:stretch>
        </p:blipFill>
        <p:spPr>
          <a:xfrm>
            <a:off x="7331979" y="4398307"/>
            <a:ext cx="3189134" cy="2393454"/>
          </a:xfrm>
          <a:prstGeom prst="rect">
            <a:avLst/>
          </a:prstGeom>
        </p:spPr>
      </p:pic>
      <p:sp>
        <p:nvSpPr>
          <p:cNvPr id="23" name="Google Shape;258;p40">
            <a:extLst>
              <a:ext uri="{FF2B5EF4-FFF2-40B4-BE49-F238E27FC236}">
                <a16:creationId xmlns:a16="http://schemas.microsoft.com/office/drawing/2014/main" id="{1AB6208B-0654-558F-2656-63E0D13C7F55}"/>
              </a:ext>
            </a:extLst>
          </p:cNvPr>
          <p:cNvSpPr txBox="1">
            <a:spLocks noGrp="1"/>
          </p:cNvSpPr>
          <p:nvPr/>
        </p:nvSpPr>
        <p:spPr>
          <a:xfrm>
            <a:off x="7320962" y="3975646"/>
            <a:ext cx="2715215" cy="3780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lgn="just">
              <a:spcBef>
                <a:spcPts val="0"/>
              </a:spcBef>
              <a:buClr>
                <a:srgbClr val="02C9B6"/>
              </a:buClr>
              <a:buSzPct val="100000"/>
              <a:buFont typeface="+mj-lt"/>
              <a:buAutoNum type="arabicPeriod" startAt="4"/>
            </a:pPr>
            <a:r>
              <a:rPr lang="es-ES" sz="2000">
                <a:latin typeface="+mn-lt"/>
              </a:rPr>
              <a:t>Gelatina</a:t>
            </a:r>
          </a:p>
          <a:p>
            <a:pPr marL="0" indent="0" algn="just">
              <a:spcBef>
                <a:spcPts val="0"/>
              </a:spcBef>
              <a:buClr>
                <a:srgbClr val="009BAF"/>
              </a:buClr>
              <a:buSzPct val="100000"/>
              <a:buNone/>
            </a:pPr>
            <a:endParaRPr lang="es-ES" sz="2000">
              <a:latin typeface="+mn-lt"/>
            </a:endParaRPr>
          </a:p>
          <a:p>
            <a:pPr marR="0" lvl="0" indent="-457200" algn="l" rtl="0">
              <a:lnSpc>
                <a:spcPct val="90000"/>
              </a:lnSpc>
              <a:spcBef>
                <a:spcPts val="0"/>
              </a:spcBef>
              <a:spcAft>
                <a:spcPts val="0"/>
              </a:spcAft>
              <a:buClr>
                <a:schemeClr val="dk1"/>
              </a:buClr>
              <a:buSzPts val="2800"/>
              <a:buFont typeface="+mj-lt"/>
              <a:buAutoNum type="arabicPeriod"/>
            </a:pPr>
            <a:endParaRPr lang="es-CO" sz="2400">
              <a:latin typeface="+mn-lt"/>
            </a:endParaRPr>
          </a:p>
        </p:txBody>
      </p:sp>
      <p:pic>
        <p:nvPicPr>
          <p:cNvPr id="25" name="Imagen 24">
            <a:extLst>
              <a:ext uri="{FF2B5EF4-FFF2-40B4-BE49-F238E27FC236}">
                <a16:creationId xmlns:a16="http://schemas.microsoft.com/office/drawing/2014/main" id="{D2F58B25-7B34-53AB-D42F-C5F24473841C}"/>
              </a:ext>
            </a:extLst>
          </p:cNvPr>
          <p:cNvPicPr>
            <a:picLocks noChangeAspect="1"/>
          </p:cNvPicPr>
          <p:nvPr/>
        </p:nvPicPr>
        <p:blipFill>
          <a:blip r:embed="rId6"/>
          <a:stretch>
            <a:fillRect/>
          </a:stretch>
        </p:blipFill>
        <p:spPr>
          <a:xfrm>
            <a:off x="3387778" y="4785834"/>
            <a:ext cx="2243230" cy="1976414"/>
          </a:xfrm>
          <a:prstGeom prst="rect">
            <a:avLst/>
          </a:prstGeom>
        </p:spPr>
      </p:pic>
    </p:spTree>
    <p:extLst>
      <p:ext uri="{BB962C8B-B14F-4D97-AF65-F5344CB8AC3E}">
        <p14:creationId xmlns:p14="http://schemas.microsoft.com/office/powerpoint/2010/main" val="1966643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9C799-F799-2CCA-94DC-E423BEA1CE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F3D9C3-CE97-4BF3-AF7C-5D96D46B5AE7}"/>
              </a:ext>
            </a:extLst>
          </p:cNvPr>
          <p:cNvSpPr>
            <a:spLocks noGrp="1"/>
          </p:cNvSpPr>
          <p:nvPr>
            <p:ph type="title"/>
          </p:nvPr>
        </p:nvSpPr>
        <p:spPr/>
        <p:txBody>
          <a:bodyPr>
            <a:normAutofit/>
          </a:bodyPr>
          <a:lstStyle/>
          <a:p>
            <a:r>
              <a:rPr lang="es-CO"/>
              <a:t>Ejercicios para practicar</a:t>
            </a:r>
          </a:p>
        </p:txBody>
      </p:sp>
      <p:sp>
        <p:nvSpPr>
          <p:cNvPr id="4" name="Marcador de número de diapositiva 3">
            <a:extLst>
              <a:ext uri="{FF2B5EF4-FFF2-40B4-BE49-F238E27FC236}">
                <a16:creationId xmlns:a16="http://schemas.microsoft.com/office/drawing/2014/main" id="{18CD9EC0-D756-AB3F-635A-3D007B28F884}"/>
              </a:ext>
            </a:extLst>
          </p:cNvPr>
          <p:cNvSpPr>
            <a:spLocks noGrp="1"/>
          </p:cNvSpPr>
          <p:nvPr>
            <p:ph type="sldNum" idx="12"/>
          </p:nvPr>
        </p:nvSpPr>
        <p:spPr/>
        <p:txBody>
          <a:bodyPr/>
          <a:lstStyle/>
          <a:p>
            <a:fld id="{00000000-1234-1234-1234-123412341234}" type="slidenum">
              <a:rPr lang="es-CO" smtClean="0"/>
              <a:pPr/>
              <a:t>35</a:t>
            </a:fld>
            <a:endParaRPr lang="es-CO"/>
          </a:p>
        </p:txBody>
      </p:sp>
      <p:sp>
        <p:nvSpPr>
          <p:cNvPr id="5" name="Google Shape;258;p40">
            <a:extLst>
              <a:ext uri="{FF2B5EF4-FFF2-40B4-BE49-F238E27FC236}">
                <a16:creationId xmlns:a16="http://schemas.microsoft.com/office/drawing/2014/main" id="{5813C861-0D86-D467-0EEB-352360982BBE}"/>
              </a:ext>
            </a:extLst>
          </p:cNvPr>
          <p:cNvSpPr txBox="1">
            <a:spLocks noGrp="1"/>
          </p:cNvSpPr>
          <p:nvPr/>
        </p:nvSpPr>
        <p:spPr>
          <a:xfrm>
            <a:off x="2076994" y="1043104"/>
            <a:ext cx="9450283" cy="5402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spcBef>
                <a:spcPts val="0"/>
              </a:spcBef>
              <a:buSzPts val="2800"/>
              <a:buNone/>
            </a:pPr>
            <a:r>
              <a:rPr lang="es-ES" sz="2400" b="1">
                <a:latin typeface="+mn-lt"/>
              </a:rPr>
              <a:t>Desarrolle un diagrama de flujo para cada situación:</a:t>
            </a:r>
          </a:p>
          <a:p>
            <a:pPr marL="0" indent="0" algn="just">
              <a:spcBef>
                <a:spcPts val="0"/>
              </a:spcBef>
              <a:buClr>
                <a:srgbClr val="009BAF"/>
              </a:buClr>
              <a:buSzPct val="100000"/>
              <a:buNone/>
            </a:pPr>
            <a:endParaRPr lang="es-ES" sz="2000">
              <a:latin typeface="+mn-lt"/>
            </a:endParaRPr>
          </a:p>
          <a:p>
            <a:pPr marL="0" marR="0" lvl="0" indent="0" algn="l" rtl="0">
              <a:lnSpc>
                <a:spcPct val="90000"/>
              </a:lnSpc>
              <a:spcBef>
                <a:spcPts val="0"/>
              </a:spcBef>
              <a:spcAft>
                <a:spcPts val="0"/>
              </a:spcAft>
              <a:buClr>
                <a:schemeClr val="dk1"/>
              </a:buClr>
              <a:buSzPts val="2800"/>
              <a:buNone/>
            </a:pPr>
            <a:endParaRPr lang="es-CO" sz="2400">
              <a:latin typeface="+mn-lt"/>
            </a:endParaRPr>
          </a:p>
        </p:txBody>
      </p:sp>
      <p:sp>
        <p:nvSpPr>
          <p:cNvPr id="9" name="Google Shape;258;p40">
            <a:extLst>
              <a:ext uri="{FF2B5EF4-FFF2-40B4-BE49-F238E27FC236}">
                <a16:creationId xmlns:a16="http://schemas.microsoft.com/office/drawing/2014/main" id="{C2B1AC3E-04E6-BEE5-DA40-ADC76630502B}"/>
              </a:ext>
            </a:extLst>
          </p:cNvPr>
          <p:cNvSpPr txBox="1">
            <a:spLocks noGrp="1"/>
          </p:cNvSpPr>
          <p:nvPr/>
        </p:nvSpPr>
        <p:spPr>
          <a:xfrm>
            <a:off x="1861261" y="1571360"/>
            <a:ext cx="3431442" cy="3780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lgn="just">
              <a:spcBef>
                <a:spcPts val="0"/>
              </a:spcBef>
              <a:buClr>
                <a:srgbClr val="02C9B6"/>
              </a:buClr>
              <a:buSzPct val="100000"/>
              <a:buFont typeface="+mj-lt"/>
              <a:buAutoNum type="arabicPeriod" startAt="5"/>
            </a:pPr>
            <a:r>
              <a:rPr lang="es-ES" sz="2000">
                <a:latin typeface="+mn-lt"/>
              </a:rPr>
              <a:t>Extintor de incendios</a:t>
            </a:r>
          </a:p>
          <a:p>
            <a:pPr marL="0" indent="0" algn="just">
              <a:spcBef>
                <a:spcPts val="0"/>
              </a:spcBef>
              <a:buClr>
                <a:srgbClr val="009BAF"/>
              </a:buClr>
              <a:buSzPct val="100000"/>
              <a:buNone/>
            </a:pPr>
            <a:endParaRPr lang="es-ES" sz="2000">
              <a:latin typeface="+mn-lt"/>
            </a:endParaRPr>
          </a:p>
          <a:p>
            <a:pPr marR="0" lvl="0" indent="-457200" algn="l" rtl="0">
              <a:lnSpc>
                <a:spcPct val="90000"/>
              </a:lnSpc>
              <a:spcBef>
                <a:spcPts val="0"/>
              </a:spcBef>
              <a:spcAft>
                <a:spcPts val="0"/>
              </a:spcAft>
              <a:buClr>
                <a:schemeClr val="dk1"/>
              </a:buClr>
              <a:buSzPts val="2800"/>
              <a:buFont typeface="+mj-lt"/>
              <a:buAutoNum type="arabicPeriod"/>
            </a:pPr>
            <a:endParaRPr lang="es-CO" sz="2400">
              <a:latin typeface="+mn-lt"/>
            </a:endParaRPr>
          </a:p>
        </p:txBody>
      </p:sp>
      <p:pic>
        <p:nvPicPr>
          <p:cNvPr id="7" name="Imagen 6">
            <a:extLst>
              <a:ext uri="{FF2B5EF4-FFF2-40B4-BE49-F238E27FC236}">
                <a16:creationId xmlns:a16="http://schemas.microsoft.com/office/drawing/2014/main" id="{AF5B36FD-BB28-4B7A-03D4-4F172451B529}"/>
              </a:ext>
            </a:extLst>
          </p:cNvPr>
          <p:cNvPicPr>
            <a:picLocks noChangeAspect="1"/>
          </p:cNvPicPr>
          <p:nvPr/>
        </p:nvPicPr>
        <p:blipFill>
          <a:blip r:embed="rId3"/>
          <a:stretch>
            <a:fillRect/>
          </a:stretch>
        </p:blipFill>
        <p:spPr>
          <a:xfrm>
            <a:off x="1942002" y="2026550"/>
            <a:ext cx="3547190" cy="4507106"/>
          </a:xfrm>
          <a:prstGeom prst="rect">
            <a:avLst/>
          </a:prstGeom>
        </p:spPr>
      </p:pic>
      <p:pic>
        <p:nvPicPr>
          <p:cNvPr id="8" name="Imagen 7">
            <a:extLst>
              <a:ext uri="{FF2B5EF4-FFF2-40B4-BE49-F238E27FC236}">
                <a16:creationId xmlns:a16="http://schemas.microsoft.com/office/drawing/2014/main" id="{E4615E07-6E7E-0480-641A-43490DEA06D5}"/>
              </a:ext>
            </a:extLst>
          </p:cNvPr>
          <p:cNvPicPr>
            <a:picLocks noChangeAspect="1"/>
          </p:cNvPicPr>
          <p:nvPr/>
        </p:nvPicPr>
        <p:blipFill>
          <a:blip r:embed="rId4"/>
          <a:srcRect l="4045" t="27680" r="2788"/>
          <a:stretch>
            <a:fillRect/>
          </a:stretch>
        </p:blipFill>
        <p:spPr>
          <a:xfrm>
            <a:off x="5903520" y="1862463"/>
            <a:ext cx="3925676" cy="638273"/>
          </a:xfrm>
          <a:prstGeom prst="rect">
            <a:avLst/>
          </a:prstGeom>
        </p:spPr>
      </p:pic>
      <p:sp>
        <p:nvSpPr>
          <p:cNvPr id="10" name="Google Shape;258;p40">
            <a:extLst>
              <a:ext uri="{FF2B5EF4-FFF2-40B4-BE49-F238E27FC236}">
                <a16:creationId xmlns:a16="http://schemas.microsoft.com/office/drawing/2014/main" id="{2233D008-70B1-4FBA-D6B5-4827A8AFD183}"/>
              </a:ext>
            </a:extLst>
          </p:cNvPr>
          <p:cNvSpPr txBox="1">
            <a:spLocks noGrp="1"/>
          </p:cNvSpPr>
          <p:nvPr/>
        </p:nvSpPr>
        <p:spPr>
          <a:xfrm>
            <a:off x="5856662" y="1484408"/>
            <a:ext cx="4096123" cy="3780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lgn="just">
              <a:spcBef>
                <a:spcPts val="0"/>
              </a:spcBef>
              <a:buClr>
                <a:srgbClr val="02C9B6"/>
              </a:buClr>
              <a:buSzPct val="100000"/>
              <a:buFont typeface="+mj-lt"/>
              <a:buAutoNum type="arabicPeriod" startAt="6"/>
            </a:pPr>
            <a:r>
              <a:rPr lang="es-ES" sz="1800">
                <a:latin typeface="+mn-lt"/>
              </a:rPr>
              <a:t>Jabón líquido</a:t>
            </a:r>
            <a:endParaRPr lang="es-ES" sz="2000">
              <a:latin typeface="+mn-lt"/>
            </a:endParaRPr>
          </a:p>
          <a:p>
            <a:pPr marR="0" lvl="0" indent="-457200" algn="l" rtl="0">
              <a:lnSpc>
                <a:spcPct val="90000"/>
              </a:lnSpc>
              <a:spcBef>
                <a:spcPts val="0"/>
              </a:spcBef>
              <a:spcAft>
                <a:spcPts val="0"/>
              </a:spcAft>
              <a:buClr>
                <a:schemeClr val="dk1"/>
              </a:buClr>
              <a:buSzPts val="2800"/>
              <a:buFont typeface="+mj-lt"/>
              <a:buAutoNum type="arabicPeriod" startAt="6"/>
            </a:pPr>
            <a:endParaRPr lang="es-CO" sz="2400">
              <a:latin typeface="+mn-lt"/>
            </a:endParaRPr>
          </a:p>
        </p:txBody>
      </p:sp>
      <p:pic>
        <p:nvPicPr>
          <p:cNvPr id="16" name="Imagen 15">
            <a:extLst>
              <a:ext uri="{FF2B5EF4-FFF2-40B4-BE49-F238E27FC236}">
                <a16:creationId xmlns:a16="http://schemas.microsoft.com/office/drawing/2014/main" id="{A70D453E-A2C3-D356-F06D-118F1EAEAF25}"/>
              </a:ext>
            </a:extLst>
          </p:cNvPr>
          <p:cNvPicPr>
            <a:picLocks noChangeAspect="1"/>
          </p:cNvPicPr>
          <p:nvPr/>
        </p:nvPicPr>
        <p:blipFill>
          <a:blip r:embed="rId5"/>
          <a:srcRect l="4756" t="4742" r="6901" b="12930"/>
          <a:stretch>
            <a:fillRect/>
          </a:stretch>
        </p:blipFill>
        <p:spPr>
          <a:xfrm>
            <a:off x="5856662" y="3086587"/>
            <a:ext cx="6202497" cy="3450839"/>
          </a:xfrm>
          <a:prstGeom prst="rect">
            <a:avLst/>
          </a:prstGeom>
        </p:spPr>
      </p:pic>
      <p:sp>
        <p:nvSpPr>
          <p:cNvPr id="19" name="Google Shape;258;p40">
            <a:extLst>
              <a:ext uri="{FF2B5EF4-FFF2-40B4-BE49-F238E27FC236}">
                <a16:creationId xmlns:a16="http://schemas.microsoft.com/office/drawing/2014/main" id="{7C555BB4-C0DA-E41E-6C90-87B8F2FDE9F7}"/>
              </a:ext>
            </a:extLst>
          </p:cNvPr>
          <p:cNvSpPr txBox="1">
            <a:spLocks noGrp="1"/>
          </p:cNvSpPr>
          <p:nvPr/>
        </p:nvSpPr>
        <p:spPr>
          <a:xfrm>
            <a:off x="5903520" y="2708532"/>
            <a:ext cx="4096123" cy="3780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lgn="just">
              <a:spcBef>
                <a:spcPts val="0"/>
              </a:spcBef>
              <a:buClr>
                <a:srgbClr val="02C9B6"/>
              </a:buClr>
              <a:buSzPct val="100000"/>
              <a:buFont typeface="+mj-lt"/>
              <a:buAutoNum type="arabicPeriod" startAt="7"/>
            </a:pPr>
            <a:r>
              <a:rPr lang="es-ES" sz="1800">
                <a:latin typeface="+mn-lt"/>
              </a:rPr>
              <a:t>Casco de seguridad</a:t>
            </a:r>
            <a:endParaRPr lang="es-ES" sz="2000">
              <a:latin typeface="+mn-lt"/>
            </a:endParaRPr>
          </a:p>
          <a:p>
            <a:pPr marR="0" lvl="0" indent="-457200" algn="l" rtl="0">
              <a:lnSpc>
                <a:spcPct val="90000"/>
              </a:lnSpc>
              <a:spcBef>
                <a:spcPts val="0"/>
              </a:spcBef>
              <a:spcAft>
                <a:spcPts val="0"/>
              </a:spcAft>
              <a:buClr>
                <a:schemeClr val="dk1"/>
              </a:buClr>
              <a:buSzPts val="2800"/>
              <a:buFont typeface="+mj-lt"/>
              <a:buAutoNum type="arabicPeriod" startAt="7"/>
            </a:pPr>
            <a:endParaRPr lang="es-CO" sz="2400">
              <a:latin typeface="+mn-lt"/>
            </a:endParaRPr>
          </a:p>
        </p:txBody>
      </p:sp>
    </p:spTree>
    <p:extLst>
      <p:ext uri="{BB962C8B-B14F-4D97-AF65-F5344CB8AC3E}">
        <p14:creationId xmlns:p14="http://schemas.microsoft.com/office/powerpoint/2010/main" val="1100123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9"/>
          <p:cNvSpPr txBox="1">
            <a:spLocks noGrp="1"/>
          </p:cNvSpPr>
          <p:nvPr>
            <p:ph type="title"/>
          </p:nvPr>
        </p:nvSpPr>
        <p:spPr>
          <a:xfrm>
            <a:off x="1397374" y="274320"/>
            <a:ext cx="9666016" cy="101890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s-CO"/>
              <a:t>Referencias</a:t>
            </a:r>
            <a:endParaRPr/>
          </a:p>
        </p:txBody>
      </p:sp>
      <p:sp>
        <p:nvSpPr>
          <p:cNvPr id="573" name="Google Shape;573;p29"/>
          <p:cNvSpPr txBox="1">
            <a:spLocks noGrp="1"/>
          </p:cNvSpPr>
          <p:nvPr>
            <p:ph type="body" idx="1"/>
          </p:nvPr>
        </p:nvSpPr>
        <p:spPr>
          <a:xfrm>
            <a:off x="717755" y="2057401"/>
            <a:ext cx="11025255" cy="4016828"/>
          </a:xfrm>
          <a:prstGeom prst="rect">
            <a:avLst/>
          </a:prstGeom>
          <a:noFill/>
          <a:ln>
            <a:noFill/>
          </a:ln>
        </p:spPr>
        <p:txBody>
          <a:bodyPr spcFirstLastPara="1" wrap="square" lIns="91425" tIns="45700" rIns="91425" bIns="45700" anchor="t" anchorCtr="0">
            <a:normAutofit/>
          </a:bodyPr>
          <a:lstStyle/>
          <a:p>
            <a:pPr marL="285750" lvl="0" indent="-158750" algn="just" rtl="0">
              <a:lnSpc>
                <a:spcPct val="100000"/>
              </a:lnSpc>
              <a:spcBef>
                <a:spcPts val="0"/>
              </a:spcBef>
              <a:spcAft>
                <a:spcPts val="0"/>
              </a:spcAft>
              <a:buSzPts val="2000"/>
              <a:buNone/>
            </a:pPr>
            <a:endParaRPr sz="2200"/>
          </a:p>
          <a:p>
            <a:pPr marL="285750" lvl="0" indent="-285750" algn="just" rtl="0">
              <a:lnSpc>
                <a:spcPct val="100000"/>
              </a:lnSpc>
              <a:spcBef>
                <a:spcPts val="0"/>
              </a:spcBef>
              <a:spcAft>
                <a:spcPts val="0"/>
              </a:spcAft>
              <a:buSzPts val="2000"/>
              <a:buChar char="•"/>
            </a:pPr>
            <a:r>
              <a:rPr lang="es-CO" sz="2200" err="1"/>
              <a:t>Beecher</a:t>
            </a:r>
            <a:r>
              <a:rPr lang="es-CO" sz="2200"/>
              <a:t>, K. (2017). COMPUTATIONAL THINKING A </a:t>
            </a:r>
            <a:r>
              <a:rPr lang="es-CO" sz="2200" err="1"/>
              <a:t>beginner’s</a:t>
            </a:r>
            <a:r>
              <a:rPr lang="es-CO" sz="2200"/>
              <a:t> guide to </a:t>
            </a:r>
            <a:r>
              <a:rPr lang="es-CO" sz="2200" err="1"/>
              <a:t>problem</a:t>
            </a:r>
            <a:r>
              <a:rPr lang="es-CO" sz="2200"/>
              <a:t> </a:t>
            </a:r>
            <a:r>
              <a:rPr lang="es-CO" sz="2200" err="1"/>
              <a:t>solving</a:t>
            </a:r>
            <a:r>
              <a:rPr lang="es-CO" sz="2200"/>
              <a:t> and </a:t>
            </a:r>
            <a:r>
              <a:rPr lang="es-CO" sz="2200" err="1"/>
              <a:t>programming</a:t>
            </a:r>
            <a:r>
              <a:rPr lang="es-CO" sz="2200"/>
              <a:t>. </a:t>
            </a:r>
          </a:p>
          <a:p>
            <a:pPr marL="285750" indent="-285750" algn="just">
              <a:spcBef>
                <a:spcPts val="0"/>
              </a:spcBef>
              <a:buSzPts val="2000"/>
            </a:pPr>
            <a:r>
              <a:rPr lang="es-ES" sz="2200"/>
              <a:t>Correa, D., &amp; Vallejo, P. (2023). Python Para Principiantes: Aprender a programar con Python de manera práctica y paso a paso.</a:t>
            </a:r>
          </a:p>
          <a:p>
            <a:pPr marL="285750" indent="-285750" algn="just">
              <a:spcBef>
                <a:spcPts val="0"/>
              </a:spcBef>
              <a:buSzPts val="2000"/>
            </a:pPr>
            <a:r>
              <a:rPr lang="es-CO" sz="2200" err="1"/>
              <a:t>Sweigart</a:t>
            </a:r>
            <a:r>
              <a:rPr lang="es-CO" sz="2200"/>
              <a:t>, A. (2019). </a:t>
            </a:r>
            <a:r>
              <a:rPr lang="es-CO" sz="2200" err="1"/>
              <a:t>Automate</a:t>
            </a:r>
            <a:r>
              <a:rPr lang="es-CO" sz="2200"/>
              <a:t> </a:t>
            </a:r>
            <a:r>
              <a:rPr lang="es-CO" sz="2200" err="1"/>
              <a:t>the</a:t>
            </a:r>
            <a:r>
              <a:rPr lang="es-CO" sz="2200"/>
              <a:t> </a:t>
            </a:r>
            <a:r>
              <a:rPr lang="es-CO" sz="2200" err="1"/>
              <a:t>boring</a:t>
            </a:r>
            <a:r>
              <a:rPr lang="es-CO" sz="2200"/>
              <a:t> </a:t>
            </a:r>
            <a:r>
              <a:rPr lang="es-CO" sz="2200" err="1"/>
              <a:t>stuff</a:t>
            </a:r>
            <a:r>
              <a:rPr lang="es-CO" sz="2200"/>
              <a:t> </a:t>
            </a:r>
            <a:r>
              <a:rPr lang="es-CO" sz="2200" err="1"/>
              <a:t>with</a:t>
            </a:r>
            <a:r>
              <a:rPr lang="es-CO" sz="2200"/>
              <a:t> Python: </a:t>
            </a:r>
            <a:r>
              <a:rPr lang="es-CO" sz="2200" err="1"/>
              <a:t>practical</a:t>
            </a:r>
            <a:r>
              <a:rPr lang="es-CO" sz="2200"/>
              <a:t> </a:t>
            </a:r>
            <a:r>
              <a:rPr lang="es-CO" sz="2200" err="1"/>
              <a:t>programming</a:t>
            </a:r>
            <a:r>
              <a:rPr lang="es-CO" sz="2200"/>
              <a:t> </a:t>
            </a:r>
            <a:r>
              <a:rPr lang="es-CO" sz="2200" err="1"/>
              <a:t>for</a:t>
            </a:r>
            <a:r>
              <a:rPr lang="es-CO" sz="2200"/>
              <a:t> total </a:t>
            </a:r>
            <a:r>
              <a:rPr lang="es-CO" sz="2200" err="1"/>
              <a:t>beginners</a:t>
            </a:r>
            <a:r>
              <a:rPr lang="es-CO" sz="2200"/>
              <a:t>. No </a:t>
            </a:r>
            <a:r>
              <a:rPr lang="es-CO" sz="2200" err="1"/>
              <a:t>Starch</a:t>
            </a:r>
            <a:r>
              <a:rPr lang="es-CO" sz="2200"/>
              <a:t> </a:t>
            </a:r>
            <a:r>
              <a:rPr lang="es-CO" sz="2200" err="1"/>
              <a:t>Press</a:t>
            </a:r>
            <a:r>
              <a:rPr lang="es-CO" sz="2200"/>
              <a:t>.</a:t>
            </a:r>
          </a:p>
          <a:p>
            <a:pPr marL="285750" indent="-285750" algn="just">
              <a:spcBef>
                <a:spcPts val="0"/>
              </a:spcBef>
              <a:buSzPts val="2000"/>
            </a:pPr>
            <a:r>
              <a:rPr lang="es-CO" sz="2200"/>
              <a:t>Theobald, O. (2021). Python </a:t>
            </a:r>
            <a:r>
              <a:rPr lang="es-CO" sz="2200" err="1"/>
              <a:t>For</a:t>
            </a:r>
            <a:r>
              <a:rPr lang="es-CO" sz="2200"/>
              <a:t> </a:t>
            </a:r>
            <a:r>
              <a:rPr lang="es-CO" sz="2200" err="1"/>
              <a:t>Absolute</a:t>
            </a:r>
            <a:r>
              <a:rPr lang="es-CO" sz="2200"/>
              <a:t> </a:t>
            </a:r>
            <a:r>
              <a:rPr lang="es-CO" sz="2200" err="1"/>
              <a:t>Beginners</a:t>
            </a:r>
            <a:r>
              <a:rPr lang="es-CO" sz="2200"/>
              <a:t>: </a:t>
            </a:r>
            <a:r>
              <a:rPr lang="es-CO" sz="2200" err="1"/>
              <a:t>Rocket</a:t>
            </a:r>
            <a:r>
              <a:rPr lang="es-CO" sz="2200"/>
              <a:t> </a:t>
            </a:r>
            <a:r>
              <a:rPr lang="es-CO" sz="2200" err="1"/>
              <a:t>through</a:t>
            </a:r>
            <a:r>
              <a:rPr lang="es-CO" sz="2200"/>
              <a:t> </a:t>
            </a:r>
            <a:r>
              <a:rPr lang="es-CO" sz="2200" err="1"/>
              <a:t>the</a:t>
            </a:r>
            <a:r>
              <a:rPr lang="es-CO" sz="2200"/>
              <a:t> </a:t>
            </a:r>
            <a:r>
              <a:rPr lang="es-CO" sz="2200" err="1"/>
              <a:t>basics</a:t>
            </a:r>
            <a:r>
              <a:rPr lang="es-CO" sz="2200"/>
              <a:t> in </a:t>
            </a:r>
            <a:r>
              <a:rPr lang="es-CO" sz="2200" err="1"/>
              <a:t>an</a:t>
            </a:r>
            <a:r>
              <a:rPr lang="es-CO" sz="2200"/>
              <a:t> </a:t>
            </a:r>
            <a:r>
              <a:rPr lang="es-CO" sz="2200" err="1"/>
              <a:t>afternoon</a:t>
            </a:r>
            <a:r>
              <a:rPr lang="es-CO" sz="2200"/>
              <a:t>. </a:t>
            </a:r>
            <a:r>
              <a:rPr lang="es-CO" sz="2200" err="1"/>
              <a:t>Independently</a:t>
            </a:r>
            <a:r>
              <a:rPr lang="es-CO" sz="2200"/>
              <a:t> </a:t>
            </a:r>
            <a:r>
              <a:rPr lang="es-CO" sz="2200" err="1"/>
              <a:t>published</a:t>
            </a:r>
            <a:r>
              <a:rPr lang="es-CO" sz="2200"/>
              <a:t>.</a:t>
            </a:r>
            <a:endParaRPr sz="2200"/>
          </a:p>
        </p:txBody>
      </p:sp>
      <p:sp>
        <p:nvSpPr>
          <p:cNvPr id="2" name="Marcador de texto 1"/>
          <p:cNvSpPr>
            <a:spLocks noGrp="1"/>
          </p:cNvSpPr>
          <p:nvPr>
            <p:ph type="body" idx="12"/>
          </p:nvPr>
        </p:nvSpPr>
        <p:spPr>
          <a:xfrm>
            <a:off x="1262992" y="1370695"/>
            <a:ext cx="9666016" cy="556981"/>
          </a:xfrm>
        </p:spPr>
        <p:txBody>
          <a:bodyPr>
            <a:normAutofit fontScale="92500"/>
          </a:bodyPr>
          <a:lstStyle/>
          <a:p>
            <a:r>
              <a:rPr lang="es-CO" b="1" i="0"/>
              <a:t>Material elaborado por Daniel Correa, Paola Vallejo y Guillermo Carmona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1408662"/>
      </p:ext>
    </p:extLst>
  </p:cSld>
  <p:clrMapOvr>
    <a:masterClrMapping/>
  </p:clrMapOvr>
</p:sld>
</file>

<file path=ppt/theme/theme1.xml><?xml version="1.0" encoding="utf-8"?>
<a:theme xmlns:a="http://schemas.openxmlformats.org/drawingml/2006/main" name="Modelo centrado en el estudian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PC-NFI_Paola_v4" id="{D56CA61B-C1B8-4403-AE59-1FCE2B4B8D24}" vid="{F189C494-E5D2-4BBC-A32D-59D8AE0CA08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86CFA6F79C56643B786AEC915B2EA12" ma:contentTypeVersion="13" ma:contentTypeDescription="Crear nuevo documento." ma:contentTypeScope="" ma:versionID="0b515c460faa7c94c45bbea58de6b910">
  <xsd:schema xmlns:xsd="http://www.w3.org/2001/XMLSchema" xmlns:xs="http://www.w3.org/2001/XMLSchema" xmlns:p="http://schemas.microsoft.com/office/2006/metadata/properties" xmlns:ns3="4abd4d58-7cbe-46fe-9038-cc2fddbd6d34" xmlns:ns4="fffff475-2660-4c6d-ad64-750275f98d63" targetNamespace="http://schemas.microsoft.com/office/2006/metadata/properties" ma:root="true" ma:fieldsID="aa49502c80601db33ba1d0d19aab6c74" ns3:_="" ns4:_="">
    <xsd:import namespace="4abd4d58-7cbe-46fe-9038-cc2fddbd6d34"/>
    <xsd:import namespace="fffff475-2660-4c6d-ad64-750275f98d6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bd4d58-7cbe-46fe-9038-cc2fddbd6d34" elementFormDefault="qualified">
    <xsd:import namespace="http://schemas.microsoft.com/office/2006/documentManagement/types"/>
    <xsd:import namespace="http://schemas.microsoft.com/office/infopath/2007/PartnerControls"/>
    <xsd:element name="SharedWithUsers" ma:index="8" nillable="true" ma:displayName="Compartid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description="" ma:internalName="SharedWithDetails" ma:readOnly="true">
      <xsd:simpleType>
        <xsd:restriction base="dms:Note">
          <xsd:maxLength value="255"/>
        </xsd:restriction>
      </xsd:simpleType>
    </xsd:element>
    <xsd:element name="SharingHintHash" ma:index="10" nillable="true" ma:displayName="Hash de la sugerencia para compartir"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fff475-2660-4c6d-ad64-750275f98d63"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3989B6-EA4E-47C3-AE16-2448F390677C}">
  <ds:schemaRefs>
    <ds:schemaRef ds:uri="4abd4d58-7cbe-46fe-9038-cc2fddbd6d34"/>
    <ds:schemaRef ds:uri="fffff475-2660-4c6d-ad64-750275f98d6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2812D1A-DEDE-4B63-9B91-E3927DD7A71E}">
  <ds:schemaRefs>
    <ds:schemaRef ds:uri="4abd4d58-7cbe-46fe-9038-cc2fddbd6d34"/>
    <ds:schemaRef ds:uri="fffff475-2660-4c6d-ad64-750275f98d6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C637FBC-8239-42DE-8D4E-B860E128CF53}">
  <ds:schemaRefs>
    <ds:schemaRef ds:uri="http://schemas.microsoft.com/sharepoint/v3/contenttype/forms"/>
  </ds:schemaRefs>
</ds:datastoreItem>
</file>

<file path=docMetadata/LabelInfo.xml><?xml version="1.0" encoding="utf-8"?>
<clbl:labelList xmlns:clbl="http://schemas.microsoft.com/office/2020/mipLabelMetadata">
  <clbl:label id="{99f7b55e-9cbe-467b-8143-919782918afb}" enabled="0" method="" siteId="{99f7b55e-9cbe-467b-8143-919782918afb}" removed="1"/>
</clbl:labelList>
</file>

<file path=docProps/app.xml><?xml version="1.0" encoding="utf-8"?>
<Properties xmlns="http://schemas.openxmlformats.org/officeDocument/2006/extended-properties" xmlns:vt="http://schemas.openxmlformats.org/officeDocument/2006/docPropsVTypes">
  <Template>Plantilla-PC-NFI_Paola_v4</Template>
  <TotalTime>1259</TotalTime>
  <Words>2689</Words>
  <Application>Microsoft Office PowerPoint</Application>
  <PresentationFormat>Widescreen</PresentationFormat>
  <Paragraphs>381</Paragraphs>
  <Slides>37</Slides>
  <Notes>28</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Modelo centrado en el estudiante</vt:lpstr>
      <vt:lpstr>Algoritmia y diagrama de flujo </vt:lpstr>
      <vt:lpstr>Agenda</vt:lpstr>
      <vt:lpstr>Algoritmo</vt:lpstr>
      <vt:lpstr>Algoritmo</vt:lpstr>
      <vt:lpstr>Ejercicio</vt:lpstr>
      <vt:lpstr>Ejemplo de algoritmo</vt:lpstr>
      <vt:lpstr>Ejemplo de algoritmo</vt:lpstr>
      <vt:lpstr>Metodología de trabajo con algoritmos</vt:lpstr>
      <vt:lpstr>1. Análisis del problema</vt:lpstr>
      <vt:lpstr>1. Análisis del problema – Aplicación</vt:lpstr>
      <vt:lpstr>2. Diseño de la solución</vt:lpstr>
      <vt:lpstr>2. Diseño de la solución – Aplicación</vt:lpstr>
      <vt:lpstr>3. Validación de la solución</vt:lpstr>
      <vt:lpstr>3. Validación de la solución – Aplicación</vt:lpstr>
      <vt:lpstr>4. Codificación de la solución en un lenguaje de programación</vt:lpstr>
      <vt:lpstr>4. Codificación de la solución en un lenguaje de programación – Aplicación</vt:lpstr>
      <vt:lpstr>Relación metodología de trabajo con algoritmos y pilares del PC</vt:lpstr>
      <vt:lpstr>Agenda</vt:lpstr>
      <vt:lpstr>Diagrama de flujo</vt:lpstr>
      <vt:lpstr>Notación diagramas de flujo</vt:lpstr>
      <vt:lpstr>Tips</vt:lpstr>
      <vt:lpstr>Ejemplo – Calcular el área de un rectángulo</vt:lpstr>
      <vt:lpstr>Ejemplo - Algoritmo control de acceso a una  discoteca </vt:lpstr>
      <vt:lpstr>Ejemplo - Algoritmo tomar café</vt:lpstr>
      <vt:lpstr>Agenda</vt:lpstr>
      <vt:lpstr>Ejercicio – Promedio de notas</vt:lpstr>
      <vt:lpstr>PowerPoint Presentation</vt:lpstr>
      <vt:lpstr>Ejercicio - Sueldo</vt:lpstr>
      <vt:lpstr>Ejercicio – Número mayor</vt:lpstr>
      <vt:lpstr>Ejercicio</vt:lpstr>
      <vt:lpstr>Ejercicio</vt:lpstr>
      <vt:lpstr>Ejercicios para practicar</vt:lpstr>
      <vt:lpstr>Ejercicios para practicar</vt:lpstr>
      <vt:lpstr>Ejercicios para practicar</vt:lpstr>
      <vt:lpstr>Ejercicios para practicar</vt:lpstr>
      <vt:lpstr>Referencias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dc:title>
  <dc:subject>PC-NFI</dc:subject>
  <dc:creator>Paola Andrea Vallejo Correa</dc:creator>
  <cp:lastModifiedBy>Guillermo Leon Carmona Gonzalez</cp:lastModifiedBy>
  <cp:revision>36</cp:revision>
  <dcterms:created xsi:type="dcterms:W3CDTF">2022-03-25T22:25:58Z</dcterms:created>
  <dcterms:modified xsi:type="dcterms:W3CDTF">2026-07-21T12:43:23Z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0x010100286CFA6F79C56643B786AEC915B2EA12</vt:lpwstr>
  </property>
</Properties>
</file>