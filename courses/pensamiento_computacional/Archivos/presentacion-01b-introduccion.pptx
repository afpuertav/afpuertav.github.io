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0"/>
  </p:notesMasterIdLst>
  <p:sldIdLst>
    <p:sldId id="256" r:id="rId2"/>
    <p:sldId id="257" r:id="rId3"/>
    <p:sldId id="392" r:id="rId4"/>
    <p:sldId id="399" r:id="rId5"/>
    <p:sldId id="400" r:id="rId6"/>
    <p:sldId id="393" r:id="rId7"/>
    <p:sldId id="432" r:id="rId8"/>
    <p:sldId id="410" r:id="rId9"/>
    <p:sldId id="419" r:id="rId10"/>
    <p:sldId id="420" r:id="rId11"/>
    <p:sldId id="405" r:id="rId12"/>
    <p:sldId id="421" r:id="rId13"/>
    <p:sldId id="422" r:id="rId14"/>
    <p:sldId id="423" r:id="rId15"/>
    <p:sldId id="424" r:id="rId16"/>
    <p:sldId id="425" r:id="rId17"/>
    <p:sldId id="436" r:id="rId18"/>
    <p:sldId id="437" r:id="rId19"/>
    <p:sldId id="394" r:id="rId20"/>
    <p:sldId id="411" r:id="rId21"/>
    <p:sldId id="395" r:id="rId22"/>
    <p:sldId id="434" r:id="rId23"/>
    <p:sldId id="426" r:id="rId24"/>
    <p:sldId id="428" r:id="rId25"/>
    <p:sldId id="429" r:id="rId26"/>
    <p:sldId id="435" r:id="rId27"/>
    <p:sldId id="284" r:id="rId28"/>
    <p:sldId id="288" r:id="rId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jGfbebLDkrh5ZFS5t9yMqtQiFA7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ola Vallejo" initials="" lastIdx="4" clrIdx="0"/>
  <p:cmAuthor id="1" name="Paola Andrea Vallejo Correa" initials="PAVC" lastIdx="2" clrIdx="1">
    <p:extLst>
      <p:ext uri="{19B8F6BF-5375-455C-9EA6-DF929625EA0E}">
        <p15:presenceInfo xmlns:p15="http://schemas.microsoft.com/office/powerpoint/2012/main" userId="S-1-5-21-1319918816-2133870172-1244796221-526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AF"/>
    <a:srgbClr val="E799BA"/>
    <a:srgbClr val="D85C90"/>
    <a:srgbClr val="D98FED"/>
    <a:srgbClr val="FB9815"/>
    <a:srgbClr val="FAAD15"/>
    <a:srgbClr val="FE963D"/>
    <a:srgbClr val="F7B224"/>
    <a:srgbClr val="FA36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9592D-6E51-B764-0A55-72C907AFF5BC}" v="2" dt="2026-07-10T19:10:41.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Leon Carmona Gonzalez" userId="S::gcarmona@eafit.edu.co::5a5403d1-fbf5-4270-8113-6c6b324c89e8" providerId="AD" clId="Web-{EDF9592D-6E51-B764-0A55-72C907AFF5BC}"/>
    <pc:docChg chg="modSld">
      <pc:chgData name="Guillermo Leon Carmona Gonzalez" userId="S::gcarmona@eafit.edu.co::5a5403d1-fbf5-4270-8113-6c6b324c89e8" providerId="AD" clId="Web-{EDF9592D-6E51-B764-0A55-72C907AFF5BC}" dt="2026-07-10T19:10:41.226" v="1" actId="20577"/>
      <pc:docMkLst>
        <pc:docMk/>
      </pc:docMkLst>
      <pc:sldChg chg="modSp">
        <pc:chgData name="Guillermo Leon Carmona Gonzalez" userId="S::gcarmona@eafit.edu.co::5a5403d1-fbf5-4270-8113-6c6b324c89e8" providerId="AD" clId="Web-{EDF9592D-6E51-B764-0A55-72C907AFF5BC}" dt="2026-07-10T19:10:41.226" v="1" actId="20577"/>
        <pc:sldMkLst>
          <pc:docMk/>
          <pc:sldMk cId="2246320708" sldId="432"/>
        </pc:sldMkLst>
        <pc:spChg chg="mod">
          <ac:chgData name="Guillermo Leon Carmona Gonzalez" userId="S::gcarmona@eafit.edu.co::5a5403d1-fbf5-4270-8113-6c6b324c89e8" providerId="AD" clId="Web-{EDF9592D-6E51-B764-0A55-72C907AFF5BC}" dt="2026-07-10T19:10:41.226" v="1" actId="20577"/>
          <ac:spMkLst>
            <pc:docMk/>
            <pc:sldMk cId="2246320708" sldId="432"/>
            <ac:spMk id="7" creationId="{B4C8D576-6AD1-4708-ADC0-C6027FE840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4</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7077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1960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11</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2813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9568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1853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p:bg>
      <p:bgPr>
        <a:solidFill>
          <a:srgbClr val="7F7F7F">
            <a:alpha val="20000"/>
          </a:srgbClr>
        </a:solidFill>
        <a:effectLst/>
      </p:bgPr>
    </p:bg>
    <p:spTree>
      <p:nvGrpSpPr>
        <p:cNvPr id="1" name=""/>
        <p:cNvGrpSpPr/>
        <p:nvPr/>
      </p:nvGrpSpPr>
      <p:grpSpPr>
        <a:xfrm>
          <a:off x="0" y="0"/>
          <a:ext cx="0" cy="0"/>
          <a:chOff x="0" y="0"/>
          <a:chExt cx="0" cy="0"/>
        </a:xfrm>
      </p:grpSpPr>
      <p:sp>
        <p:nvSpPr>
          <p:cNvPr id="2" name="Rectángulo 1"/>
          <p:cNvSpPr/>
          <p:nvPr/>
        </p:nvSpPr>
        <p:spPr>
          <a:xfrm>
            <a:off x="-1" y="-73970"/>
            <a:ext cx="12191999" cy="6931969"/>
          </a:xfrm>
          <a:prstGeom prst="rect">
            <a:avLst/>
          </a:prstGeom>
          <a:solidFill>
            <a:srgbClr val="0F2D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0" name="Grupo 9">
            <a:extLst>
              <a:ext uri="{FF2B5EF4-FFF2-40B4-BE49-F238E27FC236}">
                <a16:creationId xmlns:a16="http://schemas.microsoft.com/office/drawing/2014/main" id="{A8DE1008-9435-4582-AE18-9973DCBA2FB5}"/>
              </a:ext>
            </a:extLst>
          </p:cNvPr>
          <p:cNvGrpSpPr/>
          <p:nvPr/>
        </p:nvGrpSpPr>
        <p:grpSpPr>
          <a:xfrm>
            <a:off x="-5192" y="-50800"/>
            <a:ext cx="12197192" cy="6858000"/>
            <a:chOff x="-5192" y="0"/>
            <a:chExt cx="12197192" cy="6858000"/>
          </a:xfrm>
        </p:grpSpPr>
        <p:pic>
          <p:nvPicPr>
            <p:cNvPr id="11" name="Gráfico 10">
              <a:extLst>
                <a:ext uri="{FF2B5EF4-FFF2-40B4-BE49-F238E27FC236}">
                  <a16:creationId xmlns:a16="http://schemas.microsoft.com/office/drawing/2014/main" id="{3345BC10-B95C-4E5B-8CB5-0D9F33E7E63C}"/>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rot="10800000">
              <a:off x="4543109" y="0"/>
              <a:ext cx="7648891" cy="6858000"/>
            </a:xfrm>
            <a:prstGeom prst="rect">
              <a:avLst/>
            </a:prstGeom>
          </p:spPr>
        </p:pic>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a:off x="-5192" y="0"/>
              <a:ext cx="7648891" cy="6858000"/>
            </a:xfrm>
            <a:prstGeom prst="rect">
              <a:avLst/>
            </a:prstGeom>
          </p:spPr>
        </p:pic>
      </p:grpSp>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4" name="CuadroTexto 13">
            <a:extLst>
              <a:ext uri="{FF2B5EF4-FFF2-40B4-BE49-F238E27FC236}">
                <a16:creationId xmlns:a16="http://schemas.microsoft.com/office/drawing/2014/main" id="{D1A6FAEB-0D11-4D7D-9754-629D1A672D97}"/>
              </a:ext>
            </a:extLst>
          </p:cNvPr>
          <p:cNvSpPr txBox="1"/>
          <p:nvPr/>
        </p:nvSpPr>
        <p:spPr>
          <a:xfrm>
            <a:off x="3048001" y="3119341"/>
            <a:ext cx="8986942" cy="830997"/>
          </a:xfrm>
          <a:prstGeom prst="rect">
            <a:avLst/>
          </a:prstGeom>
          <a:noFill/>
        </p:spPr>
        <p:txBody>
          <a:bodyPr wrap="square" rtlCol="0">
            <a:spAutoFit/>
          </a:bodyPr>
          <a:lstStyle/>
          <a:p>
            <a:pPr algn="r"/>
            <a:r>
              <a:rPr lang="es-CO" sz="4800" b="1">
                <a:solidFill>
                  <a:schemeClr val="bg1"/>
                </a:solidFill>
                <a:latin typeface="Arial" panose="020B0604020202020204" pitchFamily="34" charset="0"/>
                <a:ea typeface="Roboto" panose="02000000000000000000" pitchFamily="2" charset="0"/>
                <a:cs typeface="Arial" panose="020B0604020202020204" pitchFamily="34" charset="0"/>
              </a:rPr>
              <a:t>Pensamiento Computacional</a:t>
            </a: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pic>
        <p:nvPicPr>
          <p:cNvPr id="21" name="Gráfico 12">
            <a:extLst>
              <a:ext uri="{FF2B5EF4-FFF2-40B4-BE49-F238E27FC236}">
                <a16:creationId xmlns:a16="http://schemas.microsoft.com/office/drawing/2014/main" id="{D44A8620-4433-45C5-A0B4-543E32F58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39888" y="6066411"/>
            <a:ext cx="1188588" cy="504887"/>
          </a:xfrm>
          <a:prstGeom prst="rect">
            <a:avLst/>
          </a:prstGeom>
        </p:spPr>
      </p:pic>
      <p:sp>
        <p:nvSpPr>
          <p:cNvPr id="22" name="CuadroTexto 21">
            <a:extLst>
              <a:ext uri="{FF2B5EF4-FFF2-40B4-BE49-F238E27FC236}">
                <a16:creationId xmlns:a16="http://schemas.microsoft.com/office/drawing/2014/main" id="{D1A6FAEB-0D11-4D7D-9754-629D1A672D97}"/>
              </a:ext>
            </a:extLst>
          </p:cNvPr>
          <p:cNvSpPr txBox="1"/>
          <p:nvPr/>
        </p:nvSpPr>
        <p:spPr>
          <a:xfrm>
            <a:off x="10739888" y="4459472"/>
            <a:ext cx="1166362" cy="553998"/>
          </a:xfrm>
          <a:prstGeom prst="rect">
            <a:avLst/>
          </a:prstGeom>
          <a:noFill/>
        </p:spPr>
        <p:txBody>
          <a:bodyPr wrap="square" rtlCol="0">
            <a:spAutoFit/>
          </a:bodyPr>
          <a:lstStyle/>
          <a:p>
            <a:pPr algn="r"/>
            <a:r>
              <a:rPr lang="es-CO" sz="3000" b="1">
                <a:solidFill>
                  <a:schemeClr val="bg1"/>
                </a:solidFill>
                <a:latin typeface="Arial" panose="020B0604020202020204" pitchFamily="34" charset="0"/>
                <a:ea typeface="Roboto" panose="02000000000000000000" pitchFamily="2" charset="0"/>
                <a:cs typeface="Arial" panose="020B0604020202020204" pitchFamily="34" charset="0"/>
              </a:rPr>
              <a:t>2026</a:t>
            </a:r>
          </a:p>
        </p:txBody>
      </p:sp>
      <p:sp>
        <p:nvSpPr>
          <p:cNvPr id="23" name="Google Shape;40;p33"/>
          <p:cNvSpPr txBox="1">
            <a:spLocks noGrp="1"/>
          </p:cNvSpPr>
          <p:nvPr>
            <p:ph type="title" hasCustomPrompt="1"/>
          </p:nvPr>
        </p:nvSpPr>
        <p:spPr>
          <a:xfrm>
            <a:off x="4114800" y="1788503"/>
            <a:ext cx="7609160" cy="101890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1"/>
              </a:buClr>
              <a:buSzPts val="4400"/>
              <a:buFont typeface="Calibri"/>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Tree>
    <p:extLst>
      <p:ext uri="{BB962C8B-B14F-4D97-AF65-F5344CB8AC3E}">
        <p14:creationId xmlns:p14="http://schemas.microsoft.com/office/powerpoint/2010/main" val="162521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775289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rgbClr val="0D3240"/>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00DF232-9F94-437F-A5B1-F2EE8AD5FEF8}"/>
              </a:ext>
            </a:extLst>
          </p:cNvPr>
          <p:cNvSpPr>
            <a:spLocks noGrp="1"/>
          </p:cNvSpPr>
          <p:nvPr>
            <p:ph type="title" hasCustomPrompt="1"/>
          </p:nvPr>
        </p:nvSpPr>
        <p:spPr>
          <a:xfrm>
            <a:off x="1509948" y="583259"/>
            <a:ext cx="4923509" cy="724989"/>
          </a:xfrm>
        </p:spPr>
        <p:txBody>
          <a:bodyPr/>
          <a:lstStyle>
            <a:lvl1pPr algn="ctr">
              <a:defRPr sz="6000" b="1">
                <a:solidFill>
                  <a:srgbClr val="02C9B6"/>
                </a:solidFill>
              </a:defRPr>
            </a:lvl1pPr>
          </a:lstStyle>
          <a:p>
            <a:r>
              <a:rPr lang="es-ES"/>
              <a:t>AGENDA</a:t>
            </a:r>
            <a:endParaRPr lang="es-CO"/>
          </a:p>
        </p:txBody>
      </p:sp>
      <p:sp>
        <p:nvSpPr>
          <p:cNvPr id="8" name="Google Shape;37;p32">
            <a:extLst>
              <a:ext uri="{FF2B5EF4-FFF2-40B4-BE49-F238E27FC236}">
                <a16:creationId xmlns:a16="http://schemas.microsoft.com/office/drawing/2014/main" id="{7E4911F7-0A38-4B68-AAA1-C1FC3DEB2706}"/>
              </a:ext>
            </a:extLst>
          </p:cNvPr>
          <p:cNvSpPr txBox="1">
            <a:spLocks noGrp="1"/>
          </p:cNvSpPr>
          <p:nvPr>
            <p:ph type="body" idx="1"/>
          </p:nvPr>
        </p:nvSpPr>
        <p:spPr>
          <a:xfrm>
            <a:off x="1509947" y="1624765"/>
            <a:ext cx="10018713" cy="4440917"/>
          </a:xfrm>
          <a:prstGeom prst="rect">
            <a:avLst/>
          </a:prstGeom>
          <a:noFill/>
          <a:ln>
            <a:noFill/>
          </a:ln>
        </p:spPr>
        <p:txBody>
          <a:bodyPr spcFirstLastPara="1" wrap="square" lIns="91425" tIns="45700" rIns="91425" bIns="45700" anchor="t" anchorCtr="0">
            <a:normAutofit/>
          </a:bodyPr>
          <a:lstStyle>
            <a:lvl1pPr marL="521970" lvl="0" indent="-514350" algn="l">
              <a:lnSpc>
                <a:spcPct val="100000"/>
              </a:lnSpc>
              <a:spcBef>
                <a:spcPts val="480"/>
              </a:spcBef>
              <a:spcAft>
                <a:spcPts val="0"/>
              </a:spcAft>
              <a:buClr>
                <a:srgbClr val="02C9B6"/>
              </a:buClr>
              <a:buSzPts val="3480"/>
              <a:buFont typeface="+mj-lt"/>
              <a:buAutoNum type="arabicPeriod"/>
              <a:defRPr sz="3600">
                <a:solidFill>
                  <a:schemeClr val="bg1"/>
                </a:solidFill>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pic>
        <p:nvPicPr>
          <p:cNvPr id="9" name="Gráfico 5">
            <a:extLst>
              <a:ext uri="{FF2B5EF4-FFF2-40B4-BE49-F238E27FC236}">
                <a16:creationId xmlns:a16="http://schemas.microsoft.com/office/drawing/2014/main" id="{77AE4992-419D-4C0D-ADAE-F817396DCB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7190" y="899777"/>
            <a:ext cx="6108174" cy="91951"/>
          </a:xfrm>
          <a:prstGeom prst="rect">
            <a:avLst/>
          </a:prstGeom>
        </p:spPr>
      </p:pic>
      <p:pic>
        <p:nvPicPr>
          <p:cNvPr id="10"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1" name="CuadroTexto 10">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173110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ma 1 de 3">
    <p:bg>
      <p:bgPr>
        <a:solidFill>
          <a:schemeClr val="bg1"/>
        </a:solid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296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7"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6037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ma 2 de 3">
    <p:bg>
      <p:bgPr>
        <a:solidFill>
          <a:schemeClr val="bg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1026005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ma 3 de 3">
    <p:bg>
      <p:bgPr>
        <a:solidFill>
          <a:schemeClr val="bg1"/>
        </a:solidFill>
        <a:effectLst/>
      </p:bgPr>
    </p:bg>
    <p:spTree>
      <p:nvGrpSpPr>
        <p:cNvPr id="1" name=""/>
        <p:cNvGrpSpPr/>
        <p:nvPr/>
      </p:nvGrpSpPr>
      <p:grpSpPr>
        <a:xfrm>
          <a:off x="0" y="0"/>
          <a:ext cx="0" cy="0"/>
          <a:chOff x="0" y="0"/>
          <a:chExt cx="0" cy="0"/>
        </a:xfrm>
      </p:grpSpPr>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2" name="Rectángulo 1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pic>
        <p:nvPicPr>
          <p:cNvPr id="14" name="Gráfico 11">
            <a:extLst>
              <a:ext uri="{FF2B5EF4-FFF2-40B4-BE49-F238E27FC236}">
                <a16:creationId xmlns:a16="http://schemas.microsoft.com/office/drawing/2014/main" id="{5DCCAEF9-2F14-419C-88B2-DA5C937F7DCF}"/>
              </a:ext>
            </a:extLst>
          </p:cNvPr>
          <p:cNvPicPr>
            <a:picLocks noChangeAspect="1"/>
          </p:cNvPicPr>
          <p:nvPr userDrawn="1"/>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42185" y="-11154"/>
            <a:ext cx="1590466" cy="6858000"/>
          </a:xfrm>
          <a:prstGeom prst="rect">
            <a:avLst/>
          </a:prstGeom>
        </p:spPr>
      </p:pic>
    </p:spTree>
    <p:extLst>
      <p:ext uri="{BB962C8B-B14F-4D97-AF65-F5344CB8AC3E}">
        <p14:creationId xmlns:p14="http://schemas.microsoft.com/office/powerpoint/2010/main" val="393934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ma 1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Rompiendo mitos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700" b="0" i="0" u="none" strike="noStrike" cap="none">
                <a:solidFill>
                  <a:schemeClr val="lt1"/>
                </a:solidFill>
                <a:latin typeface="Calibri"/>
                <a:ea typeface="Calibri"/>
                <a:cs typeface="Calibri"/>
                <a:sym typeface="Calibri"/>
              </a:rPr>
              <a:t>Pensamiento Computacional</a:t>
            </a:r>
            <a:endParaRPr lang="es-CO" sz="17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Computadores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Lenguajes de programación</a:t>
            </a:r>
          </a:p>
        </p:txBody>
      </p:sp>
    </p:spTree>
    <p:extLst>
      <p:ext uri="{BB962C8B-B14F-4D97-AF65-F5344CB8AC3E}">
        <p14:creationId xmlns:p14="http://schemas.microsoft.com/office/powerpoint/2010/main" val="2538057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ma 2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Rompiendo mitos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700" b="0" i="0" u="none" strike="noStrike" cap="none">
                <a:solidFill>
                  <a:schemeClr val="lt1"/>
                </a:solidFill>
                <a:latin typeface="Calibri"/>
                <a:ea typeface="Calibri"/>
                <a:cs typeface="Calibri"/>
                <a:sym typeface="Calibri"/>
              </a:rPr>
              <a:t>Pensamiento Computacional</a:t>
            </a:r>
            <a:endParaRPr lang="es-CO" sz="17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Computadores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Lenguajes de programación</a:t>
            </a:r>
          </a:p>
        </p:txBody>
      </p:sp>
    </p:spTree>
    <p:extLst>
      <p:ext uri="{BB962C8B-B14F-4D97-AF65-F5344CB8AC3E}">
        <p14:creationId xmlns:p14="http://schemas.microsoft.com/office/powerpoint/2010/main" val="326303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ma 3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Rompiendo mitos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700" b="0" i="0" u="none" strike="noStrike" cap="none">
                <a:solidFill>
                  <a:schemeClr val="lt1"/>
                </a:solidFill>
                <a:latin typeface="Calibri"/>
                <a:ea typeface="Calibri"/>
                <a:cs typeface="Calibri"/>
                <a:sym typeface="Calibri"/>
              </a:rPr>
              <a:t>Pensamiento Computacional</a:t>
            </a:r>
            <a:endParaRPr lang="es-CO" sz="17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Computadores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Lenguajes de programación</a:t>
            </a:r>
          </a:p>
        </p:txBody>
      </p:sp>
    </p:spTree>
    <p:extLst>
      <p:ext uri="{BB962C8B-B14F-4D97-AF65-F5344CB8AC3E}">
        <p14:creationId xmlns:p14="http://schemas.microsoft.com/office/powerpoint/2010/main" val="884537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ma 4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Rompiendo mitos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700" b="0" i="0" u="none" strike="noStrike" cap="none">
                <a:solidFill>
                  <a:schemeClr val="lt1"/>
                </a:solidFill>
                <a:latin typeface="Calibri"/>
                <a:ea typeface="Calibri"/>
                <a:cs typeface="Calibri"/>
                <a:sym typeface="Calibri"/>
              </a:rPr>
              <a:t>Pensamiento Computacional</a:t>
            </a:r>
            <a:endParaRPr lang="es-CO" sz="17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Computadores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Lenguajes de programación</a:t>
            </a:r>
          </a:p>
        </p:txBody>
      </p:sp>
    </p:spTree>
    <p:extLst>
      <p:ext uri="{BB962C8B-B14F-4D97-AF65-F5344CB8AC3E}">
        <p14:creationId xmlns:p14="http://schemas.microsoft.com/office/powerpoint/2010/main" val="2581545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ma 1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lang="es-CO"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7566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ma 2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351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ma 3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28246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a 4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9701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ma 5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lang="es-CO"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pic>
        <p:nvPicPr>
          <p:cNvPr id="17" name="Gráfico 11">
            <a:extLst>
              <a:ext uri="{FF2B5EF4-FFF2-40B4-BE49-F238E27FC236}">
                <a16:creationId xmlns:a16="http://schemas.microsoft.com/office/drawing/2014/main" id="{D88712F2-2C89-412E-A24E-AA2B1E304FE4}"/>
              </a:ext>
            </a:extLst>
          </p:cNvPr>
          <p:cNvPicPr>
            <a:picLocks noChangeAspect="1"/>
          </p:cNvPicPr>
          <p:nvPr userDrawn="1"/>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Tree>
    <p:extLst>
      <p:ext uri="{BB962C8B-B14F-4D97-AF65-F5344CB8AC3E}">
        <p14:creationId xmlns:p14="http://schemas.microsoft.com/office/powerpoint/2010/main" val="4165378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EjercicioFinal">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EJERCICIO FINAL</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2734579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ota">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8" name="Rectángulo 7">
            <a:extLst>
              <a:ext uri="{FF2B5EF4-FFF2-40B4-BE49-F238E27FC236}">
                <a16:creationId xmlns:a16="http://schemas.microsoft.com/office/drawing/2014/main" id="{79D2699A-DE0A-4825-8DB2-9F0E8B5DBA36}"/>
              </a:ext>
            </a:extLst>
          </p:cNvPr>
          <p:cNvSpPr/>
          <p:nvPr/>
        </p:nvSpPr>
        <p:spPr>
          <a:xfrm>
            <a:off x="2298607" y="2619419"/>
            <a:ext cx="5005387" cy="2286000"/>
          </a:xfrm>
          <a:prstGeom prst="rect">
            <a:avLst/>
          </a:prstGeom>
          <a:solidFill>
            <a:srgbClr val="02C9B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BFE8117D-8F35-423F-A08F-B39513EE78F8}"/>
              </a:ext>
            </a:extLst>
          </p:cNvPr>
          <p:cNvSpPr txBox="1"/>
          <p:nvPr/>
        </p:nvSpPr>
        <p:spPr>
          <a:xfrm>
            <a:off x="2587928" y="2941845"/>
            <a:ext cx="4426744" cy="1631216"/>
          </a:xfrm>
          <a:prstGeom prst="rect">
            <a:avLst/>
          </a:prstGeom>
          <a:noFill/>
        </p:spPr>
        <p:txBody>
          <a:bodyPr wrap="square">
            <a:spAutoFit/>
          </a:bodyPr>
          <a:lstStyle/>
          <a:p>
            <a:pPr marL="85725">
              <a:buClr>
                <a:schemeClr val="bg1"/>
              </a:buClr>
              <a:defRPr/>
            </a:pPr>
            <a:r>
              <a:rPr lang="es-ES" sz="2000" err="1">
                <a:solidFill>
                  <a:srgbClr val="7F7F7F"/>
                </a:solidFill>
              </a:rPr>
              <a:t>Lorem</a:t>
            </a:r>
            <a:r>
              <a:rPr lang="es-ES" sz="2000">
                <a:solidFill>
                  <a:srgbClr val="7F7F7F"/>
                </a:solidFill>
              </a:rPr>
              <a:t> </a:t>
            </a:r>
            <a:r>
              <a:rPr lang="es-ES" sz="2000" err="1">
                <a:solidFill>
                  <a:srgbClr val="7F7F7F"/>
                </a:solidFill>
              </a:rPr>
              <a:t>ipsum</a:t>
            </a:r>
            <a:r>
              <a:rPr lang="es-ES" sz="2000">
                <a:solidFill>
                  <a:srgbClr val="7F7F7F"/>
                </a:solidFill>
              </a:rPr>
              <a:t> dolor </a:t>
            </a:r>
            <a:r>
              <a:rPr lang="es-ES" sz="2000" err="1">
                <a:solidFill>
                  <a:srgbClr val="7F7F7F"/>
                </a:solidFill>
              </a:rPr>
              <a:t>sit</a:t>
            </a:r>
            <a:r>
              <a:rPr lang="es-ES" sz="2000">
                <a:solidFill>
                  <a:srgbClr val="7F7F7F"/>
                </a:solidFill>
              </a:rPr>
              <a:t> </a:t>
            </a:r>
            <a:r>
              <a:rPr lang="es-ES" sz="2000" err="1">
                <a:solidFill>
                  <a:srgbClr val="7F7F7F"/>
                </a:solidFill>
              </a:rPr>
              <a:t>amet</a:t>
            </a:r>
            <a:r>
              <a:rPr lang="es-ES" sz="2000">
                <a:solidFill>
                  <a:srgbClr val="7F7F7F"/>
                </a:solidFill>
              </a:rPr>
              <a:t>, </a:t>
            </a:r>
            <a:r>
              <a:rPr lang="es-ES" sz="2000" err="1">
                <a:solidFill>
                  <a:srgbClr val="7F7F7F"/>
                </a:solidFill>
              </a:rPr>
              <a:t>consectetur</a:t>
            </a:r>
            <a:r>
              <a:rPr lang="es-ES" sz="2000">
                <a:solidFill>
                  <a:srgbClr val="7F7F7F"/>
                </a:solidFill>
              </a:rPr>
              <a:t> </a:t>
            </a:r>
            <a:r>
              <a:rPr lang="es-ES" sz="2000" err="1">
                <a:solidFill>
                  <a:srgbClr val="7F7F7F"/>
                </a:solidFill>
              </a:rPr>
              <a:t>adipiscing</a:t>
            </a:r>
            <a:r>
              <a:rPr lang="es-ES" sz="2000">
                <a:solidFill>
                  <a:srgbClr val="7F7F7F"/>
                </a:solidFill>
              </a:rPr>
              <a:t> </a:t>
            </a:r>
            <a:r>
              <a:rPr lang="es-ES" sz="2000" err="1">
                <a:solidFill>
                  <a:srgbClr val="7F7F7F"/>
                </a:solidFill>
              </a:rPr>
              <a:t>elit</a:t>
            </a:r>
            <a:r>
              <a:rPr lang="es-ES" sz="2000">
                <a:solidFill>
                  <a:srgbClr val="7F7F7F"/>
                </a:solidFill>
              </a:rPr>
              <a:t>. </a:t>
            </a:r>
            <a:r>
              <a:rPr lang="es-ES" sz="2000" err="1">
                <a:solidFill>
                  <a:srgbClr val="7F7F7F"/>
                </a:solidFill>
              </a:rPr>
              <a:t>Integer</a:t>
            </a:r>
            <a:r>
              <a:rPr lang="es-ES" sz="2000">
                <a:solidFill>
                  <a:srgbClr val="7F7F7F"/>
                </a:solidFill>
              </a:rPr>
              <a:t> et </a:t>
            </a:r>
            <a:r>
              <a:rPr lang="es-ES" sz="2000" err="1">
                <a:solidFill>
                  <a:srgbClr val="7F7F7F"/>
                </a:solidFill>
              </a:rPr>
              <a:t>faucibus</a:t>
            </a:r>
            <a:r>
              <a:rPr lang="es-ES" sz="2000">
                <a:solidFill>
                  <a:srgbClr val="7F7F7F"/>
                </a:solidFill>
              </a:rPr>
              <a:t> odio. Quisque et ante </a:t>
            </a:r>
            <a:r>
              <a:rPr lang="es-ES" sz="2000" err="1">
                <a:solidFill>
                  <a:srgbClr val="7F7F7F"/>
                </a:solidFill>
              </a:rPr>
              <a:t>eu</a:t>
            </a:r>
            <a:r>
              <a:rPr lang="es-ES" sz="2000">
                <a:solidFill>
                  <a:srgbClr val="7F7F7F"/>
                </a:solidFill>
              </a:rPr>
              <a:t> </a:t>
            </a:r>
            <a:r>
              <a:rPr lang="es-ES" sz="2000" err="1">
                <a:solidFill>
                  <a:srgbClr val="7F7F7F"/>
                </a:solidFill>
              </a:rPr>
              <a:t>ipsum</a:t>
            </a:r>
            <a:r>
              <a:rPr lang="es-ES" sz="2000">
                <a:solidFill>
                  <a:srgbClr val="7F7F7F"/>
                </a:solidFill>
              </a:rPr>
              <a:t> </a:t>
            </a:r>
            <a:r>
              <a:rPr lang="es-ES" sz="2000" err="1">
                <a:solidFill>
                  <a:srgbClr val="7F7F7F"/>
                </a:solidFill>
              </a:rPr>
              <a:t>dictum</a:t>
            </a:r>
            <a:r>
              <a:rPr lang="es-ES" sz="2000">
                <a:solidFill>
                  <a:srgbClr val="7F7F7F"/>
                </a:solidFill>
              </a:rPr>
              <a:t> </a:t>
            </a:r>
            <a:r>
              <a:rPr lang="es-ES" sz="2000" err="1">
                <a:solidFill>
                  <a:srgbClr val="7F7F7F"/>
                </a:solidFill>
              </a:rPr>
              <a:t>pretium</a:t>
            </a:r>
            <a:r>
              <a:rPr lang="es-ES" sz="2000">
                <a:solidFill>
                  <a:srgbClr val="7F7F7F"/>
                </a:solidFill>
              </a:rPr>
              <a:t> id </a:t>
            </a:r>
            <a:r>
              <a:rPr lang="es-ES" sz="2000" err="1">
                <a:solidFill>
                  <a:srgbClr val="7F7F7F"/>
                </a:solidFill>
              </a:rPr>
              <a:t>finibus</a:t>
            </a:r>
            <a:r>
              <a:rPr lang="es-ES" sz="2000">
                <a:solidFill>
                  <a:srgbClr val="7F7F7F"/>
                </a:solidFill>
              </a:rPr>
              <a:t> odio. </a:t>
            </a:r>
            <a:r>
              <a:rPr lang="es-ES" sz="2000" err="1">
                <a:solidFill>
                  <a:srgbClr val="7F7F7F"/>
                </a:solidFill>
              </a:rPr>
              <a:t>Donec</a:t>
            </a:r>
            <a:r>
              <a:rPr lang="es-ES" sz="2000">
                <a:solidFill>
                  <a:srgbClr val="7F7F7F"/>
                </a:solidFill>
              </a:rPr>
              <a:t> vitae </a:t>
            </a:r>
            <a:r>
              <a:rPr lang="es-ES" sz="2000" err="1">
                <a:solidFill>
                  <a:srgbClr val="7F7F7F"/>
                </a:solidFill>
              </a:rPr>
              <a:t>nibh</a:t>
            </a:r>
            <a:r>
              <a:rPr lang="es-ES" sz="2000">
                <a:solidFill>
                  <a:srgbClr val="7F7F7F"/>
                </a:solidFill>
              </a:rPr>
              <a:t> </a:t>
            </a:r>
            <a:r>
              <a:rPr lang="es-ES" sz="2000" err="1">
                <a:solidFill>
                  <a:srgbClr val="7F7F7F"/>
                </a:solidFill>
              </a:rPr>
              <a:t>semper</a:t>
            </a:r>
            <a:r>
              <a:rPr lang="es-ES" sz="2000">
                <a:solidFill>
                  <a:srgbClr val="7F7F7F"/>
                </a:solidFill>
              </a:rPr>
              <a:t> </a:t>
            </a:r>
            <a:r>
              <a:rPr lang="es-ES" sz="2000" err="1">
                <a:solidFill>
                  <a:srgbClr val="7F7F7F"/>
                </a:solidFill>
              </a:rPr>
              <a:t>est</a:t>
            </a:r>
            <a:r>
              <a:rPr lang="es-ES" sz="2000">
                <a:solidFill>
                  <a:srgbClr val="7F7F7F"/>
                </a:solidFill>
              </a:rPr>
              <a:t> </a:t>
            </a:r>
            <a:r>
              <a:rPr lang="es-ES" sz="2000" err="1">
                <a:solidFill>
                  <a:srgbClr val="7F7F7F"/>
                </a:solidFill>
              </a:rPr>
              <a:t>luctus</a:t>
            </a:r>
            <a:r>
              <a:rPr lang="es-ES" sz="2000">
                <a:solidFill>
                  <a:srgbClr val="7F7F7F"/>
                </a:solidFill>
              </a:rPr>
              <a:t> </a:t>
            </a:r>
            <a:r>
              <a:rPr lang="es-ES" sz="2000" err="1">
                <a:solidFill>
                  <a:srgbClr val="7F7F7F"/>
                </a:solidFill>
              </a:rPr>
              <a:t>vulputate</a:t>
            </a:r>
            <a:r>
              <a:rPr lang="es-ES" sz="2000">
                <a:solidFill>
                  <a:srgbClr val="7F7F7F"/>
                </a:solidFill>
              </a:rPr>
              <a:t>. </a:t>
            </a:r>
          </a:p>
        </p:txBody>
      </p:sp>
    </p:spTree>
    <p:extLst>
      <p:ext uri="{BB962C8B-B14F-4D97-AF65-F5344CB8AC3E}">
        <p14:creationId xmlns:p14="http://schemas.microsoft.com/office/powerpoint/2010/main" val="14833060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3965943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Recapitulemos">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RECAPITULEMOS</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2762796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eferencia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10"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REFERENCIAS</a:t>
            </a:r>
            <a:endParaRPr/>
          </a:p>
        </p:txBody>
      </p:sp>
      <p:sp>
        <p:nvSpPr>
          <p:cNvPr id="11" name="Google Shape;41;p33"/>
          <p:cNvSpPr txBox="1">
            <a:spLocks noGrp="1"/>
          </p:cNvSpPr>
          <p:nvPr>
            <p:ph type="body" idx="1"/>
          </p:nvPr>
        </p:nvSpPr>
        <p:spPr>
          <a:xfrm>
            <a:off x="2076994" y="2057401"/>
            <a:ext cx="9666016" cy="401682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12" name="Google Shape;41;p33"/>
          <p:cNvSpPr txBox="1">
            <a:spLocks noGrp="1"/>
          </p:cNvSpPr>
          <p:nvPr>
            <p:ph type="body" idx="12" hasCustomPrompt="1"/>
          </p:nvPr>
        </p:nvSpPr>
        <p:spPr>
          <a:xfrm>
            <a:off x="2076994" y="1370695"/>
            <a:ext cx="9666016" cy="556981"/>
          </a:xfrm>
          <a:prstGeom prst="rect">
            <a:avLst/>
          </a:prstGeom>
          <a:noFill/>
          <a:ln>
            <a:noFill/>
          </a:ln>
        </p:spPr>
        <p:txBody>
          <a:bodyPr spcFirstLastPara="1" wrap="square" lIns="91425" tIns="45700" rIns="91425" bIns="45700" anchor="t" anchorCtr="0">
            <a:normAutofit/>
          </a:bodyPr>
          <a:lstStyle>
            <a:lvl1pPr marL="76200" lvl="0" indent="0" algn="ctr">
              <a:lnSpc>
                <a:spcPct val="100000"/>
              </a:lnSpc>
              <a:spcBef>
                <a:spcPts val="480"/>
              </a:spcBef>
              <a:spcAft>
                <a:spcPts val="0"/>
              </a:spcAft>
              <a:buClr>
                <a:srgbClr val="009BAF"/>
              </a:buClr>
              <a:buSzPts val="2400"/>
              <a:buNone/>
              <a:defRPr sz="2500" b="0" i="1" baseline="0">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Material elaborado por: Daniel Correa – Paola Vallejo</a:t>
            </a:r>
            <a:endParaRPr/>
          </a:p>
        </p:txBody>
      </p:sp>
    </p:spTree>
    <p:extLst>
      <p:ext uri="{BB962C8B-B14F-4D97-AF65-F5344CB8AC3E}">
        <p14:creationId xmlns:p14="http://schemas.microsoft.com/office/powerpoint/2010/main" val="20304079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acias">
    <p:spTree>
      <p:nvGrpSpPr>
        <p:cNvPr id="1" name=""/>
        <p:cNvGrpSpPr/>
        <p:nvPr/>
      </p:nvGrpSpPr>
      <p:grpSpPr>
        <a:xfrm>
          <a:off x="0" y="0"/>
          <a:ext cx="0" cy="0"/>
          <a:chOff x="0" y="0"/>
          <a:chExt cx="0" cy="0"/>
        </a:xfrm>
      </p:grpSpPr>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 name="Imagen 6" descr="Imagen que contiene coral, calle, animal, agua&#10;&#10;Descripción generada automáticamente">
            <a:extLst>
              <a:ext uri="{FF2B5EF4-FFF2-40B4-BE49-F238E27FC236}">
                <a16:creationId xmlns:a16="http://schemas.microsoft.com/office/drawing/2014/main" id="{A5F3A245-A1F9-4A5B-8A86-780845E96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CuadroTexto 9">
            <a:extLst>
              <a:ext uri="{FF2B5EF4-FFF2-40B4-BE49-F238E27FC236}">
                <a16:creationId xmlns:a16="http://schemas.microsoft.com/office/drawing/2014/main" id="{1372829B-FCDA-43E4-9B63-B4AC88469ACE}"/>
              </a:ext>
            </a:extLst>
          </p:cNvPr>
          <p:cNvSpPr txBox="1"/>
          <p:nvPr/>
        </p:nvSpPr>
        <p:spPr>
          <a:xfrm>
            <a:off x="442914" y="4306260"/>
            <a:ext cx="5829300" cy="1569660"/>
          </a:xfrm>
          <a:prstGeom prst="rect">
            <a:avLst/>
          </a:prstGeom>
          <a:noFill/>
        </p:spPr>
        <p:txBody>
          <a:bodyPr wrap="square" rtlCol="0">
            <a:spAutoFit/>
          </a:bodyPr>
          <a:lstStyle/>
          <a:p>
            <a:r>
              <a:rPr lang="es-CO" sz="9600" b="1">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rPr>
              <a:t>GRACIAS</a:t>
            </a:r>
          </a:p>
        </p:txBody>
      </p:sp>
      <p:sp>
        <p:nvSpPr>
          <p:cNvPr id="11" name="CuadroTexto 10">
            <a:extLst>
              <a:ext uri="{FF2B5EF4-FFF2-40B4-BE49-F238E27FC236}">
                <a16:creationId xmlns:a16="http://schemas.microsoft.com/office/drawing/2014/main" id="{FBE21F91-9CD8-45F8-8EE6-36309EE3AF6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2" name="Rectángulo 11">
            <a:extLst>
              <a:ext uri="{FF2B5EF4-FFF2-40B4-BE49-F238E27FC236}">
                <a16:creationId xmlns:a16="http://schemas.microsoft.com/office/drawing/2014/main" id="{0936407D-25E2-4917-A6B9-D0CDF493D1CA}"/>
              </a:ext>
            </a:extLst>
          </p:cNvPr>
          <p:cNvSpPr/>
          <p:nvPr/>
        </p:nvSpPr>
        <p:spPr>
          <a:xfrm>
            <a:off x="442914" y="4433865"/>
            <a:ext cx="5829300" cy="1314450"/>
          </a:xfrm>
          <a:prstGeom prst="rect">
            <a:avLst/>
          </a:prstGeom>
          <a:noFill/>
          <a:ln w="22225">
            <a:solidFill>
              <a:srgbClr val="02C9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3826" y="5091090"/>
            <a:ext cx="6108174" cy="91951"/>
          </a:xfrm>
          <a:prstGeom prst="rect">
            <a:avLst/>
          </a:prstGeom>
        </p:spPr>
      </p:pic>
    </p:spTree>
    <p:extLst>
      <p:ext uri="{BB962C8B-B14F-4D97-AF65-F5344CB8AC3E}">
        <p14:creationId xmlns:p14="http://schemas.microsoft.com/office/powerpoint/2010/main" val="2414983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Diapositiva de títul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193361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Diapositiva de título">
    <p:spTree>
      <p:nvGrpSpPr>
        <p:cNvPr id="1" name="Shape 22"/>
        <p:cNvGrpSpPr/>
        <p:nvPr/>
      </p:nvGrpSpPr>
      <p:grpSpPr>
        <a:xfrm>
          <a:off x="0" y="0"/>
          <a:ext cx="0" cy="0"/>
          <a:chOff x="0" y="0"/>
          <a:chExt cx="0" cy="0"/>
        </a:xfrm>
      </p:grpSpPr>
      <p:sp>
        <p:nvSpPr>
          <p:cNvPr id="30" name="Google Shape;30;p3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6000"/>
              <a:buFont typeface="Calibri"/>
              <a:buNone/>
              <a:defRPr sz="6000" b="1">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lnSpc>
                <a:spcPct val="100000"/>
              </a:lnSpc>
              <a:spcBef>
                <a:spcPts val="400"/>
              </a:spcBef>
              <a:spcAft>
                <a:spcPts val="0"/>
              </a:spcAft>
              <a:buSzPts val="2900"/>
              <a:buNone/>
              <a:defRPr sz="2000">
                <a:solidFill>
                  <a:schemeClr val="dk1"/>
                </a:solidFill>
                <a:latin typeface="Calibri"/>
                <a:ea typeface="Calibri"/>
                <a:cs typeface="Calibri"/>
                <a:sym typeface="Calibri"/>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a:endParaRPr/>
          </a:p>
        </p:txBody>
      </p:sp>
      <p:sp>
        <p:nvSpPr>
          <p:cNvPr id="32" name="Google Shape;32;p3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34013208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24297" y="274321"/>
            <a:ext cx="10018713"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1724297" y="1410789"/>
            <a:ext cx="10018713" cy="4663440"/>
          </a:xfrm>
          <a:prstGeom prst="rect">
            <a:avLst/>
          </a:prstGeom>
          <a:noFill/>
          <a:ln>
            <a:noFill/>
          </a:ln>
        </p:spPr>
        <p:txBody>
          <a:bodyPr spcFirstLastPara="1" wrap="square" lIns="91425" tIns="45700" rIns="91425" bIns="45700" anchor="t" anchorCtr="0">
            <a:normAutofit/>
          </a:bodyPr>
          <a:lstStyle>
            <a:lvl1pPr marL="457200" lvl="0" indent="-449580" algn="l">
              <a:lnSpc>
                <a:spcPct val="100000"/>
              </a:lnSpc>
              <a:spcBef>
                <a:spcPts val="480"/>
              </a:spcBef>
              <a:spcAft>
                <a:spcPts val="0"/>
              </a:spcAft>
              <a:buSzPts val="3480"/>
              <a:buChar char="•"/>
              <a:defRPr>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38" name="Google Shape;38;p32"/>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1404850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Título y objetos">
  <p:cSld name="2_Título y objetos">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42" name="Google Shape;42;p33"/>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2473543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7">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11598729" y="6492875"/>
            <a:ext cx="593271" cy="365125"/>
          </a:xfrm>
          <a:prstGeom prst="rect">
            <a:avLst/>
          </a:prstGeom>
        </p:spPr>
        <p:txBody>
          <a:bodyPr vert="horz" lIns="91440" tIns="45720" rIns="91440" bIns="45720" rtlCol="0" anchor="ctr"/>
          <a:lstStyle>
            <a:lvl1pPr algn="r">
              <a:defRPr sz="1200" b="1">
                <a:solidFill>
                  <a:schemeClr val="tx1"/>
                </a:solidFill>
              </a:defRPr>
            </a:lvl1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33797517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8.xml"/><Relationship Id="rId6" Type="http://schemas.openxmlformats.org/officeDocument/2006/relationships/image" Target="../media/image20.jpe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8.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0.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
          <p:cNvSpPr txBox="1">
            <a:spLocks noGrp="1"/>
          </p:cNvSpPr>
          <p:nvPr>
            <p:ph type="title"/>
          </p:nvPr>
        </p:nvSpPr>
        <p:spPr>
          <a:xfrm>
            <a:off x="2644877" y="1788503"/>
            <a:ext cx="9079083" cy="1018902"/>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6000"/>
              <a:buFont typeface="Calibri"/>
              <a:buNone/>
            </a:pPr>
            <a:r>
              <a:rPr lang="es-CO" sz="4800"/>
              <a:t>Introducción al Pensamiento Computacional</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b="1"/>
              <a:t>Rompiendo mitos</a:t>
            </a:r>
          </a:p>
          <a:p>
            <a:pPr marL="457200" lvl="0" indent="-457200">
              <a:spcBef>
                <a:spcPts val="0"/>
              </a:spcBef>
              <a:buSzPts val="2400"/>
              <a:buFont typeface="Calibri"/>
              <a:buAutoNum type="arabicPeriod"/>
            </a:pPr>
            <a:r>
              <a:rPr lang="es-ES"/>
              <a:t>Pensamiento Computacional</a:t>
            </a:r>
          </a:p>
          <a:p>
            <a:pPr marL="457200" lvl="0" indent="-457200">
              <a:spcBef>
                <a:spcPts val="0"/>
              </a:spcBef>
              <a:buSzPts val="2400"/>
              <a:buFont typeface="Calibri"/>
              <a:buAutoNum type="arabicPeriod"/>
            </a:pPr>
            <a:r>
              <a:rPr lang="es-ES"/>
              <a:t>Computadores</a:t>
            </a:r>
          </a:p>
          <a:p>
            <a:pPr marL="457200" lvl="0" indent="-457200">
              <a:spcBef>
                <a:spcPts val="0"/>
              </a:spcBef>
              <a:buSzPts val="2400"/>
              <a:buFont typeface="Calibri"/>
              <a:buAutoNum type="arabicPeriod"/>
            </a:pPr>
            <a:r>
              <a:rPr lang="es-ES"/>
              <a:t>Lenguajes de programación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B8CEF71-9F46-4662-BD40-A836FF0E81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a:t>
            </a:fld>
            <a:endParaRPr lang="es-CO"/>
          </a:p>
        </p:txBody>
      </p:sp>
      <p:sp>
        <p:nvSpPr>
          <p:cNvPr id="7" name="Título 1">
            <a:extLst>
              <a:ext uri="{FF2B5EF4-FFF2-40B4-BE49-F238E27FC236}">
                <a16:creationId xmlns:a16="http://schemas.microsoft.com/office/drawing/2014/main" id="{BBE968AB-65CB-41D2-A61B-C6496B91B3D1}"/>
              </a:ext>
            </a:extLst>
          </p:cNvPr>
          <p:cNvSpPr>
            <a:spLocks noGrp="1"/>
          </p:cNvSpPr>
          <p:nvPr>
            <p:ph type="title"/>
          </p:nvPr>
        </p:nvSpPr>
        <p:spPr>
          <a:xfrm>
            <a:off x="2076994" y="366447"/>
            <a:ext cx="9666016" cy="1018902"/>
          </a:xfrm>
        </p:spPr>
        <p:txBody>
          <a:bodyPr>
            <a:normAutofit fontScale="90000"/>
          </a:bodyPr>
          <a:lstStyle/>
          <a:p>
            <a:r>
              <a:rPr lang="es-CO"/>
              <a:t>¿Los programadores necesitan saber mucha matemática?</a:t>
            </a:r>
          </a:p>
        </p:txBody>
      </p:sp>
      <p:sp>
        <p:nvSpPr>
          <p:cNvPr id="8" name="Marcador de texto 2">
            <a:extLst>
              <a:ext uri="{FF2B5EF4-FFF2-40B4-BE49-F238E27FC236}">
                <a16:creationId xmlns:a16="http://schemas.microsoft.com/office/drawing/2014/main" id="{A3FA94F4-AF54-4268-9ACC-B346C708D872}"/>
              </a:ext>
            </a:extLst>
          </p:cNvPr>
          <p:cNvSpPr>
            <a:spLocks noGrp="1"/>
          </p:cNvSpPr>
          <p:nvPr>
            <p:ph type="body" idx="1"/>
          </p:nvPr>
        </p:nvSpPr>
        <p:spPr>
          <a:xfrm>
            <a:off x="2076995" y="2013971"/>
            <a:ext cx="4937264" cy="4236720"/>
          </a:xfrm>
        </p:spPr>
        <p:txBody>
          <a:bodyPr/>
          <a:lstStyle/>
          <a:p>
            <a:pPr algn="just"/>
            <a:r>
              <a:rPr lang="es-CO"/>
              <a:t>La mayor parte de la programación no requiere más matemática que la aritmética básica.</a:t>
            </a:r>
          </a:p>
          <a:p>
            <a:pPr algn="just"/>
            <a:endParaRPr lang="es-CO"/>
          </a:p>
          <a:p>
            <a:pPr algn="just"/>
            <a:r>
              <a:rPr lang="es-CO"/>
              <a:t>Sin embargo, se requiere muy buena lógica.</a:t>
            </a:r>
          </a:p>
          <a:p>
            <a:endParaRPr lang="es-CO"/>
          </a:p>
        </p:txBody>
      </p:sp>
      <p:pic>
        <p:nvPicPr>
          <p:cNvPr id="9" name="Picture 2">
            <a:extLst>
              <a:ext uri="{FF2B5EF4-FFF2-40B4-BE49-F238E27FC236}">
                <a16:creationId xmlns:a16="http://schemas.microsoft.com/office/drawing/2014/main" id="{55D387C4-6F6A-4984-9F91-4C1D4E0BB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5037" y="2215756"/>
            <a:ext cx="3637343" cy="363734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78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1371A-E2C7-497F-837D-E075449F99EE}"/>
              </a:ext>
            </a:extLst>
          </p:cNvPr>
          <p:cNvSpPr>
            <a:spLocks noGrp="1"/>
          </p:cNvSpPr>
          <p:nvPr>
            <p:ph type="title"/>
          </p:nvPr>
        </p:nvSpPr>
        <p:spPr>
          <a:xfrm>
            <a:off x="2076994" y="121710"/>
            <a:ext cx="9666016" cy="1018902"/>
          </a:xfrm>
        </p:spPr>
        <p:txBody>
          <a:bodyPr>
            <a:normAutofit fontScale="90000"/>
          </a:bodyPr>
          <a:lstStyle/>
          <a:p>
            <a:r>
              <a:rPr lang="es-CO"/>
              <a:t>¿Sólo los ingenieros de sistemas programan?</a:t>
            </a:r>
          </a:p>
        </p:txBody>
      </p:sp>
      <p:sp>
        <p:nvSpPr>
          <p:cNvPr id="3" name="Marcador de texto 2">
            <a:extLst>
              <a:ext uri="{FF2B5EF4-FFF2-40B4-BE49-F238E27FC236}">
                <a16:creationId xmlns:a16="http://schemas.microsoft.com/office/drawing/2014/main" id="{A9042093-CAE8-41E7-951A-DEFF03386514}"/>
              </a:ext>
            </a:extLst>
          </p:cNvPr>
          <p:cNvSpPr>
            <a:spLocks noGrp="1"/>
          </p:cNvSpPr>
          <p:nvPr>
            <p:ph type="body" idx="1"/>
          </p:nvPr>
        </p:nvSpPr>
        <p:spPr>
          <a:xfrm>
            <a:off x="1817205" y="1124607"/>
            <a:ext cx="6409280" cy="5320798"/>
          </a:xfrm>
        </p:spPr>
        <p:txBody>
          <a:bodyPr>
            <a:noAutofit/>
          </a:bodyPr>
          <a:lstStyle/>
          <a:p>
            <a:pPr algn="just">
              <a:buSzPct val="100000"/>
            </a:pPr>
            <a:r>
              <a:rPr lang="es-CO" sz="1950" b="1"/>
              <a:t>Cualquier persona debería programar</a:t>
            </a:r>
            <a:r>
              <a:rPr lang="es-CO" sz="1950"/>
              <a:t>. Hoy en día muchos colegios lo enseñan desde secundaria. </a:t>
            </a:r>
          </a:p>
          <a:p>
            <a:pPr algn="just">
              <a:buSzPct val="100000"/>
            </a:pPr>
            <a:endParaRPr lang="es-CO" sz="800"/>
          </a:p>
          <a:p>
            <a:pPr algn="just">
              <a:buSzPct val="100000"/>
            </a:pPr>
            <a:r>
              <a:rPr lang="es-CO" sz="1950"/>
              <a:t>Incluso un poco de programación </a:t>
            </a:r>
            <a:r>
              <a:rPr lang="es-CO" sz="1950" b="1"/>
              <a:t>puede ser un superpoder que puedes agregar a tu hoja de vida</a:t>
            </a:r>
            <a:r>
              <a:rPr lang="es-CO" sz="1950"/>
              <a:t>.</a:t>
            </a:r>
          </a:p>
          <a:p>
            <a:pPr algn="just">
              <a:buSzPct val="100000"/>
            </a:pPr>
            <a:endParaRPr lang="es-CO" sz="800"/>
          </a:p>
          <a:p>
            <a:pPr algn="just">
              <a:buSzPct val="100000"/>
            </a:pPr>
            <a:r>
              <a:rPr lang="es-CO" sz="1950"/>
              <a:t>Supongamos que eres una bióloga. </a:t>
            </a:r>
            <a:r>
              <a:rPr lang="es-CO" sz="1950" b="1"/>
              <a:t>¿Deberías dejar tu carrera de biología y dedicarte a la programación?</a:t>
            </a:r>
            <a:r>
              <a:rPr lang="es-CO" sz="1950"/>
              <a:t> Probablemente no. Pero, tener habilidades de programación te permitiría, por ejemplo, obtener miles de datos de internet sobre poblaciones animales en pocos segundos y analizar rápidamente esos datos. Sin programación, esta tarea podría tomarte semanas, meses o años. La programación </a:t>
            </a:r>
            <a:r>
              <a:rPr lang="es-CO" sz="1950" b="1"/>
              <a:t>toma tus habilidades</a:t>
            </a:r>
            <a:r>
              <a:rPr lang="es-CO" sz="1950"/>
              <a:t> de biología </a:t>
            </a:r>
            <a:r>
              <a:rPr lang="es-CO" sz="1950" b="1"/>
              <a:t>y las amplifica mucho más allá que las de tus colegas</a:t>
            </a:r>
            <a:r>
              <a:rPr lang="es-CO" sz="1950"/>
              <a:t>. Te da un superpoder.  </a:t>
            </a:r>
          </a:p>
          <a:p>
            <a:pPr algn="just"/>
            <a:endParaRPr lang="es-CO" sz="800"/>
          </a:p>
        </p:txBody>
      </p:sp>
      <p:sp>
        <p:nvSpPr>
          <p:cNvPr id="4" name="Marcador de número de diapositiva 3">
            <a:extLst>
              <a:ext uri="{FF2B5EF4-FFF2-40B4-BE49-F238E27FC236}">
                <a16:creationId xmlns:a16="http://schemas.microsoft.com/office/drawing/2014/main" id="{0D199831-E324-4314-8E8C-458776F2EF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4</a:t>
            </a:fld>
            <a:endParaRPr lang="es-CO"/>
          </a:p>
        </p:txBody>
      </p:sp>
      <p:pic>
        <p:nvPicPr>
          <p:cNvPr id="7" name="Imagen 6">
            <a:extLst>
              <a:ext uri="{FF2B5EF4-FFF2-40B4-BE49-F238E27FC236}">
                <a16:creationId xmlns:a16="http://schemas.microsoft.com/office/drawing/2014/main" id="{4B49CEBE-3C80-4D30-98FF-941FBC38964B}"/>
              </a:ext>
            </a:extLst>
          </p:cNvPr>
          <p:cNvPicPr>
            <a:picLocks noChangeAspect="1"/>
          </p:cNvPicPr>
          <p:nvPr/>
        </p:nvPicPr>
        <p:blipFill>
          <a:blip r:embed="rId3"/>
          <a:stretch>
            <a:fillRect/>
          </a:stretch>
        </p:blipFill>
        <p:spPr>
          <a:xfrm>
            <a:off x="8640176" y="1374786"/>
            <a:ext cx="2949660" cy="225483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1239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1371A-E2C7-497F-837D-E075449F99EE}"/>
              </a:ext>
            </a:extLst>
          </p:cNvPr>
          <p:cNvSpPr>
            <a:spLocks noGrp="1"/>
          </p:cNvSpPr>
          <p:nvPr>
            <p:ph type="title"/>
          </p:nvPr>
        </p:nvSpPr>
        <p:spPr>
          <a:xfrm>
            <a:off x="2076994" y="222069"/>
            <a:ext cx="4549948" cy="2471970"/>
          </a:xfrm>
        </p:spPr>
        <p:txBody>
          <a:bodyPr>
            <a:noAutofit/>
          </a:bodyPr>
          <a:lstStyle/>
          <a:p>
            <a:r>
              <a:rPr lang="es-CO" sz="3200"/>
              <a:t>¿Vi un curso de programación, ya puedo empezar a trabajar como programador y hackear </a:t>
            </a:r>
            <a:r>
              <a:rPr lang="es-CO" sz="3200" err="1"/>
              <a:t>facebook</a:t>
            </a:r>
            <a:r>
              <a:rPr lang="es-CO" sz="3200"/>
              <a:t>?</a:t>
            </a:r>
          </a:p>
        </p:txBody>
      </p:sp>
      <p:sp>
        <p:nvSpPr>
          <p:cNvPr id="3" name="Marcador de texto 2">
            <a:extLst>
              <a:ext uri="{FF2B5EF4-FFF2-40B4-BE49-F238E27FC236}">
                <a16:creationId xmlns:a16="http://schemas.microsoft.com/office/drawing/2014/main" id="{A9042093-CAE8-41E7-951A-DEFF03386514}"/>
              </a:ext>
            </a:extLst>
          </p:cNvPr>
          <p:cNvSpPr>
            <a:spLocks noGrp="1"/>
          </p:cNvSpPr>
          <p:nvPr>
            <p:ph type="body" idx="1"/>
          </p:nvPr>
        </p:nvSpPr>
        <p:spPr>
          <a:xfrm>
            <a:off x="1866373" y="3183418"/>
            <a:ext cx="4971190" cy="2731261"/>
          </a:xfrm>
        </p:spPr>
        <p:txBody>
          <a:bodyPr>
            <a:noAutofit/>
          </a:bodyPr>
          <a:lstStyle/>
          <a:p>
            <a:pPr algn="just"/>
            <a:r>
              <a:rPr lang="es-CO" sz="2200"/>
              <a:t>Saber pensamiento computacional es </a:t>
            </a:r>
            <a:r>
              <a:rPr lang="es-CO" sz="2200" b="1"/>
              <a:t>un plus </a:t>
            </a:r>
            <a:r>
              <a:rPr lang="es-CO" sz="2200"/>
              <a:t>para cualquier carrera.</a:t>
            </a:r>
          </a:p>
          <a:p>
            <a:pPr algn="just"/>
            <a:endParaRPr lang="es-CO" sz="800"/>
          </a:p>
          <a:p>
            <a:pPr algn="just"/>
            <a:r>
              <a:rPr lang="es-CO" sz="2200"/>
              <a:t>Mejor razonamiento para resolver problemas.</a:t>
            </a:r>
          </a:p>
          <a:p>
            <a:pPr algn="just"/>
            <a:endParaRPr lang="es-CO" sz="800"/>
          </a:p>
          <a:p>
            <a:pPr algn="just"/>
            <a:r>
              <a:rPr lang="es-CO" sz="2200"/>
              <a:t>Más oportunidades labores.</a:t>
            </a:r>
          </a:p>
          <a:p>
            <a:pPr algn="just"/>
            <a:endParaRPr lang="es-CO" sz="800"/>
          </a:p>
          <a:p>
            <a:pPr algn="just"/>
            <a:r>
              <a:rPr lang="es-CO" sz="2200"/>
              <a:t>Mejores salarios.</a:t>
            </a:r>
          </a:p>
          <a:p>
            <a:pPr algn="just"/>
            <a:endParaRPr lang="es-CO" sz="2400"/>
          </a:p>
        </p:txBody>
      </p:sp>
      <p:sp>
        <p:nvSpPr>
          <p:cNvPr id="4" name="Marcador de número de diapositiva 3">
            <a:extLst>
              <a:ext uri="{FF2B5EF4-FFF2-40B4-BE49-F238E27FC236}">
                <a16:creationId xmlns:a16="http://schemas.microsoft.com/office/drawing/2014/main" id="{0D199831-E324-4314-8E8C-458776F2EF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5</a:t>
            </a:fld>
            <a:endParaRPr lang="es-CO"/>
          </a:p>
        </p:txBody>
      </p:sp>
      <p:pic>
        <p:nvPicPr>
          <p:cNvPr id="5" name="Picture 4" descr="Diagrama&#10;&#10;Descripción generada automáticamente">
            <a:extLst>
              <a:ext uri="{FF2B5EF4-FFF2-40B4-BE49-F238E27FC236}">
                <a16:creationId xmlns:a16="http://schemas.microsoft.com/office/drawing/2014/main" id="{E6775BCD-EBFA-442A-932D-4DA3A2A555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22384" y="294552"/>
            <a:ext cx="4738160" cy="59226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8144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Rompiendo mitos</a:t>
            </a:r>
          </a:p>
          <a:p>
            <a:pPr marL="457200" lvl="0" indent="-457200">
              <a:spcBef>
                <a:spcPts val="0"/>
              </a:spcBef>
              <a:buSzPts val="2400"/>
              <a:buFont typeface="Calibri"/>
              <a:buAutoNum type="arabicPeriod"/>
            </a:pPr>
            <a:r>
              <a:rPr lang="es-ES" b="1"/>
              <a:t>Pensamiento Computacional</a:t>
            </a:r>
          </a:p>
          <a:p>
            <a:pPr marL="457200" lvl="0" indent="-457200">
              <a:spcBef>
                <a:spcPts val="0"/>
              </a:spcBef>
              <a:buSzPts val="2400"/>
              <a:buFont typeface="Calibri"/>
              <a:buAutoNum type="arabicPeriod"/>
            </a:pPr>
            <a:r>
              <a:rPr lang="es-ES"/>
              <a:t>Computadores</a:t>
            </a:r>
          </a:p>
          <a:p>
            <a:pPr marL="457200" lvl="0" indent="-457200">
              <a:spcBef>
                <a:spcPts val="0"/>
              </a:spcBef>
              <a:buSzPts val="2400"/>
              <a:buFont typeface="Calibri"/>
              <a:buAutoNum type="arabicPeriod"/>
            </a:pPr>
            <a:r>
              <a:rPr lang="es-ES"/>
              <a:t>Lenguajes de programación</a:t>
            </a:r>
          </a:p>
        </p:txBody>
      </p:sp>
    </p:spTree>
    <p:extLst>
      <p:ext uri="{BB962C8B-B14F-4D97-AF65-F5344CB8AC3E}">
        <p14:creationId xmlns:p14="http://schemas.microsoft.com/office/powerpoint/2010/main" val="241628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56339-3B20-432C-B0D9-DB821165DAC2}"/>
              </a:ext>
            </a:extLst>
          </p:cNvPr>
          <p:cNvSpPr>
            <a:spLocks noGrp="1"/>
          </p:cNvSpPr>
          <p:nvPr>
            <p:ph type="title"/>
          </p:nvPr>
        </p:nvSpPr>
        <p:spPr/>
        <p:txBody>
          <a:bodyPr>
            <a:noAutofit/>
          </a:bodyPr>
          <a:lstStyle/>
          <a:p>
            <a:r>
              <a:rPr lang="es-CO" sz="3200"/>
              <a:t>¿Por qué es importante el Pensamiento Computacional?</a:t>
            </a:r>
          </a:p>
        </p:txBody>
      </p:sp>
      <p:sp>
        <p:nvSpPr>
          <p:cNvPr id="4" name="Marcador de número de diapositiva 3">
            <a:extLst>
              <a:ext uri="{FF2B5EF4-FFF2-40B4-BE49-F238E27FC236}">
                <a16:creationId xmlns:a16="http://schemas.microsoft.com/office/drawing/2014/main" id="{07F26D7A-76D2-4CC8-834B-D9ECB25847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7</a:t>
            </a:fld>
            <a:endParaRPr lang="es-CO"/>
          </a:p>
        </p:txBody>
      </p:sp>
      <p:sp>
        <p:nvSpPr>
          <p:cNvPr id="7" name="Marcador de texto 2">
            <a:extLst>
              <a:ext uri="{FF2B5EF4-FFF2-40B4-BE49-F238E27FC236}">
                <a16:creationId xmlns:a16="http://schemas.microsoft.com/office/drawing/2014/main" id="{B4C8D576-6AD1-4708-ADC0-C6027FE840B9}"/>
              </a:ext>
            </a:extLst>
          </p:cNvPr>
          <p:cNvSpPr>
            <a:spLocks noGrp="1"/>
          </p:cNvSpPr>
          <p:nvPr>
            <p:ph type="body" idx="1"/>
          </p:nvPr>
        </p:nvSpPr>
        <p:spPr>
          <a:xfrm>
            <a:off x="2076994" y="1240971"/>
            <a:ext cx="9646478" cy="5056632"/>
          </a:xfrm>
        </p:spPr>
        <p:txBody>
          <a:bodyPr spcFirstLastPara="1" vert="horz" wrap="square" lIns="91425" tIns="45700" rIns="91425" bIns="45700" rtlCol="0" anchor="ctr" anchorCtr="0">
            <a:noAutofit/>
          </a:bodyPr>
          <a:lstStyle/>
          <a:p>
            <a:pPr marL="0" algn="just">
              <a:buNone/>
            </a:pPr>
            <a:r>
              <a:rPr lang="es-CO" sz="1950"/>
              <a:t>En cada etapa de tu vida, ya sea en el día a día, en tu formación académica o en tu futuro profesional, te enfrentarás a problemas (desafíos complejos) que pondrán a prueba tu capacidad de reflexionar, analizar y diseñar soluciones que sean tanto efectivas como eficientes.</a:t>
            </a:r>
          </a:p>
          <a:p>
            <a:pPr marL="0" algn="just">
              <a:buNone/>
            </a:pPr>
            <a:endParaRPr lang="es-ES" sz="1950"/>
          </a:p>
          <a:p>
            <a:pPr algn="just">
              <a:buNone/>
            </a:pPr>
            <a:r>
              <a:rPr lang="es-CO" sz="1950" b="1"/>
              <a:t>Ejemplos de estos retos incluyen:</a:t>
            </a:r>
          </a:p>
          <a:p>
            <a:pPr marL="76200" indent="0" algn="just">
              <a:buNone/>
            </a:pPr>
            <a:r>
              <a:rPr lang="es-CO" sz="1600"/>
              <a:t>Elaborar un trabajo escrito que comunique ideas con claridad, diseñar una presentación que capte la atención, desarrollar un proyecto, redactar un ensayo, crear una página web funcional y atractiva, concebir una estrategia publicitaria sobresaliente, mejorar la calidad de un producto, componer una melodía única o generar contenido innovador para redes sociales, entre otros.</a:t>
            </a:r>
          </a:p>
          <a:p>
            <a:pPr algn="just">
              <a:buNone/>
            </a:pPr>
            <a:endParaRPr lang="es-CO" sz="1950"/>
          </a:p>
          <a:p>
            <a:pPr algn="just">
              <a:buNone/>
            </a:pPr>
            <a:r>
              <a:rPr lang="es-CO" sz="1600"/>
              <a:t>Ante estos desafíos, surge una pregunta fundamental:</a:t>
            </a:r>
          </a:p>
          <a:p>
            <a:pPr marL="0" algn="just">
              <a:buNone/>
            </a:pPr>
            <a:r>
              <a:rPr lang="es-CO" sz="1600" b="1"/>
              <a:t>¿Existen métodos, herramientas o estrategias que permitan abordar problemas complejos de forma eficiente, efectiva y creativa?</a:t>
            </a:r>
            <a:endParaRPr lang="es-CO" sz="1600"/>
          </a:p>
          <a:p>
            <a:pPr marL="0" algn="just">
              <a:buNone/>
            </a:pPr>
            <a:r>
              <a:rPr lang="es-CO" sz="1600"/>
              <a:t>La respuesta se encuentra en una habilidad esencial del siglo XXI: </a:t>
            </a:r>
            <a:r>
              <a:rPr lang="es-CO" sz="1600" b="1"/>
              <a:t>el Pensamiento Computacional</a:t>
            </a:r>
            <a:r>
              <a:rPr lang="es-CO" sz="1600"/>
              <a:t>, que te ayudará a estructurar problemas y diseñar soluciones. </a:t>
            </a:r>
          </a:p>
        </p:txBody>
      </p:sp>
    </p:spTree>
    <p:extLst>
      <p:ext uri="{BB962C8B-B14F-4D97-AF65-F5344CB8AC3E}">
        <p14:creationId xmlns:p14="http://schemas.microsoft.com/office/powerpoint/2010/main" val="224632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56339-3B20-432C-B0D9-DB821165DAC2}"/>
              </a:ext>
            </a:extLst>
          </p:cNvPr>
          <p:cNvSpPr>
            <a:spLocks noGrp="1"/>
          </p:cNvSpPr>
          <p:nvPr>
            <p:ph type="title"/>
          </p:nvPr>
        </p:nvSpPr>
        <p:spPr/>
        <p:txBody>
          <a:bodyPr/>
          <a:lstStyle/>
          <a:p>
            <a:r>
              <a:rPr lang="es-CO"/>
              <a:t>¿Qué es Pensamiento Computacional?</a:t>
            </a:r>
          </a:p>
        </p:txBody>
      </p:sp>
      <p:sp>
        <p:nvSpPr>
          <p:cNvPr id="3" name="Marcador de texto 2">
            <a:extLst>
              <a:ext uri="{FF2B5EF4-FFF2-40B4-BE49-F238E27FC236}">
                <a16:creationId xmlns:a16="http://schemas.microsoft.com/office/drawing/2014/main" id="{B4C8D576-6AD1-4708-ADC0-C6027FE840B9}"/>
              </a:ext>
            </a:extLst>
          </p:cNvPr>
          <p:cNvSpPr>
            <a:spLocks noGrp="1"/>
          </p:cNvSpPr>
          <p:nvPr>
            <p:ph type="body" idx="1"/>
          </p:nvPr>
        </p:nvSpPr>
        <p:spPr/>
        <p:txBody>
          <a:bodyPr anchor="ctr">
            <a:normAutofit/>
          </a:bodyPr>
          <a:lstStyle/>
          <a:p>
            <a:pPr algn="just"/>
            <a:r>
              <a:rPr lang="es-CO" sz="2400"/>
              <a:t>“Actividad mental para </a:t>
            </a:r>
            <a:r>
              <a:rPr lang="es-CO" sz="2400" b="1"/>
              <a:t>abstraer problemas</a:t>
            </a:r>
            <a:r>
              <a:rPr lang="es-CO" sz="2400"/>
              <a:t> y </a:t>
            </a:r>
            <a:r>
              <a:rPr lang="es-CO" sz="2400" b="1"/>
              <a:t>formular soluciones</a:t>
            </a:r>
            <a:r>
              <a:rPr lang="es-CO" sz="2400"/>
              <a:t> que pueden ser automatizadas” </a:t>
            </a:r>
            <a:r>
              <a:rPr lang="es-CO" sz="2400" i="1"/>
              <a:t>(</a:t>
            </a:r>
            <a:r>
              <a:rPr lang="es-CO" sz="2400" i="1" err="1"/>
              <a:t>Yadav</a:t>
            </a:r>
            <a:r>
              <a:rPr lang="es-CO" sz="2400" i="1"/>
              <a:t> et al., 2014).</a:t>
            </a:r>
          </a:p>
          <a:p>
            <a:pPr algn="just"/>
            <a:endParaRPr lang="es-CO" sz="2400"/>
          </a:p>
          <a:p>
            <a:pPr algn="just"/>
            <a:r>
              <a:rPr lang="es-CO" sz="2400"/>
              <a:t>“Proceso de pensamiento que involucra la </a:t>
            </a:r>
            <a:r>
              <a:rPr lang="es-CO" sz="2400" b="1"/>
              <a:t>formulación de un problema</a:t>
            </a:r>
            <a:r>
              <a:rPr lang="es-CO" sz="2400"/>
              <a:t> y la </a:t>
            </a:r>
            <a:r>
              <a:rPr lang="es-CO" sz="2400" b="1"/>
              <a:t>expresión de su(s) solución(es) </a:t>
            </a:r>
            <a:r>
              <a:rPr lang="es-CO" sz="2400"/>
              <a:t>de tal manera que una </a:t>
            </a:r>
            <a:r>
              <a:rPr lang="es-CO" sz="2400" b="1"/>
              <a:t>computadora pueda ejecutarla </a:t>
            </a:r>
            <a:r>
              <a:rPr lang="es-CO" sz="2400"/>
              <a:t>efectivamente” </a:t>
            </a:r>
            <a:r>
              <a:rPr lang="es-CO" sz="2400" i="1"/>
              <a:t>(</a:t>
            </a:r>
            <a:r>
              <a:rPr lang="es-CO" sz="2400" i="1" err="1"/>
              <a:t>Wing</a:t>
            </a:r>
            <a:r>
              <a:rPr lang="es-CO" sz="2400" i="1"/>
              <a:t>, 2014).</a:t>
            </a:r>
          </a:p>
        </p:txBody>
      </p:sp>
      <p:sp>
        <p:nvSpPr>
          <p:cNvPr id="4" name="Marcador de número de diapositiva 3">
            <a:extLst>
              <a:ext uri="{FF2B5EF4-FFF2-40B4-BE49-F238E27FC236}">
                <a16:creationId xmlns:a16="http://schemas.microsoft.com/office/drawing/2014/main" id="{07F26D7A-76D2-4CC8-834B-D9ECB25847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8</a:t>
            </a:fld>
            <a:endParaRPr lang="es-CO"/>
          </a:p>
        </p:txBody>
      </p:sp>
    </p:spTree>
    <p:extLst>
      <p:ext uri="{BB962C8B-B14F-4D97-AF65-F5344CB8AC3E}">
        <p14:creationId xmlns:p14="http://schemas.microsoft.com/office/powerpoint/2010/main" val="413994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1AE3BD-B059-147D-EEA8-96BEBA7F3885}"/>
              </a:ext>
            </a:extLst>
          </p:cNvPr>
          <p:cNvSpPr>
            <a:spLocks noGrp="1"/>
          </p:cNvSpPr>
          <p:nvPr>
            <p:ph type="title"/>
          </p:nvPr>
        </p:nvSpPr>
        <p:spPr/>
        <p:txBody>
          <a:bodyPr>
            <a:normAutofit fontScale="90000"/>
          </a:bodyPr>
          <a:lstStyle/>
          <a:p>
            <a:r>
              <a:rPr lang="es-CO"/>
              <a:t>¿Qué es Pensamiento Computacional? – II </a:t>
            </a:r>
          </a:p>
        </p:txBody>
      </p:sp>
      <p:sp>
        <p:nvSpPr>
          <p:cNvPr id="3" name="Marcador de texto 2">
            <a:extLst>
              <a:ext uri="{FF2B5EF4-FFF2-40B4-BE49-F238E27FC236}">
                <a16:creationId xmlns:a16="http://schemas.microsoft.com/office/drawing/2014/main" id="{825FF357-B149-B849-8614-1C1A291C38FA}"/>
              </a:ext>
            </a:extLst>
          </p:cNvPr>
          <p:cNvSpPr>
            <a:spLocks noGrp="1"/>
          </p:cNvSpPr>
          <p:nvPr>
            <p:ph type="body" idx="1"/>
          </p:nvPr>
        </p:nvSpPr>
        <p:spPr>
          <a:xfrm>
            <a:off x="2076993" y="1410789"/>
            <a:ext cx="5940733" cy="4663440"/>
          </a:xfrm>
        </p:spPr>
        <p:txBody>
          <a:bodyPr>
            <a:normAutofit fontScale="92500"/>
          </a:bodyPr>
          <a:lstStyle/>
          <a:p>
            <a:pPr marL="0" indent="0" algn="just">
              <a:buNone/>
            </a:pPr>
            <a:r>
              <a:rPr lang="es-CO" i="1"/>
              <a:t>“Es un enfoque para </a:t>
            </a:r>
            <a:r>
              <a:rPr lang="es-CO" b="1" i="1"/>
              <a:t>resolver problemas</a:t>
            </a:r>
            <a:endParaRPr lang="es-CO" i="1"/>
          </a:p>
          <a:p>
            <a:pPr algn="just"/>
            <a:endParaRPr lang="es-CO" i="1"/>
          </a:p>
          <a:p>
            <a:pPr marL="0" indent="0" algn="just">
              <a:buNone/>
            </a:pPr>
            <a:r>
              <a:rPr lang="es-CO" i="1"/>
              <a:t>que utiliza </a:t>
            </a:r>
            <a:r>
              <a:rPr lang="es-CO" b="1" i="1"/>
              <a:t>ideas claves </a:t>
            </a:r>
            <a:r>
              <a:rPr lang="es-CO" i="1"/>
              <a:t>de las ciencias de la computación</a:t>
            </a:r>
          </a:p>
          <a:p>
            <a:pPr algn="just"/>
            <a:endParaRPr lang="es-CO" i="1"/>
          </a:p>
          <a:p>
            <a:pPr marL="0" indent="0" algn="just">
              <a:buNone/>
            </a:pPr>
            <a:r>
              <a:rPr lang="es-CO" i="1"/>
              <a:t>para </a:t>
            </a:r>
            <a:r>
              <a:rPr lang="es-CO" b="1" i="1"/>
              <a:t>formular soluciones </a:t>
            </a:r>
            <a:r>
              <a:rPr lang="es-CO" i="1"/>
              <a:t>que podrían ser ejecutadas por una computadora (o por un humano).”</a:t>
            </a:r>
          </a:p>
          <a:p>
            <a:pPr marL="0" indent="0" algn="r">
              <a:buNone/>
            </a:pPr>
            <a:endParaRPr lang="es-CO"/>
          </a:p>
          <a:p>
            <a:pPr marL="0" indent="0" algn="r">
              <a:buNone/>
            </a:pPr>
            <a:r>
              <a:rPr lang="es-CO" i="1"/>
              <a:t>(</a:t>
            </a:r>
            <a:r>
              <a:rPr lang="es-CO" i="1" err="1"/>
              <a:t>Beecher</a:t>
            </a:r>
            <a:r>
              <a:rPr lang="es-CO" i="1"/>
              <a:t>, 2017)</a:t>
            </a:r>
          </a:p>
          <a:p>
            <a:endParaRPr lang="es-CO"/>
          </a:p>
        </p:txBody>
      </p:sp>
      <p:sp>
        <p:nvSpPr>
          <p:cNvPr id="4" name="Marcador de número de diapositiva 3">
            <a:extLst>
              <a:ext uri="{FF2B5EF4-FFF2-40B4-BE49-F238E27FC236}">
                <a16:creationId xmlns:a16="http://schemas.microsoft.com/office/drawing/2014/main" id="{9FE64CC0-DE94-DA2C-C84F-6F5ACD49B4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9</a:t>
            </a:fld>
            <a:endParaRPr lang="es-CO"/>
          </a:p>
        </p:txBody>
      </p:sp>
      <p:pic>
        <p:nvPicPr>
          <p:cNvPr id="5" name="Picture 2" descr="Resultado de imagen de computational thinking&quot;">
            <a:extLst>
              <a:ext uri="{FF2B5EF4-FFF2-40B4-BE49-F238E27FC236}">
                <a16:creationId xmlns:a16="http://schemas.microsoft.com/office/drawing/2014/main" id="{B0FEA494-5176-8AFE-9A03-A550F491A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227" y="1627959"/>
            <a:ext cx="2667000"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11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2DA444-0C5C-1715-0B8D-D886017DF0D3}"/>
              </a:ext>
            </a:extLst>
          </p:cNvPr>
          <p:cNvSpPr>
            <a:spLocks noGrp="1"/>
          </p:cNvSpPr>
          <p:nvPr>
            <p:ph type="title"/>
          </p:nvPr>
        </p:nvSpPr>
        <p:spPr/>
        <p:txBody>
          <a:bodyPr>
            <a:normAutofit fontScale="90000"/>
          </a:bodyPr>
          <a:lstStyle/>
          <a:p>
            <a:r>
              <a:rPr lang="es-CO"/>
              <a:t>Pilares del Pensamiento Computacional (PC) </a:t>
            </a:r>
          </a:p>
        </p:txBody>
      </p:sp>
      <p:sp>
        <p:nvSpPr>
          <p:cNvPr id="4" name="Marcador de número de diapositiva 3">
            <a:extLst>
              <a:ext uri="{FF2B5EF4-FFF2-40B4-BE49-F238E27FC236}">
                <a16:creationId xmlns:a16="http://schemas.microsoft.com/office/drawing/2014/main" id="{C0412A86-4725-03B7-A9E4-72D42886A7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10</a:t>
            </a:fld>
            <a:endParaRPr lang="es-CO"/>
          </a:p>
        </p:txBody>
      </p:sp>
      <p:sp>
        <p:nvSpPr>
          <p:cNvPr id="16" name="Elipse 15">
            <a:extLst>
              <a:ext uri="{FF2B5EF4-FFF2-40B4-BE49-F238E27FC236}">
                <a16:creationId xmlns:a16="http://schemas.microsoft.com/office/drawing/2014/main" id="{3B6F4ACF-FA64-D968-37BD-8E2D28305D2D}"/>
              </a:ext>
            </a:extLst>
          </p:cNvPr>
          <p:cNvSpPr/>
          <p:nvPr/>
        </p:nvSpPr>
        <p:spPr>
          <a:xfrm>
            <a:off x="5049242" y="3429000"/>
            <a:ext cx="2946920" cy="1611824"/>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CO" sz="2800" b="1">
                <a:solidFill>
                  <a:schemeClr val="tx1"/>
                </a:solidFill>
              </a:rPr>
              <a:t>Pilares</a:t>
            </a:r>
          </a:p>
        </p:txBody>
      </p:sp>
      <p:sp>
        <p:nvSpPr>
          <p:cNvPr id="17" name="Elipse 16">
            <a:extLst>
              <a:ext uri="{FF2B5EF4-FFF2-40B4-BE49-F238E27FC236}">
                <a16:creationId xmlns:a16="http://schemas.microsoft.com/office/drawing/2014/main" id="{933A1807-CC6A-7C91-1D25-8DB3FDCFB4B9}"/>
              </a:ext>
            </a:extLst>
          </p:cNvPr>
          <p:cNvSpPr/>
          <p:nvPr/>
        </p:nvSpPr>
        <p:spPr>
          <a:xfrm>
            <a:off x="3392317" y="5311952"/>
            <a:ext cx="2470176" cy="1225473"/>
          </a:xfrm>
          <a:prstGeom prst="ellipse">
            <a:avLst/>
          </a:prstGeom>
          <a:solidFill>
            <a:schemeClr val="bg1">
              <a:lumMod val="8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CO" sz="2400" b="1">
                <a:solidFill>
                  <a:schemeClr val="tx1"/>
                </a:solidFill>
              </a:rPr>
              <a:t>Lógica y algoritmos</a:t>
            </a:r>
          </a:p>
        </p:txBody>
      </p:sp>
      <p:sp>
        <p:nvSpPr>
          <p:cNvPr id="18" name="Elipse 17">
            <a:extLst>
              <a:ext uri="{FF2B5EF4-FFF2-40B4-BE49-F238E27FC236}">
                <a16:creationId xmlns:a16="http://schemas.microsoft.com/office/drawing/2014/main" id="{2C997CD6-051F-3A46-8A99-67ECDCE7D0AF}"/>
              </a:ext>
            </a:extLst>
          </p:cNvPr>
          <p:cNvSpPr/>
          <p:nvPr/>
        </p:nvSpPr>
        <p:spPr>
          <a:xfrm>
            <a:off x="1761890" y="2410138"/>
            <a:ext cx="3261711" cy="1225473"/>
          </a:xfrm>
          <a:prstGeom prst="ellipse">
            <a:avLst/>
          </a:prstGeom>
          <a:solidFill>
            <a:srgbClr val="E799B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s-CO" sz="2400" b="1">
                <a:solidFill>
                  <a:schemeClr val="tx1"/>
                </a:solidFill>
              </a:rPr>
              <a:t>Descomposición de problemas</a:t>
            </a:r>
          </a:p>
        </p:txBody>
      </p:sp>
      <p:sp>
        <p:nvSpPr>
          <p:cNvPr id="19" name="Elipse 18">
            <a:extLst>
              <a:ext uri="{FF2B5EF4-FFF2-40B4-BE49-F238E27FC236}">
                <a16:creationId xmlns:a16="http://schemas.microsoft.com/office/drawing/2014/main" id="{4C89BEA2-6F5F-E6C9-EA44-927901AF658F}"/>
              </a:ext>
            </a:extLst>
          </p:cNvPr>
          <p:cNvSpPr/>
          <p:nvPr/>
        </p:nvSpPr>
        <p:spPr>
          <a:xfrm>
            <a:off x="8153557" y="2410138"/>
            <a:ext cx="3261711" cy="1225473"/>
          </a:xfrm>
          <a:prstGeom prst="ellipse">
            <a:avLst/>
          </a:prstGeom>
          <a:solidFill>
            <a:schemeClr val="accent5">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s-CO" sz="2400" b="1">
                <a:solidFill>
                  <a:schemeClr val="tx1"/>
                </a:solidFill>
              </a:rPr>
              <a:t>Reconocimiento de patrones</a:t>
            </a:r>
          </a:p>
        </p:txBody>
      </p:sp>
      <p:sp>
        <p:nvSpPr>
          <p:cNvPr id="20" name="Elipse 19">
            <a:extLst>
              <a:ext uri="{FF2B5EF4-FFF2-40B4-BE49-F238E27FC236}">
                <a16:creationId xmlns:a16="http://schemas.microsoft.com/office/drawing/2014/main" id="{A5CAACC0-E02F-A830-54AD-24877D390AD8}"/>
              </a:ext>
            </a:extLst>
          </p:cNvPr>
          <p:cNvSpPr/>
          <p:nvPr/>
        </p:nvSpPr>
        <p:spPr>
          <a:xfrm>
            <a:off x="4891846" y="1646894"/>
            <a:ext cx="3261711" cy="1225473"/>
          </a:xfrm>
          <a:prstGeom prst="ellipse">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s-CO" sz="2400" b="1">
                <a:solidFill>
                  <a:schemeClr val="tx1"/>
                </a:solidFill>
              </a:rPr>
              <a:t>Generalización y abstracción</a:t>
            </a:r>
          </a:p>
        </p:txBody>
      </p:sp>
      <p:sp>
        <p:nvSpPr>
          <p:cNvPr id="21" name="Elipse 20">
            <a:extLst>
              <a:ext uri="{FF2B5EF4-FFF2-40B4-BE49-F238E27FC236}">
                <a16:creationId xmlns:a16="http://schemas.microsoft.com/office/drawing/2014/main" id="{90A5D67B-A565-4297-7579-65AEB8B0AB55}"/>
              </a:ext>
            </a:extLst>
          </p:cNvPr>
          <p:cNvSpPr/>
          <p:nvPr/>
        </p:nvSpPr>
        <p:spPr>
          <a:xfrm>
            <a:off x="6910002" y="5311953"/>
            <a:ext cx="3261711" cy="1225473"/>
          </a:xfrm>
          <a:prstGeom prst="ellipse">
            <a:avLst/>
          </a:prstGeom>
          <a:solidFill>
            <a:srgbClr val="D98FED"/>
          </a:solidFill>
        </p:spPr>
        <p:style>
          <a:lnRef idx="0">
            <a:schemeClr val="dk1"/>
          </a:lnRef>
          <a:fillRef idx="3">
            <a:schemeClr val="dk1"/>
          </a:fillRef>
          <a:effectRef idx="3">
            <a:schemeClr val="dk1"/>
          </a:effectRef>
          <a:fontRef idx="minor">
            <a:schemeClr val="lt1"/>
          </a:fontRef>
        </p:style>
        <p:txBody>
          <a:bodyPr rtlCol="0" anchor="ctr"/>
          <a:lstStyle/>
          <a:p>
            <a:pPr algn="ctr"/>
            <a:r>
              <a:rPr lang="es-CO" sz="2400" b="1">
                <a:solidFill>
                  <a:schemeClr val="tx1"/>
                </a:solidFill>
              </a:rPr>
              <a:t>Evaluación de soluciones</a:t>
            </a:r>
          </a:p>
        </p:txBody>
      </p:sp>
      <p:cxnSp>
        <p:nvCxnSpPr>
          <p:cNvPr id="22" name="Conector recto 21">
            <a:extLst>
              <a:ext uri="{FF2B5EF4-FFF2-40B4-BE49-F238E27FC236}">
                <a16:creationId xmlns:a16="http://schemas.microsoft.com/office/drawing/2014/main" id="{71743321-3946-E5EF-1374-8670B52FB4C7}"/>
              </a:ext>
            </a:extLst>
          </p:cNvPr>
          <p:cNvCxnSpPr>
            <a:cxnSpLocks/>
            <a:stCxn id="16" idx="5"/>
            <a:endCxn id="21" idx="0"/>
          </p:cNvCxnSpPr>
          <p:nvPr/>
        </p:nvCxnSpPr>
        <p:spPr>
          <a:xfrm>
            <a:off x="7564596" y="4804778"/>
            <a:ext cx="976262" cy="507175"/>
          </a:xfrm>
          <a:prstGeom prst="line">
            <a:avLst/>
          </a:prstGeom>
          <a:ln w="41275"/>
          <a:effectLst/>
        </p:spPr>
        <p:style>
          <a:lnRef idx="3">
            <a:schemeClr val="accent3"/>
          </a:lnRef>
          <a:fillRef idx="0">
            <a:schemeClr val="accent3"/>
          </a:fillRef>
          <a:effectRef idx="2">
            <a:schemeClr val="accent3"/>
          </a:effectRef>
          <a:fontRef idx="minor">
            <a:schemeClr val="tx1"/>
          </a:fontRef>
        </p:style>
      </p:cxnSp>
      <p:cxnSp>
        <p:nvCxnSpPr>
          <p:cNvPr id="23" name="Conector recto 22">
            <a:extLst>
              <a:ext uri="{FF2B5EF4-FFF2-40B4-BE49-F238E27FC236}">
                <a16:creationId xmlns:a16="http://schemas.microsoft.com/office/drawing/2014/main" id="{B4BCDCB7-3306-C359-7C91-BEB521DB3C81}"/>
              </a:ext>
            </a:extLst>
          </p:cNvPr>
          <p:cNvCxnSpPr>
            <a:cxnSpLocks/>
            <a:stCxn id="16" idx="6"/>
            <a:endCxn id="19" idx="4"/>
          </p:cNvCxnSpPr>
          <p:nvPr/>
        </p:nvCxnSpPr>
        <p:spPr>
          <a:xfrm flipV="1">
            <a:off x="7996162" y="3635611"/>
            <a:ext cx="1788251" cy="599301"/>
          </a:xfrm>
          <a:prstGeom prst="line">
            <a:avLst/>
          </a:prstGeom>
          <a:ln w="41275"/>
          <a:effectLst/>
        </p:spPr>
        <p:style>
          <a:lnRef idx="3">
            <a:schemeClr val="accent3"/>
          </a:lnRef>
          <a:fillRef idx="0">
            <a:schemeClr val="accent3"/>
          </a:fillRef>
          <a:effectRef idx="2">
            <a:schemeClr val="accent3"/>
          </a:effectRef>
          <a:fontRef idx="minor">
            <a:schemeClr val="tx1"/>
          </a:fontRef>
        </p:style>
      </p:cxnSp>
      <p:cxnSp>
        <p:nvCxnSpPr>
          <p:cNvPr id="24" name="Conector recto 23">
            <a:extLst>
              <a:ext uri="{FF2B5EF4-FFF2-40B4-BE49-F238E27FC236}">
                <a16:creationId xmlns:a16="http://schemas.microsoft.com/office/drawing/2014/main" id="{01588E3A-D56E-5D28-F068-BD9EDE427DCD}"/>
              </a:ext>
            </a:extLst>
          </p:cNvPr>
          <p:cNvCxnSpPr>
            <a:cxnSpLocks/>
            <a:stCxn id="17" idx="0"/>
            <a:endCxn id="16" idx="3"/>
          </p:cNvCxnSpPr>
          <p:nvPr/>
        </p:nvCxnSpPr>
        <p:spPr>
          <a:xfrm flipV="1">
            <a:off x="4627405" y="4804778"/>
            <a:ext cx="853403" cy="507174"/>
          </a:xfrm>
          <a:prstGeom prst="line">
            <a:avLst/>
          </a:prstGeom>
          <a:ln w="41275"/>
          <a:effectLst/>
        </p:spPr>
        <p:style>
          <a:lnRef idx="3">
            <a:schemeClr val="accent3"/>
          </a:lnRef>
          <a:fillRef idx="0">
            <a:schemeClr val="accent3"/>
          </a:fillRef>
          <a:effectRef idx="2">
            <a:schemeClr val="accent3"/>
          </a:effectRef>
          <a:fontRef idx="minor">
            <a:schemeClr val="tx1"/>
          </a:fontRef>
        </p:style>
      </p:cxnSp>
      <p:cxnSp>
        <p:nvCxnSpPr>
          <p:cNvPr id="25" name="Conector recto 24">
            <a:extLst>
              <a:ext uri="{FF2B5EF4-FFF2-40B4-BE49-F238E27FC236}">
                <a16:creationId xmlns:a16="http://schemas.microsoft.com/office/drawing/2014/main" id="{305692FC-16D5-CF3E-8F55-5C8F103490D8}"/>
              </a:ext>
            </a:extLst>
          </p:cNvPr>
          <p:cNvCxnSpPr>
            <a:cxnSpLocks/>
            <a:stCxn id="18" idx="4"/>
            <a:endCxn id="16" idx="2"/>
          </p:cNvCxnSpPr>
          <p:nvPr/>
        </p:nvCxnSpPr>
        <p:spPr>
          <a:xfrm>
            <a:off x="3392746" y="3635611"/>
            <a:ext cx="1656496" cy="599301"/>
          </a:xfrm>
          <a:prstGeom prst="line">
            <a:avLst/>
          </a:prstGeom>
          <a:ln w="41275"/>
          <a:effectLst/>
        </p:spPr>
        <p:style>
          <a:lnRef idx="3">
            <a:schemeClr val="accent3"/>
          </a:lnRef>
          <a:fillRef idx="0">
            <a:schemeClr val="accent3"/>
          </a:fillRef>
          <a:effectRef idx="2">
            <a:schemeClr val="accent3"/>
          </a:effectRef>
          <a:fontRef idx="minor">
            <a:schemeClr val="tx1"/>
          </a:fontRef>
        </p:style>
      </p:cxnSp>
      <p:cxnSp>
        <p:nvCxnSpPr>
          <p:cNvPr id="26" name="Conector recto 25">
            <a:extLst>
              <a:ext uri="{FF2B5EF4-FFF2-40B4-BE49-F238E27FC236}">
                <a16:creationId xmlns:a16="http://schemas.microsoft.com/office/drawing/2014/main" id="{AA70A4A9-9742-16EB-21C7-5A4745C878EB}"/>
              </a:ext>
            </a:extLst>
          </p:cNvPr>
          <p:cNvCxnSpPr>
            <a:cxnSpLocks/>
            <a:stCxn id="20" idx="4"/>
            <a:endCxn id="16" idx="0"/>
          </p:cNvCxnSpPr>
          <p:nvPr/>
        </p:nvCxnSpPr>
        <p:spPr>
          <a:xfrm>
            <a:off x="6522702" y="2872367"/>
            <a:ext cx="0" cy="556633"/>
          </a:xfrm>
          <a:prstGeom prst="line">
            <a:avLst/>
          </a:prstGeom>
          <a:ln w="41275"/>
          <a:effectLst/>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1698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56339-3B20-432C-B0D9-DB821165DAC2}"/>
              </a:ext>
            </a:extLst>
          </p:cNvPr>
          <p:cNvSpPr>
            <a:spLocks noGrp="1"/>
          </p:cNvSpPr>
          <p:nvPr>
            <p:ph type="title"/>
          </p:nvPr>
        </p:nvSpPr>
        <p:spPr/>
        <p:txBody>
          <a:bodyPr>
            <a:normAutofit fontScale="90000"/>
          </a:bodyPr>
          <a:lstStyle/>
          <a:p>
            <a:r>
              <a:rPr lang="es-CO"/>
              <a:t>Pilares del Pensamiento Computacional (PC)</a:t>
            </a:r>
          </a:p>
        </p:txBody>
      </p:sp>
      <p:sp>
        <p:nvSpPr>
          <p:cNvPr id="3" name="Marcador de texto 2">
            <a:extLst>
              <a:ext uri="{FF2B5EF4-FFF2-40B4-BE49-F238E27FC236}">
                <a16:creationId xmlns:a16="http://schemas.microsoft.com/office/drawing/2014/main" id="{B4C8D576-6AD1-4708-ADC0-C6027FE840B9}"/>
              </a:ext>
            </a:extLst>
          </p:cNvPr>
          <p:cNvSpPr>
            <a:spLocks noGrp="1"/>
          </p:cNvSpPr>
          <p:nvPr>
            <p:ph type="body" idx="1"/>
          </p:nvPr>
        </p:nvSpPr>
        <p:spPr>
          <a:xfrm>
            <a:off x="2962014" y="1366301"/>
            <a:ext cx="8423973" cy="4845268"/>
          </a:xfrm>
        </p:spPr>
        <p:txBody>
          <a:bodyPr>
            <a:normAutofit fontScale="47500" lnSpcReduction="20000"/>
          </a:bodyPr>
          <a:lstStyle/>
          <a:p>
            <a:pPr>
              <a:buClr>
                <a:schemeClr val="bg1"/>
              </a:buClr>
            </a:pPr>
            <a:r>
              <a:rPr lang="es-CO" sz="3300" b="1">
                <a:solidFill>
                  <a:srgbClr val="D85C90"/>
                </a:solidFill>
                <a:latin typeface="+mn-lt"/>
              </a:rPr>
              <a:t>Descomposición</a:t>
            </a:r>
            <a:r>
              <a:rPr lang="es-CO" sz="3300">
                <a:latin typeface="+mn-lt"/>
              </a:rPr>
              <a:t> de un problema en partes pequeñas para que sea más fácil solucionarlo.</a:t>
            </a:r>
            <a:r>
              <a:rPr lang="es-ES" sz="3300">
                <a:solidFill>
                  <a:srgbClr val="000000"/>
                </a:solidFill>
                <a:latin typeface="+mn-lt"/>
              </a:rPr>
              <a:t> </a:t>
            </a:r>
            <a:r>
              <a:rPr lang="es-ES" sz="3300">
                <a:latin typeface="+mn-lt"/>
              </a:rPr>
              <a:t>Se descompone el problema en subproblemas más pequeños y manejables. Cada subproblema se aborda por separado para evitar sentirse abrumado por la complejidad del problema principal.</a:t>
            </a:r>
            <a:endParaRPr lang="es-CO" sz="3300">
              <a:latin typeface="+mn-lt"/>
            </a:endParaRPr>
          </a:p>
          <a:p>
            <a:pPr marL="76200" indent="0">
              <a:buNone/>
            </a:pPr>
            <a:endParaRPr lang="es-CO" sz="3300">
              <a:latin typeface="+mn-lt"/>
            </a:endParaRPr>
          </a:p>
          <a:p>
            <a:pPr>
              <a:buClr>
                <a:schemeClr val="bg1"/>
              </a:buClr>
            </a:pPr>
            <a:r>
              <a:rPr lang="es-CO" sz="3300" b="1">
                <a:solidFill>
                  <a:srgbClr val="00B050"/>
                </a:solidFill>
                <a:latin typeface="+mn-lt"/>
              </a:rPr>
              <a:t>Abstracción</a:t>
            </a:r>
            <a:r>
              <a:rPr lang="es-CO" sz="3300">
                <a:latin typeface="+mn-lt"/>
              </a:rPr>
              <a:t>, centrándose en la información importante y dejando de lado detalles irrelevantes. </a:t>
            </a:r>
            <a:r>
              <a:rPr lang="es-ES" sz="3300">
                <a:latin typeface="+mn-lt"/>
              </a:rPr>
              <a:t>consiste en eliminar los detalles innecesarios y centrarse en los aspectos fundamentales del problema. Esto ayuda a simplificar la solución al destacar lo que realmente importa.</a:t>
            </a:r>
            <a:br>
              <a:rPr lang="es-ES" sz="3300">
                <a:latin typeface="+mn-lt"/>
              </a:rPr>
            </a:br>
            <a:endParaRPr lang="es-CO" sz="3300">
              <a:latin typeface="+mn-lt"/>
            </a:endParaRPr>
          </a:p>
          <a:p>
            <a:pPr>
              <a:buClr>
                <a:schemeClr val="bg1"/>
              </a:buClr>
            </a:pPr>
            <a:r>
              <a:rPr lang="es-CO" sz="3300" b="1">
                <a:solidFill>
                  <a:srgbClr val="00B0F0"/>
                </a:solidFill>
                <a:latin typeface="+mn-lt"/>
              </a:rPr>
              <a:t>Reconocimiento de patrones</a:t>
            </a:r>
            <a:r>
              <a:rPr lang="es-CO" sz="3300">
                <a:latin typeface="+mn-lt"/>
              </a:rPr>
              <a:t> repetitivos para encontrar características comunes. </a:t>
            </a:r>
            <a:r>
              <a:rPr lang="es-ES" sz="3300">
                <a:latin typeface="+mn-lt"/>
              </a:rPr>
              <a:t>Implica identificar similitudes o regularidades en los subproblemas. Esta fase permite encontrar enfoques generales que se pueden aplicar a varios aspectos del problema.</a:t>
            </a:r>
            <a:br>
              <a:rPr lang="es-ES" sz="3300">
                <a:latin typeface="+mn-lt"/>
              </a:rPr>
            </a:br>
            <a:endParaRPr lang="es-CO" sz="3300">
              <a:latin typeface="+mn-lt"/>
            </a:endParaRPr>
          </a:p>
          <a:p>
            <a:pPr>
              <a:buClr>
                <a:schemeClr val="bg1"/>
              </a:buClr>
            </a:pPr>
            <a:r>
              <a:rPr lang="es-CO" sz="3300" b="1">
                <a:solidFill>
                  <a:schemeClr val="bg2">
                    <a:lumMod val="50000"/>
                  </a:schemeClr>
                </a:solidFill>
                <a:latin typeface="+mn-lt"/>
              </a:rPr>
              <a:t>Lógica y Algoritmia</a:t>
            </a:r>
            <a:r>
              <a:rPr lang="es-CO" sz="3300">
                <a:latin typeface="+mn-lt"/>
              </a:rPr>
              <a:t> para desarrollar instrucciones paso a paso para resolver los problemas. </a:t>
            </a:r>
            <a:r>
              <a:rPr lang="es-ES" sz="3300">
                <a:latin typeface="+mn-lt"/>
              </a:rPr>
              <a:t>se desarrollan algoritmos o conjuntos de pasos organizados que conducen a la solución de cada subproblema. Los algoritmos son como recetas que guían a través del proceso de resolución.</a:t>
            </a:r>
            <a:br>
              <a:rPr lang="es-ES" sz="3300">
                <a:latin typeface="+mn-lt"/>
              </a:rPr>
            </a:br>
            <a:endParaRPr lang="es-ES" sz="3300">
              <a:latin typeface="+mn-lt"/>
            </a:endParaRPr>
          </a:p>
          <a:p>
            <a:pPr>
              <a:buClr>
                <a:schemeClr val="bg1"/>
              </a:buClr>
            </a:pPr>
            <a:endParaRPr lang="es-CO" sz="3300">
              <a:latin typeface="+mn-lt"/>
            </a:endParaRPr>
          </a:p>
          <a:p>
            <a:pPr>
              <a:buClr>
                <a:schemeClr val="bg1"/>
              </a:buClr>
            </a:pPr>
            <a:r>
              <a:rPr lang="es-CO" sz="3300" b="1">
                <a:solidFill>
                  <a:srgbClr val="7030A0"/>
                </a:solidFill>
                <a:latin typeface="+mn-lt"/>
              </a:rPr>
              <a:t>Evaluación de la solución</a:t>
            </a:r>
            <a:r>
              <a:rPr lang="es-CO" sz="3300">
                <a:latin typeface="+mn-lt"/>
              </a:rPr>
              <a:t> para garantizar que se resuelve el problema de forma efectiva y eficiente.</a:t>
            </a:r>
          </a:p>
          <a:p>
            <a:endParaRPr lang="es-CO"/>
          </a:p>
        </p:txBody>
      </p:sp>
      <p:sp>
        <p:nvSpPr>
          <p:cNvPr id="4" name="Marcador de número de diapositiva 3">
            <a:extLst>
              <a:ext uri="{FF2B5EF4-FFF2-40B4-BE49-F238E27FC236}">
                <a16:creationId xmlns:a16="http://schemas.microsoft.com/office/drawing/2014/main" id="{07F26D7A-76D2-4CC8-834B-D9ECB25847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11</a:t>
            </a:fld>
            <a:endParaRPr lang="es-CO"/>
          </a:p>
        </p:txBody>
      </p:sp>
      <p:grpSp>
        <p:nvGrpSpPr>
          <p:cNvPr id="31" name="Grupo 30">
            <a:extLst>
              <a:ext uri="{FF2B5EF4-FFF2-40B4-BE49-F238E27FC236}">
                <a16:creationId xmlns:a16="http://schemas.microsoft.com/office/drawing/2014/main" id="{888B62FD-05AC-4AF7-8210-F2BE88C944FE}"/>
              </a:ext>
            </a:extLst>
          </p:cNvPr>
          <p:cNvGrpSpPr/>
          <p:nvPr/>
        </p:nvGrpSpPr>
        <p:grpSpPr>
          <a:xfrm>
            <a:off x="2447632" y="1462228"/>
            <a:ext cx="678775" cy="776706"/>
            <a:chOff x="1395663" y="-2227877"/>
            <a:chExt cx="935406" cy="1110846"/>
          </a:xfrm>
        </p:grpSpPr>
        <p:sp>
          <p:nvSpPr>
            <p:cNvPr id="6" name="Elipse 5">
              <a:extLst>
                <a:ext uri="{FF2B5EF4-FFF2-40B4-BE49-F238E27FC236}">
                  <a16:creationId xmlns:a16="http://schemas.microsoft.com/office/drawing/2014/main" id="{D4542069-0CE0-41AB-B5DF-4D274417D15B}"/>
                </a:ext>
              </a:extLst>
            </p:cNvPr>
            <p:cNvSpPr/>
            <p:nvPr/>
          </p:nvSpPr>
          <p:spPr>
            <a:xfrm>
              <a:off x="1395663" y="-1828800"/>
              <a:ext cx="324000" cy="324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a:solidFill>
                    <a:srgbClr val="D85C90"/>
                  </a:solidFill>
                </a:rPr>
                <a:t>?</a:t>
              </a:r>
            </a:p>
          </p:txBody>
        </p:sp>
        <p:sp>
          <p:nvSpPr>
            <p:cNvPr id="7" name="Elipse 6">
              <a:extLst>
                <a:ext uri="{FF2B5EF4-FFF2-40B4-BE49-F238E27FC236}">
                  <a16:creationId xmlns:a16="http://schemas.microsoft.com/office/drawing/2014/main" id="{CA65B0AA-7400-4784-8391-3036A4AA5DB6}"/>
                </a:ext>
              </a:extLst>
            </p:cNvPr>
            <p:cNvSpPr/>
            <p:nvPr/>
          </p:nvSpPr>
          <p:spPr>
            <a:xfrm>
              <a:off x="1742399" y="-2080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8" name="Elipse 7">
              <a:extLst>
                <a:ext uri="{FF2B5EF4-FFF2-40B4-BE49-F238E27FC236}">
                  <a16:creationId xmlns:a16="http://schemas.microsoft.com/office/drawing/2014/main" id="{AA77E952-7430-48CA-A9BF-91262418B3EE}"/>
                </a:ext>
              </a:extLst>
            </p:cNvPr>
            <p:cNvSpPr/>
            <p:nvPr/>
          </p:nvSpPr>
          <p:spPr>
            <a:xfrm>
              <a:off x="1742399" y="-1504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0" name="Conector recto 9">
              <a:extLst>
                <a:ext uri="{FF2B5EF4-FFF2-40B4-BE49-F238E27FC236}">
                  <a16:creationId xmlns:a16="http://schemas.microsoft.com/office/drawing/2014/main" id="{0632560D-DF2A-493D-BAC3-FB8914781969}"/>
                </a:ext>
              </a:extLst>
            </p:cNvPr>
            <p:cNvCxnSpPr>
              <a:stCxn id="6" idx="7"/>
              <a:endCxn id="7" idx="3"/>
            </p:cNvCxnSpPr>
            <p:nvPr/>
          </p:nvCxnSpPr>
          <p:spPr>
            <a:xfrm flipV="1">
              <a:off x="1672214" y="-1865705"/>
              <a:ext cx="107090" cy="84354"/>
            </a:xfrm>
            <a:prstGeom prst="line">
              <a:avLst/>
            </a:prstGeom>
            <a:ln>
              <a:solidFill>
                <a:srgbClr val="D85C9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97EEDE4E-52FB-4D47-9157-1252B385981B}"/>
                </a:ext>
              </a:extLst>
            </p:cNvPr>
            <p:cNvCxnSpPr>
              <a:stCxn id="6" idx="5"/>
              <a:endCxn id="8" idx="1"/>
            </p:cNvCxnSpPr>
            <p:nvPr/>
          </p:nvCxnSpPr>
          <p:spPr>
            <a:xfrm>
              <a:off x="1672214" y="-1552249"/>
              <a:ext cx="107090" cy="84354"/>
            </a:xfrm>
            <a:prstGeom prst="line">
              <a:avLst/>
            </a:prstGeom>
            <a:ln>
              <a:solidFill>
                <a:srgbClr val="D85C90"/>
              </a:solidFill>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CBD1DF26-02DC-4EED-BCBA-A006781F35C5}"/>
                </a:ext>
              </a:extLst>
            </p:cNvPr>
            <p:cNvSpPr/>
            <p:nvPr/>
          </p:nvSpPr>
          <p:spPr>
            <a:xfrm>
              <a:off x="2149722" y="-2227877"/>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4" name="Elipse 13">
              <a:extLst>
                <a:ext uri="{FF2B5EF4-FFF2-40B4-BE49-F238E27FC236}">
                  <a16:creationId xmlns:a16="http://schemas.microsoft.com/office/drawing/2014/main" id="{F98356A6-BE8F-4CEA-926B-086658A1173C}"/>
                </a:ext>
              </a:extLst>
            </p:cNvPr>
            <p:cNvSpPr/>
            <p:nvPr/>
          </p:nvSpPr>
          <p:spPr>
            <a:xfrm>
              <a:off x="2149722" y="-1881029"/>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5" name="Elipse 14">
              <a:extLst>
                <a:ext uri="{FF2B5EF4-FFF2-40B4-BE49-F238E27FC236}">
                  <a16:creationId xmlns:a16="http://schemas.microsoft.com/office/drawing/2014/main" id="{09E46FB6-803C-46E9-8793-D6297820503E}"/>
                </a:ext>
              </a:extLst>
            </p:cNvPr>
            <p:cNvSpPr/>
            <p:nvPr/>
          </p:nvSpPr>
          <p:spPr>
            <a:xfrm>
              <a:off x="2149722" y="-1581022"/>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6" name="Elipse 15">
              <a:extLst>
                <a:ext uri="{FF2B5EF4-FFF2-40B4-BE49-F238E27FC236}">
                  <a16:creationId xmlns:a16="http://schemas.microsoft.com/office/drawing/2014/main" id="{11FF0E86-BFE3-4D18-BC61-A1853F72C374}"/>
                </a:ext>
              </a:extLst>
            </p:cNvPr>
            <p:cNvSpPr/>
            <p:nvPr/>
          </p:nvSpPr>
          <p:spPr>
            <a:xfrm>
              <a:off x="2151069" y="-1297031"/>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7" name="Conector recto 16">
              <a:extLst>
                <a:ext uri="{FF2B5EF4-FFF2-40B4-BE49-F238E27FC236}">
                  <a16:creationId xmlns:a16="http://schemas.microsoft.com/office/drawing/2014/main" id="{FBC2DACB-EEE2-4F70-80D2-36843C9AB105}"/>
                </a:ext>
              </a:extLst>
            </p:cNvPr>
            <p:cNvCxnSpPr>
              <a:cxnSpLocks/>
              <a:stCxn id="7" idx="7"/>
              <a:endCxn id="13" idx="2"/>
            </p:cNvCxnSpPr>
            <p:nvPr/>
          </p:nvCxnSpPr>
          <p:spPr>
            <a:xfrm flipV="1">
              <a:off x="1957494" y="-2137877"/>
              <a:ext cx="192228" cy="9398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73C3C422-31B9-4E8C-A4AB-A65A2291E542}"/>
                </a:ext>
              </a:extLst>
            </p:cNvPr>
            <p:cNvCxnSpPr>
              <a:cxnSpLocks/>
              <a:stCxn id="14" idx="1"/>
              <a:endCxn id="7" idx="6"/>
            </p:cNvCxnSpPr>
            <p:nvPr/>
          </p:nvCxnSpPr>
          <p:spPr>
            <a:xfrm flipH="1" flipV="1">
              <a:off x="1994399" y="-1954800"/>
              <a:ext cx="181683" cy="100131"/>
            </a:xfrm>
            <a:prstGeom prst="line">
              <a:avLst/>
            </a:prstGeom>
            <a:ln>
              <a:solidFill>
                <a:srgbClr val="D85C9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2A579CE4-6A86-4AD6-9592-4B220FFD122D}"/>
                </a:ext>
              </a:extLst>
            </p:cNvPr>
            <p:cNvCxnSpPr>
              <a:cxnSpLocks/>
              <a:stCxn id="8" idx="6"/>
              <a:endCxn id="15" idx="2"/>
            </p:cNvCxnSpPr>
            <p:nvPr/>
          </p:nvCxnSpPr>
          <p:spPr>
            <a:xfrm flipV="1">
              <a:off x="1994399" y="-1491022"/>
              <a:ext cx="155323" cy="11222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C859C48-C127-40CF-9BBB-BAF4F9CE6CB8}"/>
                </a:ext>
              </a:extLst>
            </p:cNvPr>
            <p:cNvCxnSpPr>
              <a:cxnSpLocks/>
              <a:stCxn id="8" idx="5"/>
              <a:endCxn id="16" idx="2"/>
            </p:cNvCxnSpPr>
            <p:nvPr/>
          </p:nvCxnSpPr>
          <p:spPr>
            <a:xfrm>
              <a:off x="1957494" y="-1289705"/>
              <a:ext cx="193575" cy="82674"/>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7" name="Grupo 36">
            <a:extLst>
              <a:ext uri="{FF2B5EF4-FFF2-40B4-BE49-F238E27FC236}">
                <a16:creationId xmlns:a16="http://schemas.microsoft.com/office/drawing/2014/main" id="{18D98A69-E142-4756-AF07-6F60CA12B4F1}"/>
              </a:ext>
            </a:extLst>
          </p:cNvPr>
          <p:cNvGrpSpPr/>
          <p:nvPr/>
        </p:nvGrpSpPr>
        <p:grpSpPr>
          <a:xfrm>
            <a:off x="2679163" y="2622476"/>
            <a:ext cx="302897" cy="732306"/>
            <a:chOff x="2576457" y="3497729"/>
            <a:chExt cx="288000" cy="750334"/>
          </a:xfrm>
        </p:grpSpPr>
        <p:sp>
          <p:nvSpPr>
            <p:cNvPr id="32" name="Cubo 31">
              <a:extLst>
                <a:ext uri="{FF2B5EF4-FFF2-40B4-BE49-F238E27FC236}">
                  <a16:creationId xmlns:a16="http://schemas.microsoft.com/office/drawing/2014/main" id="{53065A61-C59D-4721-B694-4929D08676F5}"/>
                </a:ext>
              </a:extLst>
            </p:cNvPr>
            <p:cNvSpPr/>
            <p:nvPr/>
          </p:nvSpPr>
          <p:spPr>
            <a:xfrm>
              <a:off x="2576457" y="3497729"/>
              <a:ext cx="288000" cy="288000"/>
            </a:xfrm>
            <a:prstGeom prst="cub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Rectángulo 32">
              <a:extLst>
                <a:ext uri="{FF2B5EF4-FFF2-40B4-BE49-F238E27FC236}">
                  <a16:creationId xmlns:a16="http://schemas.microsoft.com/office/drawing/2014/main" id="{5B000E2B-FF98-4D50-92DB-78420F5A1AC3}"/>
                </a:ext>
              </a:extLst>
            </p:cNvPr>
            <p:cNvSpPr/>
            <p:nvPr/>
          </p:nvSpPr>
          <p:spPr>
            <a:xfrm>
              <a:off x="2576457" y="4032063"/>
              <a:ext cx="216000" cy="216000"/>
            </a:xfrm>
            <a:prstGeom prst="rect">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5" name="Conector recto 34">
              <a:extLst>
                <a:ext uri="{FF2B5EF4-FFF2-40B4-BE49-F238E27FC236}">
                  <a16:creationId xmlns:a16="http://schemas.microsoft.com/office/drawing/2014/main" id="{83FDA84C-C3D5-4276-923A-89416A72EB57}"/>
                </a:ext>
              </a:extLst>
            </p:cNvPr>
            <p:cNvCxnSpPr>
              <a:stCxn id="32" idx="3"/>
              <a:endCxn id="33" idx="0"/>
            </p:cNvCxnSpPr>
            <p:nvPr/>
          </p:nvCxnSpPr>
          <p:spPr>
            <a:xfrm>
              <a:off x="2684457" y="3785729"/>
              <a:ext cx="0" cy="246334"/>
            </a:xfrm>
            <a:prstGeom prst="line">
              <a:avLst/>
            </a:prstGeom>
            <a:ln w="63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70" name="Grupo 69">
            <a:extLst>
              <a:ext uri="{FF2B5EF4-FFF2-40B4-BE49-F238E27FC236}">
                <a16:creationId xmlns:a16="http://schemas.microsoft.com/office/drawing/2014/main" id="{68FE6327-E053-4578-8590-E858A56A1981}"/>
              </a:ext>
            </a:extLst>
          </p:cNvPr>
          <p:cNvGrpSpPr/>
          <p:nvPr/>
        </p:nvGrpSpPr>
        <p:grpSpPr>
          <a:xfrm>
            <a:off x="2499371" y="3636927"/>
            <a:ext cx="655132" cy="599847"/>
            <a:chOff x="1905451" y="4547865"/>
            <a:chExt cx="788771" cy="701498"/>
          </a:xfrm>
        </p:grpSpPr>
        <p:sp>
          <p:nvSpPr>
            <p:cNvPr id="38" name="Rectángulo 37">
              <a:extLst>
                <a:ext uri="{FF2B5EF4-FFF2-40B4-BE49-F238E27FC236}">
                  <a16:creationId xmlns:a16="http://schemas.microsoft.com/office/drawing/2014/main" id="{D29DE9D5-7838-4722-93C7-22E7262DFF34}"/>
                </a:ext>
              </a:extLst>
            </p:cNvPr>
            <p:cNvSpPr/>
            <p:nvPr/>
          </p:nvSpPr>
          <p:spPr>
            <a:xfrm>
              <a:off x="190545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Elipse 38">
              <a:extLst>
                <a:ext uri="{FF2B5EF4-FFF2-40B4-BE49-F238E27FC236}">
                  <a16:creationId xmlns:a16="http://schemas.microsoft.com/office/drawing/2014/main" id="{BB7691F4-F502-428B-8403-DAC040592E9C}"/>
                </a:ext>
              </a:extLst>
            </p:cNvPr>
            <p:cNvSpPr/>
            <p:nvPr/>
          </p:nvSpPr>
          <p:spPr>
            <a:xfrm>
              <a:off x="1944794"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Elipse 39">
              <a:extLst>
                <a:ext uri="{FF2B5EF4-FFF2-40B4-BE49-F238E27FC236}">
                  <a16:creationId xmlns:a16="http://schemas.microsoft.com/office/drawing/2014/main" id="{4C335F42-2A68-4617-BA19-74E4360E7166}"/>
                </a:ext>
              </a:extLst>
            </p:cNvPr>
            <p:cNvSpPr/>
            <p:nvPr/>
          </p:nvSpPr>
          <p:spPr>
            <a:xfrm>
              <a:off x="2101168"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Elipse 40">
              <a:extLst>
                <a:ext uri="{FF2B5EF4-FFF2-40B4-BE49-F238E27FC236}">
                  <a16:creationId xmlns:a16="http://schemas.microsoft.com/office/drawing/2014/main" id="{96E20174-4180-4F74-BD8C-132FBEFDD934}"/>
                </a:ext>
              </a:extLst>
            </p:cNvPr>
            <p:cNvSpPr/>
            <p:nvPr/>
          </p:nvSpPr>
          <p:spPr>
            <a:xfrm>
              <a:off x="1944794"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54F3CBD6-36A3-4557-93B3-5BA4C1746E92}"/>
                </a:ext>
              </a:extLst>
            </p:cNvPr>
            <p:cNvSpPr/>
            <p:nvPr/>
          </p:nvSpPr>
          <p:spPr>
            <a:xfrm>
              <a:off x="2101168"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Rectángulo 42">
              <a:extLst>
                <a:ext uri="{FF2B5EF4-FFF2-40B4-BE49-F238E27FC236}">
                  <a16:creationId xmlns:a16="http://schemas.microsoft.com/office/drawing/2014/main" id="{CA3EDD31-D596-437C-A778-52AB0CE384A7}"/>
                </a:ext>
              </a:extLst>
            </p:cNvPr>
            <p:cNvSpPr/>
            <p:nvPr/>
          </p:nvSpPr>
          <p:spPr>
            <a:xfrm>
              <a:off x="1913528"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4" name="Elipse 43">
              <a:extLst>
                <a:ext uri="{FF2B5EF4-FFF2-40B4-BE49-F238E27FC236}">
                  <a16:creationId xmlns:a16="http://schemas.microsoft.com/office/drawing/2014/main" id="{313A78FE-DBC4-48BF-A73E-5AE4035DBCB9}"/>
                </a:ext>
              </a:extLst>
            </p:cNvPr>
            <p:cNvSpPr/>
            <p:nvPr/>
          </p:nvSpPr>
          <p:spPr>
            <a:xfrm>
              <a:off x="1952871"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5" name="Elipse 44">
              <a:extLst>
                <a:ext uri="{FF2B5EF4-FFF2-40B4-BE49-F238E27FC236}">
                  <a16:creationId xmlns:a16="http://schemas.microsoft.com/office/drawing/2014/main" id="{E85D4A26-0F95-494E-B9B0-82FE5B0558C6}"/>
                </a:ext>
              </a:extLst>
            </p:cNvPr>
            <p:cNvSpPr/>
            <p:nvPr/>
          </p:nvSpPr>
          <p:spPr>
            <a:xfrm>
              <a:off x="2109245"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6" name="Elipse 45">
              <a:extLst>
                <a:ext uri="{FF2B5EF4-FFF2-40B4-BE49-F238E27FC236}">
                  <a16:creationId xmlns:a16="http://schemas.microsoft.com/office/drawing/2014/main" id="{D3684D4A-C4D0-4566-BD1F-EBCBB970D173}"/>
                </a:ext>
              </a:extLst>
            </p:cNvPr>
            <p:cNvSpPr/>
            <p:nvPr/>
          </p:nvSpPr>
          <p:spPr>
            <a:xfrm>
              <a:off x="1952871"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7" name="Elipse 46">
              <a:extLst>
                <a:ext uri="{FF2B5EF4-FFF2-40B4-BE49-F238E27FC236}">
                  <a16:creationId xmlns:a16="http://schemas.microsoft.com/office/drawing/2014/main" id="{6DEC69BD-DC90-476A-A6AE-D2AA7EA03C14}"/>
                </a:ext>
              </a:extLst>
            </p:cNvPr>
            <p:cNvSpPr/>
            <p:nvPr/>
          </p:nvSpPr>
          <p:spPr>
            <a:xfrm>
              <a:off x="2109245"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4" name="Rectángulo 53">
              <a:extLst>
                <a:ext uri="{FF2B5EF4-FFF2-40B4-BE49-F238E27FC236}">
                  <a16:creationId xmlns:a16="http://schemas.microsoft.com/office/drawing/2014/main" id="{53B83AA1-A0CA-48D3-AF3E-94FC3CFBA9A1}"/>
                </a:ext>
              </a:extLst>
            </p:cNvPr>
            <p:cNvSpPr/>
            <p:nvPr/>
          </p:nvSpPr>
          <p:spPr>
            <a:xfrm>
              <a:off x="236068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5" name="Elipse 54">
              <a:extLst>
                <a:ext uri="{FF2B5EF4-FFF2-40B4-BE49-F238E27FC236}">
                  <a16:creationId xmlns:a16="http://schemas.microsoft.com/office/drawing/2014/main" id="{25DBCE7C-917B-4481-AEFE-37A9E857D326}"/>
                </a:ext>
              </a:extLst>
            </p:cNvPr>
            <p:cNvSpPr/>
            <p:nvPr/>
          </p:nvSpPr>
          <p:spPr>
            <a:xfrm>
              <a:off x="2400024"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6" name="Elipse 55">
              <a:extLst>
                <a:ext uri="{FF2B5EF4-FFF2-40B4-BE49-F238E27FC236}">
                  <a16:creationId xmlns:a16="http://schemas.microsoft.com/office/drawing/2014/main" id="{D0A9897D-1B4B-45E3-B4E5-BDCE10C8D406}"/>
                </a:ext>
              </a:extLst>
            </p:cNvPr>
            <p:cNvSpPr/>
            <p:nvPr/>
          </p:nvSpPr>
          <p:spPr>
            <a:xfrm>
              <a:off x="2556398"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7" name="Elipse 56">
              <a:extLst>
                <a:ext uri="{FF2B5EF4-FFF2-40B4-BE49-F238E27FC236}">
                  <a16:creationId xmlns:a16="http://schemas.microsoft.com/office/drawing/2014/main" id="{DE98A7B3-4607-4FB5-AFD8-4DDEF06DC319}"/>
                </a:ext>
              </a:extLst>
            </p:cNvPr>
            <p:cNvSpPr/>
            <p:nvPr/>
          </p:nvSpPr>
          <p:spPr>
            <a:xfrm>
              <a:off x="2400024"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8" name="Elipse 57">
              <a:extLst>
                <a:ext uri="{FF2B5EF4-FFF2-40B4-BE49-F238E27FC236}">
                  <a16:creationId xmlns:a16="http://schemas.microsoft.com/office/drawing/2014/main" id="{C1E5351C-C08D-4611-BFF3-C8025AFF0595}"/>
                </a:ext>
              </a:extLst>
            </p:cNvPr>
            <p:cNvSpPr/>
            <p:nvPr/>
          </p:nvSpPr>
          <p:spPr>
            <a:xfrm>
              <a:off x="2556398"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9" name="Rectángulo 58">
              <a:extLst>
                <a:ext uri="{FF2B5EF4-FFF2-40B4-BE49-F238E27FC236}">
                  <a16:creationId xmlns:a16="http://schemas.microsoft.com/office/drawing/2014/main" id="{ED3F954B-5602-4210-917B-405306856792}"/>
                </a:ext>
              </a:extLst>
            </p:cNvPr>
            <p:cNvSpPr/>
            <p:nvPr/>
          </p:nvSpPr>
          <p:spPr>
            <a:xfrm>
              <a:off x="2366030"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0" name="Elipse 59">
              <a:extLst>
                <a:ext uri="{FF2B5EF4-FFF2-40B4-BE49-F238E27FC236}">
                  <a16:creationId xmlns:a16="http://schemas.microsoft.com/office/drawing/2014/main" id="{5640C3D7-A241-4D76-83BB-597AFE2E3C2F}"/>
                </a:ext>
              </a:extLst>
            </p:cNvPr>
            <p:cNvSpPr/>
            <p:nvPr/>
          </p:nvSpPr>
          <p:spPr>
            <a:xfrm>
              <a:off x="2405373"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Elipse 60">
              <a:extLst>
                <a:ext uri="{FF2B5EF4-FFF2-40B4-BE49-F238E27FC236}">
                  <a16:creationId xmlns:a16="http://schemas.microsoft.com/office/drawing/2014/main" id="{1D48FE1D-6D54-4439-AA6F-0266A4D2B45B}"/>
                </a:ext>
              </a:extLst>
            </p:cNvPr>
            <p:cNvSpPr/>
            <p:nvPr/>
          </p:nvSpPr>
          <p:spPr>
            <a:xfrm>
              <a:off x="2561747"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Elipse 61">
              <a:extLst>
                <a:ext uri="{FF2B5EF4-FFF2-40B4-BE49-F238E27FC236}">
                  <a16:creationId xmlns:a16="http://schemas.microsoft.com/office/drawing/2014/main" id="{ECA30693-F1D3-4BD7-BAAD-99CC68BC0D57}"/>
                </a:ext>
              </a:extLst>
            </p:cNvPr>
            <p:cNvSpPr/>
            <p:nvPr/>
          </p:nvSpPr>
          <p:spPr>
            <a:xfrm>
              <a:off x="2405373"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3" name="Elipse 62">
              <a:extLst>
                <a:ext uri="{FF2B5EF4-FFF2-40B4-BE49-F238E27FC236}">
                  <a16:creationId xmlns:a16="http://schemas.microsoft.com/office/drawing/2014/main" id="{BE522F83-58B9-4D1A-950C-819A8CF1C8FB}"/>
                </a:ext>
              </a:extLst>
            </p:cNvPr>
            <p:cNvSpPr/>
            <p:nvPr/>
          </p:nvSpPr>
          <p:spPr>
            <a:xfrm>
              <a:off x="2561747"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5" name="Conector recto 64">
              <a:extLst>
                <a:ext uri="{FF2B5EF4-FFF2-40B4-BE49-F238E27FC236}">
                  <a16:creationId xmlns:a16="http://schemas.microsoft.com/office/drawing/2014/main" id="{CDEB5186-567F-41A1-9752-FFFB26E47BF3}"/>
                </a:ext>
              </a:extLst>
            </p:cNvPr>
            <p:cNvCxnSpPr>
              <a:cxnSpLocks/>
              <a:stCxn id="43" idx="3"/>
              <a:endCxn id="59" idx="1"/>
            </p:cNvCxnSpPr>
            <p:nvPr/>
          </p:nvCxnSpPr>
          <p:spPr>
            <a:xfrm>
              <a:off x="2241720" y="508501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BD7DAA7E-0893-4ED9-B8F2-5190F0DB8052}"/>
                </a:ext>
              </a:extLst>
            </p:cNvPr>
            <p:cNvCxnSpPr>
              <a:cxnSpLocks/>
            </p:cNvCxnSpPr>
            <p:nvPr/>
          </p:nvCxnSpPr>
          <p:spPr>
            <a:xfrm>
              <a:off x="2236404" y="473249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83" name="Grupo 82">
            <a:extLst>
              <a:ext uri="{FF2B5EF4-FFF2-40B4-BE49-F238E27FC236}">
                <a16:creationId xmlns:a16="http://schemas.microsoft.com/office/drawing/2014/main" id="{CCB7CEC9-CF76-4D7B-95B5-0E6A2062B758}"/>
              </a:ext>
            </a:extLst>
          </p:cNvPr>
          <p:cNvGrpSpPr/>
          <p:nvPr/>
        </p:nvGrpSpPr>
        <p:grpSpPr>
          <a:xfrm>
            <a:off x="2527559" y="4472616"/>
            <a:ext cx="343362" cy="973460"/>
            <a:chOff x="1562986" y="5624623"/>
            <a:chExt cx="260497" cy="810205"/>
          </a:xfrm>
        </p:grpSpPr>
        <p:sp>
          <p:nvSpPr>
            <p:cNvPr id="71" name="Elipse 70">
              <a:extLst>
                <a:ext uri="{FF2B5EF4-FFF2-40B4-BE49-F238E27FC236}">
                  <a16:creationId xmlns:a16="http://schemas.microsoft.com/office/drawing/2014/main" id="{D66274FA-09AD-43BB-8AB0-1522E0125640}"/>
                </a:ext>
              </a:extLst>
            </p:cNvPr>
            <p:cNvSpPr/>
            <p:nvPr/>
          </p:nvSpPr>
          <p:spPr>
            <a:xfrm>
              <a:off x="1637414" y="5624623"/>
              <a:ext cx="111642" cy="111642"/>
            </a:xfrm>
            <a:prstGeom prst="ellipse">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2" name="Elipse 71">
              <a:extLst>
                <a:ext uri="{FF2B5EF4-FFF2-40B4-BE49-F238E27FC236}">
                  <a16:creationId xmlns:a16="http://schemas.microsoft.com/office/drawing/2014/main" id="{ABE30D6C-86AD-444C-9FA9-BB4D4878AB46}"/>
                </a:ext>
              </a:extLst>
            </p:cNvPr>
            <p:cNvSpPr/>
            <p:nvPr/>
          </p:nvSpPr>
          <p:spPr>
            <a:xfrm>
              <a:off x="1640072" y="6323186"/>
              <a:ext cx="111642" cy="111642"/>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3" name="Rectángulo: esquinas redondeadas 72">
              <a:extLst>
                <a:ext uri="{FF2B5EF4-FFF2-40B4-BE49-F238E27FC236}">
                  <a16:creationId xmlns:a16="http://schemas.microsoft.com/office/drawing/2014/main" id="{3431F153-D468-4060-86A1-79E076D7179D}"/>
                </a:ext>
              </a:extLst>
            </p:cNvPr>
            <p:cNvSpPr/>
            <p:nvPr/>
          </p:nvSpPr>
          <p:spPr>
            <a:xfrm>
              <a:off x="1562986" y="5853222"/>
              <a:ext cx="260497" cy="111642"/>
            </a:xfrm>
            <a:prstGeom prst="roundRect">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5" name="Conector recto de flecha 74">
              <a:extLst>
                <a:ext uri="{FF2B5EF4-FFF2-40B4-BE49-F238E27FC236}">
                  <a16:creationId xmlns:a16="http://schemas.microsoft.com/office/drawing/2014/main" id="{100CAECA-E315-40C1-BA76-051B96874952}"/>
                </a:ext>
              </a:extLst>
            </p:cNvPr>
            <p:cNvCxnSpPr>
              <a:stCxn id="71" idx="4"/>
              <a:endCxn id="73" idx="0"/>
            </p:cNvCxnSpPr>
            <p:nvPr/>
          </p:nvCxnSpPr>
          <p:spPr>
            <a:xfrm>
              <a:off x="1693235" y="5736265"/>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77" name="Rombo 76">
              <a:extLst>
                <a:ext uri="{FF2B5EF4-FFF2-40B4-BE49-F238E27FC236}">
                  <a16:creationId xmlns:a16="http://schemas.microsoft.com/office/drawing/2014/main" id="{9E603604-A260-45A8-B25A-557044F9EC2F}"/>
                </a:ext>
              </a:extLst>
            </p:cNvPr>
            <p:cNvSpPr/>
            <p:nvPr/>
          </p:nvSpPr>
          <p:spPr>
            <a:xfrm>
              <a:off x="1626782" y="6076510"/>
              <a:ext cx="122274" cy="123336"/>
            </a:xfrm>
            <a:prstGeom prst="diamond">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8" name="Conector recto de flecha 77">
              <a:extLst>
                <a:ext uri="{FF2B5EF4-FFF2-40B4-BE49-F238E27FC236}">
                  <a16:creationId xmlns:a16="http://schemas.microsoft.com/office/drawing/2014/main" id="{263527B2-ED79-4A60-B846-3BE9E9D525B1}"/>
                </a:ext>
              </a:extLst>
            </p:cNvPr>
            <p:cNvCxnSpPr/>
            <p:nvPr/>
          </p:nvCxnSpPr>
          <p:spPr>
            <a:xfrm>
              <a:off x="1688805" y="5964864"/>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9" name="Conector recto de flecha 78">
              <a:extLst>
                <a:ext uri="{FF2B5EF4-FFF2-40B4-BE49-F238E27FC236}">
                  <a16:creationId xmlns:a16="http://schemas.microsoft.com/office/drawing/2014/main" id="{4CFA616C-B206-472B-95B3-1D1EF361750E}"/>
                </a:ext>
              </a:extLst>
            </p:cNvPr>
            <p:cNvCxnSpPr/>
            <p:nvPr/>
          </p:nvCxnSpPr>
          <p:spPr>
            <a:xfrm>
              <a:off x="1687919" y="6199846"/>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1" name="Conector: angular 80">
              <a:extLst>
                <a:ext uri="{FF2B5EF4-FFF2-40B4-BE49-F238E27FC236}">
                  <a16:creationId xmlns:a16="http://schemas.microsoft.com/office/drawing/2014/main" id="{96042469-AB0D-4D60-B2ED-0402F7838C8B}"/>
                </a:ext>
              </a:extLst>
            </p:cNvPr>
            <p:cNvCxnSpPr>
              <a:stCxn id="77" idx="3"/>
              <a:endCxn id="73" idx="3"/>
            </p:cNvCxnSpPr>
            <p:nvPr/>
          </p:nvCxnSpPr>
          <p:spPr>
            <a:xfrm flipV="1">
              <a:off x="1749056" y="5909043"/>
              <a:ext cx="74427" cy="229135"/>
            </a:xfrm>
            <a:prstGeom prst="bentConnector3">
              <a:avLst>
                <a:gd name="adj1" fmla="val 250002"/>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8" name="Grupo 17"/>
          <p:cNvGrpSpPr/>
          <p:nvPr/>
        </p:nvGrpSpPr>
        <p:grpSpPr>
          <a:xfrm>
            <a:off x="2353691" y="5573243"/>
            <a:ext cx="744879" cy="303475"/>
            <a:chOff x="2403056" y="6179653"/>
            <a:chExt cx="843841" cy="352454"/>
          </a:xfrm>
        </p:grpSpPr>
        <p:sp>
          <p:nvSpPr>
            <p:cNvPr id="9" name="Rectángulo 8"/>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4" name="Rectángulo 63"/>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6" name="Rectángulo 65"/>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7" name="Medio marco 66">
              <a:extLst>
                <a:ext uri="{FF2B5EF4-FFF2-40B4-BE49-F238E27FC236}">
                  <a16:creationId xmlns:a16="http://schemas.microsoft.com/office/drawing/2014/main" id="{7BB12401-9550-4CCB-9F85-1798F26B853A}"/>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68" name="Medio marco 67">
              <a:extLst>
                <a:ext uri="{FF2B5EF4-FFF2-40B4-BE49-F238E27FC236}">
                  <a16:creationId xmlns:a16="http://schemas.microsoft.com/office/drawing/2014/main" id="{7BB12401-9550-4CCB-9F85-1798F26B853A}"/>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74" name="Medio marco 73">
              <a:extLst>
                <a:ext uri="{FF2B5EF4-FFF2-40B4-BE49-F238E27FC236}">
                  <a16:creationId xmlns:a16="http://schemas.microsoft.com/office/drawing/2014/main" id="{7BB12401-9550-4CCB-9F85-1798F26B853A}"/>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spTree>
    <p:extLst>
      <p:ext uri="{BB962C8B-B14F-4D97-AF65-F5344CB8AC3E}">
        <p14:creationId xmlns:p14="http://schemas.microsoft.com/office/powerpoint/2010/main" val="149477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7B04A94-DB7E-A1A2-5690-74C5A877A6D4}"/>
              </a:ext>
            </a:extLst>
          </p:cNvPr>
          <p:cNvSpPr>
            <a:spLocks noGrp="1"/>
          </p:cNvSpPr>
          <p:nvPr>
            <p:ph type="body" idx="1"/>
          </p:nvPr>
        </p:nvSpPr>
        <p:spPr>
          <a:xfrm>
            <a:off x="1976633" y="1573291"/>
            <a:ext cx="7089308" cy="4663440"/>
          </a:xfrm>
        </p:spPr>
        <p:txBody>
          <a:bodyPr>
            <a:normAutofit fontScale="92500" lnSpcReduction="10000"/>
          </a:bodyPr>
          <a:lstStyle/>
          <a:p>
            <a:pPr algn="just"/>
            <a:r>
              <a:rPr lang="es-CO" sz="2200"/>
              <a:t>Suponga que le piden: “averiguar cuantos familiares mayores de 17 años de su hogar han tenido </a:t>
            </a:r>
            <a:r>
              <a:rPr lang="es-CO" sz="2200" err="1"/>
              <a:t>Covid</a:t>
            </a:r>
            <a:r>
              <a:rPr lang="es-CO" sz="2200"/>
              <a:t>”. Este es un problema que se puede descomponer en partes para solucionarlo más fácil. Por ejemplo:</a:t>
            </a:r>
          </a:p>
          <a:p>
            <a:pPr lvl="1" algn="just">
              <a:buClr>
                <a:srgbClr val="009BAF"/>
              </a:buClr>
            </a:pPr>
            <a:r>
              <a:rPr lang="es-CO" sz="1800"/>
              <a:t>Primero debería comunicarse con cada uno de sus familiares.</a:t>
            </a:r>
          </a:p>
          <a:p>
            <a:pPr lvl="1" algn="just">
              <a:buClr>
                <a:srgbClr val="009BAF"/>
              </a:buClr>
            </a:pPr>
            <a:r>
              <a:rPr lang="es-CO" sz="1800"/>
              <a:t>A cada familiar deberá preguntarle su edad y si ha tenido </a:t>
            </a:r>
            <a:r>
              <a:rPr lang="es-CO" sz="1800" err="1"/>
              <a:t>Covid</a:t>
            </a:r>
            <a:r>
              <a:rPr lang="es-CO" sz="1800"/>
              <a:t> o no.</a:t>
            </a:r>
          </a:p>
          <a:p>
            <a:pPr lvl="1" algn="just">
              <a:buClr>
                <a:srgbClr val="009BAF"/>
              </a:buClr>
            </a:pPr>
            <a:r>
              <a:rPr lang="es-CO" sz="1800"/>
              <a:t>Luego deberá contar los familiares que tengan más de 17 años y que hayan respondido si a la pregunta de si han tenido </a:t>
            </a:r>
            <a:r>
              <a:rPr lang="es-CO" sz="1800" err="1"/>
              <a:t>Covid</a:t>
            </a:r>
            <a:r>
              <a:rPr lang="es-CO" sz="1800"/>
              <a:t>.</a:t>
            </a:r>
          </a:p>
          <a:p>
            <a:pPr lvl="1" algn="just">
              <a:buClr>
                <a:srgbClr val="009BAF"/>
              </a:buClr>
            </a:pPr>
            <a:r>
              <a:rPr lang="es-CO" sz="1800"/>
              <a:t>Finalmente presentar los resultados del conteo anterior.</a:t>
            </a:r>
          </a:p>
          <a:p>
            <a:pPr lvl="1" algn="just"/>
            <a:endParaRPr lang="es-CO" sz="1800"/>
          </a:p>
          <a:p>
            <a:pPr algn="just"/>
            <a:r>
              <a:rPr lang="es-CO" sz="2200"/>
              <a:t>El problema anterior lo dividimos en 4 subproblemas, y como veremos en este curso, </a:t>
            </a:r>
            <a:r>
              <a:rPr lang="es-CO" sz="2200" b="1"/>
              <a:t>es mucho más simple resolver uno a uno cada subproblema</a:t>
            </a:r>
            <a:r>
              <a:rPr lang="es-CO" sz="2200"/>
              <a:t>, que tratar de resolver un solo problema grande.</a:t>
            </a:r>
          </a:p>
          <a:p>
            <a:endParaRPr lang="es-CO"/>
          </a:p>
        </p:txBody>
      </p:sp>
      <p:sp>
        <p:nvSpPr>
          <p:cNvPr id="4" name="Marcador de número de diapositiva 3">
            <a:extLst>
              <a:ext uri="{FF2B5EF4-FFF2-40B4-BE49-F238E27FC236}">
                <a16:creationId xmlns:a16="http://schemas.microsoft.com/office/drawing/2014/main" id="{58647CFB-4973-A97C-09C4-BA9CF571AA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12</a:t>
            </a:fld>
            <a:endParaRPr lang="es-CO"/>
          </a:p>
        </p:txBody>
      </p:sp>
      <p:sp>
        <p:nvSpPr>
          <p:cNvPr id="5" name="Título 1">
            <a:extLst>
              <a:ext uri="{FF2B5EF4-FFF2-40B4-BE49-F238E27FC236}">
                <a16:creationId xmlns:a16="http://schemas.microsoft.com/office/drawing/2014/main" id="{0FC40A86-3880-6301-083D-C88EE6860A96}"/>
              </a:ext>
            </a:extLst>
          </p:cNvPr>
          <p:cNvSpPr>
            <a:spLocks noGrp="1"/>
          </p:cNvSpPr>
          <p:nvPr>
            <p:ph type="title"/>
          </p:nvPr>
        </p:nvSpPr>
        <p:spPr>
          <a:xfrm>
            <a:off x="2076994" y="222069"/>
            <a:ext cx="9666016" cy="1018902"/>
          </a:xfrm>
        </p:spPr>
        <p:txBody>
          <a:bodyPr/>
          <a:lstStyle/>
          <a:p>
            <a:r>
              <a:rPr lang="es-CO"/>
              <a:t>Ejemplo de descomposición</a:t>
            </a:r>
          </a:p>
        </p:txBody>
      </p:sp>
      <p:grpSp>
        <p:nvGrpSpPr>
          <p:cNvPr id="6" name="Grupo 5">
            <a:extLst>
              <a:ext uri="{FF2B5EF4-FFF2-40B4-BE49-F238E27FC236}">
                <a16:creationId xmlns:a16="http://schemas.microsoft.com/office/drawing/2014/main" id="{57F83D58-3173-1A7B-F444-9A65998352A1}"/>
              </a:ext>
            </a:extLst>
          </p:cNvPr>
          <p:cNvGrpSpPr/>
          <p:nvPr/>
        </p:nvGrpSpPr>
        <p:grpSpPr>
          <a:xfrm>
            <a:off x="2752084" y="343167"/>
            <a:ext cx="678775" cy="776706"/>
            <a:chOff x="1395663" y="-2227877"/>
            <a:chExt cx="935406" cy="1110846"/>
          </a:xfrm>
        </p:grpSpPr>
        <p:sp>
          <p:nvSpPr>
            <p:cNvPr id="7" name="Elipse 6">
              <a:extLst>
                <a:ext uri="{FF2B5EF4-FFF2-40B4-BE49-F238E27FC236}">
                  <a16:creationId xmlns:a16="http://schemas.microsoft.com/office/drawing/2014/main" id="{A762B1DD-519D-0FDF-F770-A741CD351C98}"/>
                </a:ext>
              </a:extLst>
            </p:cNvPr>
            <p:cNvSpPr/>
            <p:nvPr/>
          </p:nvSpPr>
          <p:spPr>
            <a:xfrm>
              <a:off x="1395663" y="-1828800"/>
              <a:ext cx="324000" cy="324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a:solidFill>
                    <a:srgbClr val="D85C90"/>
                  </a:solidFill>
                </a:rPr>
                <a:t>?</a:t>
              </a:r>
            </a:p>
          </p:txBody>
        </p:sp>
        <p:sp>
          <p:nvSpPr>
            <p:cNvPr id="8" name="Elipse 7">
              <a:extLst>
                <a:ext uri="{FF2B5EF4-FFF2-40B4-BE49-F238E27FC236}">
                  <a16:creationId xmlns:a16="http://schemas.microsoft.com/office/drawing/2014/main" id="{6D0DB543-7D3F-4396-0AEF-CA41D62C60D4}"/>
                </a:ext>
              </a:extLst>
            </p:cNvPr>
            <p:cNvSpPr/>
            <p:nvPr/>
          </p:nvSpPr>
          <p:spPr>
            <a:xfrm>
              <a:off x="1742399" y="-2080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9" name="Elipse 8">
              <a:extLst>
                <a:ext uri="{FF2B5EF4-FFF2-40B4-BE49-F238E27FC236}">
                  <a16:creationId xmlns:a16="http://schemas.microsoft.com/office/drawing/2014/main" id="{8DF0605D-299A-E9BB-E609-2E52CF1C65F1}"/>
                </a:ext>
              </a:extLst>
            </p:cNvPr>
            <p:cNvSpPr/>
            <p:nvPr/>
          </p:nvSpPr>
          <p:spPr>
            <a:xfrm>
              <a:off x="1742399" y="-1504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0" name="Conector recto 9">
              <a:extLst>
                <a:ext uri="{FF2B5EF4-FFF2-40B4-BE49-F238E27FC236}">
                  <a16:creationId xmlns:a16="http://schemas.microsoft.com/office/drawing/2014/main" id="{1D204309-9EFD-8C85-7D8D-BB3AA29625B3}"/>
                </a:ext>
              </a:extLst>
            </p:cNvPr>
            <p:cNvCxnSpPr>
              <a:stCxn id="7" idx="7"/>
              <a:endCxn id="8" idx="3"/>
            </p:cNvCxnSpPr>
            <p:nvPr/>
          </p:nvCxnSpPr>
          <p:spPr>
            <a:xfrm flipV="1">
              <a:off x="1672214" y="-1865705"/>
              <a:ext cx="107090" cy="84354"/>
            </a:xfrm>
            <a:prstGeom prst="line">
              <a:avLst/>
            </a:prstGeom>
            <a:ln>
              <a:solidFill>
                <a:srgbClr val="D85C9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A4F340A9-95C6-DD70-6283-3960246E328C}"/>
                </a:ext>
              </a:extLst>
            </p:cNvPr>
            <p:cNvCxnSpPr>
              <a:stCxn id="7" idx="5"/>
              <a:endCxn id="9" idx="1"/>
            </p:cNvCxnSpPr>
            <p:nvPr/>
          </p:nvCxnSpPr>
          <p:spPr>
            <a:xfrm>
              <a:off x="1672214" y="-1552249"/>
              <a:ext cx="107090" cy="84354"/>
            </a:xfrm>
            <a:prstGeom prst="line">
              <a:avLst/>
            </a:prstGeom>
            <a:ln>
              <a:solidFill>
                <a:srgbClr val="D85C90"/>
              </a:solidFill>
            </a:ln>
          </p:spPr>
          <p:style>
            <a:lnRef idx="1">
              <a:schemeClr val="accent1"/>
            </a:lnRef>
            <a:fillRef idx="0">
              <a:schemeClr val="accent1"/>
            </a:fillRef>
            <a:effectRef idx="0">
              <a:schemeClr val="accent1"/>
            </a:effectRef>
            <a:fontRef idx="minor">
              <a:schemeClr val="tx1"/>
            </a:fontRef>
          </p:style>
        </p:cxnSp>
        <p:sp>
          <p:nvSpPr>
            <p:cNvPr id="12" name="Elipse 11">
              <a:extLst>
                <a:ext uri="{FF2B5EF4-FFF2-40B4-BE49-F238E27FC236}">
                  <a16:creationId xmlns:a16="http://schemas.microsoft.com/office/drawing/2014/main" id="{89246604-E7BB-BF7F-5EE1-26E16CC62498}"/>
                </a:ext>
              </a:extLst>
            </p:cNvPr>
            <p:cNvSpPr/>
            <p:nvPr/>
          </p:nvSpPr>
          <p:spPr>
            <a:xfrm>
              <a:off x="2149722" y="-2227877"/>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3" name="Elipse 12">
              <a:extLst>
                <a:ext uri="{FF2B5EF4-FFF2-40B4-BE49-F238E27FC236}">
                  <a16:creationId xmlns:a16="http://schemas.microsoft.com/office/drawing/2014/main" id="{7DB718CA-351E-877D-CA27-5745226C01F2}"/>
                </a:ext>
              </a:extLst>
            </p:cNvPr>
            <p:cNvSpPr/>
            <p:nvPr/>
          </p:nvSpPr>
          <p:spPr>
            <a:xfrm>
              <a:off x="2149722" y="-1881029"/>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4" name="Elipse 13">
              <a:extLst>
                <a:ext uri="{FF2B5EF4-FFF2-40B4-BE49-F238E27FC236}">
                  <a16:creationId xmlns:a16="http://schemas.microsoft.com/office/drawing/2014/main" id="{669F6CFA-0696-EFD5-52FC-59907BE40289}"/>
                </a:ext>
              </a:extLst>
            </p:cNvPr>
            <p:cNvSpPr/>
            <p:nvPr/>
          </p:nvSpPr>
          <p:spPr>
            <a:xfrm>
              <a:off x="2149722" y="-1581022"/>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5" name="Elipse 14">
              <a:extLst>
                <a:ext uri="{FF2B5EF4-FFF2-40B4-BE49-F238E27FC236}">
                  <a16:creationId xmlns:a16="http://schemas.microsoft.com/office/drawing/2014/main" id="{8007CF2B-5671-0986-4363-2398BFDAB633}"/>
                </a:ext>
              </a:extLst>
            </p:cNvPr>
            <p:cNvSpPr/>
            <p:nvPr/>
          </p:nvSpPr>
          <p:spPr>
            <a:xfrm>
              <a:off x="2151069" y="-1297031"/>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6" name="Conector recto 15">
              <a:extLst>
                <a:ext uri="{FF2B5EF4-FFF2-40B4-BE49-F238E27FC236}">
                  <a16:creationId xmlns:a16="http://schemas.microsoft.com/office/drawing/2014/main" id="{546DD1BE-176E-01F8-BE71-7D412E303701}"/>
                </a:ext>
              </a:extLst>
            </p:cNvPr>
            <p:cNvCxnSpPr>
              <a:cxnSpLocks/>
              <a:stCxn id="8" idx="7"/>
              <a:endCxn id="12" idx="2"/>
            </p:cNvCxnSpPr>
            <p:nvPr/>
          </p:nvCxnSpPr>
          <p:spPr>
            <a:xfrm flipV="1">
              <a:off x="1957494" y="-2137877"/>
              <a:ext cx="192228" cy="9398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F66AAFC5-2BCF-576A-00B8-9D19DB763B86}"/>
                </a:ext>
              </a:extLst>
            </p:cNvPr>
            <p:cNvCxnSpPr>
              <a:cxnSpLocks/>
              <a:stCxn id="13" idx="1"/>
              <a:endCxn id="8" idx="6"/>
            </p:cNvCxnSpPr>
            <p:nvPr/>
          </p:nvCxnSpPr>
          <p:spPr>
            <a:xfrm flipH="1" flipV="1">
              <a:off x="1994399" y="-1954800"/>
              <a:ext cx="181683" cy="100131"/>
            </a:xfrm>
            <a:prstGeom prst="line">
              <a:avLst/>
            </a:prstGeom>
            <a:ln>
              <a:solidFill>
                <a:srgbClr val="D85C9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27120E43-F388-4416-45F0-BA884847FCBF}"/>
                </a:ext>
              </a:extLst>
            </p:cNvPr>
            <p:cNvCxnSpPr>
              <a:cxnSpLocks/>
              <a:stCxn id="9" idx="6"/>
              <a:endCxn id="14" idx="2"/>
            </p:cNvCxnSpPr>
            <p:nvPr/>
          </p:nvCxnSpPr>
          <p:spPr>
            <a:xfrm flipV="1">
              <a:off x="1994399" y="-1491022"/>
              <a:ext cx="155323" cy="11222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018F4F8-55DE-C5E2-A0D5-F07573BBE71D}"/>
                </a:ext>
              </a:extLst>
            </p:cNvPr>
            <p:cNvCxnSpPr>
              <a:cxnSpLocks/>
              <a:stCxn id="9" idx="5"/>
              <a:endCxn id="15" idx="2"/>
            </p:cNvCxnSpPr>
            <p:nvPr/>
          </p:nvCxnSpPr>
          <p:spPr>
            <a:xfrm>
              <a:off x="1957494" y="-1289705"/>
              <a:ext cx="193575" cy="82674"/>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pic>
        <p:nvPicPr>
          <p:cNvPr id="1026" name="Picture 2">
            <a:extLst>
              <a:ext uri="{FF2B5EF4-FFF2-40B4-BE49-F238E27FC236}">
                <a16:creationId xmlns:a16="http://schemas.microsoft.com/office/drawing/2014/main" id="{A2D7E2F5-3FB8-96CE-C5E3-C6812F186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1242" y="2564780"/>
            <a:ext cx="2040011" cy="2230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58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1CA113E-7E06-BC91-4056-D996CA30E992}"/>
              </a:ext>
            </a:extLst>
          </p:cNvPr>
          <p:cNvSpPr>
            <a:spLocks noGrp="1"/>
          </p:cNvSpPr>
          <p:nvPr>
            <p:ph type="body" idx="1"/>
          </p:nvPr>
        </p:nvSpPr>
        <p:spPr>
          <a:xfrm>
            <a:off x="1987786" y="1410789"/>
            <a:ext cx="5918430" cy="4663440"/>
          </a:xfrm>
        </p:spPr>
        <p:txBody>
          <a:bodyPr anchor="ctr">
            <a:noAutofit/>
          </a:bodyPr>
          <a:lstStyle/>
          <a:p>
            <a:pPr algn="just"/>
            <a:r>
              <a:rPr lang="es-CO" sz="2000"/>
              <a:t>Mario abrió una cafetería en una zona industrial de su barrio. </a:t>
            </a:r>
          </a:p>
          <a:p>
            <a:pPr algn="just"/>
            <a:r>
              <a:rPr lang="es-CO" sz="2000"/>
              <a:t>Inicialmente Mario abría de 10 am a 8 pm.</a:t>
            </a:r>
          </a:p>
          <a:p>
            <a:pPr algn="just"/>
            <a:r>
              <a:rPr lang="es-CO" sz="2000"/>
              <a:t>Las ventas y la cantidad de visitas a la cafetería de Mario no eran las mejores.</a:t>
            </a:r>
          </a:p>
          <a:p>
            <a:pPr algn="just"/>
            <a:r>
              <a:rPr lang="es-CO" sz="2000"/>
              <a:t>Mario decidió recopilar información sobre los horarios a los que abrían y cerraban las 20 empresas de la zona industrial donde estaba la cafetería.</a:t>
            </a:r>
          </a:p>
          <a:p>
            <a:pPr algn="just"/>
            <a:r>
              <a:rPr lang="es-CO" sz="2000"/>
              <a:t>Encontró un patrón. Se dio cuenta que 80% de las empresas abrían entre las 8 am y 4 pm.</a:t>
            </a:r>
          </a:p>
          <a:p>
            <a:pPr algn="just"/>
            <a:r>
              <a:rPr lang="es-CO" sz="2000"/>
              <a:t>Mario ajustó los horarios de la cafetería para abrir a las 7 am y cerrar a las 5 pm. </a:t>
            </a:r>
          </a:p>
          <a:p>
            <a:pPr algn="just"/>
            <a:r>
              <a:rPr lang="es-CO" sz="2000"/>
              <a:t>Sus ventas incrementaron un 35%.</a:t>
            </a:r>
          </a:p>
        </p:txBody>
      </p:sp>
      <p:sp>
        <p:nvSpPr>
          <p:cNvPr id="4" name="Marcador de número de diapositiva 3">
            <a:extLst>
              <a:ext uri="{FF2B5EF4-FFF2-40B4-BE49-F238E27FC236}">
                <a16:creationId xmlns:a16="http://schemas.microsoft.com/office/drawing/2014/main" id="{0A055A0B-8DE3-36D5-DF35-41C4C10455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13</a:t>
            </a:fld>
            <a:endParaRPr lang="es-CO"/>
          </a:p>
        </p:txBody>
      </p:sp>
      <p:sp>
        <p:nvSpPr>
          <p:cNvPr id="29" name="Título 1">
            <a:extLst>
              <a:ext uri="{FF2B5EF4-FFF2-40B4-BE49-F238E27FC236}">
                <a16:creationId xmlns:a16="http://schemas.microsoft.com/office/drawing/2014/main" id="{306D72FD-8086-ACEB-31C1-F9A7BFE10A23}"/>
              </a:ext>
            </a:extLst>
          </p:cNvPr>
          <p:cNvSpPr>
            <a:spLocks noGrp="1"/>
          </p:cNvSpPr>
          <p:nvPr>
            <p:ph type="title"/>
          </p:nvPr>
        </p:nvSpPr>
        <p:spPr>
          <a:xfrm>
            <a:off x="2311165" y="222069"/>
            <a:ext cx="9666016" cy="1018902"/>
          </a:xfrm>
        </p:spPr>
        <p:txBody>
          <a:bodyPr>
            <a:normAutofit/>
          </a:bodyPr>
          <a:lstStyle/>
          <a:p>
            <a:r>
              <a:rPr lang="es-CO" sz="4200"/>
              <a:t>Ejemplo de reconocimiento de patrones</a:t>
            </a:r>
          </a:p>
        </p:txBody>
      </p:sp>
      <p:grpSp>
        <p:nvGrpSpPr>
          <p:cNvPr id="30" name="Grupo 29">
            <a:extLst>
              <a:ext uri="{FF2B5EF4-FFF2-40B4-BE49-F238E27FC236}">
                <a16:creationId xmlns:a16="http://schemas.microsoft.com/office/drawing/2014/main" id="{52D8361C-87B3-3D6D-AE0A-8DA41B29859B}"/>
              </a:ext>
            </a:extLst>
          </p:cNvPr>
          <p:cNvGrpSpPr/>
          <p:nvPr/>
        </p:nvGrpSpPr>
        <p:grpSpPr>
          <a:xfrm>
            <a:off x="1880861" y="434386"/>
            <a:ext cx="655132" cy="599847"/>
            <a:chOff x="1905451" y="4547865"/>
            <a:chExt cx="788771" cy="701498"/>
          </a:xfrm>
        </p:grpSpPr>
        <p:sp>
          <p:nvSpPr>
            <p:cNvPr id="31" name="Rectángulo 30">
              <a:extLst>
                <a:ext uri="{FF2B5EF4-FFF2-40B4-BE49-F238E27FC236}">
                  <a16:creationId xmlns:a16="http://schemas.microsoft.com/office/drawing/2014/main" id="{CB04C9A7-4C28-AC8F-F40B-6DD06E8E2098}"/>
                </a:ext>
              </a:extLst>
            </p:cNvPr>
            <p:cNvSpPr/>
            <p:nvPr/>
          </p:nvSpPr>
          <p:spPr>
            <a:xfrm>
              <a:off x="190545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Elipse 31">
              <a:extLst>
                <a:ext uri="{FF2B5EF4-FFF2-40B4-BE49-F238E27FC236}">
                  <a16:creationId xmlns:a16="http://schemas.microsoft.com/office/drawing/2014/main" id="{28EFDFC4-5EA9-FC95-DB2D-EAA16F677DA3}"/>
                </a:ext>
              </a:extLst>
            </p:cNvPr>
            <p:cNvSpPr/>
            <p:nvPr/>
          </p:nvSpPr>
          <p:spPr>
            <a:xfrm>
              <a:off x="1944794"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Elipse 32">
              <a:extLst>
                <a:ext uri="{FF2B5EF4-FFF2-40B4-BE49-F238E27FC236}">
                  <a16:creationId xmlns:a16="http://schemas.microsoft.com/office/drawing/2014/main" id="{9F25111F-BED7-C097-67B3-8E0123E80F6C}"/>
                </a:ext>
              </a:extLst>
            </p:cNvPr>
            <p:cNvSpPr/>
            <p:nvPr/>
          </p:nvSpPr>
          <p:spPr>
            <a:xfrm>
              <a:off x="2101168"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Elipse 33">
              <a:extLst>
                <a:ext uri="{FF2B5EF4-FFF2-40B4-BE49-F238E27FC236}">
                  <a16:creationId xmlns:a16="http://schemas.microsoft.com/office/drawing/2014/main" id="{3CBC116F-9C4D-C0CB-810A-C29F1D0F02C3}"/>
                </a:ext>
              </a:extLst>
            </p:cNvPr>
            <p:cNvSpPr/>
            <p:nvPr/>
          </p:nvSpPr>
          <p:spPr>
            <a:xfrm>
              <a:off x="1944794"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Elipse 34">
              <a:extLst>
                <a:ext uri="{FF2B5EF4-FFF2-40B4-BE49-F238E27FC236}">
                  <a16:creationId xmlns:a16="http://schemas.microsoft.com/office/drawing/2014/main" id="{FC9003C7-0716-3696-C8C7-35011BCC49AF}"/>
                </a:ext>
              </a:extLst>
            </p:cNvPr>
            <p:cNvSpPr/>
            <p:nvPr/>
          </p:nvSpPr>
          <p:spPr>
            <a:xfrm>
              <a:off x="2101168"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Rectángulo 35">
              <a:extLst>
                <a:ext uri="{FF2B5EF4-FFF2-40B4-BE49-F238E27FC236}">
                  <a16:creationId xmlns:a16="http://schemas.microsoft.com/office/drawing/2014/main" id="{A5051D7E-52F5-E87F-EFDB-F5FC4B4B908B}"/>
                </a:ext>
              </a:extLst>
            </p:cNvPr>
            <p:cNvSpPr/>
            <p:nvPr/>
          </p:nvSpPr>
          <p:spPr>
            <a:xfrm>
              <a:off x="1913528"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Elipse 36">
              <a:extLst>
                <a:ext uri="{FF2B5EF4-FFF2-40B4-BE49-F238E27FC236}">
                  <a16:creationId xmlns:a16="http://schemas.microsoft.com/office/drawing/2014/main" id="{CEFD54AF-E9C8-8689-E807-DDF68D8EF231}"/>
                </a:ext>
              </a:extLst>
            </p:cNvPr>
            <p:cNvSpPr/>
            <p:nvPr/>
          </p:nvSpPr>
          <p:spPr>
            <a:xfrm>
              <a:off x="1952871"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Elipse 37">
              <a:extLst>
                <a:ext uri="{FF2B5EF4-FFF2-40B4-BE49-F238E27FC236}">
                  <a16:creationId xmlns:a16="http://schemas.microsoft.com/office/drawing/2014/main" id="{D7A1CF3D-3A18-212D-3899-405455DD8B0F}"/>
                </a:ext>
              </a:extLst>
            </p:cNvPr>
            <p:cNvSpPr/>
            <p:nvPr/>
          </p:nvSpPr>
          <p:spPr>
            <a:xfrm>
              <a:off x="2109245"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Elipse 38">
              <a:extLst>
                <a:ext uri="{FF2B5EF4-FFF2-40B4-BE49-F238E27FC236}">
                  <a16:creationId xmlns:a16="http://schemas.microsoft.com/office/drawing/2014/main" id="{142E983E-1D19-A5DF-37D2-10A6CD166BD3}"/>
                </a:ext>
              </a:extLst>
            </p:cNvPr>
            <p:cNvSpPr/>
            <p:nvPr/>
          </p:nvSpPr>
          <p:spPr>
            <a:xfrm>
              <a:off x="1952871"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Elipse 39">
              <a:extLst>
                <a:ext uri="{FF2B5EF4-FFF2-40B4-BE49-F238E27FC236}">
                  <a16:creationId xmlns:a16="http://schemas.microsoft.com/office/drawing/2014/main" id="{BD400BC7-8336-49E2-BE44-A18178F7FDB3}"/>
                </a:ext>
              </a:extLst>
            </p:cNvPr>
            <p:cNvSpPr/>
            <p:nvPr/>
          </p:nvSpPr>
          <p:spPr>
            <a:xfrm>
              <a:off x="2109245"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Rectángulo 40">
              <a:extLst>
                <a:ext uri="{FF2B5EF4-FFF2-40B4-BE49-F238E27FC236}">
                  <a16:creationId xmlns:a16="http://schemas.microsoft.com/office/drawing/2014/main" id="{8282AD3A-9DEF-BEAD-E525-61381163941C}"/>
                </a:ext>
              </a:extLst>
            </p:cNvPr>
            <p:cNvSpPr/>
            <p:nvPr/>
          </p:nvSpPr>
          <p:spPr>
            <a:xfrm>
              <a:off x="236068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281F608F-B7A9-E60A-E78A-85965BF3803F}"/>
                </a:ext>
              </a:extLst>
            </p:cNvPr>
            <p:cNvSpPr/>
            <p:nvPr/>
          </p:nvSpPr>
          <p:spPr>
            <a:xfrm>
              <a:off x="2400024"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Elipse 42">
              <a:extLst>
                <a:ext uri="{FF2B5EF4-FFF2-40B4-BE49-F238E27FC236}">
                  <a16:creationId xmlns:a16="http://schemas.microsoft.com/office/drawing/2014/main" id="{0836FC97-C57B-C7DE-BC12-19A4803E75D1}"/>
                </a:ext>
              </a:extLst>
            </p:cNvPr>
            <p:cNvSpPr/>
            <p:nvPr/>
          </p:nvSpPr>
          <p:spPr>
            <a:xfrm>
              <a:off x="2556398"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4" name="Elipse 43">
              <a:extLst>
                <a:ext uri="{FF2B5EF4-FFF2-40B4-BE49-F238E27FC236}">
                  <a16:creationId xmlns:a16="http://schemas.microsoft.com/office/drawing/2014/main" id="{FD089A82-CF52-79D4-4E03-B3D316188702}"/>
                </a:ext>
              </a:extLst>
            </p:cNvPr>
            <p:cNvSpPr/>
            <p:nvPr/>
          </p:nvSpPr>
          <p:spPr>
            <a:xfrm>
              <a:off x="2400024"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5" name="Elipse 44">
              <a:extLst>
                <a:ext uri="{FF2B5EF4-FFF2-40B4-BE49-F238E27FC236}">
                  <a16:creationId xmlns:a16="http://schemas.microsoft.com/office/drawing/2014/main" id="{11919624-FC54-A4F4-AC0D-7488C0D0A304}"/>
                </a:ext>
              </a:extLst>
            </p:cNvPr>
            <p:cNvSpPr/>
            <p:nvPr/>
          </p:nvSpPr>
          <p:spPr>
            <a:xfrm>
              <a:off x="2556398"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6" name="Rectángulo 45">
              <a:extLst>
                <a:ext uri="{FF2B5EF4-FFF2-40B4-BE49-F238E27FC236}">
                  <a16:creationId xmlns:a16="http://schemas.microsoft.com/office/drawing/2014/main" id="{0775BAD6-392E-D8C7-1CA4-474954D342D8}"/>
                </a:ext>
              </a:extLst>
            </p:cNvPr>
            <p:cNvSpPr/>
            <p:nvPr/>
          </p:nvSpPr>
          <p:spPr>
            <a:xfrm>
              <a:off x="2366030"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7" name="Elipse 46">
              <a:extLst>
                <a:ext uri="{FF2B5EF4-FFF2-40B4-BE49-F238E27FC236}">
                  <a16:creationId xmlns:a16="http://schemas.microsoft.com/office/drawing/2014/main" id="{364A35F8-8756-24A8-4720-6EFDC65A94CF}"/>
                </a:ext>
              </a:extLst>
            </p:cNvPr>
            <p:cNvSpPr/>
            <p:nvPr/>
          </p:nvSpPr>
          <p:spPr>
            <a:xfrm>
              <a:off x="2405373"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8" name="Elipse 47">
              <a:extLst>
                <a:ext uri="{FF2B5EF4-FFF2-40B4-BE49-F238E27FC236}">
                  <a16:creationId xmlns:a16="http://schemas.microsoft.com/office/drawing/2014/main" id="{892E749D-8138-562E-E7CE-8B99AF29EAFF}"/>
                </a:ext>
              </a:extLst>
            </p:cNvPr>
            <p:cNvSpPr/>
            <p:nvPr/>
          </p:nvSpPr>
          <p:spPr>
            <a:xfrm>
              <a:off x="2561747"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9" name="Elipse 48">
              <a:extLst>
                <a:ext uri="{FF2B5EF4-FFF2-40B4-BE49-F238E27FC236}">
                  <a16:creationId xmlns:a16="http://schemas.microsoft.com/office/drawing/2014/main" id="{74155263-97B2-E0E7-EB15-F1C68ABFBC2D}"/>
                </a:ext>
              </a:extLst>
            </p:cNvPr>
            <p:cNvSpPr/>
            <p:nvPr/>
          </p:nvSpPr>
          <p:spPr>
            <a:xfrm>
              <a:off x="2405373"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Elipse 49">
              <a:extLst>
                <a:ext uri="{FF2B5EF4-FFF2-40B4-BE49-F238E27FC236}">
                  <a16:creationId xmlns:a16="http://schemas.microsoft.com/office/drawing/2014/main" id="{B1CE92A8-527C-DF6A-6F3E-C624D71C42FE}"/>
                </a:ext>
              </a:extLst>
            </p:cNvPr>
            <p:cNvSpPr/>
            <p:nvPr/>
          </p:nvSpPr>
          <p:spPr>
            <a:xfrm>
              <a:off x="2561747"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1" name="Conector recto 50">
              <a:extLst>
                <a:ext uri="{FF2B5EF4-FFF2-40B4-BE49-F238E27FC236}">
                  <a16:creationId xmlns:a16="http://schemas.microsoft.com/office/drawing/2014/main" id="{3A675D8F-2647-90C3-289E-0E2F2ADD5F40}"/>
                </a:ext>
              </a:extLst>
            </p:cNvPr>
            <p:cNvCxnSpPr>
              <a:cxnSpLocks/>
              <a:stCxn id="36" idx="3"/>
              <a:endCxn id="46" idx="1"/>
            </p:cNvCxnSpPr>
            <p:nvPr/>
          </p:nvCxnSpPr>
          <p:spPr>
            <a:xfrm>
              <a:off x="2241720" y="508501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EE8941C0-4ED4-EB2A-CE76-A9769789B90B}"/>
                </a:ext>
              </a:extLst>
            </p:cNvPr>
            <p:cNvCxnSpPr>
              <a:cxnSpLocks/>
            </p:cNvCxnSpPr>
            <p:nvPr/>
          </p:nvCxnSpPr>
          <p:spPr>
            <a:xfrm>
              <a:off x="2236404" y="473249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pic>
        <p:nvPicPr>
          <p:cNvPr id="54" name="Imagen 53" descr="Interfaz de usuario gráfica&#10;&#10;Descripción generada automáticamente">
            <a:extLst>
              <a:ext uri="{FF2B5EF4-FFF2-40B4-BE49-F238E27FC236}">
                <a16:creationId xmlns:a16="http://schemas.microsoft.com/office/drawing/2014/main" id="{43161EE9-7BB4-E584-030D-1EF9657DDC1C}"/>
              </a:ext>
            </a:extLst>
          </p:cNvPr>
          <p:cNvPicPr>
            <a:picLocks noChangeAspect="1"/>
          </p:cNvPicPr>
          <p:nvPr/>
        </p:nvPicPr>
        <p:blipFill>
          <a:blip r:embed="rId2"/>
          <a:stretch>
            <a:fillRect/>
          </a:stretch>
        </p:blipFill>
        <p:spPr>
          <a:xfrm>
            <a:off x="8129239" y="2298802"/>
            <a:ext cx="3742456" cy="2887413"/>
          </a:xfrm>
          <a:prstGeom prst="rect">
            <a:avLst/>
          </a:prstGeom>
        </p:spPr>
      </p:pic>
    </p:spTree>
    <p:extLst>
      <p:ext uri="{BB962C8B-B14F-4D97-AF65-F5344CB8AC3E}">
        <p14:creationId xmlns:p14="http://schemas.microsoft.com/office/powerpoint/2010/main" val="369201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D535105-997C-E625-6A84-816683B9CCB0}"/>
              </a:ext>
            </a:extLst>
          </p:cNvPr>
          <p:cNvSpPr>
            <a:spLocks noGrp="1"/>
          </p:cNvSpPr>
          <p:nvPr>
            <p:ph type="body" idx="1"/>
          </p:nvPr>
        </p:nvSpPr>
        <p:spPr>
          <a:xfrm>
            <a:off x="2076993" y="1410788"/>
            <a:ext cx="6163757" cy="4822151"/>
          </a:xfrm>
        </p:spPr>
        <p:txBody>
          <a:bodyPr anchor="ctr">
            <a:normAutofit fontScale="92500" lnSpcReduction="20000"/>
          </a:bodyPr>
          <a:lstStyle/>
          <a:p>
            <a:pPr algn="just"/>
            <a:r>
              <a:rPr lang="es-CO" sz="2400"/>
              <a:t>Lea a continuación el siguiente texto:</a:t>
            </a:r>
          </a:p>
          <a:p>
            <a:pPr algn="just"/>
            <a:endParaRPr lang="es-CO" sz="2400"/>
          </a:p>
          <a:p>
            <a:pPr marL="76200" indent="0" algn="just">
              <a:buNone/>
            </a:pPr>
            <a:r>
              <a:rPr lang="es-CO" sz="2400" i="1"/>
              <a:t>María es una joven originaria de la ciudad de Sabaneta. María tiene cabello oscuro y ojos azules. En las tardes, María juega tenis. María acaba de cumplir 19 años.</a:t>
            </a:r>
          </a:p>
          <a:p>
            <a:pPr algn="just"/>
            <a:endParaRPr lang="es-CO" sz="2400" i="1"/>
          </a:p>
          <a:p>
            <a:pPr algn="just"/>
            <a:r>
              <a:rPr lang="es-CO" sz="2400"/>
              <a:t>Ahora suponga que le piden desarrollar un programa para saber si María puede ingresar o no a una discoteca (la edad mínima requerida para ingresar es 18 años).</a:t>
            </a:r>
          </a:p>
          <a:p>
            <a:pPr algn="just"/>
            <a:endParaRPr lang="es-CO" sz="2400"/>
          </a:p>
          <a:p>
            <a:pPr algn="just"/>
            <a:r>
              <a:rPr lang="es-CO" sz="2400"/>
              <a:t>Del texto anterior, abstraiga la información relevante para el problema anterior. ¿Cuál es la información relevante?</a:t>
            </a:r>
          </a:p>
        </p:txBody>
      </p:sp>
      <p:sp>
        <p:nvSpPr>
          <p:cNvPr id="4" name="Marcador de número de diapositiva 3">
            <a:extLst>
              <a:ext uri="{FF2B5EF4-FFF2-40B4-BE49-F238E27FC236}">
                <a16:creationId xmlns:a16="http://schemas.microsoft.com/office/drawing/2014/main" id="{43F5013F-97C5-56EB-8CAD-3357CA6722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14</a:t>
            </a:fld>
            <a:endParaRPr lang="es-CO"/>
          </a:p>
        </p:txBody>
      </p:sp>
      <p:grpSp>
        <p:nvGrpSpPr>
          <p:cNvPr id="5" name="Grupo 4">
            <a:extLst>
              <a:ext uri="{FF2B5EF4-FFF2-40B4-BE49-F238E27FC236}">
                <a16:creationId xmlns:a16="http://schemas.microsoft.com/office/drawing/2014/main" id="{96F78925-36E8-67F2-2DD5-CC3070FC2482}"/>
              </a:ext>
            </a:extLst>
          </p:cNvPr>
          <p:cNvGrpSpPr/>
          <p:nvPr/>
        </p:nvGrpSpPr>
        <p:grpSpPr>
          <a:xfrm>
            <a:off x="3685392" y="343980"/>
            <a:ext cx="302897" cy="732306"/>
            <a:chOff x="2576457" y="3497729"/>
            <a:chExt cx="288000" cy="750334"/>
          </a:xfrm>
        </p:grpSpPr>
        <p:sp>
          <p:nvSpPr>
            <p:cNvPr id="6" name="Cubo 5">
              <a:extLst>
                <a:ext uri="{FF2B5EF4-FFF2-40B4-BE49-F238E27FC236}">
                  <a16:creationId xmlns:a16="http://schemas.microsoft.com/office/drawing/2014/main" id="{36BD9A23-2946-78A7-ECDD-CF19DE8022C4}"/>
                </a:ext>
              </a:extLst>
            </p:cNvPr>
            <p:cNvSpPr/>
            <p:nvPr/>
          </p:nvSpPr>
          <p:spPr>
            <a:xfrm>
              <a:off x="2576457" y="3497729"/>
              <a:ext cx="288000" cy="288000"/>
            </a:xfrm>
            <a:prstGeom prst="cub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97231DC4-5720-C968-11AB-0AABD34629F7}"/>
                </a:ext>
              </a:extLst>
            </p:cNvPr>
            <p:cNvSpPr/>
            <p:nvPr/>
          </p:nvSpPr>
          <p:spPr>
            <a:xfrm>
              <a:off x="2576457" y="4032063"/>
              <a:ext cx="216000" cy="216000"/>
            </a:xfrm>
            <a:prstGeom prst="rect">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9574ACB3-2B52-DE5C-7A81-9C43457FA795}"/>
                </a:ext>
              </a:extLst>
            </p:cNvPr>
            <p:cNvCxnSpPr>
              <a:stCxn id="6" idx="3"/>
              <a:endCxn id="7" idx="0"/>
            </p:cNvCxnSpPr>
            <p:nvPr/>
          </p:nvCxnSpPr>
          <p:spPr>
            <a:xfrm>
              <a:off x="2684457" y="3785729"/>
              <a:ext cx="0" cy="246334"/>
            </a:xfrm>
            <a:prstGeom prst="line">
              <a:avLst/>
            </a:prstGeom>
            <a:ln w="63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9" name="Título 1">
            <a:extLst>
              <a:ext uri="{FF2B5EF4-FFF2-40B4-BE49-F238E27FC236}">
                <a16:creationId xmlns:a16="http://schemas.microsoft.com/office/drawing/2014/main" id="{A5C41348-681B-9742-0B5F-2B6359194AA3}"/>
              </a:ext>
            </a:extLst>
          </p:cNvPr>
          <p:cNvSpPr>
            <a:spLocks noGrp="1"/>
          </p:cNvSpPr>
          <p:nvPr>
            <p:ph type="title"/>
          </p:nvPr>
        </p:nvSpPr>
        <p:spPr>
          <a:xfrm>
            <a:off x="2076994" y="222069"/>
            <a:ext cx="9666016" cy="1018902"/>
          </a:xfrm>
        </p:spPr>
        <p:txBody>
          <a:bodyPr/>
          <a:lstStyle/>
          <a:p>
            <a:r>
              <a:rPr lang="es-CO"/>
              <a:t>Ejemplo de abstracción</a:t>
            </a:r>
          </a:p>
        </p:txBody>
      </p:sp>
      <p:sp>
        <p:nvSpPr>
          <p:cNvPr id="10" name="Google Shape;373;p15">
            <a:extLst>
              <a:ext uri="{FF2B5EF4-FFF2-40B4-BE49-F238E27FC236}">
                <a16:creationId xmlns:a16="http://schemas.microsoft.com/office/drawing/2014/main" id="{BABECBC9-73F3-B35F-8216-86D95062D958}"/>
              </a:ext>
            </a:extLst>
          </p:cNvPr>
          <p:cNvSpPr/>
          <p:nvPr/>
        </p:nvSpPr>
        <p:spPr>
          <a:xfrm>
            <a:off x="8672053" y="3340700"/>
            <a:ext cx="3028242" cy="1001785"/>
          </a:xfrm>
          <a:prstGeom prst="rect">
            <a:avLst/>
          </a:prstGeom>
          <a:gradFill>
            <a:gsLst>
              <a:gs pos="0">
                <a:srgbClr val="F7B224"/>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Lo único relevante del texto anterior es la información de la edad.</a:t>
            </a:r>
            <a:endParaRPr b="1">
              <a:solidFill>
                <a:schemeClr val="dk1"/>
              </a:solidFill>
              <a:latin typeface="Calibri"/>
              <a:cs typeface="Calibri"/>
              <a:sym typeface="Arial"/>
            </a:endParaRPr>
          </a:p>
        </p:txBody>
      </p:sp>
      <p:cxnSp>
        <p:nvCxnSpPr>
          <p:cNvPr id="11" name="Google Shape;374;p15">
            <a:extLst>
              <a:ext uri="{FF2B5EF4-FFF2-40B4-BE49-F238E27FC236}">
                <a16:creationId xmlns:a16="http://schemas.microsoft.com/office/drawing/2014/main" id="{DEBF8644-D081-1234-D194-73F86DA1A410}"/>
              </a:ext>
            </a:extLst>
          </p:cNvPr>
          <p:cNvCxnSpPr>
            <a:cxnSpLocks/>
            <a:stCxn id="10" idx="1"/>
          </p:cNvCxnSpPr>
          <p:nvPr/>
        </p:nvCxnSpPr>
        <p:spPr>
          <a:xfrm flipH="1" flipV="1">
            <a:off x="4326194" y="3244645"/>
            <a:ext cx="4345859" cy="596948"/>
          </a:xfrm>
          <a:prstGeom prst="straightConnector1">
            <a:avLst/>
          </a:prstGeom>
          <a:noFill/>
          <a:ln w="44450" cap="flat" cmpd="sng">
            <a:solidFill>
              <a:srgbClr val="FB9815"/>
            </a:solidFill>
            <a:prstDash val="solid"/>
            <a:round/>
            <a:headEnd type="none" w="sm" len="sm"/>
            <a:tailEnd type="triangle" w="med" len="med"/>
          </a:ln>
        </p:spPr>
      </p:cxnSp>
      <p:pic>
        <p:nvPicPr>
          <p:cNvPr id="16" name="Imagen 15">
            <a:extLst>
              <a:ext uri="{FF2B5EF4-FFF2-40B4-BE49-F238E27FC236}">
                <a16:creationId xmlns:a16="http://schemas.microsoft.com/office/drawing/2014/main" id="{7590F386-E68E-9E72-724D-DD9749380327}"/>
              </a:ext>
            </a:extLst>
          </p:cNvPr>
          <p:cNvPicPr>
            <a:picLocks noChangeAspect="1"/>
          </p:cNvPicPr>
          <p:nvPr/>
        </p:nvPicPr>
        <p:blipFill>
          <a:blip r:embed="rId2"/>
          <a:stretch>
            <a:fillRect/>
          </a:stretch>
        </p:blipFill>
        <p:spPr>
          <a:xfrm>
            <a:off x="9824311" y="865475"/>
            <a:ext cx="1592303" cy="2121974"/>
          </a:xfrm>
          <a:prstGeom prst="rect">
            <a:avLst/>
          </a:prstGeom>
        </p:spPr>
      </p:pic>
    </p:spTree>
    <p:extLst>
      <p:ext uri="{BB962C8B-B14F-4D97-AF65-F5344CB8AC3E}">
        <p14:creationId xmlns:p14="http://schemas.microsoft.com/office/powerpoint/2010/main" val="46596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D739FB6-21F6-8256-BCBD-40834D3CDCCE}"/>
              </a:ext>
            </a:extLst>
          </p:cNvPr>
          <p:cNvSpPr>
            <a:spLocks noGrp="1"/>
          </p:cNvSpPr>
          <p:nvPr>
            <p:ph type="body" idx="1"/>
          </p:nvPr>
        </p:nvSpPr>
        <p:spPr>
          <a:xfrm>
            <a:off x="2076994" y="1466544"/>
            <a:ext cx="9666016" cy="1440000"/>
          </a:xfrm>
        </p:spPr>
        <p:txBody>
          <a:bodyPr>
            <a:normAutofit/>
          </a:bodyPr>
          <a:lstStyle/>
          <a:p>
            <a:pPr algn="just"/>
            <a:r>
              <a:rPr lang="es-CO" sz="2000"/>
              <a:t>Utilizando algoritmia podemos definir una serie de instrucciones para solucionar problemas. Suponga que nos piden calcular el área de una pared que necesitamos pintar. Veamos cómo llevar el problema anterior a un algoritmo:</a:t>
            </a:r>
          </a:p>
        </p:txBody>
      </p:sp>
      <p:sp>
        <p:nvSpPr>
          <p:cNvPr id="4" name="Marcador de número de diapositiva 3">
            <a:extLst>
              <a:ext uri="{FF2B5EF4-FFF2-40B4-BE49-F238E27FC236}">
                <a16:creationId xmlns:a16="http://schemas.microsoft.com/office/drawing/2014/main" id="{A2BD72C6-5634-686C-EA7F-3231E05F3B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15</a:t>
            </a:fld>
            <a:endParaRPr lang="es-CO"/>
          </a:p>
        </p:txBody>
      </p:sp>
      <p:sp>
        <p:nvSpPr>
          <p:cNvPr id="5" name="Título 1">
            <a:extLst>
              <a:ext uri="{FF2B5EF4-FFF2-40B4-BE49-F238E27FC236}">
                <a16:creationId xmlns:a16="http://schemas.microsoft.com/office/drawing/2014/main" id="{827A005D-E465-B1E9-4EFD-59940E713476}"/>
              </a:ext>
            </a:extLst>
          </p:cNvPr>
          <p:cNvSpPr>
            <a:spLocks noGrp="1"/>
          </p:cNvSpPr>
          <p:nvPr>
            <p:ph type="title"/>
          </p:nvPr>
        </p:nvSpPr>
        <p:spPr>
          <a:xfrm>
            <a:off x="2076994" y="222069"/>
            <a:ext cx="9666016" cy="1018902"/>
          </a:xfrm>
        </p:spPr>
        <p:txBody>
          <a:bodyPr/>
          <a:lstStyle/>
          <a:p>
            <a:r>
              <a:rPr lang="es-CO"/>
              <a:t>Ejemplo de algoritmia</a:t>
            </a:r>
          </a:p>
        </p:txBody>
      </p:sp>
      <p:grpSp>
        <p:nvGrpSpPr>
          <p:cNvPr id="6" name="Grupo 5">
            <a:extLst>
              <a:ext uri="{FF2B5EF4-FFF2-40B4-BE49-F238E27FC236}">
                <a16:creationId xmlns:a16="http://schemas.microsoft.com/office/drawing/2014/main" id="{D9DBFE86-2A71-2F3D-FFB0-04577023EF74}"/>
              </a:ext>
            </a:extLst>
          </p:cNvPr>
          <p:cNvGrpSpPr/>
          <p:nvPr/>
        </p:nvGrpSpPr>
        <p:grpSpPr>
          <a:xfrm>
            <a:off x="3620435" y="244790"/>
            <a:ext cx="343362" cy="973460"/>
            <a:chOff x="1562986" y="5624623"/>
            <a:chExt cx="260497" cy="810205"/>
          </a:xfrm>
        </p:grpSpPr>
        <p:sp>
          <p:nvSpPr>
            <p:cNvPr id="7" name="Elipse 6">
              <a:extLst>
                <a:ext uri="{FF2B5EF4-FFF2-40B4-BE49-F238E27FC236}">
                  <a16:creationId xmlns:a16="http://schemas.microsoft.com/office/drawing/2014/main" id="{136E955A-7C7F-84F2-177C-BED5D3B124B8}"/>
                </a:ext>
              </a:extLst>
            </p:cNvPr>
            <p:cNvSpPr/>
            <p:nvPr/>
          </p:nvSpPr>
          <p:spPr>
            <a:xfrm>
              <a:off x="1637414" y="5624623"/>
              <a:ext cx="111642" cy="111642"/>
            </a:xfrm>
            <a:prstGeom prst="ellipse">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Elipse 7">
              <a:extLst>
                <a:ext uri="{FF2B5EF4-FFF2-40B4-BE49-F238E27FC236}">
                  <a16:creationId xmlns:a16="http://schemas.microsoft.com/office/drawing/2014/main" id="{AA312890-3299-5DEA-F4D9-680A9FF2DEC8}"/>
                </a:ext>
              </a:extLst>
            </p:cNvPr>
            <p:cNvSpPr/>
            <p:nvPr/>
          </p:nvSpPr>
          <p:spPr>
            <a:xfrm>
              <a:off x="1640072" y="6323186"/>
              <a:ext cx="111642" cy="111642"/>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esquinas redondeadas 8">
              <a:extLst>
                <a:ext uri="{FF2B5EF4-FFF2-40B4-BE49-F238E27FC236}">
                  <a16:creationId xmlns:a16="http://schemas.microsoft.com/office/drawing/2014/main" id="{CBE544F1-C9FE-1654-11B6-432453ED4C9B}"/>
                </a:ext>
              </a:extLst>
            </p:cNvPr>
            <p:cNvSpPr/>
            <p:nvPr/>
          </p:nvSpPr>
          <p:spPr>
            <a:xfrm>
              <a:off x="1562986" y="5853222"/>
              <a:ext cx="260497" cy="111642"/>
            </a:xfrm>
            <a:prstGeom prst="roundRect">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0" name="Conector recto de flecha 9">
              <a:extLst>
                <a:ext uri="{FF2B5EF4-FFF2-40B4-BE49-F238E27FC236}">
                  <a16:creationId xmlns:a16="http://schemas.microsoft.com/office/drawing/2014/main" id="{185049D2-2C4F-A8E5-D57A-7FB71C37FE8D}"/>
                </a:ext>
              </a:extLst>
            </p:cNvPr>
            <p:cNvCxnSpPr>
              <a:stCxn id="7" idx="4"/>
              <a:endCxn id="9" idx="0"/>
            </p:cNvCxnSpPr>
            <p:nvPr/>
          </p:nvCxnSpPr>
          <p:spPr>
            <a:xfrm>
              <a:off x="1693235" y="5736265"/>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Rombo 10">
              <a:extLst>
                <a:ext uri="{FF2B5EF4-FFF2-40B4-BE49-F238E27FC236}">
                  <a16:creationId xmlns:a16="http://schemas.microsoft.com/office/drawing/2014/main" id="{14946C4A-D601-5B00-B875-E0DCE59E3DBE}"/>
                </a:ext>
              </a:extLst>
            </p:cNvPr>
            <p:cNvSpPr/>
            <p:nvPr/>
          </p:nvSpPr>
          <p:spPr>
            <a:xfrm>
              <a:off x="1626782" y="6076510"/>
              <a:ext cx="122274" cy="123336"/>
            </a:xfrm>
            <a:prstGeom prst="diamond">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2" name="Conector recto de flecha 11">
              <a:extLst>
                <a:ext uri="{FF2B5EF4-FFF2-40B4-BE49-F238E27FC236}">
                  <a16:creationId xmlns:a16="http://schemas.microsoft.com/office/drawing/2014/main" id="{A96150FC-547E-7DD1-5EB3-8F081FD6AAC5}"/>
                </a:ext>
              </a:extLst>
            </p:cNvPr>
            <p:cNvCxnSpPr/>
            <p:nvPr/>
          </p:nvCxnSpPr>
          <p:spPr>
            <a:xfrm>
              <a:off x="1688805" y="5964864"/>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B253CFE3-7D94-EAA2-5359-60F2FF943B0D}"/>
                </a:ext>
              </a:extLst>
            </p:cNvPr>
            <p:cNvCxnSpPr/>
            <p:nvPr/>
          </p:nvCxnSpPr>
          <p:spPr>
            <a:xfrm>
              <a:off x="1687919" y="6199846"/>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Conector: angular 13">
              <a:extLst>
                <a:ext uri="{FF2B5EF4-FFF2-40B4-BE49-F238E27FC236}">
                  <a16:creationId xmlns:a16="http://schemas.microsoft.com/office/drawing/2014/main" id="{A7CD2EDF-2117-8E61-0BA4-24606AF5991E}"/>
                </a:ext>
              </a:extLst>
            </p:cNvPr>
            <p:cNvCxnSpPr>
              <a:stCxn id="11" idx="3"/>
              <a:endCxn id="9" idx="3"/>
            </p:cNvCxnSpPr>
            <p:nvPr/>
          </p:nvCxnSpPr>
          <p:spPr>
            <a:xfrm flipV="1">
              <a:off x="1749056" y="5909043"/>
              <a:ext cx="74427" cy="229135"/>
            </a:xfrm>
            <a:prstGeom prst="bentConnector3">
              <a:avLst>
                <a:gd name="adj1" fmla="val 250002"/>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5" name="Rectángulo 14">
            <a:extLst>
              <a:ext uri="{FF2B5EF4-FFF2-40B4-BE49-F238E27FC236}">
                <a16:creationId xmlns:a16="http://schemas.microsoft.com/office/drawing/2014/main" id="{99DC2CD7-531C-5364-F895-8762382ACDB6}"/>
              </a:ext>
            </a:extLst>
          </p:cNvPr>
          <p:cNvSpPr/>
          <p:nvPr/>
        </p:nvSpPr>
        <p:spPr>
          <a:xfrm>
            <a:off x="2601854" y="2932024"/>
            <a:ext cx="1440000" cy="2353653"/>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a:t>Pared</a:t>
            </a:r>
          </a:p>
        </p:txBody>
      </p:sp>
      <p:cxnSp>
        <p:nvCxnSpPr>
          <p:cNvPr id="16" name="Conector recto 15">
            <a:extLst>
              <a:ext uri="{FF2B5EF4-FFF2-40B4-BE49-F238E27FC236}">
                <a16:creationId xmlns:a16="http://schemas.microsoft.com/office/drawing/2014/main" id="{B7B76065-FA80-F58D-3DF9-3304B899FC66}"/>
              </a:ext>
            </a:extLst>
          </p:cNvPr>
          <p:cNvCxnSpPr/>
          <p:nvPr/>
        </p:nvCxnSpPr>
        <p:spPr>
          <a:xfrm>
            <a:off x="2601854" y="5495228"/>
            <a:ext cx="1440000"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7" name="Conector recto 16">
            <a:extLst>
              <a:ext uri="{FF2B5EF4-FFF2-40B4-BE49-F238E27FC236}">
                <a16:creationId xmlns:a16="http://schemas.microsoft.com/office/drawing/2014/main" id="{EFB36D8D-6A65-D353-6E7C-FBE6C6288890}"/>
              </a:ext>
            </a:extLst>
          </p:cNvPr>
          <p:cNvCxnSpPr>
            <a:cxnSpLocks/>
          </p:cNvCxnSpPr>
          <p:nvPr/>
        </p:nvCxnSpPr>
        <p:spPr>
          <a:xfrm flipV="1">
            <a:off x="4235606" y="2932025"/>
            <a:ext cx="0" cy="2353652"/>
          </a:xfrm>
          <a:prstGeom prst="line">
            <a:avLst/>
          </a:prstGeom>
          <a:ln w="12700"/>
        </p:spPr>
        <p:style>
          <a:lnRef idx="1">
            <a:schemeClr val="accent2"/>
          </a:lnRef>
          <a:fillRef idx="0">
            <a:schemeClr val="accent2"/>
          </a:fillRef>
          <a:effectRef idx="0">
            <a:schemeClr val="accent2"/>
          </a:effectRef>
          <a:fontRef idx="minor">
            <a:schemeClr val="tx1"/>
          </a:fontRef>
        </p:style>
      </p:cxnSp>
      <p:sp>
        <p:nvSpPr>
          <p:cNvPr id="18" name="CuadroTexto 17">
            <a:extLst>
              <a:ext uri="{FF2B5EF4-FFF2-40B4-BE49-F238E27FC236}">
                <a16:creationId xmlns:a16="http://schemas.microsoft.com/office/drawing/2014/main" id="{ED5989F3-9801-74C5-239F-495AB70AFD9F}"/>
              </a:ext>
            </a:extLst>
          </p:cNvPr>
          <p:cNvSpPr txBox="1"/>
          <p:nvPr/>
        </p:nvSpPr>
        <p:spPr>
          <a:xfrm>
            <a:off x="3006837" y="5564925"/>
            <a:ext cx="538930" cy="369332"/>
          </a:xfrm>
          <a:prstGeom prst="rect">
            <a:avLst/>
          </a:prstGeom>
          <a:noFill/>
        </p:spPr>
        <p:txBody>
          <a:bodyPr wrap="none" rtlCol="0">
            <a:spAutoFit/>
          </a:bodyPr>
          <a:lstStyle/>
          <a:p>
            <a:r>
              <a:rPr lang="es-MX"/>
              <a:t>2 m</a:t>
            </a:r>
            <a:endParaRPr lang="es-CO"/>
          </a:p>
        </p:txBody>
      </p:sp>
      <p:sp>
        <p:nvSpPr>
          <p:cNvPr id="19" name="CuadroTexto 18">
            <a:extLst>
              <a:ext uri="{FF2B5EF4-FFF2-40B4-BE49-F238E27FC236}">
                <a16:creationId xmlns:a16="http://schemas.microsoft.com/office/drawing/2014/main" id="{D66E31D7-CD77-35CC-7FD9-A776A88C0EF1}"/>
              </a:ext>
            </a:extLst>
          </p:cNvPr>
          <p:cNvSpPr txBox="1"/>
          <p:nvPr/>
        </p:nvSpPr>
        <p:spPr>
          <a:xfrm>
            <a:off x="4271274" y="3924560"/>
            <a:ext cx="538930" cy="369332"/>
          </a:xfrm>
          <a:prstGeom prst="rect">
            <a:avLst/>
          </a:prstGeom>
          <a:noFill/>
        </p:spPr>
        <p:txBody>
          <a:bodyPr wrap="none" rtlCol="0">
            <a:spAutoFit/>
          </a:bodyPr>
          <a:lstStyle/>
          <a:p>
            <a:r>
              <a:rPr lang="es-MX"/>
              <a:t>4 m</a:t>
            </a:r>
            <a:endParaRPr lang="es-CO"/>
          </a:p>
        </p:txBody>
      </p:sp>
      <p:sp>
        <p:nvSpPr>
          <p:cNvPr id="23" name="Marcador de texto 2">
            <a:extLst>
              <a:ext uri="{FF2B5EF4-FFF2-40B4-BE49-F238E27FC236}">
                <a16:creationId xmlns:a16="http://schemas.microsoft.com/office/drawing/2014/main" id="{310B058C-F9D2-C5A2-8619-A536813C3BF3}"/>
              </a:ext>
            </a:extLst>
          </p:cNvPr>
          <p:cNvSpPr txBox="1">
            <a:spLocks/>
          </p:cNvSpPr>
          <p:nvPr/>
        </p:nvSpPr>
        <p:spPr>
          <a:xfrm>
            <a:off x="5062659" y="2638916"/>
            <a:ext cx="6695686" cy="3083467"/>
          </a:xfrm>
          <a:prstGeom prst="rect">
            <a:avLst/>
          </a:prstGeom>
          <a:noFill/>
          <a:ln>
            <a:noFill/>
          </a:ln>
        </p:spPr>
        <p:txBody>
          <a:bodyPr spcFirstLastPara="1" vert="horz" wrap="square" lIns="91425" tIns="45700" rIns="91425" bIns="45700" rtlCol="0" anchor="ctr" anchorCtr="0">
            <a:normAutofit/>
          </a:bodyPr>
          <a:lstStyle>
            <a:lvl1pPr marL="457200" lvl="0" indent="-381000" algn="l" defTabSz="914400" rtl="0" eaLnBrk="1" latinLnBrk="0" hangingPunct="1">
              <a:lnSpc>
                <a:spcPct val="100000"/>
              </a:lnSpc>
              <a:spcBef>
                <a:spcPts val="480"/>
              </a:spcBef>
              <a:spcAft>
                <a:spcPts val="0"/>
              </a:spcAft>
              <a:buClr>
                <a:srgbClr val="009BAF"/>
              </a:buClr>
              <a:buSzPts val="2400"/>
              <a:buFont typeface="Arial" panose="020B0604020202020204" pitchFamily="34" charset="0"/>
              <a:buChar char="•"/>
              <a:defRPr sz="2800" kern="1200">
                <a:solidFill>
                  <a:schemeClr val="tx1"/>
                </a:solidFill>
                <a:latin typeface="Calibri"/>
                <a:ea typeface="Calibri"/>
                <a:cs typeface="Calibri"/>
                <a:sym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pPr marL="76200" indent="0" algn="just">
              <a:buNone/>
            </a:pPr>
            <a:r>
              <a:rPr lang="es-CO" sz="2000" b="1"/>
              <a:t>Algoritmo - pasos:</a:t>
            </a:r>
          </a:p>
          <a:p>
            <a:pPr marL="533400" indent="-457200" algn="just">
              <a:buSzPct val="100000"/>
              <a:buFont typeface="+mj-lt"/>
              <a:buAutoNum type="arabicPeriod"/>
            </a:pPr>
            <a:r>
              <a:rPr lang="es-CO" sz="2000"/>
              <a:t>Consultamos la fórmula para calcular el área de una pared rectangular (área = base x altura).</a:t>
            </a:r>
          </a:p>
          <a:p>
            <a:pPr marL="533400" indent="-457200" algn="just">
              <a:buSzPct val="100000"/>
              <a:buFont typeface="+mj-lt"/>
              <a:buAutoNum type="arabicPeriod"/>
            </a:pPr>
            <a:r>
              <a:rPr lang="es-CO" sz="2000"/>
              <a:t>Identificamos cuánto mide la base de la pared (2 m).</a:t>
            </a:r>
          </a:p>
          <a:p>
            <a:pPr marL="533400" indent="-457200" algn="just">
              <a:buSzPct val="100000"/>
              <a:buFont typeface="+mj-lt"/>
              <a:buAutoNum type="arabicPeriod"/>
            </a:pPr>
            <a:r>
              <a:rPr lang="es-CO" sz="2000"/>
              <a:t>Identificamos cuánto mide la altura de la pared (4 m).</a:t>
            </a:r>
          </a:p>
          <a:p>
            <a:pPr marL="533400" indent="-457200" algn="just">
              <a:buSzPct val="100000"/>
              <a:buFont typeface="+mj-lt"/>
              <a:buAutoNum type="arabicPeriod"/>
            </a:pPr>
            <a:r>
              <a:rPr lang="es-CO" sz="2000"/>
              <a:t>Multiplicamos la base de la pared por su altura (2x4 = 8).</a:t>
            </a:r>
          </a:p>
          <a:p>
            <a:pPr marL="533400" indent="-457200" algn="just">
              <a:buSzPct val="100000"/>
              <a:buFont typeface="+mj-lt"/>
              <a:buAutoNum type="arabicPeriod"/>
            </a:pPr>
            <a:r>
              <a:rPr lang="es-CO" sz="2000"/>
              <a:t>Mostramos el resultado (el área de la pared) (8 m</a:t>
            </a:r>
            <a:r>
              <a:rPr lang="es-CO" sz="2000" baseline="30000"/>
              <a:t>2</a:t>
            </a:r>
            <a:r>
              <a:rPr lang="es-CO" sz="2000"/>
              <a:t>).</a:t>
            </a:r>
          </a:p>
        </p:txBody>
      </p:sp>
    </p:spTree>
    <p:extLst>
      <p:ext uri="{BB962C8B-B14F-4D97-AF65-F5344CB8AC3E}">
        <p14:creationId xmlns:p14="http://schemas.microsoft.com/office/powerpoint/2010/main" val="93417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FC3B730-C21B-39F1-5F97-3362F0E69649}"/>
              </a:ext>
            </a:extLst>
          </p:cNvPr>
          <p:cNvSpPr>
            <a:spLocks noGrp="1"/>
          </p:cNvSpPr>
          <p:nvPr>
            <p:ph type="body" idx="1"/>
          </p:nvPr>
        </p:nvSpPr>
        <p:spPr>
          <a:xfrm>
            <a:off x="2076994" y="1466544"/>
            <a:ext cx="9666016" cy="2398712"/>
          </a:xfrm>
        </p:spPr>
        <p:txBody>
          <a:bodyPr>
            <a:normAutofit/>
          </a:bodyPr>
          <a:lstStyle/>
          <a:p>
            <a:pPr algn="just"/>
            <a:r>
              <a:rPr lang="es-CO" sz="2000"/>
              <a:t>Para evaluar una solución podemos hacer procesos manuales, tales como, utilizar una calculadora o lápiz y papel. O podemos llevar nuestros algoritmos a código en un lenguaje de programación, y ejecutarlos para ver que obtenemos el resultado esperado. Veamos cómo llevar el problema anterior “del área de la pared” a código Python (en clases posteriores lo programaremos). </a:t>
            </a:r>
          </a:p>
        </p:txBody>
      </p:sp>
      <p:sp>
        <p:nvSpPr>
          <p:cNvPr id="4" name="Marcador de número de diapositiva 3">
            <a:extLst>
              <a:ext uri="{FF2B5EF4-FFF2-40B4-BE49-F238E27FC236}">
                <a16:creationId xmlns:a16="http://schemas.microsoft.com/office/drawing/2014/main" id="{840BE228-E7FA-28EC-A44C-D4EF58FB1A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16</a:t>
            </a:fld>
            <a:endParaRPr lang="es-CO"/>
          </a:p>
        </p:txBody>
      </p:sp>
      <p:sp>
        <p:nvSpPr>
          <p:cNvPr id="5" name="Título 1">
            <a:extLst>
              <a:ext uri="{FF2B5EF4-FFF2-40B4-BE49-F238E27FC236}">
                <a16:creationId xmlns:a16="http://schemas.microsoft.com/office/drawing/2014/main" id="{4C2310D9-F462-EBB8-0BBE-47491BAFDA32}"/>
              </a:ext>
            </a:extLst>
          </p:cNvPr>
          <p:cNvSpPr>
            <a:spLocks noGrp="1"/>
          </p:cNvSpPr>
          <p:nvPr>
            <p:ph type="title"/>
          </p:nvPr>
        </p:nvSpPr>
        <p:spPr>
          <a:xfrm>
            <a:off x="2076994" y="222069"/>
            <a:ext cx="9666016" cy="1018902"/>
          </a:xfrm>
        </p:spPr>
        <p:txBody>
          <a:bodyPr/>
          <a:lstStyle/>
          <a:p>
            <a:r>
              <a:rPr lang="es-CO"/>
              <a:t>Ejemplo de evaluación</a:t>
            </a:r>
          </a:p>
        </p:txBody>
      </p:sp>
      <p:grpSp>
        <p:nvGrpSpPr>
          <p:cNvPr id="6" name="Grupo 5">
            <a:extLst>
              <a:ext uri="{FF2B5EF4-FFF2-40B4-BE49-F238E27FC236}">
                <a16:creationId xmlns:a16="http://schemas.microsoft.com/office/drawing/2014/main" id="{DC20B703-18E6-FB23-0643-83A117F6A66E}"/>
              </a:ext>
            </a:extLst>
          </p:cNvPr>
          <p:cNvGrpSpPr/>
          <p:nvPr/>
        </p:nvGrpSpPr>
        <p:grpSpPr>
          <a:xfrm>
            <a:off x="3296975" y="579782"/>
            <a:ext cx="744879" cy="303475"/>
            <a:chOff x="2403056" y="6179653"/>
            <a:chExt cx="843841" cy="352454"/>
          </a:xfrm>
        </p:grpSpPr>
        <p:sp>
          <p:nvSpPr>
            <p:cNvPr id="7" name="Rectángulo 6">
              <a:extLst>
                <a:ext uri="{FF2B5EF4-FFF2-40B4-BE49-F238E27FC236}">
                  <a16:creationId xmlns:a16="http://schemas.microsoft.com/office/drawing/2014/main" id="{6020E5C6-7DF4-603F-DC34-EDFE4E06F87F}"/>
                </a:ext>
              </a:extLst>
            </p:cNvPr>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F34A124B-A6CE-839D-00AD-4A09B80AB2EC}"/>
                </a:ext>
              </a:extLst>
            </p:cNvPr>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F9898573-AA11-1D67-13E1-E5F195B294FA}"/>
                </a:ext>
              </a:extLst>
            </p:cNvPr>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Medio marco 9">
              <a:extLst>
                <a:ext uri="{FF2B5EF4-FFF2-40B4-BE49-F238E27FC236}">
                  <a16:creationId xmlns:a16="http://schemas.microsoft.com/office/drawing/2014/main" id="{861BA76F-007A-7AC4-9DB3-60E7F6C04648}"/>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1" name="Medio marco 10">
              <a:extLst>
                <a:ext uri="{FF2B5EF4-FFF2-40B4-BE49-F238E27FC236}">
                  <a16:creationId xmlns:a16="http://schemas.microsoft.com/office/drawing/2014/main" id="{6182042E-F486-9F35-B1AE-B7B4C243B27A}"/>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2" name="Medio marco 11">
              <a:extLst>
                <a:ext uri="{FF2B5EF4-FFF2-40B4-BE49-F238E27FC236}">
                  <a16:creationId xmlns:a16="http://schemas.microsoft.com/office/drawing/2014/main" id="{AC6A7323-1F84-84F9-3107-DC49B8A9D0C2}"/>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pic>
        <p:nvPicPr>
          <p:cNvPr id="14" name="Imagen 13">
            <a:extLst>
              <a:ext uri="{FF2B5EF4-FFF2-40B4-BE49-F238E27FC236}">
                <a16:creationId xmlns:a16="http://schemas.microsoft.com/office/drawing/2014/main" id="{734F824D-E9B1-C472-A1E2-780B1BF36EDE}"/>
              </a:ext>
            </a:extLst>
          </p:cNvPr>
          <p:cNvPicPr>
            <a:picLocks noChangeAspect="1"/>
          </p:cNvPicPr>
          <p:nvPr/>
        </p:nvPicPr>
        <p:blipFill>
          <a:blip r:embed="rId2"/>
          <a:stretch>
            <a:fillRect/>
          </a:stretch>
        </p:blipFill>
        <p:spPr>
          <a:xfrm>
            <a:off x="2928275" y="3533600"/>
            <a:ext cx="5526908" cy="1855532"/>
          </a:xfrm>
          <a:prstGeom prst="rect">
            <a:avLst/>
          </a:prstGeom>
        </p:spPr>
        <p:style>
          <a:lnRef idx="2">
            <a:schemeClr val="dk1"/>
          </a:lnRef>
          <a:fillRef idx="1">
            <a:schemeClr val="lt1"/>
          </a:fillRef>
          <a:effectRef idx="0">
            <a:schemeClr val="dk1"/>
          </a:effectRef>
          <a:fontRef idx="minor">
            <a:schemeClr val="dk1"/>
          </a:fontRef>
        </p:style>
      </p:pic>
      <p:pic>
        <p:nvPicPr>
          <p:cNvPr id="16" name="Imagen 15">
            <a:extLst>
              <a:ext uri="{FF2B5EF4-FFF2-40B4-BE49-F238E27FC236}">
                <a16:creationId xmlns:a16="http://schemas.microsoft.com/office/drawing/2014/main" id="{04FBB186-87E5-9D36-8660-995A47F9DC15}"/>
              </a:ext>
            </a:extLst>
          </p:cNvPr>
          <p:cNvPicPr>
            <a:picLocks noChangeAspect="1"/>
          </p:cNvPicPr>
          <p:nvPr/>
        </p:nvPicPr>
        <p:blipFill>
          <a:blip r:embed="rId3"/>
          <a:stretch>
            <a:fillRect/>
          </a:stretch>
        </p:blipFill>
        <p:spPr>
          <a:xfrm>
            <a:off x="6711783" y="5060526"/>
            <a:ext cx="4450094" cy="88585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67386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FC3B730-C21B-39F1-5F97-3362F0E69649}"/>
              </a:ext>
            </a:extLst>
          </p:cNvPr>
          <p:cNvSpPr>
            <a:spLocks noGrp="1"/>
          </p:cNvSpPr>
          <p:nvPr>
            <p:ph type="body" idx="1"/>
          </p:nvPr>
        </p:nvSpPr>
        <p:spPr>
          <a:xfrm>
            <a:off x="2076994" y="1168598"/>
            <a:ext cx="9666016" cy="1331862"/>
          </a:xfrm>
        </p:spPr>
        <p:txBody>
          <a:bodyPr>
            <a:normAutofit/>
          </a:bodyPr>
          <a:lstStyle/>
          <a:p>
            <a:pPr marL="533400" indent="-457200" algn="just">
              <a:buFont typeface="+mj-lt"/>
              <a:buAutoNum type="arabicPeriod"/>
            </a:pPr>
            <a:r>
              <a:rPr lang="es-ES" sz="2200"/>
              <a:t>Cada estudiante debe participar uno por uno, en el orden que se indique. Al llegar su turno, debe decir en voz alta el nombre de un animal. No se vale repetir animales que ya hayan sido mencionados. Por ejemplo:</a:t>
            </a:r>
            <a:endParaRPr lang="es-CO" sz="2200"/>
          </a:p>
        </p:txBody>
      </p:sp>
      <p:sp>
        <p:nvSpPr>
          <p:cNvPr id="4" name="Marcador de número de diapositiva 3">
            <a:extLst>
              <a:ext uri="{FF2B5EF4-FFF2-40B4-BE49-F238E27FC236}">
                <a16:creationId xmlns:a16="http://schemas.microsoft.com/office/drawing/2014/main" id="{840BE228-E7FA-28EC-A44C-D4EF58FB1A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17</a:t>
            </a:fld>
            <a:endParaRPr lang="es-CO"/>
          </a:p>
        </p:txBody>
      </p:sp>
      <p:sp>
        <p:nvSpPr>
          <p:cNvPr id="5" name="Título 1">
            <a:extLst>
              <a:ext uri="{FF2B5EF4-FFF2-40B4-BE49-F238E27FC236}">
                <a16:creationId xmlns:a16="http://schemas.microsoft.com/office/drawing/2014/main" id="{4C2310D9-F462-EBB8-0BBE-47491BAFDA32}"/>
              </a:ext>
            </a:extLst>
          </p:cNvPr>
          <p:cNvSpPr>
            <a:spLocks noGrp="1"/>
          </p:cNvSpPr>
          <p:nvPr>
            <p:ph type="title"/>
          </p:nvPr>
        </p:nvSpPr>
        <p:spPr>
          <a:xfrm>
            <a:off x="2076994" y="222069"/>
            <a:ext cx="9666016" cy="1018902"/>
          </a:xfrm>
        </p:spPr>
        <p:txBody>
          <a:bodyPr/>
          <a:lstStyle/>
          <a:p>
            <a:r>
              <a:rPr lang="es-CO"/>
              <a:t>Ejercicio práctico</a:t>
            </a:r>
          </a:p>
        </p:txBody>
      </p:sp>
      <p:sp>
        <p:nvSpPr>
          <p:cNvPr id="28" name="Marcador de texto 2">
            <a:extLst>
              <a:ext uri="{FF2B5EF4-FFF2-40B4-BE49-F238E27FC236}">
                <a16:creationId xmlns:a16="http://schemas.microsoft.com/office/drawing/2014/main" id="{0FC3B730-C21B-39F1-5F97-3362F0E69649}"/>
              </a:ext>
            </a:extLst>
          </p:cNvPr>
          <p:cNvSpPr txBox="1">
            <a:spLocks/>
          </p:cNvSpPr>
          <p:nvPr/>
        </p:nvSpPr>
        <p:spPr>
          <a:xfrm>
            <a:off x="2075284" y="3622406"/>
            <a:ext cx="9666016" cy="1600417"/>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100000"/>
              </a:lnSpc>
              <a:spcBef>
                <a:spcPts val="480"/>
              </a:spcBef>
              <a:spcAft>
                <a:spcPts val="0"/>
              </a:spcAft>
              <a:buClr>
                <a:srgbClr val="009BAF"/>
              </a:buClr>
              <a:buSzPts val="2400"/>
              <a:buFont typeface="Arial" panose="020B0604020202020204" pitchFamily="34" charset="0"/>
              <a:buChar char="•"/>
              <a:defRPr sz="2800" kern="1200">
                <a:solidFill>
                  <a:schemeClr val="tx1"/>
                </a:solidFill>
                <a:latin typeface="Calibri"/>
                <a:ea typeface="Calibri"/>
                <a:cs typeface="Calibri"/>
                <a:sym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pPr algn="just">
              <a:buFont typeface="Arial" panose="020F0302020204030204"/>
              <a:buChar char="•"/>
            </a:pPr>
            <a:r>
              <a:rPr lang="es-ES" sz="2200"/>
              <a:t>Cada estudiante debe participar uno por uno, en el orden que se indique. Al llegar su turno, debe decir en voz alta el nombre de un animal. No se vale repetir animales que ya hayan sido mencionados. </a:t>
            </a:r>
            <a:r>
              <a:rPr lang="es-ES" sz="2200" b="1"/>
              <a:t>Además, la letra inicial del nombre del animal debe seguir la secuencia del alfabeto. </a:t>
            </a:r>
            <a:r>
              <a:rPr lang="es-ES" sz="2200"/>
              <a:t>Por ejemplo:</a:t>
            </a:r>
          </a:p>
          <a:p>
            <a:pPr marL="533400" indent="-457200" algn="just">
              <a:buAutoNum type="arabicPeriod" startAt="2"/>
            </a:pPr>
            <a:endParaRPr lang="es-ES" sz="2200" b="1"/>
          </a:p>
        </p:txBody>
      </p:sp>
      <p:grpSp>
        <p:nvGrpSpPr>
          <p:cNvPr id="30" name="Grupo 29"/>
          <p:cNvGrpSpPr/>
          <p:nvPr/>
        </p:nvGrpSpPr>
        <p:grpSpPr>
          <a:xfrm>
            <a:off x="2371629" y="5366286"/>
            <a:ext cx="9206453" cy="1030531"/>
            <a:chOff x="2166149" y="5366286"/>
            <a:chExt cx="9206453" cy="1030531"/>
          </a:xfrm>
        </p:grpSpPr>
        <p:pic>
          <p:nvPicPr>
            <p:cNvPr id="2" name="Imagen 1" descr="Curiosidades y fotos de animales: Abej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6149" y="5366286"/>
              <a:ext cx="1373468" cy="1030531"/>
            </a:xfrm>
            <a:prstGeom prst="rect">
              <a:avLst/>
            </a:prstGeom>
          </p:spPr>
        </p:pic>
        <p:pic>
          <p:nvPicPr>
            <p:cNvPr id="13" name="Imagen 12" descr="Foto gratis: Burro, Valla, Naturaleza, Fuera - Imagen gratis en Pixabay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3579" y="5366286"/>
              <a:ext cx="1374042" cy="1030531"/>
            </a:xfrm>
            <a:prstGeom prst="rect">
              <a:avLst/>
            </a:prstGeom>
          </p:spPr>
        </p:pic>
        <p:pic>
          <p:nvPicPr>
            <p:cNvPr id="15" name="Imagen 14" descr="Curiosidades y fotos de animales: Camaleó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1583" y="5380653"/>
              <a:ext cx="1278194" cy="1016164"/>
            </a:xfrm>
            <a:prstGeom prst="rect">
              <a:avLst/>
            </a:prstGeom>
          </p:spPr>
        </p:pic>
        <p:pic>
          <p:nvPicPr>
            <p:cNvPr id="17" name="Imagen 16" descr="Delfines: Tipos de delfine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3738" y="5366286"/>
              <a:ext cx="1374041" cy="1030531"/>
            </a:xfrm>
            <a:prstGeom prst="rect">
              <a:avLst/>
            </a:prstGeom>
          </p:spPr>
        </p:pic>
        <p:pic>
          <p:nvPicPr>
            <p:cNvPr id="20" name="Imagen 19" descr="Emperor scorpion - Wikipedia"/>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1740" y="5368441"/>
              <a:ext cx="1548613" cy="1028376"/>
            </a:xfrm>
            <a:prstGeom prst="rect">
              <a:avLst/>
            </a:prstGeom>
          </p:spPr>
        </p:pic>
        <p:sp>
          <p:nvSpPr>
            <p:cNvPr id="29" name="CuadroTexto 28"/>
            <p:cNvSpPr txBox="1"/>
            <p:nvPr/>
          </p:nvSpPr>
          <p:spPr>
            <a:xfrm>
              <a:off x="10904204" y="5480190"/>
              <a:ext cx="468398" cy="584775"/>
            </a:xfrm>
            <a:prstGeom prst="rect">
              <a:avLst/>
            </a:prstGeom>
            <a:noFill/>
          </p:spPr>
          <p:txBody>
            <a:bodyPr wrap="none" rtlCol="0">
              <a:spAutoFit/>
            </a:bodyPr>
            <a:lstStyle/>
            <a:p>
              <a:r>
                <a:rPr lang="es-MX" sz="3200"/>
                <a:t>…</a:t>
              </a:r>
              <a:endParaRPr lang="es-CO"/>
            </a:p>
          </p:txBody>
        </p:sp>
      </p:grpSp>
      <p:sp>
        <p:nvSpPr>
          <p:cNvPr id="6" name="CuadroTexto 5">
            <a:extLst>
              <a:ext uri="{FF2B5EF4-FFF2-40B4-BE49-F238E27FC236}">
                <a16:creationId xmlns:a16="http://schemas.microsoft.com/office/drawing/2014/main" id="{1C14E66F-6383-3891-EAC3-923964B65F2B}"/>
              </a:ext>
            </a:extLst>
          </p:cNvPr>
          <p:cNvSpPr txBox="1"/>
          <p:nvPr/>
        </p:nvSpPr>
        <p:spPr>
          <a:xfrm>
            <a:off x="3459848" y="6064965"/>
            <a:ext cx="362600" cy="461665"/>
          </a:xfrm>
          <a:prstGeom prst="rect">
            <a:avLst/>
          </a:prstGeom>
          <a:solidFill>
            <a:srgbClr val="009BAF"/>
          </a:solidFill>
        </p:spPr>
        <p:style>
          <a:lnRef idx="1">
            <a:schemeClr val="accent1"/>
          </a:lnRef>
          <a:fillRef idx="2">
            <a:schemeClr val="accent1"/>
          </a:fillRef>
          <a:effectRef idx="1">
            <a:schemeClr val="accent1"/>
          </a:effectRef>
          <a:fontRef idx="minor">
            <a:schemeClr val="dk1"/>
          </a:fontRef>
        </p:style>
        <p:txBody>
          <a:bodyPr wrap="none" lIns="91440" tIns="45720" rIns="91440" bIns="45720" rtlCol="0" anchor="t">
            <a:spAutoFit/>
          </a:bodyPr>
          <a:lstStyle/>
          <a:p>
            <a:r>
              <a:rPr lang="es-CO" sz="2400">
                <a:solidFill>
                  <a:schemeClr val="bg1"/>
                </a:solidFill>
              </a:rPr>
              <a:t>A</a:t>
            </a:r>
          </a:p>
        </p:txBody>
      </p:sp>
      <p:sp>
        <p:nvSpPr>
          <p:cNvPr id="8" name="CuadroTexto 7">
            <a:extLst>
              <a:ext uri="{FF2B5EF4-FFF2-40B4-BE49-F238E27FC236}">
                <a16:creationId xmlns:a16="http://schemas.microsoft.com/office/drawing/2014/main" id="{DB06A41C-63C5-6E30-F28B-E7053D1826CB}"/>
              </a:ext>
            </a:extLst>
          </p:cNvPr>
          <p:cNvSpPr txBox="1"/>
          <p:nvPr/>
        </p:nvSpPr>
        <p:spPr>
          <a:xfrm>
            <a:off x="5271912" y="6063693"/>
            <a:ext cx="351378" cy="461665"/>
          </a:xfrm>
          <a:prstGeom prst="rect">
            <a:avLst/>
          </a:prstGeom>
          <a:solidFill>
            <a:srgbClr val="009BAF"/>
          </a:solidFill>
        </p:spPr>
        <p:style>
          <a:lnRef idx="1">
            <a:schemeClr val="accent1"/>
          </a:lnRef>
          <a:fillRef idx="2">
            <a:schemeClr val="accent1"/>
          </a:fillRef>
          <a:effectRef idx="1">
            <a:schemeClr val="accent1"/>
          </a:effectRef>
          <a:fontRef idx="minor">
            <a:schemeClr val="dk1"/>
          </a:fontRef>
        </p:style>
        <p:txBody>
          <a:bodyPr wrap="none" lIns="91440" tIns="45720" rIns="91440" bIns="45720" rtlCol="0" anchor="t">
            <a:spAutoFit/>
          </a:bodyPr>
          <a:lstStyle/>
          <a:p>
            <a:r>
              <a:rPr lang="es-CO" sz="2400">
                <a:solidFill>
                  <a:schemeClr val="bg1"/>
                </a:solidFill>
              </a:rPr>
              <a:t>B</a:t>
            </a:r>
            <a:endParaRPr lang="es-CO" sz="2400">
              <a:solidFill>
                <a:schemeClr val="bg1"/>
              </a:solidFill>
              <a:ea typeface="Calibri"/>
              <a:cs typeface="Calibri"/>
            </a:endParaRPr>
          </a:p>
        </p:txBody>
      </p:sp>
      <p:sp>
        <p:nvSpPr>
          <p:cNvPr id="9" name="CuadroTexto 8">
            <a:extLst>
              <a:ext uri="{FF2B5EF4-FFF2-40B4-BE49-F238E27FC236}">
                <a16:creationId xmlns:a16="http://schemas.microsoft.com/office/drawing/2014/main" id="{578DE0CD-2DB8-FB2F-A33F-F55CC6769828}"/>
              </a:ext>
            </a:extLst>
          </p:cNvPr>
          <p:cNvSpPr txBox="1"/>
          <p:nvPr/>
        </p:nvSpPr>
        <p:spPr>
          <a:xfrm>
            <a:off x="6861355" y="6063692"/>
            <a:ext cx="348172" cy="461665"/>
          </a:xfrm>
          <a:prstGeom prst="rect">
            <a:avLst/>
          </a:prstGeom>
          <a:solidFill>
            <a:srgbClr val="009BAF"/>
          </a:solidFill>
        </p:spPr>
        <p:style>
          <a:lnRef idx="1">
            <a:schemeClr val="accent1"/>
          </a:lnRef>
          <a:fillRef idx="2">
            <a:schemeClr val="accent1"/>
          </a:fillRef>
          <a:effectRef idx="1">
            <a:schemeClr val="accent1"/>
          </a:effectRef>
          <a:fontRef idx="minor">
            <a:schemeClr val="dk1"/>
          </a:fontRef>
        </p:style>
        <p:txBody>
          <a:bodyPr wrap="none" lIns="91440" tIns="45720" rIns="91440" bIns="45720" rtlCol="0" anchor="t">
            <a:spAutoFit/>
          </a:bodyPr>
          <a:lstStyle/>
          <a:p>
            <a:r>
              <a:rPr lang="es-CO" sz="2400">
                <a:solidFill>
                  <a:schemeClr val="bg1"/>
                </a:solidFill>
              </a:rPr>
              <a:t>C</a:t>
            </a:r>
          </a:p>
        </p:txBody>
      </p:sp>
      <p:sp>
        <p:nvSpPr>
          <p:cNvPr id="10" name="CuadroTexto 9">
            <a:extLst>
              <a:ext uri="{FF2B5EF4-FFF2-40B4-BE49-F238E27FC236}">
                <a16:creationId xmlns:a16="http://schemas.microsoft.com/office/drawing/2014/main" id="{569B7F11-28A0-2535-A19A-805555AE157E}"/>
              </a:ext>
            </a:extLst>
          </p:cNvPr>
          <p:cNvSpPr txBox="1"/>
          <p:nvPr/>
        </p:nvSpPr>
        <p:spPr>
          <a:xfrm>
            <a:off x="8570377" y="6058693"/>
            <a:ext cx="373820" cy="461665"/>
          </a:xfrm>
          <a:prstGeom prst="rect">
            <a:avLst/>
          </a:prstGeom>
          <a:solidFill>
            <a:srgbClr val="009BAF"/>
          </a:solidFill>
        </p:spPr>
        <p:style>
          <a:lnRef idx="1">
            <a:schemeClr val="accent1"/>
          </a:lnRef>
          <a:fillRef idx="2">
            <a:schemeClr val="accent1"/>
          </a:fillRef>
          <a:effectRef idx="1">
            <a:schemeClr val="accent1"/>
          </a:effectRef>
          <a:fontRef idx="minor">
            <a:schemeClr val="dk1"/>
          </a:fontRef>
        </p:style>
        <p:txBody>
          <a:bodyPr wrap="none" lIns="91440" tIns="45720" rIns="91440" bIns="45720" rtlCol="0" anchor="t">
            <a:spAutoFit/>
          </a:bodyPr>
          <a:lstStyle/>
          <a:p>
            <a:r>
              <a:rPr lang="es-CO" sz="2400">
                <a:solidFill>
                  <a:schemeClr val="bg1"/>
                </a:solidFill>
              </a:rPr>
              <a:t>D</a:t>
            </a:r>
          </a:p>
        </p:txBody>
      </p:sp>
      <p:sp>
        <p:nvSpPr>
          <p:cNvPr id="11" name="CuadroTexto 10">
            <a:extLst>
              <a:ext uri="{FF2B5EF4-FFF2-40B4-BE49-F238E27FC236}">
                <a16:creationId xmlns:a16="http://schemas.microsoft.com/office/drawing/2014/main" id="{AF088889-08D9-BF48-DF9D-B11B9DB1C1EF}"/>
              </a:ext>
            </a:extLst>
          </p:cNvPr>
          <p:cNvSpPr txBox="1"/>
          <p:nvPr/>
        </p:nvSpPr>
        <p:spPr>
          <a:xfrm>
            <a:off x="10487617" y="6049015"/>
            <a:ext cx="335348" cy="461665"/>
          </a:xfrm>
          <a:prstGeom prst="rect">
            <a:avLst/>
          </a:prstGeom>
          <a:solidFill>
            <a:srgbClr val="009BAF"/>
          </a:solidFill>
        </p:spPr>
        <p:style>
          <a:lnRef idx="1">
            <a:schemeClr val="accent1"/>
          </a:lnRef>
          <a:fillRef idx="2">
            <a:schemeClr val="accent1"/>
          </a:fillRef>
          <a:effectRef idx="1">
            <a:schemeClr val="accent1"/>
          </a:effectRef>
          <a:fontRef idx="minor">
            <a:schemeClr val="dk1"/>
          </a:fontRef>
        </p:style>
        <p:txBody>
          <a:bodyPr wrap="none" lIns="91440" tIns="45720" rIns="91440" bIns="45720" rtlCol="0" anchor="t">
            <a:spAutoFit/>
          </a:bodyPr>
          <a:lstStyle/>
          <a:p>
            <a:r>
              <a:rPr lang="es-CO" sz="2400">
                <a:solidFill>
                  <a:schemeClr val="bg1"/>
                </a:solidFill>
              </a:rPr>
              <a:t>E</a:t>
            </a:r>
            <a:endParaRPr lang="es-CO" sz="2400">
              <a:solidFill>
                <a:schemeClr val="bg1"/>
              </a:solidFill>
              <a:ea typeface="Calibri"/>
              <a:cs typeface="Calibri"/>
            </a:endParaRPr>
          </a:p>
        </p:txBody>
      </p:sp>
      <p:grpSp>
        <p:nvGrpSpPr>
          <p:cNvPr id="18" name="Groupe 17">
            <a:extLst>
              <a:ext uri="{FF2B5EF4-FFF2-40B4-BE49-F238E27FC236}">
                <a16:creationId xmlns:a16="http://schemas.microsoft.com/office/drawing/2014/main" id="{32E56450-C2E4-0375-19B5-03D8C0A8D21E}"/>
              </a:ext>
            </a:extLst>
          </p:cNvPr>
          <p:cNvGrpSpPr/>
          <p:nvPr/>
        </p:nvGrpSpPr>
        <p:grpSpPr>
          <a:xfrm>
            <a:off x="3336469" y="2293787"/>
            <a:ext cx="7385347" cy="1331756"/>
            <a:chOff x="3336469" y="2293787"/>
            <a:chExt cx="7385347" cy="1331756"/>
          </a:xfrm>
        </p:grpSpPr>
        <p:grpSp>
          <p:nvGrpSpPr>
            <p:cNvPr id="27" name="Grupo 26"/>
            <p:cNvGrpSpPr/>
            <p:nvPr/>
          </p:nvGrpSpPr>
          <p:grpSpPr>
            <a:xfrm>
              <a:off x="3336469" y="2293787"/>
              <a:ext cx="7385347" cy="982482"/>
              <a:chOff x="3326194" y="2456500"/>
              <a:chExt cx="7385347" cy="982482"/>
            </a:xfrm>
          </p:grpSpPr>
          <p:pic>
            <p:nvPicPr>
              <p:cNvPr id="21" name="Imagen 20" descr="Fotos gratis : naturaleza, césped, campo, granja, prado, animal, linda ..."/>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26194" y="2464603"/>
                <a:ext cx="1355731" cy="900431"/>
              </a:xfrm>
              <a:prstGeom prst="rect">
                <a:avLst/>
              </a:prstGeom>
            </p:spPr>
          </p:pic>
          <p:pic>
            <p:nvPicPr>
              <p:cNvPr id="22" name="Imagen 21" descr="Fotos gratis : Cerdo doméstico, Suidae, hocico, nariz, de cerca, ganado ..."/>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75630" y="2464602"/>
                <a:ext cx="1352337" cy="900431"/>
              </a:xfrm>
              <a:prstGeom prst="rect">
                <a:avLst/>
              </a:prstGeom>
            </p:spPr>
          </p:pic>
          <p:pic>
            <p:nvPicPr>
              <p:cNvPr id="24" name="Imagen 23" descr="Curiosidades y fotos de animales: Conejo"/>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21673" y="2456500"/>
                <a:ext cx="1309976" cy="982482"/>
              </a:xfrm>
              <a:prstGeom prst="rect">
                <a:avLst/>
              </a:prstGeom>
            </p:spPr>
          </p:pic>
          <p:pic>
            <p:nvPicPr>
              <p:cNvPr id="25" name="Imagen 24" descr="Fotos gratis : pájaro, fauna silvestre, verde, pico, brillar, aves de ..."/>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67715" y="2456500"/>
                <a:ext cx="1309975" cy="982482"/>
              </a:xfrm>
              <a:prstGeom prst="rect">
                <a:avLst/>
              </a:prstGeom>
            </p:spPr>
          </p:pic>
          <p:sp>
            <p:nvSpPr>
              <p:cNvPr id="26" name="CuadroTexto 25"/>
              <p:cNvSpPr txBox="1"/>
              <p:nvPr/>
            </p:nvSpPr>
            <p:spPr>
              <a:xfrm>
                <a:off x="10243143" y="2622429"/>
                <a:ext cx="468398" cy="584775"/>
              </a:xfrm>
              <a:prstGeom prst="rect">
                <a:avLst/>
              </a:prstGeom>
              <a:noFill/>
            </p:spPr>
            <p:txBody>
              <a:bodyPr wrap="none" rtlCol="0">
                <a:spAutoFit/>
              </a:bodyPr>
              <a:lstStyle/>
              <a:p>
                <a:r>
                  <a:rPr lang="es-MX" sz="3200"/>
                  <a:t>…</a:t>
                </a:r>
                <a:endParaRPr lang="es-CO"/>
              </a:p>
            </p:txBody>
          </p:sp>
        </p:grpSp>
        <p:sp>
          <p:nvSpPr>
            <p:cNvPr id="12" name="CuadroTexto 25">
              <a:extLst>
                <a:ext uri="{FF2B5EF4-FFF2-40B4-BE49-F238E27FC236}">
                  <a16:creationId xmlns:a16="http://schemas.microsoft.com/office/drawing/2014/main" id="{6E65E8F6-C871-0F82-0C2D-DFA3A9AE2F6D}"/>
                </a:ext>
              </a:extLst>
            </p:cNvPr>
            <p:cNvSpPr txBox="1"/>
            <p:nvPr/>
          </p:nvSpPr>
          <p:spPr>
            <a:xfrm>
              <a:off x="3640745" y="3225433"/>
              <a:ext cx="650050" cy="400110"/>
            </a:xfrm>
            <a:prstGeom prst="rect">
              <a:avLst/>
            </a:prstGeom>
            <a:noFill/>
          </p:spPr>
          <p:txBody>
            <a:bodyPr wrap="none" lIns="91440" tIns="45720" rIns="91440" bIns="45720" rtlCol="0" anchor="t">
              <a:spAutoFit/>
            </a:bodyPr>
            <a:lstStyle/>
            <a:p>
              <a:r>
                <a:rPr lang="es-MX" sz="2000"/>
                <a:t>vaca</a:t>
              </a:r>
              <a:endParaRPr lang="es-CO" sz="2000"/>
            </a:p>
          </p:txBody>
        </p:sp>
        <p:sp>
          <p:nvSpPr>
            <p:cNvPr id="7" name="CuadroTexto 25">
              <a:extLst>
                <a:ext uri="{FF2B5EF4-FFF2-40B4-BE49-F238E27FC236}">
                  <a16:creationId xmlns:a16="http://schemas.microsoft.com/office/drawing/2014/main" id="{F279713E-DA8D-FA82-691E-5D8BADE80725}"/>
                </a:ext>
              </a:extLst>
            </p:cNvPr>
            <p:cNvSpPr txBox="1"/>
            <p:nvPr/>
          </p:nvSpPr>
          <p:spPr>
            <a:xfrm>
              <a:off x="5304135" y="3225433"/>
              <a:ext cx="777457" cy="400110"/>
            </a:xfrm>
            <a:prstGeom prst="rect">
              <a:avLst/>
            </a:prstGeom>
            <a:noFill/>
          </p:spPr>
          <p:txBody>
            <a:bodyPr wrap="none" lIns="91440" tIns="45720" rIns="91440" bIns="45720" rtlCol="0" anchor="t">
              <a:spAutoFit/>
            </a:bodyPr>
            <a:lstStyle/>
            <a:p>
              <a:r>
                <a:rPr lang="es-MX" sz="2000"/>
                <a:t>cerdo</a:t>
              </a:r>
              <a:endParaRPr lang="es-CO" sz="2000"/>
            </a:p>
          </p:txBody>
        </p:sp>
        <p:sp>
          <p:nvSpPr>
            <p:cNvPr id="14" name="CuadroTexto 25">
              <a:extLst>
                <a:ext uri="{FF2B5EF4-FFF2-40B4-BE49-F238E27FC236}">
                  <a16:creationId xmlns:a16="http://schemas.microsoft.com/office/drawing/2014/main" id="{542140F2-8B05-C9F8-447B-29D46D066D4F}"/>
                </a:ext>
              </a:extLst>
            </p:cNvPr>
            <p:cNvSpPr txBox="1"/>
            <p:nvPr/>
          </p:nvSpPr>
          <p:spPr>
            <a:xfrm>
              <a:off x="6865306" y="3225433"/>
              <a:ext cx="884666" cy="400110"/>
            </a:xfrm>
            <a:prstGeom prst="rect">
              <a:avLst/>
            </a:prstGeom>
            <a:noFill/>
          </p:spPr>
          <p:txBody>
            <a:bodyPr wrap="none" lIns="91440" tIns="45720" rIns="91440" bIns="45720" rtlCol="0" anchor="t">
              <a:spAutoFit/>
            </a:bodyPr>
            <a:lstStyle/>
            <a:p>
              <a:r>
                <a:rPr lang="es-MX" sz="2000"/>
                <a:t>conejo</a:t>
              </a:r>
              <a:endParaRPr lang="es-CO" sz="2000"/>
            </a:p>
          </p:txBody>
        </p:sp>
        <p:sp>
          <p:nvSpPr>
            <p:cNvPr id="16" name="CuadroTexto 25">
              <a:extLst>
                <a:ext uri="{FF2B5EF4-FFF2-40B4-BE49-F238E27FC236}">
                  <a16:creationId xmlns:a16="http://schemas.microsoft.com/office/drawing/2014/main" id="{AA656B9B-D544-F97E-4D1C-FF1B91A43F78}"/>
                </a:ext>
              </a:extLst>
            </p:cNvPr>
            <p:cNvSpPr txBox="1"/>
            <p:nvPr/>
          </p:nvSpPr>
          <p:spPr>
            <a:xfrm>
              <a:off x="8612330" y="3225432"/>
              <a:ext cx="659091" cy="400110"/>
            </a:xfrm>
            <a:prstGeom prst="rect">
              <a:avLst/>
            </a:prstGeom>
            <a:noFill/>
          </p:spPr>
          <p:txBody>
            <a:bodyPr wrap="none" lIns="91440" tIns="45720" rIns="91440" bIns="45720" rtlCol="0" anchor="t">
              <a:spAutoFit/>
            </a:bodyPr>
            <a:lstStyle/>
            <a:p>
              <a:r>
                <a:rPr lang="es-MX" sz="2000"/>
                <a:t>pato</a:t>
              </a:r>
              <a:endParaRPr lang="es-CO" sz="2000"/>
            </a:p>
          </p:txBody>
        </p:sp>
      </p:grpSp>
      <p:sp>
        <p:nvSpPr>
          <p:cNvPr id="23" name="CuadroTexto 25">
            <a:extLst>
              <a:ext uri="{FF2B5EF4-FFF2-40B4-BE49-F238E27FC236}">
                <a16:creationId xmlns:a16="http://schemas.microsoft.com/office/drawing/2014/main" id="{B376F68D-B28C-5801-84A0-D9CDD16F7903}"/>
              </a:ext>
            </a:extLst>
          </p:cNvPr>
          <p:cNvSpPr txBox="1"/>
          <p:nvPr/>
        </p:nvSpPr>
        <p:spPr>
          <a:xfrm>
            <a:off x="2371365" y="6305957"/>
            <a:ext cx="755335" cy="400110"/>
          </a:xfrm>
          <a:prstGeom prst="rect">
            <a:avLst/>
          </a:prstGeom>
          <a:noFill/>
        </p:spPr>
        <p:txBody>
          <a:bodyPr wrap="none" lIns="91440" tIns="45720" rIns="91440" bIns="45720" rtlCol="0" anchor="t">
            <a:spAutoFit/>
          </a:bodyPr>
          <a:lstStyle/>
          <a:p>
            <a:r>
              <a:rPr lang="es-MX" sz="2000"/>
              <a:t>abeja</a:t>
            </a:r>
            <a:endParaRPr lang="es-CO" sz="2000"/>
          </a:p>
        </p:txBody>
      </p:sp>
      <p:sp>
        <p:nvSpPr>
          <p:cNvPr id="31" name="CuadroTexto 25">
            <a:extLst>
              <a:ext uri="{FF2B5EF4-FFF2-40B4-BE49-F238E27FC236}">
                <a16:creationId xmlns:a16="http://schemas.microsoft.com/office/drawing/2014/main" id="{6E65E8F6-C871-0F82-0C2D-DFA3A9AE2F6D}"/>
              </a:ext>
            </a:extLst>
          </p:cNvPr>
          <p:cNvSpPr txBox="1"/>
          <p:nvPr/>
        </p:nvSpPr>
        <p:spPr>
          <a:xfrm>
            <a:off x="3640745" y="3225433"/>
            <a:ext cx="650050" cy="400110"/>
          </a:xfrm>
          <a:prstGeom prst="rect">
            <a:avLst/>
          </a:prstGeom>
          <a:noFill/>
        </p:spPr>
        <p:txBody>
          <a:bodyPr wrap="none" lIns="91440" tIns="45720" rIns="91440" bIns="45720" rtlCol="0" anchor="t">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000"/>
              <a:t>vaca</a:t>
            </a:r>
            <a:endParaRPr lang="es-CO" sz="2000"/>
          </a:p>
        </p:txBody>
      </p:sp>
      <p:sp>
        <p:nvSpPr>
          <p:cNvPr id="32" name="CuadroTexto 25">
            <a:extLst>
              <a:ext uri="{FF2B5EF4-FFF2-40B4-BE49-F238E27FC236}">
                <a16:creationId xmlns:a16="http://schemas.microsoft.com/office/drawing/2014/main" id="{4CB83E1F-9344-8E9D-78D5-4CCF70B8C64B}"/>
              </a:ext>
            </a:extLst>
          </p:cNvPr>
          <p:cNvSpPr txBox="1"/>
          <p:nvPr/>
        </p:nvSpPr>
        <p:spPr>
          <a:xfrm>
            <a:off x="4114672" y="6310603"/>
            <a:ext cx="764055" cy="400110"/>
          </a:xfrm>
          <a:prstGeom prst="rect">
            <a:avLst/>
          </a:prstGeom>
          <a:noFill/>
        </p:spPr>
        <p:txBody>
          <a:bodyPr wrap="none" lIns="91440" tIns="45720" rIns="91440" bIns="45720" rtlCol="0" anchor="t">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000"/>
              <a:t>burro</a:t>
            </a:r>
            <a:endParaRPr lang="es-CO" sz="2000"/>
          </a:p>
        </p:txBody>
      </p:sp>
      <p:sp>
        <p:nvSpPr>
          <p:cNvPr id="33" name="CuadroTexto 25">
            <a:extLst>
              <a:ext uri="{FF2B5EF4-FFF2-40B4-BE49-F238E27FC236}">
                <a16:creationId xmlns:a16="http://schemas.microsoft.com/office/drawing/2014/main" id="{CF91166F-CE4F-1FAF-DB06-4AE1CF470E48}"/>
              </a:ext>
            </a:extLst>
          </p:cNvPr>
          <p:cNvSpPr txBox="1"/>
          <p:nvPr/>
        </p:nvSpPr>
        <p:spPr>
          <a:xfrm>
            <a:off x="5782151" y="6310603"/>
            <a:ext cx="1200457" cy="400110"/>
          </a:xfrm>
          <a:prstGeom prst="rect">
            <a:avLst/>
          </a:prstGeom>
          <a:noFill/>
        </p:spPr>
        <p:txBody>
          <a:bodyPr wrap="none" lIns="91440" tIns="45720" rIns="91440" bIns="45720" rtlCol="0" anchor="t">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000"/>
              <a:t>camaleón</a:t>
            </a:r>
            <a:endParaRPr lang="es-CO" sz="2000"/>
          </a:p>
        </p:txBody>
      </p:sp>
      <p:sp>
        <p:nvSpPr>
          <p:cNvPr id="34" name="CuadroTexto 25">
            <a:extLst>
              <a:ext uri="{FF2B5EF4-FFF2-40B4-BE49-F238E27FC236}">
                <a16:creationId xmlns:a16="http://schemas.microsoft.com/office/drawing/2014/main" id="{EE918720-9D72-8D57-1900-95F75133272E}"/>
              </a:ext>
            </a:extLst>
          </p:cNvPr>
          <p:cNvSpPr txBox="1"/>
          <p:nvPr/>
        </p:nvSpPr>
        <p:spPr>
          <a:xfrm>
            <a:off x="7460038" y="6310603"/>
            <a:ext cx="779381" cy="400110"/>
          </a:xfrm>
          <a:prstGeom prst="rect">
            <a:avLst/>
          </a:prstGeom>
          <a:noFill/>
        </p:spPr>
        <p:txBody>
          <a:bodyPr wrap="none" lIns="91440" tIns="45720" rIns="91440" bIns="45720" rtlCol="0" anchor="t">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000"/>
              <a:t>delfín</a:t>
            </a:r>
            <a:endParaRPr lang="es-CO" sz="2000"/>
          </a:p>
        </p:txBody>
      </p:sp>
      <p:sp>
        <p:nvSpPr>
          <p:cNvPr id="35" name="CuadroTexto 25">
            <a:extLst>
              <a:ext uri="{FF2B5EF4-FFF2-40B4-BE49-F238E27FC236}">
                <a16:creationId xmlns:a16="http://schemas.microsoft.com/office/drawing/2014/main" id="{75FC61E3-1C0B-C4A9-F989-2E81F0DDD87D}"/>
              </a:ext>
            </a:extLst>
          </p:cNvPr>
          <p:cNvSpPr txBox="1"/>
          <p:nvPr/>
        </p:nvSpPr>
        <p:spPr>
          <a:xfrm>
            <a:off x="9281404" y="6310603"/>
            <a:ext cx="1208472" cy="400110"/>
          </a:xfrm>
          <a:prstGeom prst="rect">
            <a:avLst/>
          </a:prstGeom>
          <a:noFill/>
        </p:spPr>
        <p:txBody>
          <a:bodyPr wrap="none" lIns="91440" tIns="45720" rIns="91440" bIns="45720" rtlCol="0" anchor="t">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000"/>
              <a:t>escorpión</a:t>
            </a:r>
            <a:endParaRPr lang="es-CO" sz="2000"/>
          </a:p>
        </p:txBody>
      </p:sp>
    </p:spTree>
    <p:extLst>
      <p:ext uri="{BB962C8B-B14F-4D97-AF65-F5344CB8AC3E}">
        <p14:creationId xmlns:p14="http://schemas.microsoft.com/office/powerpoint/2010/main" val="374563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23" grpId="0"/>
      <p:bldP spid="32" grpId="0"/>
      <p:bldP spid="33" grpId="0"/>
      <p:bldP spid="34" grpId="0"/>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40BE228-E7FA-28EC-A44C-D4EF58FB1A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18</a:t>
            </a:fld>
            <a:endParaRPr lang="es-CO"/>
          </a:p>
        </p:txBody>
      </p:sp>
      <p:sp>
        <p:nvSpPr>
          <p:cNvPr id="5" name="Título 1">
            <a:extLst>
              <a:ext uri="{FF2B5EF4-FFF2-40B4-BE49-F238E27FC236}">
                <a16:creationId xmlns:a16="http://schemas.microsoft.com/office/drawing/2014/main" id="{4C2310D9-F462-EBB8-0BBE-47491BAFDA32}"/>
              </a:ext>
            </a:extLst>
          </p:cNvPr>
          <p:cNvSpPr>
            <a:spLocks noGrp="1"/>
          </p:cNvSpPr>
          <p:nvPr>
            <p:ph type="title"/>
          </p:nvPr>
        </p:nvSpPr>
        <p:spPr>
          <a:xfrm>
            <a:off x="2076994" y="222069"/>
            <a:ext cx="9666016" cy="1018902"/>
          </a:xfrm>
        </p:spPr>
        <p:txBody>
          <a:bodyPr/>
          <a:lstStyle/>
          <a:p>
            <a:r>
              <a:rPr lang="es-CO"/>
              <a:t>Análisis del ejercicio práctico</a:t>
            </a:r>
          </a:p>
        </p:txBody>
      </p:sp>
      <p:grpSp>
        <p:nvGrpSpPr>
          <p:cNvPr id="30" name="Grupo 29"/>
          <p:cNvGrpSpPr/>
          <p:nvPr/>
        </p:nvGrpSpPr>
        <p:grpSpPr>
          <a:xfrm>
            <a:off x="2257960" y="5549699"/>
            <a:ext cx="9206453" cy="1030531"/>
            <a:chOff x="2166149" y="5366286"/>
            <a:chExt cx="9206453" cy="1030531"/>
          </a:xfrm>
        </p:grpSpPr>
        <p:pic>
          <p:nvPicPr>
            <p:cNvPr id="2" name="Imagen 1" descr="Curiosidades y fotos de animales: Abej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6149" y="5366286"/>
              <a:ext cx="1373468" cy="1030531"/>
            </a:xfrm>
            <a:prstGeom prst="rect">
              <a:avLst/>
            </a:prstGeom>
          </p:spPr>
        </p:pic>
        <p:pic>
          <p:nvPicPr>
            <p:cNvPr id="13" name="Imagen 12" descr="Foto gratis: Burro, Valla, Naturaleza, Fuera - Imagen gratis en Pixabay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3579" y="5366286"/>
              <a:ext cx="1374042" cy="1030531"/>
            </a:xfrm>
            <a:prstGeom prst="rect">
              <a:avLst/>
            </a:prstGeom>
          </p:spPr>
        </p:pic>
        <p:pic>
          <p:nvPicPr>
            <p:cNvPr id="15" name="Imagen 14" descr="Curiosidades y fotos de animales: Camaleó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1583" y="5380653"/>
              <a:ext cx="1278194" cy="1016164"/>
            </a:xfrm>
            <a:prstGeom prst="rect">
              <a:avLst/>
            </a:prstGeom>
          </p:spPr>
        </p:pic>
        <p:pic>
          <p:nvPicPr>
            <p:cNvPr id="17" name="Imagen 16" descr="Delfines: Tipos de delfine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3738" y="5366286"/>
              <a:ext cx="1374041" cy="1030531"/>
            </a:xfrm>
            <a:prstGeom prst="rect">
              <a:avLst/>
            </a:prstGeom>
          </p:spPr>
        </p:pic>
        <p:pic>
          <p:nvPicPr>
            <p:cNvPr id="20" name="Imagen 19" descr="Emperor scorpion - Wikipedia"/>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1740" y="5368441"/>
              <a:ext cx="1548613" cy="1028376"/>
            </a:xfrm>
            <a:prstGeom prst="rect">
              <a:avLst/>
            </a:prstGeom>
          </p:spPr>
        </p:pic>
        <p:sp>
          <p:nvSpPr>
            <p:cNvPr id="29" name="CuadroTexto 28"/>
            <p:cNvSpPr txBox="1"/>
            <p:nvPr/>
          </p:nvSpPr>
          <p:spPr>
            <a:xfrm>
              <a:off x="10904204" y="5480190"/>
              <a:ext cx="468398" cy="584775"/>
            </a:xfrm>
            <a:prstGeom prst="rect">
              <a:avLst/>
            </a:prstGeom>
            <a:noFill/>
          </p:spPr>
          <p:txBody>
            <a:bodyPr wrap="none" rtlCol="0">
              <a:spAutoFit/>
            </a:bodyPr>
            <a:lstStyle/>
            <a:p>
              <a:r>
                <a:rPr lang="es-MX" sz="3200"/>
                <a:t>…</a:t>
              </a:r>
              <a:endParaRPr lang="es-CO"/>
            </a:p>
          </p:txBody>
        </p:sp>
      </p:grpSp>
      <p:sp>
        <p:nvSpPr>
          <p:cNvPr id="23" name="Marcador de texto 2">
            <a:extLst>
              <a:ext uri="{FF2B5EF4-FFF2-40B4-BE49-F238E27FC236}">
                <a16:creationId xmlns:a16="http://schemas.microsoft.com/office/drawing/2014/main" id="{B4C8D576-6AD1-4708-ADC0-C6027FE840B9}"/>
              </a:ext>
            </a:extLst>
          </p:cNvPr>
          <p:cNvSpPr>
            <a:spLocks noGrp="1"/>
          </p:cNvSpPr>
          <p:nvPr>
            <p:ph type="body" idx="1"/>
          </p:nvPr>
        </p:nvSpPr>
        <p:spPr>
          <a:xfrm>
            <a:off x="2269065" y="1219697"/>
            <a:ext cx="9195348" cy="4845268"/>
          </a:xfrm>
        </p:spPr>
        <p:txBody>
          <a:bodyPr>
            <a:normAutofit/>
          </a:bodyPr>
          <a:lstStyle/>
          <a:p>
            <a:r>
              <a:rPr lang="es-CO" sz="2200" b="1">
                <a:solidFill>
                  <a:srgbClr val="D85C90"/>
                </a:solidFill>
                <a:latin typeface="+mn-lt"/>
              </a:rPr>
              <a:t>Descomposición: </a:t>
            </a:r>
            <a:r>
              <a:rPr lang="es-CO" sz="2200">
                <a:latin typeface="+mn-lt"/>
              </a:rPr>
              <a:t> </a:t>
            </a:r>
            <a:r>
              <a:rPr lang="es-ES" sz="2200">
                <a:latin typeface="+mn-lt"/>
              </a:rPr>
              <a:t>Cada estudiante se enfoca solo en encontrar un animal para su letra asignada, en lugar de preocuparse por todas las letras.</a:t>
            </a:r>
            <a:endParaRPr lang="es-CO" sz="2200">
              <a:latin typeface="+mn-lt"/>
            </a:endParaRPr>
          </a:p>
          <a:p>
            <a:r>
              <a:rPr lang="es-CO" sz="2200" b="1">
                <a:solidFill>
                  <a:srgbClr val="00B050"/>
                </a:solidFill>
                <a:latin typeface="+mn-lt"/>
              </a:rPr>
              <a:t>Abstracción: </a:t>
            </a:r>
            <a:r>
              <a:rPr lang="es-CO" sz="2200">
                <a:latin typeface="+mn-lt"/>
              </a:rPr>
              <a:t>Si alguien dice “caballo”, no importa si es blanco o salvaje, solo importa que empiece con la letra C.</a:t>
            </a:r>
            <a:endParaRPr lang="es-ES" sz="2200">
              <a:latin typeface="+mn-lt"/>
            </a:endParaRPr>
          </a:p>
          <a:p>
            <a:r>
              <a:rPr lang="es-CO" sz="2200" b="1">
                <a:solidFill>
                  <a:srgbClr val="00B0F0"/>
                </a:solidFill>
                <a:latin typeface="+mn-lt"/>
              </a:rPr>
              <a:t>Reconocimiento de patrones: </a:t>
            </a:r>
            <a:r>
              <a:rPr lang="es-ES" sz="2200">
                <a:latin typeface="+mn-lt"/>
              </a:rPr>
              <a:t>Si ya pasaron por “abeja”, “burro” y “caballo”, es fácil ver que el próximo será con D.</a:t>
            </a:r>
          </a:p>
          <a:p>
            <a:r>
              <a:rPr lang="es-CO" sz="2200" b="1">
                <a:solidFill>
                  <a:schemeClr val="bg2">
                    <a:lumMod val="50000"/>
                  </a:schemeClr>
                </a:solidFill>
                <a:latin typeface="+mn-lt"/>
              </a:rPr>
              <a:t>Lógica y Algoritmia:</a:t>
            </a:r>
            <a:r>
              <a:rPr lang="es-CO" sz="2200">
                <a:latin typeface="+mn-lt"/>
              </a:rPr>
              <a:t> </a:t>
            </a:r>
            <a:r>
              <a:rPr lang="es-ES" sz="2200">
                <a:latin typeface="+mn-lt"/>
              </a:rPr>
              <a:t>El estudiante sigue un </a:t>
            </a:r>
            <a:r>
              <a:rPr lang="es-ES" sz="2200" err="1">
                <a:latin typeface="+mn-lt"/>
              </a:rPr>
              <a:t>mini-algoritmo</a:t>
            </a:r>
            <a:r>
              <a:rPr lang="es-ES" sz="2200">
                <a:latin typeface="+mn-lt"/>
              </a:rPr>
              <a:t>: escuchar el nombre anterior, determinar letra siguiente, buscar nombre anima con letra siguiente, decir nombre.</a:t>
            </a:r>
          </a:p>
          <a:p>
            <a:r>
              <a:rPr lang="es-CO" sz="2200" b="1">
                <a:solidFill>
                  <a:srgbClr val="7030A0"/>
                </a:solidFill>
                <a:latin typeface="+mn-lt"/>
              </a:rPr>
              <a:t>Evaluación de la solución: </a:t>
            </a:r>
            <a:r>
              <a:rPr lang="es-ES" sz="2200">
                <a:latin typeface="+mn-lt"/>
              </a:rPr>
              <a:t>Si alguien dice “elefante” en el turno de la letra D, el grupo puede identificar el error y dar retroalimentación</a:t>
            </a:r>
            <a:r>
              <a:rPr lang="es-CO" sz="2200">
                <a:latin typeface="+mn-lt"/>
              </a:rPr>
              <a:t>.</a:t>
            </a:r>
          </a:p>
          <a:p>
            <a:endParaRPr lang="es-CO"/>
          </a:p>
        </p:txBody>
      </p:sp>
    </p:spTree>
    <p:extLst>
      <p:ext uri="{BB962C8B-B14F-4D97-AF65-F5344CB8AC3E}">
        <p14:creationId xmlns:p14="http://schemas.microsoft.com/office/powerpoint/2010/main" val="98627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Rompiendo mitos</a:t>
            </a:r>
          </a:p>
          <a:p>
            <a:pPr marL="457200" lvl="0" indent="-457200">
              <a:spcBef>
                <a:spcPts val="0"/>
              </a:spcBef>
              <a:buSzPts val="2400"/>
              <a:buFont typeface="Calibri"/>
              <a:buAutoNum type="arabicPeriod"/>
            </a:pPr>
            <a:r>
              <a:rPr lang="es-ES"/>
              <a:t>Pensamiento Computacional</a:t>
            </a:r>
          </a:p>
          <a:p>
            <a:pPr marL="457200" lvl="0" indent="-457200">
              <a:spcBef>
                <a:spcPts val="0"/>
              </a:spcBef>
              <a:buSzPts val="2400"/>
              <a:buFont typeface="Calibri"/>
              <a:buAutoNum type="arabicPeriod"/>
            </a:pPr>
            <a:r>
              <a:rPr lang="es-ES" b="1"/>
              <a:t>Computadores</a:t>
            </a:r>
          </a:p>
          <a:p>
            <a:pPr marL="457200" lvl="0" indent="-457200">
              <a:spcBef>
                <a:spcPts val="0"/>
              </a:spcBef>
              <a:buSzPts val="2400"/>
              <a:buFont typeface="Calibri"/>
              <a:buAutoNum type="arabicPeriod"/>
            </a:pPr>
            <a:r>
              <a:rPr lang="es-ES"/>
              <a:t>Lenguajes de programación</a:t>
            </a:r>
          </a:p>
        </p:txBody>
      </p:sp>
    </p:spTree>
    <p:extLst>
      <p:ext uri="{BB962C8B-B14F-4D97-AF65-F5344CB8AC3E}">
        <p14:creationId xmlns:p14="http://schemas.microsoft.com/office/powerpoint/2010/main" val="112255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61882B-C34C-4ECC-A6F2-A160F796C2A0}"/>
              </a:ext>
            </a:extLst>
          </p:cNvPr>
          <p:cNvSpPr>
            <a:spLocks noGrp="1"/>
          </p:cNvSpPr>
          <p:nvPr>
            <p:ph type="title"/>
          </p:nvPr>
        </p:nvSpPr>
        <p:spPr/>
        <p:txBody>
          <a:bodyPr/>
          <a:lstStyle/>
          <a:p>
            <a:r>
              <a:rPr lang="es-CO"/>
              <a:t>¿Qué es un computador?</a:t>
            </a:r>
          </a:p>
        </p:txBody>
      </p:sp>
      <p:sp>
        <p:nvSpPr>
          <p:cNvPr id="3" name="Marcador de texto 2">
            <a:extLst>
              <a:ext uri="{FF2B5EF4-FFF2-40B4-BE49-F238E27FC236}">
                <a16:creationId xmlns:a16="http://schemas.microsoft.com/office/drawing/2014/main" id="{1EEA19CE-B0E8-4671-8EB0-7C79FF67FF55}"/>
              </a:ext>
            </a:extLst>
          </p:cNvPr>
          <p:cNvSpPr>
            <a:spLocks noGrp="1"/>
          </p:cNvSpPr>
          <p:nvPr>
            <p:ph type="body" idx="1"/>
          </p:nvPr>
        </p:nvSpPr>
        <p:spPr>
          <a:xfrm>
            <a:off x="2076994" y="1611511"/>
            <a:ext cx="9666016" cy="3363950"/>
          </a:xfrm>
        </p:spPr>
        <p:txBody>
          <a:bodyPr>
            <a:normAutofit/>
          </a:bodyPr>
          <a:lstStyle/>
          <a:p>
            <a:pPr algn="just"/>
            <a:r>
              <a:rPr lang="es-CO" sz="2400"/>
              <a:t>Un computador es un dispositivo electrónico que </a:t>
            </a:r>
            <a:r>
              <a:rPr lang="es-CO" sz="2400" b="1"/>
              <a:t>almacena</a:t>
            </a:r>
            <a:r>
              <a:rPr lang="es-CO" sz="2400"/>
              <a:t> y </a:t>
            </a:r>
            <a:r>
              <a:rPr lang="es-CO" sz="2400" b="1"/>
              <a:t>procesa</a:t>
            </a:r>
            <a:r>
              <a:rPr lang="es-CO" sz="2400"/>
              <a:t> datos.</a:t>
            </a:r>
          </a:p>
        </p:txBody>
      </p:sp>
      <p:sp>
        <p:nvSpPr>
          <p:cNvPr id="4" name="Marcador de número de diapositiva 3">
            <a:extLst>
              <a:ext uri="{FF2B5EF4-FFF2-40B4-BE49-F238E27FC236}">
                <a16:creationId xmlns:a16="http://schemas.microsoft.com/office/drawing/2014/main" id="{45097E48-1EE8-4D90-A0D4-A7D7D6F188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20</a:t>
            </a:fld>
            <a:endParaRPr lang="es-CO"/>
          </a:p>
        </p:txBody>
      </p:sp>
      <p:pic>
        <p:nvPicPr>
          <p:cNvPr id="6" name="Imagen 5" descr="Imagen que contiene computadora&#10;&#10;Descripción generada automáticamente">
            <a:extLst>
              <a:ext uri="{FF2B5EF4-FFF2-40B4-BE49-F238E27FC236}">
                <a16:creationId xmlns:a16="http://schemas.microsoft.com/office/drawing/2014/main" id="{F8C16EF1-53DD-4A3A-9B88-E1BB66B559AE}"/>
              </a:ext>
            </a:extLst>
          </p:cNvPr>
          <p:cNvPicPr>
            <a:picLocks noChangeAspect="1"/>
          </p:cNvPicPr>
          <p:nvPr/>
        </p:nvPicPr>
        <p:blipFill>
          <a:blip r:embed="rId2"/>
          <a:stretch>
            <a:fillRect/>
          </a:stretch>
        </p:blipFill>
        <p:spPr>
          <a:xfrm>
            <a:off x="8523558" y="2827944"/>
            <a:ext cx="3115990" cy="3115990"/>
          </a:xfrm>
          <a:prstGeom prst="rect">
            <a:avLst/>
          </a:prstGeom>
        </p:spPr>
      </p:pic>
      <p:sp>
        <p:nvSpPr>
          <p:cNvPr id="7" name="Marcador de texto 2">
            <a:extLst>
              <a:ext uri="{FF2B5EF4-FFF2-40B4-BE49-F238E27FC236}">
                <a16:creationId xmlns:a16="http://schemas.microsoft.com/office/drawing/2014/main" id="{A8F39B92-FCDE-43E7-BA98-A34D445DA94D}"/>
              </a:ext>
            </a:extLst>
          </p:cNvPr>
          <p:cNvSpPr txBox="1">
            <a:spLocks/>
          </p:cNvSpPr>
          <p:nvPr/>
        </p:nvSpPr>
        <p:spPr>
          <a:xfrm>
            <a:off x="2076994" y="2569151"/>
            <a:ext cx="5996489" cy="2130998"/>
          </a:xfrm>
          <a:prstGeom prst="rect">
            <a:avLst/>
          </a:prstGeom>
          <a:noFill/>
          <a:ln>
            <a:noFill/>
          </a:ln>
        </p:spPr>
        <p:txBody>
          <a:bodyPr spcFirstLastPara="1" vert="horz" wrap="square" lIns="91425" tIns="45700" rIns="91425" bIns="45700" rtlCol="0" anchor="t" anchorCtr="0">
            <a:normAutofit/>
          </a:bodyPr>
          <a:lstStyle>
            <a:lvl1pPr marL="457200" lvl="0" indent="-381000" algn="l" defTabSz="914400" rtl="0" eaLnBrk="1" latinLnBrk="0" hangingPunct="1">
              <a:lnSpc>
                <a:spcPct val="100000"/>
              </a:lnSpc>
              <a:spcBef>
                <a:spcPts val="480"/>
              </a:spcBef>
              <a:spcAft>
                <a:spcPts val="0"/>
              </a:spcAft>
              <a:buClr>
                <a:srgbClr val="009BAF"/>
              </a:buClr>
              <a:buSzPts val="2400"/>
              <a:buFont typeface="Arial" panose="020B0604020202020204" pitchFamily="34" charset="0"/>
              <a:buChar char="•"/>
              <a:defRPr sz="2800" kern="1200">
                <a:solidFill>
                  <a:schemeClr val="tx1"/>
                </a:solidFill>
                <a:latin typeface="Calibri"/>
                <a:ea typeface="Calibri"/>
                <a:cs typeface="Calibri"/>
                <a:sym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pPr algn="just"/>
            <a:r>
              <a:rPr lang="es-CO" sz="2400"/>
              <a:t>Un computador incluye </a:t>
            </a:r>
            <a:r>
              <a:rPr lang="es-CO" sz="2400" b="1"/>
              <a:t>hardware</a:t>
            </a:r>
            <a:r>
              <a:rPr lang="es-CO" sz="2400"/>
              <a:t> y </a:t>
            </a:r>
            <a:r>
              <a:rPr lang="es-CO" sz="2400" b="1"/>
              <a:t>software</a:t>
            </a:r>
            <a:r>
              <a:rPr lang="es-CO" sz="2400"/>
              <a:t>. El hardware comprende los elementos físicos visibles del computador y el software proporciona las instrucciones invisibles que controlan el hardware.</a:t>
            </a:r>
          </a:p>
        </p:txBody>
      </p:sp>
      <p:sp>
        <p:nvSpPr>
          <p:cNvPr id="8" name="Marcador de texto 2">
            <a:extLst>
              <a:ext uri="{FF2B5EF4-FFF2-40B4-BE49-F238E27FC236}">
                <a16:creationId xmlns:a16="http://schemas.microsoft.com/office/drawing/2014/main" id="{E6862EAF-2D75-42CE-E356-9643965304BB}"/>
              </a:ext>
            </a:extLst>
          </p:cNvPr>
          <p:cNvSpPr txBox="1">
            <a:spLocks/>
          </p:cNvSpPr>
          <p:nvPr/>
        </p:nvSpPr>
        <p:spPr>
          <a:xfrm>
            <a:off x="2085620" y="4921287"/>
            <a:ext cx="5996489" cy="2130998"/>
          </a:xfrm>
          <a:prstGeom prst="rect">
            <a:avLst/>
          </a:prstGeom>
          <a:noFill/>
          <a:ln>
            <a:noFill/>
          </a:ln>
        </p:spPr>
        <p:txBody>
          <a:bodyPr spcFirstLastPara="1" vert="horz" wrap="square" lIns="91425" tIns="45700" rIns="91425" bIns="45700" rtlCol="0" anchor="t" anchorCtr="0">
            <a:normAutofit/>
          </a:bodyPr>
          <a:lstStyle>
            <a:lvl1pPr marL="457200" lvl="0" indent="-381000" algn="l" defTabSz="914400" rtl="0" eaLnBrk="1" latinLnBrk="0" hangingPunct="1">
              <a:lnSpc>
                <a:spcPct val="100000"/>
              </a:lnSpc>
              <a:spcBef>
                <a:spcPts val="480"/>
              </a:spcBef>
              <a:spcAft>
                <a:spcPts val="0"/>
              </a:spcAft>
              <a:buClr>
                <a:srgbClr val="009BAF"/>
              </a:buClr>
              <a:buSzPts val="2400"/>
              <a:buFont typeface="Arial" panose="020B0604020202020204" pitchFamily="34" charset="0"/>
              <a:buChar char="•"/>
              <a:defRPr sz="2800" kern="1200">
                <a:solidFill>
                  <a:schemeClr val="tx1"/>
                </a:solidFill>
                <a:latin typeface="Calibri"/>
                <a:ea typeface="Calibri"/>
                <a:cs typeface="Calibri"/>
                <a:sym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pPr algn="just"/>
            <a:r>
              <a:rPr lang="es-CO" sz="2400"/>
              <a:t>Actualmente, los computadores están presentes en dispositivos como vehículos, robots y teléfonos móviles.</a:t>
            </a:r>
          </a:p>
        </p:txBody>
      </p:sp>
    </p:spTree>
    <p:extLst>
      <p:ext uri="{BB962C8B-B14F-4D97-AF65-F5344CB8AC3E}">
        <p14:creationId xmlns:p14="http://schemas.microsoft.com/office/powerpoint/2010/main" val="218135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Rompiendo mitos</a:t>
            </a:r>
          </a:p>
          <a:p>
            <a:pPr marL="457200" lvl="0" indent="-457200">
              <a:spcBef>
                <a:spcPts val="0"/>
              </a:spcBef>
              <a:buSzPts val="2400"/>
              <a:buFont typeface="Calibri"/>
              <a:buAutoNum type="arabicPeriod"/>
            </a:pPr>
            <a:r>
              <a:rPr lang="es-ES"/>
              <a:t>Pensamiento Computacional</a:t>
            </a:r>
          </a:p>
          <a:p>
            <a:pPr marL="457200" lvl="0" indent="-457200">
              <a:spcBef>
                <a:spcPts val="0"/>
              </a:spcBef>
              <a:buSzPts val="2400"/>
              <a:buFont typeface="Calibri"/>
              <a:buAutoNum type="arabicPeriod"/>
            </a:pPr>
            <a:r>
              <a:rPr lang="es-ES"/>
              <a:t>Computadores</a:t>
            </a:r>
          </a:p>
          <a:p>
            <a:pPr marL="457200" lvl="0" indent="-457200">
              <a:spcBef>
                <a:spcPts val="0"/>
              </a:spcBef>
              <a:buSzPts val="2400"/>
              <a:buFont typeface="Calibri"/>
              <a:buAutoNum type="arabicPeriod"/>
            </a:pPr>
            <a:r>
              <a:rPr lang="es-ES" b="1"/>
              <a:t>Lenguajes de programación</a:t>
            </a:r>
          </a:p>
        </p:txBody>
      </p:sp>
    </p:spTree>
    <p:extLst>
      <p:ext uri="{BB962C8B-B14F-4D97-AF65-F5344CB8AC3E}">
        <p14:creationId xmlns:p14="http://schemas.microsoft.com/office/powerpoint/2010/main" val="3449188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C3E4-C6E0-EB9F-3644-A0236F09843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17EDD1B6-9AF5-E24C-8C60-C729F86ED273}"/>
              </a:ext>
            </a:extLst>
          </p:cNvPr>
          <p:cNvSpPr>
            <a:spLocks noGrp="1"/>
          </p:cNvSpPr>
          <p:nvPr>
            <p:ph type="title"/>
          </p:nvPr>
        </p:nvSpPr>
        <p:spPr/>
        <p:txBody>
          <a:bodyPr/>
          <a:lstStyle/>
          <a:p>
            <a:r>
              <a:rPr lang="es-CO"/>
              <a:t>Lenguajes de programación</a:t>
            </a:r>
          </a:p>
        </p:txBody>
      </p:sp>
      <p:sp>
        <p:nvSpPr>
          <p:cNvPr id="6" name="Marcador de texto 5">
            <a:extLst>
              <a:ext uri="{FF2B5EF4-FFF2-40B4-BE49-F238E27FC236}">
                <a16:creationId xmlns:a16="http://schemas.microsoft.com/office/drawing/2014/main" id="{958CB3E1-FE2A-7C24-51F8-D54E165995C3}"/>
              </a:ext>
            </a:extLst>
          </p:cNvPr>
          <p:cNvSpPr>
            <a:spLocks noGrp="1"/>
          </p:cNvSpPr>
          <p:nvPr>
            <p:ph type="body" idx="1"/>
          </p:nvPr>
        </p:nvSpPr>
        <p:spPr>
          <a:xfrm>
            <a:off x="1954331" y="1533453"/>
            <a:ext cx="5405474" cy="4663440"/>
          </a:xfrm>
        </p:spPr>
        <p:txBody>
          <a:bodyPr anchor="ctr">
            <a:normAutofit/>
          </a:bodyPr>
          <a:lstStyle/>
          <a:p>
            <a:pPr algn="just"/>
            <a:r>
              <a:rPr lang="es-CO" sz="2200" b="1"/>
              <a:t>Los computadores no entienden los idiomas humanos</a:t>
            </a:r>
            <a:r>
              <a:rPr lang="es-CO" sz="2200"/>
              <a:t>, por eso los programas deben estar escritos en un idioma que un computador pueda interpretar y usar.</a:t>
            </a:r>
          </a:p>
          <a:p>
            <a:pPr algn="just"/>
            <a:endParaRPr lang="es-CO" sz="2200"/>
          </a:p>
          <a:p>
            <a:pPr algn="just"/>
            <a:r>
              <a:rPr lang="es-CO" sz="2200"/>
              <a:t>Los lenguajes de programación fueron desarrollados para facilitar el proceso de programación para las personas. Sin embargo, todos los programas al final deben convertirse en instrucciones que los computadores puedan ejecutar.</a:t>
            </a:r>
          </a:p>
        </p:txBody>
      </p:sp>
      <p:sp>
        <p:nvSpPr>
          <p:cNvPr id="4" name="Marcador de número de diapositiva 3">
            <a:extLst>
              <a:ext uri="{FF2B5EF4-FFF2-40B4-BE49-F238E27FC236}">
                <a16:creationId xmlns:a16="http://schemas.microsoft.com/office/drawing/2014/main" id="{A67052D9-5FF6-989B-C120-0B285222A2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22</a:t>
            </a:fld>
            <a:endParaRPr lang="es-CO"/>
          </a:p>
        </p:txBody>
      </p:sp>
      <p:pic>
        <p:nvPicPr>
          <p:cNvPr id="3" name="Imagen 2" descr="Una caricatura de una persona&#10;&#10;Descripción generada automáticamente con confianza media">
            <a:extLst>
              <a:ext uri="{FF2B5EF4-FFF2-40B4-BE49-F238E27FC236}">
                <a16:creationId xmlns:a16="http://schemas.microsoft.com/office/drawing/2014/main" id="{A47F3A88-95CC-53C3-3FE5-920B0B56367C}"/>
              </a:ext>
            </a:extLst>
          </p:cNvPr>
          <p:cNvPicPr>
            <a:picLocks noChangeAspect="1"/>
          </p:cNvPicPr>
          <p:nvPr/>
        </p:nvPicPr>
        <p:blipFill>
          <a:blip r:embed="rId2"/>
          <a:stretch>
            <a:fillRect/>
          </a:stretch>
        </p:blipFill>
        <p:spPr>
          <a:xfrm>
            <a:off x="7961971" y="1998305"/>
            <a:ext cx="3752255" cy="3714881"/>
          </a:xfrm>
          <a:prstGeom prst="rect">
            <a:avLst/>
          </a:prstGeom>
        </p:spPr>
      </p:pic>
    </p:spTree>
    <p:extLst>
      <p:ext uri="{BB962C8B-B14F-4D97-AF65-F5344CB8AC3E}">
        <p14:creationId xmlns:p14="http://schemas.microsoft.com/office/powerpoint/2010/main" val="156233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49E737-5B58-62CC-9EA4-C0BB30BE35D8}"/>
              </a:ext>
            </a:extLst>
          </p:cNvPr>
          <p:cNvSpPr>
            <a:spLocks noGrp="1"/>
          </p:cNvSpPr>
          <p:nvPr>
            <p:ph type="title"/>
          </p:nvPr>
        </p:nvSpPr>
        <p:spPr/>
        <p:txBody>
          <a:bodyPr/>
          <a:lstStyle/>
          <a:p>
            <a:r>
              <a:rPr lang="es-CO"/>
              <a:t>Tipos de lenguajes de programación</a:t>
            </a:r>
          </a:p>
        </p:txBody>
      </p:sp>
      <p:sp>
        <p:nvSpPr>
          <p:cNvPr id="3" name="Marcador de texto 2">
            <a:extLst>
              <a:ext uri="{FF2B5EF4-FFF2-40B4-BE49-F238E27FC236}">
                <a16:creationId xmlns:a16="http://schemas.microsoft.com/office/drawing/2014/main" id="{B6A7C0C7-5593-30C2-F626-73CF99F157B0}"/>
              </a:ext>
            </a:extLst>
          </p:cNvPr>
          <p:cNvSpPr>
            <a:spLocks noGrp="1"/>
          </p:cNvSpPr>
          <p:nvPr>
            <p:ph type="body" idx="1"/>
          </p:nvPr>
        </p:nvSpPr>
        <p:spPr/>
        <p:txBody>
          <a:bodyPr/>
          <a:lstStyle/>
          <a:p>
            <a:pPr marL="0" indent="0" algn="just">
              <a:buNone/>
            </a:pPr>
            <a:r>
              <a:rPr lang="es-CO" sz="2000" b="1"/>
              <a:t>Lenguaje de máquina</a:t>
            </a:r>
          </a:p>
          <a:p>
            <a:pPr algn="just"/>
            <a:r>
              <a:rPr lang="es-CO" sz="2000"/>
              <a:t>Es el idioma nativo de un computador. El cual está hecho en forma de código binario.</a:t>
            </a:r>
          </a:p>
          <a:p>
            <a:pPr algn="just"/>
            <a:r>
              <a:rPr lang="es-CO" sz="2000"/>
              <a:t>La siguiente imagen muestra a la derecha la suma del número 1234 con el número 4321 en lenguaje de máquina.</a:t>
            </a:r>
          </a:p>
          <a:p>
            <a:endParaRPr lang="es-CO"/>
          </a:p>
        </p:txBody>
      </p:sp>
      <p:sp>
        <p:nvSpPr>
          <p:cNvPr id="4" name="Marcador de número de diapositiva 3">
            <a:extLst>
              <a:ext uri="{FF2B5EF4-FFF2-40B4-BE49-F238E27FC236}">
                <a16:creationId xmlns:a16="http://schemas.microsoft.com/office/drawing/2014/main" id="{C0B9C2BD-724E-A878-5369-AD29E583ED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23</a:t>
            </a:fld>
            <a:endParaRPr lang="es-CO"/>
          </a:p>
        </p:txBody>
      </p:sp>
      <p:pic>
        <p:nvPicPr>
          <p:cNvPr id="5" name="Picture 2" descr="Image result for programming in machine code">
            <a:extLst>
              <a:ext uri="{FF2B5EF4-FFF2-40B4-BE49-F238E27FC236}">
                <a16:creationId xmlns:a16="http://schemas.microsoft.com/office/drawing/2014/main" id="{EB4AC7B2-F22D-C846-01FF-577C11D85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2759" y="3171918"/>
            <a:ext cx="7154485" cy="313390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1974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49E737-5B58-62CC-9EA4-C0BB30BE35D8}"/>
              </a:ext>
            </a:extLst>
          </p:cNvPr>
          <p:cNvSpPr>
            <a:spLocks noGrp="1"/>
          </p:cNvSpPr>
          <p:nvPr>
            <p:ph type="title"/>
          </p:nvPr>
        </p:nvSpPr>
        <p:spPr/>
        <p:txBody>
          <a:bodyPr/>
          <a:lstStyle/>
          <a:p>
            <a:r>
              <a:rPr lang="es-CO"/>
              <a:t>Tipos de lenguajes de programación – II </a:t>
            </a:r>
          </a:p>
        </p:txBody>
      </p:sp>
      <p:sp>
        <p:nvSpPr>
          <p:cNvPr id="3" name="Marcador de texto 2">
            <a:extLst>
              <a:ext uri="{FF2B5EF4-FFF2-40B4-BE49-F238E27FC236}">
                <a16:creationId xmlns:a16="http://schemas.microsoft.com/office/drawing/2014/main" id="{B6A7C0C7-5593-30C2-F626-73CF99F157B0}"/>
              </a:ext>
            </a:extLst>
          </p:cNvPr>
          <p:cNvSpPr>
            <a:spLocks noGrp="1"/>
          </p:cNvSpPr>
          <p:nvPr>
            <p:ph type="body" idx="1"/>
          </p:nvPr>
        </p:nvSpPr>
        <p:spPr>
          <a:xfrm>
            <a:off x="2076994" y="1410788"/>
            <a:ext cx="6364479" cy="4900801"/>
          </a:xfrm>
        </p:spPr>
        <p:txBody>
          <a:bodyPr anchor="ctr">
            <a:normAutofit fontScale="92500" lnSpcReduction="10000"/>
          </a:bodyPr>
          <a:lstStyle/>
          <a:p>
            <a:pPr marL="0" indent="0" algn="just">
              <a:buNone/>
            </a:pPr>
            <a:r>
              <a:rPr lang="es-CO" sz="2200" b="1"/>
              <a:t>Lenguaje de ensamblador</a:t>
            </a:r>
          </a:p>
          <a:p>
            <a:pPr algn="just"/>
            <a:r>
              <a:rPr lang="es-ES" sz="2200"/>
              <a:t>Programar a punta de unos y ceros es muy tedioso, por lo tanto, a inicios de la era de la computación, se inventó el lenguaje de ensamblador. </a:t>
            </a:r>
          </a:p>
          <a:p>
            <a:pPr algn="just"/>
            <a:r>
              <a:rPr lang="es-ES" sz="2200"/>
              <a:t>El lenguaje ensamblador utiliza palabras descriptivas cortas para representar un conjunto de instrucciones de maquina (instrucciones que luego se traducen a lenguaje de maquina). </a:t>
            </a:r>
          </a:p>
          <a:p>
            <a:pPr algn="just"/>
            <a:r>
              <a:rPr lang="es-ES" sz="2200"/>
              <a:t>Una limitación de los lenguajes de ensamblador es que son dependientes de la máquina donde se crean las instrucciones. Esto quiere decir, que el código que yo haga probablemente no funcione en otra máquina con especificaciones diferentes.</a:t>
            </a:r>
          </a:p>
          <a:p>
            <a:pPr algn="just"/>
            <a:r>
              <a:rPr lang="es-ES" sz="2200"/>
              <a:t>La imagen de la derecha muestra cómo sumar los números 1234 y 4321 en lenguaje de ensamblador.</a:t>
            </a:r>
          </a:p>
        </p:txBody>
      </p:sp>
      <p:sp>
        <p:nvSpPr>
          <p:cNvPr id="4" name="Marcador de número de diapositiva 3">
            <a:extLst>
              <a:ext uri="{FF2B5EF4-FFF2-40B4-BE49-F238E27FC236}">
                <a16:creationId xmlns:a16="http://schemas.microsoft.com/office/drawing/2014/main" id="{C0B9C2BD-724E-A878-5369-AD29E583ED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24</a:t>
            </a:fld>
            <a:endParaRPr lang="es-CO"/>
          </a:p>
        </p:txBody>
      </p:sp>
      <p:pic>
        <p:nvPicPr>
          <p:cNvPr id="7" name="Imagen 6">
            <a:extLst>
              <a:ext uri="{FF2B5EF4-FFF2-40B4-BE49-F238E27FC236}">
                <a16:creationId xmlns:a16="http://schemas.microsoft.com/office/drawing/2014/main" id="{35DE7A7C-1A52-F636-82E4-89BEE78A1007}"/>
              </a:ext>
            </a:extLst>
          </p:cNvPr>
          <p:cNvPicPr>
            <a:picLocks noChangeAspect="1"/>
          </p:cNvPicPr>
          <p:nvPr/>
        </p:nvPicPr>
        <p:blipFill>
          <a:blip r:embed="rId2"/>
          <a:stretch>
            <a:fillRect/>
          </a:stretch>
        </p:blipFill>
        <p:spPr>
          <a:xfrm>
            <a:off x="9008001" y="1919310"/>
            <a:ext cx="1976800" cy="3939777"/>
          </a:xfrm>
          <a:prstGeom prst="rect">
            <a:avLst/>
          </a:prstGeom>
        </p:spPr>
      </p:pic>
    </p:spTree>
    <p:extLst>
      <p:ext uri="{BB962C8B-B14F-4D97-AF65-F5344CB8AC3E}">
        <p14:creationId xmlns:p14="http://schemas.microsoft.com/office/powerpoint/2010/main" val="325295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49E737-5B58-62CC-9EA4-C0BB30BE35D8}"/>
              </a:ext>
            </a:extLst>
          </p:cNvPr>
          <p:cNvSpPr>
            <a:spLocks noGrp="1"/>
          </p:cNvSpPr>
          <p:nvPr>
            <p:ph type="title"/>
          </p:nvPr>
        </p:nvSpPr>
        <p:spPr/>
        <p:txBody>
          <a:bodyPr/>
          <a:lstStyle/>
          <a:p>
            <a:r>
              <a:rPr lang="es-CO"/>
              <a:t>Tipos de lenguajes de programación – III </a:t>
            </a:r>
          </a:p>
        </p:txBody>
      </p:sp>
      <p:sp>
        <p:nvSpPr>
          <p:cNvPr id="3" name="Marcador de texto 2">
            <a:extLst>
              <a:ext uri="{FF2B5EF4-FFF2-40B4-BE49-F238E27FC236}">
                <a16:creationId xmlns:a16="http://schemas.microsoft.com/office/drawing/2014/main" id="{B6A7C0C7-5593-30C2-F626-73CF99F157B0}"/>
              </a:ext>
            </a:extLst>
          </p:cNvPr>
          <p:cNvSpPr>
            <a:spLocks noGrp="1"/>
          </p:cNvSpPr>
          <p:nvPr>
            <p:ph type="body" idx="1"/>
          </p:nvPr>
        </p:nvSpPr>
        <p:spPr>
          <a:xfrm>
            <a:off x="2076994" y="1410788"/>
            <a:ext cx="5661952" cy="5001163"/>
          </a:xfrm>
        </p:spPr>
        <p:txBody>
          <a:bodyPr>
            <a:normAutofit/>
          </a:bodyPr>
          <a:lstStyle/>
          <a:p>
            <a:pPr marL="0" indent="0" algn="just">
              <a:buNone/>
            </a:pPr>
            <a:r>
              <a:rPr lang="es-CO" sz="2000" b="1"/>
              <a:t>Lenguaje de alto nivel</a:t>
            </a:r>
          </a:p>
          <a:p>
            <a:pPr algn="just"/>
            <a:r>
              <a:rPr lang="es-ES" sz="2000"/>
              <a:t>En la década de 1950, surgió una nueva generación de lenguajes de programación conocidos como “lenguajes de alto nivel”. </a:t>
            </a:r>
          </a:p>
          <a:p>
            <a:pPr algn="just"/>
            <a:r>
              <a:rPr lang="es-ES" sz="2000"/>
              <a:t>Estos lenguajes son independientes de la plataforma, lo que significa que se puede escribir un programa en un lenguaje de alto nivel y ejecutarlo en diferentes tipos de máquinas. </a:t>
            </a:r>
          </a:p>
          <a:p>
            <a:pPr algn="just"/>
            <a:r>
              <a:rPr lang="es-ES" sz="2000"/>
              <a:t>Los lenguajes de alto nivel son similares al idioma “Inglés”, y son más fáciles de aprender y de usar.</a:t>
            </a:r>
          </a:p>
          <a:p>
            <a:pPr algn="just"/>
            <a:r>
              <a:rPr lang="es-ES" sz="2000"/>
              <a:t>El código de la derecha muestra cómo sumar los números 1234 y 4321 en un lenguaje de alto nivel (Python).</a:t>
            </a:r>
          </a:p>
          <a:p>
            <a:pPr algn="just"/>
            <a:endParaRPr lang="es-CO"/>
          </a:p>
        </p:txBody>
      </p:sp>
      <p:sp>
        <p:nvSpPr>
          <p:cNvPr id="4" name="Marcador de número de diapositiva 3">
            <a:extLst>
              <a:ext uri="{FF2B5EF4-FFF2-40B4-BE49-F238E27FC236}">
                <a16:creationId xmlns:a16="http://schemas.microsoft.com/office/drawing/2014/main" id="{C0B9C2BD-724E-A878-5369-AD29E583ED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25</a:t>
            </a:fld>
            <a:endParaRPr lang="es-CO"/>
          </a:p>
        </p:txBody>
      </p:sp>
      <p:pic>
        <p:nvPicPr>
          <p:cNvPr id="7" name="Picture 2" descr="Image result for java">
            <a:extLst>
              <a:ext uri="{FF2B5EF4-FFF2-40B4-BE49-F238E27FC236}">
                <a16:creationId xmlns:a16="http://schemas.microsoft.com/office/drawing/2014/main" id="{4E325573-650F-71E0-F9D2-8E6B9671D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2861" y="2944138"/>
            <a:ext cx="1477268" cy="829698"/>
          </a:xfrm>
          <a:prstGeom prst="rect">
            <a:avLst/>
          </a:prstGeom>
        </p:spPr>
        <p:style>
          <a:lnRef idx="2">
            <a:schemeClr val="dk1"/>
          </a:lnRef>
          <a:fillRef idx="1">
            <a:schemeClr val="lt1"/>
          </a:fillRef>
          <a:effectRef idx="0">
            <a:schemeClr val="dk1"/>
          </a:effectRef>
          <a:fontRef idx="minor">
            <a:schemeClr val="dk1"/>
          </a:fontRef>
        </p:style>
      </p:pic>
      <p:pic>
        <p:nvPicPr>
          <p:cNvPr id="8" name="Picture 4" descr="Image result for python language">
            <a:extLst>
              <a:ext uri="{FF2B5EF4-FFF2-40B4-BE49-F238E27FC236}">
                <a16:creationId xmlns:a16="http://schemas.microsoft.com/office/drawing/2014/main" id="{AFFAB4F3-88A5-D127-5AFD-F98A6A76D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8193" y="2944138"/>
            <a:ext cx="1496537" cy="829698"/>
          </a:xfrm>
          <a:prstGeom prst="rect">
            <a:avLst/>
          </a:prstGeom>
        </p:spPr>
        <p:style>
          <a:lnRef idx="2">
            <a:schemeClr val="dk1"/>
          </a:lnRef>
          <a:fillRef idx="1">
            <a:schemeClr val="lt1"/>
          </a:fillRef>
          <a:effectRef idx="0">
            <a:schemeClr val="dk1"/>
          </a:effectRef>
          <a:fontRef idx="minor">
            <a:schemeClr val="dk1"/>
          </a:fontRef>
        </p:style>
      </p:pic>
      <p:pic>
        <p:nvPicPr>
          <p:cNvPr id="9" name="Picture 6" descr="Image result for php">
            <a:extLst>
              <a:ext uri="{FF2B5EF4-FFF2-40B4-BE49-F238E27FC236}">
                <a16:creationId xmlns:a16="http://schemas.microsoft.com/office/drawing/2014/main" id="{3D51E70A-D6B3-3F74-FC6A-8233F3616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8589" y="4026128"/>
            <a:ext cx="1496537" cy="80813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3FF0A80D-2F23-D80F-EE18-660FAE5BDB38}"/>
              </a:ext>
            </a:extLst>
          </p:cNvPr>
          <p:cNvPicPr>
            <a:picLocks noChangeAspect="1"/>
          </p:cNvPicPr>
          <p:nvPr/>
        </p:nvPicPr>
        <p:blipFill>
          <a:blip r:embed="rId5"/>
          <a:stretch>
            <a:fillRect/>
          </a:stretch>
        </p:blipFill>
        <p:spPr>
          <a:xfrm>
            <a:off x="8005081" y="1806629"/>
            <a:ext cx="3675064" cy="808130"/>
          </a:xfrm>
          <a:prstGeom prst="rect">
            <a:avLst/>
          </a:prstGeom>
        </p:spPr>
      </p:pic>
    </p:spTree>
    <p:extLst>
      <p:ext uri="{BB962C8B-B14F-4D97-AF65-F5344CB8AC3E}">
        <p14:creationId xmlns:p14="http://schemas.microsoft.com/office/powerpoint/2010/main" val="143103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1B775-87D3-D00C-5BB1-32D7AE316A3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5425D3F-41F4-E0F3-F4F9-F260E94F6E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26</a:t>
            </a:fld>
            <a:endParaRPr lang="es-CO"/>
          </a:p>
        </p:txBody>
      </p:sp>
      <p:sp>
        <p:nvSpPr>
          <p:cNvPr id="15" name="Título 1">
            <a:extLst>
              <a:ext uri="{FF2B5EF4-FFF2-40B4-BE49-F238E27FC236}">
                <a16:creationId xmlns:a16="http://schemas.microsoft.com/office/drawing/2014/main" id="{BF1B6C3F-8FE2-5C0C-39EE-51BC07291D03}"/>
              </a:ext>
            </a:extLst>
          </p:cNvPr>
          <p:cNvSpPr>
            <a:spLocks noGrp="1"/>
          </p:cNvSpPr>
          <p:nvPr>
            <p:ph type="title"/>
          </p:nvPr>
        </p:nvSpPr>
        <p:spPr>
          <a:xfrm>
            <a:off x="2076994" y="310557"/>
            <a:ext cx="9666016" cy="1018902"/>
          </a:xfrm>
        </p:spPr>
        <p:txBody>
          <a:bodyPr>
            <a:normAutofit fontScale="90000"/>
          </a:bodyPr>
          <a:lstStyle/>
          <a:p>
            <a:r>
              <a:rPr lang="es-CO"/>
              <a:t>Python como puente para la aplicación de Pensamiento Computacional</a:t>
            </a:r>
          </a:p>
        </p:txBody>
      </p:sp>
      <p:pic>
        <p:nvPicPr>
          <p:cNvPr id="7" name="Imagen 6" descr="Imagen que contiene computadora&#10;&#10;Descripción generada automáticamente">
            <a:extLst>
              <a:ext uri="{FF2B5EF4-FFF2-40B4-BE49-F238E27FC236}">
                <a16:creationId xmlns:a16="http://schemas.microsoft.com/office/drawing/2014/main" id="{DF4A7C08-8419-B765-2048-7A2AB1CD223E}"/>
              </a:ext>
            </a:extLst>
          </p:cNvPr>
          <p:cNvPicPr>
            <a:picLocks noChangeAspect="1"/>
          </p:cNvPicPr>
          <p:nvPr/>
        </p:nvPicPr>
        <p:blipFill>
          <a:blip r:embed="rId2"/>
          <a:stretch>
            <a:fillRect/>
          </a:stretch>
        </p:blipFill>
        <p:spPr>
          <a:xfrm>
            <a:off x="9345168" y="2319371"/>
            <a:ext cx="2755606" cy="2755606"/>
          </a:xfrm>
          <a:prstGeom prst="rect">
            <a:avLst/>
          </a:prstGeom>
        </p:spPr>
      </p:pic>
      <p:pic>
        <p:nvPicPr>
          <p:cNvPr id="9" name="Picture 4" descr="Image result for python language">
            <a:extLst>
              <a:ext uri="{FF2B5EF4-FFF2-40B4-BE49-F238E27FC236}">
                <a16:creationId xmlns:a16="http://schemas.microsoft.com/office/drawing/2014/main" id="{18323190-B848-9DC8-C17A-4BBF09F86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875345">
            <a:off x="9833177" y="2995815"/>
            <a:ext cx="1260630" cy="698908"/>
          </a:xfrm>
          <a:prstGeom prst="rect">
            <a:avLst/>
          </a:prstGeom>
          <a:noFill/>
          <a:ln>
            <a:noFill/>
          </a:ln>
        </p:spPr>
        <p:style>
          <a:lnRef idx="2">
            <a:schemeClr val="dk1"/>
          </a:lnRef>
          <a:fillRef idx="1">
            <a:schemeClr val="lt1"/>
          </a:fillRef>
          <a:effectRef idx="0">
            <a:schemeClr val="dk1"/>
          </a:effectRef>
          <a:fontRef idx="minor">
            <a:schemeClr val="dk1"/>
          </a:fontRef>
        </p:style>
      </p:pic>
      <p:sp>
        <p:nvSpPr>
          <p:cNvPr id="10" name="Marcador de texto 2">
            <a:extLst>
              <a:ext uri="{FF2B5EF4-FFF2-40B4-BE49-F238E27FC236}">
                <a16:creationId xmlns:a16="http://schemas.microsoft.com/office/drawing/2014/main" id="{8AD632F1-8CD6-16E1-6A18-BF7563AA6550}"/>
              </a:ext>
            </a:extLst>
          </p:cNvPr>
          <p:cNvSpPr txBox="1">
            <a:spLocks/>
          </p:cNvSpPr>
          <p:nvPr/>
        </p:nvSpPr>
        <p:spPr>
          <a:xfrm>
            <a:off x="2076994" y="2057400"/>
            <a:ext cx="7268174" cy="3794760"/>
          </a:xfrm>
          <a:prstGeom prst="rect">
            <a:avLst/>
          </a:prstGeom>
          <a:noFill/>
          <a:ln>
            <a:noFill/>
          </a:ln>
        </p:spPr>
        <p:txBody>
          <a:bodyPr spcFirstLastPara="1" vert="horz" wrap="square" lIns="91425" tIns="45700" rIns="91425" bIns="45700" rtlCol="0" anchor="t" anchorCtr="0">
            <a:normAutofit/>
          </a:bodyPr>
          <a:lstStyle>
            <a:lvl1pPr marL="457200" lvl="0" indent="-381000" algn="l" defTabSz="914400" rtl="0" eaLnBrk="1" latinLnBrk="0" hangingPunct="1">
              <a:lnSpc>
                <a:spcPct val="100000"/>
              </a:lnSpc>
              <a:spcBef>
                <a:spcPts val="480"/>
              </a:spcBef>
              <a:spcAft>
                <a:spcPts val="0"/>
              </a:spcAft>
              <a:buClr>
                <a:srgbClr val="009BAF"/>
              </a:buClr>
              <a:buSzPts val="2400"/>
              <a:buFont typeface="Arial" panose="020B0604020202020204" pitchFamily="34" charset="0"/>
              <a:buChar char="•"/>
              <a:defRPr sz="2800" kern="1200">
                <a:solidFill>
                  <a:schemeClr val="tx1"/>
                </a:solidFill>
                <a:latin typeface="Calibri"/>
                <a:ea typeface="Calibri"/>
                <a:cs typeface="Calibri"/>
                <a:sym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pPr marL="76200" indent="0">
              <a:buFont typeface="Arial" panose="020B0604020202020204" pitchFamily="34" charset="0"/>
              <a:buNone/>
            </a:pPr>
            <a:r>
              <a:rPr lang="es-ES" sz="2400"/>
              <a:t>En este curso, utilizaremos Python como herramienta principal para implementar y explorar los pilares del PC, orientándonos hacia soluciones informáticas.</a:t>
            </a:r>
          </a:p>
          <a:p>
            <a:pPr marL="76200" indent="0">
              <a:buFont typeface="Arial" panose="020B0604020202020204" pitchFamily="34" charset="0"/>
              <a:buNone/>
            </a:pPr>
            <a:endParaRPr lang="es-ES" sz="2400"/>
          </a:p>
          <a:p>
            <a:pPr marL="76200" indent="0">
              <a:buFont typeface="Arial" panose="020B0604020202020204" pitchFamily="34" charset="0"/>
              <a:buNone/>
            </a:pPr>
            <a:r>
              <a:rPr lang="es-ES" sz="2400"/>
              <a:t>En este sentido, los pilares del PC representan el objetivo fundamental, mientras que Python actúa como el medio para alcanzarlo de manera práctica y eficiente.</a:t>
            </a:r>
          </a:p>
        </p:txBody>
      </p:sp>
    </p:spTree>
    <p:extLst>
      <p:ext uri="{BB962C8B-B14F-4D97-AF65-F5344CB8AC3E}">
        <p14:creationId xmlns:p14="http://schemas.microsoft.com/office/powerpoint/2010/main" val="279474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9"/>
          <p:cNvSpPr txBox="1">
            <a:spLocks noGrp="1"/>
          </p:cNvSpPr>
          <p:nvPr>
            <p:ph type="title"/>
          </p:nvPr>
        </p:nvSpPr>
        <p:spPr>
          <a:xfrm>
            <a:off x="1397374" y="274320"/>
            <a:ext cx="9666016" cy="101890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s-CO"/>
              <a:t>Referencias</a:t>
            </a:r>
            <a:endParaRPr/>
          </a:p>
        </p:txBody>
      </p:sp>
      <p:sp>
        <p:nvSpPr>
          <p:cNvPr id="573" name="Google Shape;573;p29"/>
          <p:cNvSpPr txBox="1">
            <a:spLocks noGrp="1"/>
          </p:cNvSpPr>
          <p:nvPr>
            <p:ph type="body" idx="1"/>
          </p:nvPr>
        </p:nvSpPr>
        <p:spPr>
          <a:xfrm>
            <a:off x="717755" y="2057401"/>
            <a:ext cx="11025255" cy="4016828"/>
          </a:xfrm>
          <a:prstGeom prst="rect">
            <a:avLst/>
          </a:prstGeom>
          <a:noFill/>
          <a:ln>
            <a:noFill/>
          </a:ln>
        </p:spPr>
        <p:txBody>
          <a:bodyPr spcFirstLastPara="1" wrap="square" lIns="91425" tIns="45700" rIns="91425" bIns="45700" anchor="t" anchorCtr="0">
            <a:normAutofit/>
          </a:bodyPr>
          <a:lstStyle/>
          <a:p>
            <a:pPr marL="285750" lvl="0" indent="-158750" algn="just" rtl="0">
              <a:lnSpc>
                <a:spcPct val="100000"/>
              </a:lnSpc>
              <a:spcBef>
                <a:spcPts val="0"/>
              </a:spcBef>
              <a:spcAft>
                <a:spcPts val="0"/>
              </a:spcAft>
              <a:buSzPts val="2000"/>
              <a:buNone/>
            </a:pPr>
            <a:endParaRPr sz="2200"/>
          </a:p>
          <a:p>
            <a:pPr marL="285750" lvl="0" indent="-285750" algn="just" rtl="0">
              <a:lnSpc>
                <a:spcPct val="100000"/>
              </a:lnSpc>
              <a:spcBef>
                <a:spcPts val="0"/>
              </a:spcBef>
              <a:spcAft>
                <a:spcPts val="0"/>
              </a:spcAft>
              <a:buSzPts val="2000"/>
              <a:buChar char="•"/>
            </a:pPr>
            <a:r>
              <a:rPr lang="es-CO" sz="2200" err="1"/>
              <a:t>Beecher</a:t>
            </a:r>
            <a:r>
              <a:rPr lang="es-CO" sz="2200"/>
              <a:t>, K. (2017). COMPUTATIONAL THINKING A </a:t>
            </a:r>
            <a:r>
              <a:rPr lang="es-CO" sz="2200" err="1"/>
              <a:t>beginner’s</a:t>
            </a:r>
            <a:r>
              <a:rPr lang="es-CO" sz="2200"/>
              <a:t> guide to </a:t>
            </a:r>
            <a:r>
              <a:rPr lang="es-CO" sz="2200" err="1"/>
              <a:t>problem</a:t>
            </a:r>
            <a:r>
              <a:rPr lang="es-CO" sz="2200"/>
              <a:t> </a:t>
            </a:r>
            <a:r>
              <a:rPr lang="es-CO" sz="2200" err="1"/>
              <a:t>solving</a:t>
            </a:r>
            <a:r>
              <a:rPr lang="es-CO" sz="2200"/>
              <a:t> and </a:t>
            </a:r>
            <a:r>
              <a:rPr lang="es-CO" sz="2200" err="1"/>
              <a:t>programming</a:t>
            </a:r>
            <a:r>
              <a:rPr lang="es-CO" sz="2200"/>
              <a:t>. </a:t>
            </a:r>
          </a:p>
          <a:p>
            <a:pPr marL="285750" indent="-285750" algn="just">
              <a:spcBef>
                <a:spcPts val="0"/>
              </a:spcBef>
              <a:buSzPts val="2000"/>
            </a:pPr>
            <a:r>
              <a:rPr lang="es-ES" sz="2200"/>
              <a:t>Correa, D., &amp; Vallejo, P. (2023). Python Para Principiantes: Aprender a programar con Python de manera práctica y paso a paso.</a:t>
            </a:r>
          </a:p>
          <a:p>
            <a:pPr marL="285750" indent="-285750" algn="just">
              <a:spcBef>
                <a:spcPts val="0"/>
              </a:spcBef>
              <a:buSzPts val="2000"/>
            </a:pPr>
            <a:r>
              <a:rPr lang="es-CO" sz="2200" err="1"/>
              <a:t>Sweigart</a:t>
            </a:r>
            <a:r>
              <a:rPr lang="es-CO" sz="2200"/>
              <a:t>, A. (2019). </a:t>
            </a:r>
            <a:r>
              <a:rPr lang="es-CO" sz="2200" err="1"/>
              <a:t>Automate</a:t>
            </a:r>
            <a:r>
              <a:rPr lang="es-CO" sz="2200"/>
              <a:t> </a:t>
            </a:r>
            <a:r>
              <a:rPr lang="es-CO" sz="2200" err="1"/>
              <a:t>the</a:t>
            </a:r>
            <a:r>
              <a:rPr lang="es-CO" sz="2200"/>
              <a:t> </a:t>
            </a:r>
            <a:r>
              <a:rPr lang="es-CO" sz="2200" err="1"/>
              <a:t>boring</a:t>
            </a:r>
            <a:r>
              <a:rPr lang="es-CO" sz="2200"/>
              <a:t> </a:t>
            </a:r>
            <a:r>
              <a:rPr lang="es-CO" sz="2200" err="1"/>
              <a:t>stuff</a:t>
            </a:r>
            <a:r>
              <a:rPr lang="es-CO" sz="2200"/>
              <a:t> </a:t>
            </a:r>
            <a:r>
              <a:rPr lang="es-CO" sz="2200" err="1"/>
              <a:t>with</a:t>
            </a:r>
            <a:r>
              <a:rPr lang="es-CO" sz="2200"/>
              <a:t> Python: </a:t>
            </a:r>
            <a:r>
              <a:rPr lang="es-CO" sz="2200" err="1"/>
              <a:t>practical</a:t>
            </a:r>
            <a:r>
              <a:rPr lang="es-CO" sz="2200"/>
              <a:t> </a:t>
            </a:r>
            <a:r>
              <a:rPr lang="es-CO" sz="2200" err="1"/>
              <a:t>programming</a:t>
            </a:r>
            <a:r>
              <a:rPr lang="es-CO" sz="2200"/>
              <a:t> </a:t>
            </a:r>
            <a:r>
              <a:rPr lang="es-CO" sz="2200" err="1"/>
              <a:t>for</a:t>
            </a:r>
            <a:r>
              <a:rPr lang="es-CO" sz="2200"/>
              <a:t> total </a:t>
            </a:r>
            <a:r>
              <a:rPr lang="es-CO" sz="2200" err="1"/>
              <a:t>beginners</a:t>
            </a:r>
            <a:r>
              <a:rPr lang="es-CO" sz="2200"/>
              <a:t>. No </a:t>
            </a:r>
            <a:r>
              <a:rPr lang="es-CO" sz="2200" err="1"/>
              <a:t>Starch</a:t>
            </a:r>
            <a:r>
              <a:rPr lang="es-CO" sz="2200"/>
              <a:t> </a:t>
            </a:r>
            <a:r>
              <a:rPr lang="es-CO" sz="2200" err="1"/>
              <a:t>Press</a:t>
            </a:r>
            <a:r>
              <a:rPr lang="es-CO" sz="2200"/>
              <a:t>.</a:t>
            </a:r>
          </a:p>
          <a:p>
            <a:pPr marL="285750" indent="-285750" algn="just">
              <a:spcBef>
                <a:spcPts val="0"/>
              </a:spcBef>
              <a:buSzPts val="2000"/>
            </a:pPr>
            <a:r>
              <a:rPr lang="es-CO" sz="2200"/>
              <a:t>Theobald, O. (2021). Python </a:t>
            </a:r>
            <a:r>
              <a:rPr lang="es-CO" sz="2200" err="1"/>
              <a:t>For</a:t>
            </a:r>
            <a:r>
              <a:rPr lang="es-CO" sz="2200"/>
              <a:t> </a:t>
            </a:r>
            <a:r>
              <a:rPr lang="es-CO" sz="2200" err="1"/>
              <a:t>Absolute</a:t>
            </a:r>
            <a:r>
              <a:rPr lang="es-CO" sz="2200"/>
              <a:t> </a:t>
            </a:r>
            <a:r>
              <a:rPr lang="es-CO" sz="2200" err="1"/>
              <a:t>Beginners</a:t>
            </a:r>
            <a:r>
              <a:rPr lang="es-CO" sz="2200"/>
              <a:t>: </a:t>
            </a:r>
            <a:r>
              <a:rPr lang="es-CO" sz="2200" err="1"/>
              <a:t>Rocket</a:t>
            </a:r>
            <a:r>
              <a:rPr lang="es-CO" sz="2200"/>
              <a:t> </a:t>
            </a:r>
            <a:r>
              <a:rPr lang="es-CO" sz="2200" err="1"/>
              <a:t>through</a:t>
            </a:r>
            <a:r>
              <a:rPr lang="es-CO" sz="2200"/>
              <a:t> </a:t>
            </a:r>
            <a:r>
              <a:rPr lang="es-CO" sz="2200" err="1"/>
              <a:t>the</a:t>
            </a:r>
            <a:r>
              <a:rPr lang="es-CO" sz="2200"/>
              <a:t> </a:t>
            </a:r>
            <a:r>
              <a:rPr lang="es-CO" sz="2200" err="1"/>
              <a:t>basics</a:t>
            </a:r>
            <a:r>
              <a:rPr lang="es-CO" sz="2200"/>
              <a:t> in </a:t>
            </a:r>
            <a:r>
              <a:rPr lang="es-CO" sz="2200" err="1"/>
              <a:t>an</a:t>
            </a:r>
            <a:r>
              <a:rPr lang="es-CO" sz="2200"/>
              <a:t> </a:t>
            </a:r>
            <a:r>
              <a:rPr lang="es-CO" sz="2200" err="1"/>
              <a:t>afternoon</a:t>
            </a:r>
            <a:r>
              <a:rPr lang="es-CO" sz="2200"/>
              <a:t>. </a:t>
            </a:r>
            <a:r>
              <a:rPr lang="es-CO" sz="2200" err="1"/>
              <a:t>Independently</a:t>
            </a:r>
            <a:r>
              <a:rPr lang="es-CO" sz="2200"/>
              <a:t> </a:t>
            </a:r>
            <a:r>
              <a:rPr lang="es-CO" sz="2200" err="1"/>
              <a:t>published</a:t>
            </a:r>
            <a:r>
              <a:rPr lang="es-CO" sz="2200"/>
              <a:t>.</a:t>
            </a:r>
            <a:endParaRPr sz="2200"/>
          </a:p>
        </p:txBody>
      </p:sp>
      <p:sp>
        <p:nvSpPr>
          <p:cNvPr id="2" name="Marcador de texto 1"/>
          <p:cNvSpPr>
            <a:spLocks noGrp="1"/>
          </p:cNvSpPr>
          <p:nvPr>
            <p:ph type="body" idx="12"/>
          </p:nvPr>
        </p:nvSpPr>
        <p:spPr>
          <a:xfrm>
            <a:off x="1262992" y="1370695"/>
            <a:ext cx="9666016" cy="556981"/>
          </a:xfrm>
        </p:spPr>
        <p:txBody>
          <a:bodyPr/>
          <a:lstStyle/>
          <a:p>
            <a:r>
              <a:rPr lang="es-CO" b="1" i="0"/>
              <a:t>Material elaborado por Daniel Correa y Paola Vallejo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673964"/>
      </p:ext>
    </p:extLst>
  </p:cSld>
  <p:clrMapOvr>
    <a:masterClrMapping/>
  </p:clrMapOvr>
</p:sld>
</file>

<file path=ppt/theme/theme1.xml><?xml version="1.0" encoding="utf-8"?>
<a:theme xmlns:a="http://schemas.openxmlformats.org/drawingml/2006/main" name="Modelo centrado en el estudian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PC-NFI_Paola_v4" id="{F1849F31-EFC5-457B-B904-2A8A5E240D81}" vid="{6CD487A3-F960-4206-B4E8-B415C60725D8}"/>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99f7b55e-9cbe-467b-8143-919782918afb}" enabled="0" method="" siteId="{99f7b55e-9cbe-467b-8143-919782918afb}" removed="1"/>
</clbl:labelList>
</file>

<file path=docProps/app.xml><?xml version="1.0" encoding="utf-8"?>
<Properties xmlns="http://schemas.openxmlformats.org/officeDocument/2006/extended-properties" xmlns:vt="http://schemas.openxmlformats.org/officeDocument/2006/docPropsVTypes">
  <Template>Plantilla-PC-NFI_Paola_v4</Template>
  <Application>Microsoft Office PowerPoint</Application>
  <PresentationFormat>Widescreen</PresentationFormat>
  <Slides>28</Slides>
  <Notes>8</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Modelo centrado en el estudiante</vt:lpstr>
      <vt:lpstr>Introducción al Pensamiento Computacional</vt:lpstr>
      <vt:lpstr>Agenda</vt:lpstr>
      <vt:lpstr>¿Los programadores necesitan saber mucha matemática?</vt:lpstr>
      <vt:lpstr>¿Sólo los ingenieros de sistemas programan?</vt:lpstr>
      <vt:lpstr>¿Vi un curso de programación, ya puedo empezar a trabajar como programador y hackear facebook?</vt:lpstr>
      <vt:lpstr>Agenda</vt:lpstr>
      <vt:lpstr>¿Por qué es importante el Pensamiento Computacional?</vt:lpstr>
      <vt:lpstr>¿Qué es Pensamiento Computacional?</vt:lpstr>
      <vt:lpstr>¿Qué es Pensamiento Computacional? – II </vt:lpstr>
      <vt:lpstr>Pilares del Pensamiento Computacional (PC) </vt:lpstr>
      <vt:lpstr>Pilares del Pensamiento Computacional (PC)</vt:lpstr>
      <vt:lpstr>Ejemplo de descomposición</vt:lpstr>
      <vt:lpstr>Ejemplo de reconocimiento de patrones</vt:lpstr>
      <vt:lpstr>Ejemplo de abstracción</vt:lpstr>
      <vt:lpstr>Ejemplo de algoritmia</vt:lpstr>
      <vt:lpstr>Ejemplo de evaluación</vt:lpstr>
      <vt:lpstr>Ejercicio práctico</vt:lpstr>
      <vt:lpstr>Análisis del ejercicio práctico</vt:lpstr>
      <vt:lpstr>Agenda</vt:lpstr>
      <vt:lpstr>¿Qué es un computador?</vt:lpstr>
      <vt:lpstr>Agenda</vt:lpstr>
      <vt:lpstr>Lenguajes de programación</vt:lpstr>
      <vt:lpstr>Tipos de lenguajes de programación</vt:lpstr>
      <vt:lpstr>Tipos de lenguajes de programación – II </vt:lpstr>
      <vt:lpstr>Tipos de lenguajes de programación – III </vt:lpstr>
      <vt:lpstr>Python como puente para la aplicación de Pensamiento Computacional</vt:lpstr>
      <vt:lpstr>Referencias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Variables, Entrada y Salida</dc:title>
  <dc:creator>- Daniel Gara</dc:creator>
  <cp:revision>4</cp:revision>
  <dcterms:created xsi:type="dcterms:W3CDTF">2019-04-28T13:56:44Z</dcterms:created>
  <dcterms:modified xsi:type="dcterms:W3CDTF">2026-07-10T19:10:53Z</dcterms:modified>
</cp:coreProperties>
</file>